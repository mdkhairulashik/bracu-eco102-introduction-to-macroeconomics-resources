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4" r:id="rId20"/>
    <p:sldId id="273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3A747F-BA01-4242-9A5D-6F68E6993E6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DF84C3F-C56A-42C9-B44F-50EA4177BD78}">
      <dgm:prSet/>
      <dgm:spPr/>
      <dgm:t>
        <a:bodyPr/>
        <a:lstStyle/>
        <a:p>
          <a:r>
            <a:rPr lang="en-US" b="1"/>
            <a:t>Working-Age Population</a:t>
          </a:r>
          <a:endParaRPr lang="en-US"/>
        </a:p>
      </dgm:t>
    </dgm:pt>
    <dgm:pt modelId="{B0EFC333-D550-4ED9-88A2-C48523964262}" type="parTrans" cxnId="{D680F980-9571-435F-BBD3-E78ABB0740E3}">
      <dgm:prSet/>
      <dgm:spPr/>
      <dgm:t>
        <a:bodyPr/>
        <a:lstStyle/>
        <a:p>
          <a:endParaRPr lang="en-US"/>
        </a:p>
      </dgm:t>
    </dgm:pt>
    <dgm:pt modelId="{9CFB51FC-20FB-4ECF-9359-855B9D4F9634}" type="sibTrans" cxnId="{D680F980-9571-435F-BBD3-E78ABB0740E3}">
      <dgm:prSet/>
      <dgm:spPr/>
      <dgm:t>
        <a:bodyPr/>
        <a:lstStyle/>
        <a:p>
          <a:endParaRPr lang="en-US"/>
        </a:p>
      </dgm:t>
    </dgm:pt>
    <dgm:pt modelId="{1487D755-3D40-4D82-A23A-C98808B75FF8}">
      <dgm:prSet/>
      <dgm:spPr/>
      <dgm:t>
        <a:bodyPr/>
        <a:lstStyle/>
        <a:p>
          <a:r>
            <a:rPr lang="en-US"/>
            <a:t>The working-age population includes people legally eligible to work.</a:t>
          </a:r>
        </a:p>
      </dgm:t>
    </dgm:pt>
    <dgm:pt modelId="{A9CC015C-4952-454F-AE38-F106F09D041B}" type="parTrans" cxnId="{2B89B7BE-94FE-4988-88E4-9D9A8D1CF2BA}">
      <dgm:prSet/>
      <dgm:spPr/>
      <dgm:t>
        <a:bodyPr/>
        <a:lstStyle/>
        <a:p>
          <a:endParaRPr lang="en-US"/>
        </a:p>
      </dgm:t>
    </dgm:pt>
    <dgm:pt modelId="{3780EA8A-448D-4CF8-911B-7FE298F6BAB3}" type="sibTrans" cxnId="{2B89B7BE-94FE-4988-88E4-9D9A8D1CF2BA}">
      <dgm:prSet/>
      <dgm:spPr/>
      <dgm:t>
        <a:bodyPr/>
        <a:lstStyle/>
        <a:p>
          <a:endParaRPr lang="en-US"/>
        </a:p>
      </dgm:t>
    </dgm:pt>
    <dgm:pt modelId="{FA67034F-CC3C-4A9D-96C6-393EF6937DFA}">
      <dgm:prSet/>
      <dgm:spPr/>
      <dgm:t>
        <a:bodyPr/>
        <a:lstStyle/>
        <a:p>
          <a:r>
            <a:rPr lang="en-US"/>
            <a:t>It excludes children and some institutionalized individuals. </a:t>
          </a:r>
        </a:p>
      </dgm:t>
    </dgm:pt>
    <dgm:pt modelId="{053BEE6B-8381-4BD3-A588-7551D632E4BF}" type="parTrans" cxnId="{1779FCFA-8EBF-4673-BD1B-B88A7EB5F52D}">
      <dgm:prSet/>
      <dgm:spPr/>
      <dgm:t>
        <a:bodyPr/>
        <a:lstStyle/>
        <a:p>
          <a:endParaRPr lang="en-US"/>
        </a:p>
      </dgm:t>
    </dgm:pt>
    <dgm:pt modelId="{D68A8F57-9B70-4171-B343-4DBDCDEA9667}" type="sibTrans" cxnId="{1779FCFA-8EBF-4673-BD1B-B88A7EB5F52D}">
      <dgm:prSet/>
      <dgm:spPr/>
      <dgm:t>
        <a:bodyPr/>
        <a:lstStyle/>
        <a:p>
          <a:endParaRPr lang="en-US"/>
        </a:p>
      </dgm:t>
    </dgm:pt>
    <dgm:pt modelId="{75FCE2CA-54EC-4DAF-A379-98F6BC5D695C}">
      <dgm:prSet/>
      <dgm:spPr/>
      <dgm:t>
        <a:bodyPr/>
        <a:lstStyle/>
        <a:p>
          <a:r>
            <a:rPr lang="en-US"/>
            <a:t>Combination of Labor Force and Not in Labor Force </a:t>
          </a:r>
        </a:p>
      </dgm:t>
    </dgm:pt>
    <dgm:pt modelId="{F3D1FC30-10AC-4111-9BE3-B7AD64F840B7}" type="parTrans" cxnId="{F9345113-4B0A-437A-9ED7-403FF4DA83AF}">
      <dgm:prSet/>
      <dgm:spPr/>
      <dgm:t>
        <a:bodyPr/>
        <a:lstStyle/>
        <a:p>
          <a:endParaRPr lang="en-US"/>
        </a:p>
      </dgm:t>
    </dgm:pt>
    <dgm:pt modelId="{6E4C9766-2158-4AD0-A2CB-EF3983EE4B8E}" type="sibTrans" cxnId="{F9345113-4B0A-437A-9ED7-403FF4DA83AF}">
      <dgm:prSet/>
      <dgm:spPr/>
      <dgm:t>
        <a:bodyPr/>
        <a:lstStyle/>
        <a:p>
          <a:endParaRPr lang="en-US"/>
        </a:p>
      </dgm:t>
    </dgm:pt>
    <dgm:pt modelId="{D3DB262F-213B-475C-8737-317C96AB2A2A}">
      <dgm:prSet/>
      <dgm:spPr/>
      <dgm:t>
        <a:bodyPr/>
        <a:lstStyle/>
        <a:p>
          <a:r>
            <a:rPr lang="en-US" b="1"/>
            <a:t>Labor Force</a:t>
          </a:r>
          <a:endParaRPr lang="en-US"/>
        </a:p>
      </dgm:t>
    </dgm:pt>
    <dgm:pt modelId="{146DC904-EE1B-4556-939A-A2A3FE421447}" type="parTrans" cxnId="{B97C6EE5-DCF5-47D9-9337-BAA17E86A659}">
      <dgm:prSet/>
      <dgm:spPr/>
      <dgm:t>
        <a:bodyPr/>
        <a:lstStyle/>
        <a:p>
          <a:endParaRPr lang="en-US"/>
        </a:p>
      </dgm:t>
    </dgm:pt>
    <dgm:pt modelId="{FA52FE1B-6B27-471C-85C7-765D7BA0124A}" type="sibTrans" cxnId="{B97C6EE5-DCF5-47D9-9337-BAA17E86A659}">
      <dgm:prSet/>
      <dgm:spPr/>
      <dgm:t>
        <a:bodyPr/>
        <a:lstStyle/>
        <a:p>
          <a:endParaRPr lang="en-US"/>
        </a:p>
      </dgm:t>
    </dgm:pt>
    <dgm:pt modelId="{B10AEEAE-4615-4547-8835-BAABFE72D747}">
      <dgm:prSet/>
      <dgm:spPr/>
      <dgm:t>
        <a:bodyPr/>
        <a:lstStyle/>
        <a:p>
          <a:r>
            <a:rPr lang="en-US" b="1"/>
            <a:t>Labor Force = Employed + Unemployed</a:t>
          </a:r>
          <a:endParaRPr lang="en-US"/>
        </a:p>
      </dgm:t>
    </dgm:pt>
    <dgm:pt modelId="{E447CF72-4513-471B-A32B-AFEB67D79782}" type="parTrans" cxnId="{18C03A33-FD1C-4443-B86A-601E6ECC6A62}">
      <dgm:prSet/>
      <dgm:spPr/>
      <dgm:t>
        <a:bodyPr/>
        <a:lstStyle/>
        <a:p>
          <a:endParaRPr lang="en-US"/>
        </a:p>
      </dgm:t>
    </dgm:pt>
    <dgm:pt modelId="{53E40D01-4009-4FFA-8C61-281BBD59AFDE}" type="sibTrans" cxnId="{18C03A33-FD1C-4443-B86A-601E6ECC6A62}">
      <dgm:prSet/>
      <dgm:spPr/>
      <dgm:t>
        <a:bodyPr/>
        <a:lstStyle/>
        <a:p>
          <a:endParaRPr lang="en-US"/>
        </a:p>
      </dgm:t>
    </dgm:pt>
    <dgm:pt modelId="{9B82BF8A-FBF5-46DE-9F63-E542D59F4C06}">
      <dgm:prSet/>
      <dgm:spPr/>
      <dgm:t>
        <a:bodyPr/>
        <a:lstStyle/>
        <a:p>
          <a:r>
            <a:rPr lang="en-US"/>
            <a:t>People are in the labor force if they:</a:t>
          </a:r>
        </a:p>
      </dgm:t>
    </dgm:pt>
    <dgm:pt modelId="{78E2036D-F9B5-46B0-B68B-A4078B4A8985}" type="parTrans" cxnId="{28ED518C-20CB-44F0-8EA9-EA9C92958188}">
      <dgm:prSet/>
      <dgm:spPr/>
      <dgm:t>
        <a:bodyPr/>
        <a:lstStyle/>
        <a:p>
          <a:endParaRPr lang="en-US"/>
        </a:p>
      </dgm:t>
    </dgm:pt>
    <dgm:pt modelId="{D7DE7B2F-F6C7-46C8-92B7-8C570D1024C1}" type="sibTrans" cxnId="{28ED518C-20CB-44F0-8EA9-EA9C92958188}">
      <dgm:prSet/>
      <dgm:spPr/>
      <dgm:t>
        <a:bodyPr/>
        <a:lstStyle/>
        <a:p>
          <a:endParaRPr lang="en-US"/>
        </a:p>
      </dgm:t>
    </dgm:pt>
    <dgm:pt modelId="{2D5BF618-BF00-42C0-926B-BD4DD36B81B6}">
      <dgm:prSet/>
      <dgm:spPr/>
      <dgm:t>
        <a:bodyPr/>
        <a:lstStyle/>
        <a:p>
          <a:r>
            <a:rPr lang="en-US"/>
            <a:t>Have a job, or </a:t>
          </a:r>
        </a:p>
      </dgm:t>
    </dgm:pt>
    <dgm:pt modelId="{36BF360D-F7F0-4765-867D-1CF7F5EB11AA}" type="parTrans" cxnId="{0B7A8F3E-C63B-42DF-888F-C9C21A434355}">
      <dgm:prSet/>
      <dgm:spPr/>
      <dgm:t>
        <a:bodyPr/>
        <a:lstStyle/>
        <a:p>
          <a:endParaRPr lang="en-US"/>
        </a:p>
      </dgm:t>
    </dgm:pt>
    <dgm:pt modelId="{B0E1899E-88E4-4AE7-BB89-123E16893434}" type="sibTrans" cxnId="{0B7A8F3E-C63B-42DF-888F-C9C21A434355}">
      <dgm:prSet/>
      <dgm:spPr/>
      <dgm:t>
        <a:bodyPr/>
        <a:lstStyle/>
        <a:p>
          <a:endParaRPr lang="en-US"/>
        </a:p>
      </dgm:t>
    </dgm:pt>
    <dgm:pt modelId="{837E925C-5142-4C34-A14B-22671EA60FA0}">
      <dgm:prSet/>
      <dgm:spPr/>
      <dgm:t>
        <a:bodyPr/>
        <a:lstStyle/>
        <a:p>
          <a:r>
            <a:rPr lang="en-US"/>
            <a:t>Are actively looking for work</a:t>
          </a:r>
        </a:p>
      </dgm:t>
    </dgm:pt>
    <dgm:pt modelId="{2EB1EFDE-F6C6-43AD-B1FD-FA621F2892FA}" type="parTrans" cxnId="{7162B44D-6B73-479F-9744-AD56A7A0381E}">
      <dgm:prSet/>
      <dgm:spPr/>
      <dgm:t>
        <a:bodyPr/>
        <a:lstStyle/>
        <a:p>
          <a:endParaRPr lang="en-US"/>
        </a:p>
      </dgm:t>
    </dgm:pt>
    <dgm:pt modelId="{2F32E154-E3E2-4024-A648-C065A7BC445C}" type="sibTrans" cxnId="{7162B44D-6B73-479F-9744-AD56A7A0381E}">
      <dgm:prSet/>
      <dgm:spPr/>
      <dgm:t>
        <a:bodyPr/>
        <a:lstStyle/>
        <a:p>
          <a:endParaRPr lang="en-US"/>
        </a:p>
      </dgm:t>
    </dgm:pt>
    <dgm:pt modelId="{7BD2CC9D-DA0F-4FF4-A3AE-90C5C75B9957}">
      <dgm:prSet/>
      <dgm:spPr/>
      <dgm:t>
        <a:bodyPr/>
        <a:lstStyle/>
        <a:p>
          <a:r>
            <a:rPr lang="en-US" b="1"/>
            <a:t>Not in workforce </a:t>
          </a:r>
          <a:endParaRPr lang="en-US"/>
        </a:p>
      </dgm:t>
    </dgm:pt>
    <dgm:pt modelId="{B4E34672-CDBF-47DE-80A3-FF550F449E55}" type="parTrans" cxnId="{3C1D0C4D-7A97-4B4A-9C97-A9DB0497E4B4}">
      <dgm:prSet/>
      <dgm:spPr/>
      <dgm:t>
        <a:bodyPr/>
        <a:lstStyle/>
        <a:p>
          <a:endParaRPr lang="en-US"/>
        </a:p>
      </dgm:t>
    </dgm:pt>
    <dgm:pt modelId="{522A9DA9-8E9E-474A-9BB1-0BF86602BF96}" type="sibTrans" cxnId="{3C1D0C4D-7A97-4B4A-9C97-A9DB0497E4B4}">
      <dgm:prSet/>
      <dgm:spPr/>
      <dgm:t>
        <a:bodyPr/>
        <a:lstStyle/>
        <a:p>
          <a:endParaRPr lang="en-US"/>
        </a:p>
      </dgm:t>
    </dgm:pt>
    <dgm:pt modelId="{62B0B27E-579A-4B92-9AD1-2DCBD4941DCC}">
      <dgm:prSet/>
      <dgm:spPr/>
      <dgm:t>
        <a:bodyPr/>
        <a:lstStyle/>
        <a:p>
          <a:r>
            <a:rPr lang="en-US"/>
            <a:t>Full-time students not seeking jobs </a:t>
          </a:r>
        </a:p>
      </dgm:t>
    </dgm:pt>
    <dgm:pt modelId="{C87C7AAB-9EF2-4BCB-8D39-AF48B3D91B55}" type="parTrans" cxnId="{6C648015-C810-4AD0-8247-FCE9D672C01A}">
      <dgm:prSet/>
      <dgm:spPr/>
      <dgm:t>
        <a:bodyPr/>
        <a:lstStyle/>
        <a:p>
          <a:endParaRPr lang="en-US"/>
        </a:p>
      </dgm:t>
    </dgm:pt>
    <dgm:pt modelId="{84A03C93-1C84-46B4-8983-BA3512049DC4}" type="sibTrans" cxnId="{6C648015-C810-4AD0-8247-FCE9D672C01A}">
      <dgm:prSet/>
      <dgm:spPr/>
      <dgm:t>
        <a:bodyPr/>
        <a:lstStyle/>
        <a:p>
          <a:endParaRPr lang="en-US"/>
        </a:p>
      </dgm:t>
    </dgm:pt>
    <dgm:pt modelId="{A6F57B7A-8857-46A8-B6C1-1C14B4E4917B}">
      <dgm:prSet/>
      <dgm:spPr/>
      <dgm:t>
        <a:bodyPr/>
        <a:lstStyle/>
        <a:p>
          <a:r>
            <a:rPr lang="en-US"/>
            <a:t>Retirees </a:t>
          </a:r>
        </a:p>
      </dgm:t>
    </dgm:pt>
    <dgm:pt modelId="{98FD907F-B22F-447E-8DEE-E7037AE85ED1}" type="parTrans" cxnId="{01179AE5-E897-4B1A-89F9-919418AC3A3F}">
      <dgm:prSet/>
      <dgm:spPr/>
      <dgm:t>
        <a:bodyPr/>
        <a:lstStyle/>
        <a:p>
          <a:endParaRPr lang="en-US"/>
        </a:p>
      </dgm:t>
    </dgm:pt>
    <dgm:pt modelId="{AD434F3A-98B6-4A16-A4F5-DB9EBA4687D5}" type="sibTrans" cxnId="{01179AE5-E897-4B1A-89F9-919418AC3A3F}">
      <dgm:prSet/>
      <dgm:spPr/>
      <dgm:t>
        <a:bodyPr/>
        <a:lstStyle/>
        <a:p>
          <a:endParaRPr lang="en-US"/>
        </a:p>
      </dgm:t>
    </dgm:pt>
    <dgm:pt modelId="{558A84F6-5694-43AB-9B74-67829EBC90F5}">
      <dgm:prSet/>
      <dgm:spPr/>
      <dgm:t>
        <a:bodyPr/>
        <a:lstStyle/>
        <a:p>
          <a:r>
            <a:rPr lang="en-US"/>
            <a:t>Homemakers </a:t>
          </a:r>
        </a:p>
      </dgm:t>
    </dgm:pt>
    <dgm:pt modelId="{347359E6-8E09-4051-882B-6FD8D9C32549}" type="parTrans" cxnId="{22DCD173-3173-43C0-B793-2A31DAA9AFE3}">
      <dgm:prSet/>
      <dgm:spPr/>
      <dgm:t>
        <a:bodyPr/>
        <a:lstStyle/>
        <a:p>
          <a:endParaRPr lang="en-US"/>
        </a:p>
      </dgm:t>
    </dgm:pt>
    <dgm:pt modelId="{0CBBB9ED-21AB-4C01-AC23-D736F8A86984}" type="sibTrans" cxnId="{22DCD173-3173-43C0-B793-2A31DAA9AFE3}">
      <dgm:prSet/>
      <dgm:spPr/>
      <dgm:t>
        <a:bodyPr/>
        <a:lstStyle/>
        <a:p>
          <a:endParaRPr lang="en-US"/>
        </a:p>
      </dgm:t>
    </dgm:pt>
    <dgm:pt modelId="{ECD22F57-578A-4C94-BA10-CAB9D843E8BF}">
      <dgm:prSet/>
      <dgm:spPr/>
      <dgm:t>
        <a:bodyPr/>
        <a:lstStyle/>
        <a:p>
          <a:r>
            <a:rPr lang="en-US"/>
            <a:t>Discouraged workers</a:t>
          </a:r>
        </a:p>
      </dgm:t>
    </dgm:pt>
    <dgm:pt modelId="{C7E8C4F4-63FC-4BA0-8E9C-A3EDEA1F8354}" type="parTrans" cxnId="{AB56D0EC-85AA-4C72-B480-7E22DFF3FE12}">
      <dgm:prSet/>
      <dgm:spPr/>
      <dgm:t>
        <a:bodyPr/>
        <a:lstStyle/>
        <a:p>
          <a:endParaRPr lang="en-US"/>
        </a:p>
      </dgm:t>
    </dgm:pt>
    <dgm:pt modelId="{891E8309-2A6E-4559-A272-C0D145F62599}" type="sibTrans" cxnId="{AB56D0EC-85AA-4C72-B480-7E22DFF3FE12}">
      <dgm:prSet/>
      <dgm:spPr/>
      <dgm:t>
        <a:bodyPr/>
        <a:lstStyle/>
        <a:p>
          <a:endParaRPr lang="en-US"/>
        </a:p>
      </dgm:t>
    </dgm:pt>
    <dgm:pt modelId="{C43E0272-0D0A-4C99-8440-EE62CBCB4E70}" type="pres">
      <dgm:prSet presAssocID="{B63A747F-BA01-4242-9A5D-6F68E6993E60}" presName="Name0" presStyleCnt="0">
        <dgm:presLayoutVars>
          <dgm:dir/>
          <dgm:animLvl val="lvl"/>
          <dgm:resizeHandles val="exact"/>
        </dgm:presLayoutVars>
      </dgm:prSet>
      <dgm:spPr/>
    </dgm:pt>
    <dgm:pt modelId="{02B688CC-B685-4B02-B9B4-9507BE60F016}" type="pres">
      <dgm:prSet presAssocID="{CDF84C3F-C56A-42C9-B44F-50EA4177BD78}" presName="linNode" presStyleCnt="0"/>
      <dgm:spPr/>
    </dgm:pt>
    <dgm:pt modelId="{6DFF7854-2CC4-43BC-A8D4-5902336DBCF6}" type="pres">
      <dgm:prSet presAssocID="{CDF84C3F-C56A-42C9-B44F-50EA4177BD7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68700EC-35F7-4EFD-9DF7-335611EA6B07}" type="pres">
      <dgm:prSet presAssocID="{CDF84C3F-C56A-42C9-B44F-50EA4177BD78}" presName="descendantText" presStyleLbl="alignAccFollowNode1" presStyleIdx="0" presStyleCnt="3">
        <dgm:presLayoutVars>
          <dgm:bulletEnabled val="1"/>
        </dgm:presLayoutVars>
      </dgm:prSet>
      <dgm:spPr/>
    </dgm:pt>
    <dgm:pt modelId="{D30CEB64-68D3-4355-B0EF-4F235F416205}" type="pres">
      <dgm:prSet presAssocID="{9CFB51FC-20FB-4ECF-9359-855B9D4F9634}" presName="sp" presStyleCnt="0"/>
      <dgm:spPr/>
    </dgm:pt>
    <dgm:pt modelId="{04514A03-7E3E-43B7-B4D0-D9CD077D42C5}" type="pres">
      <dgm:prSet presAssocID="{D3DB262F-213B-475C-8737-317C96AB2A2A}" presName="linNode" presStyleCnt="0"/>
      <dgm:spPr/>
    </dgm:pt>
    <dgm:pt modelId="{C0B2D34D-2303-420F-A127-A26DD7AA7BD6}" type="pres">
      <dgm:prSet presAssocID="{D3DB262F-213B-475C-8737-317C96AB2A2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1BA4E21-FEA0-4B6D-9F1D-521851DEEE35}" type="pres">
      <dgm:prSet presAssocID="{D3DB262F-213B-475C-8737-317C96AB2A2A}" presName="descendantText" presStyleLbl="alignAccFollowNode1" presStyleIdx="1" presStyleCnt="3">
        <dgm:presLayoutVars>
          <dgm:bulletEnabled val="1"/>
        </dgm:presLayoutVars>
      </dgm:prSet>
      <dgm:spPr/>
    </dgm:pt>
    <dgm:pt modelId="{883C2694-9086-4BEC-BA6A-3C738DF30115}" type="pres">
      <dgm:prSet presAssocID="{FA52FE1B-6B27-471C-85C7-765D7BA0124A}" presName="sp" presStyleCnt="0"/>
      <dgm:spPr/>
    </dgm:pt>
    <dgm:pt modelId="{6295D8C0-7F00-426C-8E3C-B6E8F14E6CBF}" type="pres">
      <dgm:prSet presAssocID="{7BD2CC9D-DA0F-4FF4-A3AE-90C5C75B9957}" presName="linNode" presStyleCnt="0"/>
      <dgm:spPr/>
    </dgm:pt>
    <dgm:pt modelId="{9B34C80C-7859-4A1D-AA73-1DAD4398DB85}" type="pres">
      <dgm:prSet presAssocID="{7BD2CC9D-DA0F-4FF4-A3AE-90C5C75B995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36C8DFBD-B36D-4AAB-A5E3-5ED8F0F35428}" type="pres">
      <dgm:prSet presAssocID="{7BD2CC9D-DA0F-4FF4-A3AE-90C5C75B995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EC62F0A-5E9D-4DC1-96AF-942EC5D99395}" type="presOf" srcId="{FA67034F-CC3C-4A9D-96C6-393EF6937DFA}" destId="{968700EC-35F7-4EFD-9DF7-335611EA6B07}" srcOrd="0" destOrd="1" presId="urn:microsoft.com/office/officeart/2005/8/layout/vList5"/>
    <dgm:cxn modelId="{F9345113-4B0A-437A-9ED7-403FF4DA83AF}" srcId="{CDF84C3F-C56A-42C9-B44F-50EA4177BD78}" destId="{75FCE2CA-54EC-4DAF-A379-98F6BC5D695C}" srcOrd="2" destOrd="0" parTransId="{F3D1FC30-10AC-4111-9BE3-B7AD64F840B7}" sibTransId="{6E4C9766-2158-4AD0-A2CB-EF3983EE4B8E}"/>
    <dgm:cxn modelId="{0BA28714-3A54-4BAA-9461-24DE3285090D}" type="presOf" srcId="{7BD2CC9D-DA0F-4FF4-A3AE-90C5C75B9957}" destId="{9B34C80C-7859-4A1D-AA73-1DAD4398DB85}" srcOrd="0" destOrd="0" presId="urn:microsoft.com/office/officeart/2005/8/layout/vList5"/>
    <dgm:cxn modelId="{6C648015-C810-4AD0-8247-FCE9D672C01A}" srcId="{7BD2CC9D-DA0F-4FF4-A3AE-90C5C75B9957}" destId="{62B0B27E-579A-4B92-9AD1-2DCBD4941DCC}" srcOrd="0" destOrd="0" parTransId="{C87C7AAB-9EF2-4BCB-8D39-AF48B3D91B55}" sibTransId="{84A03C93-1C84-46B4-8983-BA3512049DC4}"/>
    <dgm:cxn modelId="{35BD7721-7721-4C07-84A3-D4E543048BD4}" type="presOf" srcId="{B10AEEAE-4615-4547-8835-BAABFE72D747}" destId="{01BA4E21-FEA0-4B6D-9F1D-521851DEEE35}" srcOrd="0" destOrd="0" presId="urn:microsoft.com/office/officeart/2005/8/layout/vList5"/>
    <dgm:cxn modelId="{18C03A33-FD1C-4443-B86A-601E6ECC6A62}" srcId="{D3DB262F-213B-475C-8737-317C96AB2A2A}" destId="{B10AEEAE-4615-4547-8835-BAABFE72D747}" srcOrd="0" destOrd="0" parTransId="{E447CF72-4513-471B-A32B-AFEB67D79782}" sibTransId="{53E40D01-4009-4FFA-8C61-281BBD59AFDE}"/>
    <dgm:cxn modelId="{3628833C-0256-4D26-8E6B-6D60050A1EFA}" type="presOf" srcId="{ECD22F57-578A-4C94-BA10-CAB9D843E8BF}" destId="{36C8DFBD-B36D-4AAB-A5E3-5ED8F0F35428}" srcOrd="0" destOrd="3" presId="urn:microsoft.com/office/officeart/2005/8/layout/vList5"/>
    <dgm:cxn modelId="{0B7A8F3E-C63B-42DF-888F-C9C21A434355}" srcId="{D3DB262F-213B-475C-8737-317C96AB2A2A}" destId="{2D5BF618-BF00-42C0-926B-BD4DD36B81B6}" srcOrd="2" destOrd="0" parTransId="{36BF360D-F7F0-4765-867D-1CF7F5EB11AA}" sibTransId="{B0E1899E-88E4-4AE7-BB89-123E16893434}"/>
    <dgm:cxn modelId="{117C3A5C-9777-4E37-B0A2-9B03789D67F5}" type="presOf" srcId="{75FCE2CA-54EC-4DAF-A379-98F6BC5D695C}" destId="{968700EC-35F7-4EFD-9DF7-335611EA6B07}" srcOrd="0" destOrd="2" presId="urn:microsoft.com/office/officeart/2005/8/layout/vList5"/>
    <dgm:cxn modelId="{B7706865-0C00-432A-B641-A5D42D1C8F5A}" type="presOf" srcId="{D3DB262F-213B-475C-8737-317C96AB2A2A}" destId="{C0B2D34D-2303-420F-A127-A26DD7AA7BD6}" srcOrd="0" destOrd="0" presId="urn:microsoft.com/office/officeart/2005/8/layout/vList5"/>
    <dgm:cxn modelId="{3C1D0C4D-7A97-4B4A-9C97-A9DB0497E4B4}" srcId="{B63A747F-BA01-4242-9A5D-6F68E6993E60}" destId="{7BD2CC9D-DA0F-4FF4-A3AE-90C5C75B9957}" srcOrd="2" destOrd="0" parTransId="{B4E34672-CDBF-47DE-80A3-FF550F449E55}" sibTransId="{522A9DA9-8E9E-474A-9BB1-0BF86602BF96}"/>
    <dgm:cxn modelId="{7162B44D-6B73-479F-9744-AD56A7A0381E}" srcId="{D3DB262F-213B-475C-8737-317C96AB2A2A}" destId="{837E925C-5142-4C34-A14B-22671EA60FA0}" srcOrd="3" destOrd="0" parTransId="{2EB1EFDE-F6C6-43AD-B1FD-FA621F2892FA}" sibTransId="{2F32E154-E3E2-4024-A648-C065A7BC445C}"/>
    <dgm:cxn modelId="{9D20B172-DA2D-42BE-BFEA-33CB05D3556D}" type="presOf" srcId="{9B82BF8A-FBF5-46DE-9F63-E542D59F4C06}" destId="{01BA4E21-FEA0-4B6D-9F1D-521851DEEE35}" srcOrd="0" destOrd="1" presId="urn:microsoft.com/office/officeart/2005/8/layout/vList5"/>
    <dgm:cxn modelId="{22DCD173-3173-43C0-B793-2A31DAA9AFE3}" srcId="{7BD2CC9D-DA0F-4FF4-A3AE-90C5C75B9957}" destId="{558A84F6-5694-43AB-9B74-67829EBC90F5}" srcOrd="2" destOrd="0" parTransId="{347359E6-8E09-4051-882B-6FD8D9C32549}" sibTransId="{0CBBB9ED-21AB-4C01-AC23-D736F8A86984}"/>
    <dgm:cxn modelId="{1A77857F-04CB-440C-89A0-00A4865FD859}" type="presOf" srcId="{B63A747F-BA01-4242-9A5D-6F68E6993E60}" destId="{C43E0272-0D0A-4C99-8440-EE62CBCB4E70}" srcOrd="0" destOrd="0" presId="urn:microsoft.com/office/officeart/2005/8/layout/vList5"/>
    <dgm:cxn modelId="{D680F980-9571-435F-BBD3-E78ABB0740E3}" srcId="{B63A747F-BA01-4242-9A5D-6F68E6993E60}" destId="{CDF84C3F-C56A-42C9-B44F-50EA4177BD78}" srcOrd="0" destOrd="0" parTransId="{B0EFC333-D550-4ED9-88A2-C48523964262}" sibTransId="{9CFB51FC-20FB-4ECF-9359-855B9D4F9634}"/>
    <dgm:cxn modelId="{28ED518C-20CB-44F0-8EA9-EA9C92958188}" srcId="{D3DB262F-213B-475C-8737-317C96AB2A2A}" destId="{9B82BF8A-FBF5-46DE-9F63-E542D59F4C06}" srcOrd="1" destOrd="0" parTransId="{78E2036D-F9B5-46B0-B68B-A4078B4A8985}" sibTransId="{D7DE7B2F-F6C7-46C8-92B7-8C570D1024C1}"/>
    <dgm:cxn modelId="{52C97892-4D72-44AC-8D4F-157CD2B20FB0}" type="presOf" srcId="{62B0B27E-579A-4B92-9AD1-2DCBD4941DCC}" destId="{36C8DFBD-B36D-4AAB-A5E3-5ED8F0F35428}" srcOrd="0" destOrd="0" presId="urn:microsoft.com/office/officeart/2005/8/layout/vList5"/>
    <dgm:cxn modelId="{6F8BD593-9C53-4F8A-A249-06527D1373A8}" type="presOf" srcId="{558A84F6-5694-43AB-9B74-67829EBC90F5}" destId="{36C8DFBD-B36D-4AAB-A5E3-5ED8F0F35428}" srcOrd="0" destOrd="2" presId="urn:microsoft.com/office/officeart/2005/8/layout/vList5"/>
    <dgm:cxn modelId="{A57B3997-1113-47C8-8A65-92094CE32789}" type="presOf" srcId="{CDF84C3F-C56A-42C9-B44F-50EA4177BD78}" destId="{6DFF7854-2CC4-43BC-A8D4-5902336DBCF6}" srcOrd="0" destOrd="0" presId="urn:microsoft.com/office/officeart/2005/8/layout/vList5"/>
    <dgm:cxn modelId="{7282DB9E-966B-4B7B-A444-146528CB1367}" type="presOf" srcId="{2D5BF618-BF00-42C0-926B-BD4DD36B81B6}" destId="{01BA4E21-FEA0-4B6D-9F1D-521851DEEE35}" srcOrd="0" destOrd="2" presId="urn:microsoft.com/office/officeart/2005/8/layout/vList5"/>
    <dgm:cxn modelId="{2B89B7BE-94FE-4988-88E4-9D9A8D1CF2BA}" srcId="{CDF84C3F-C56A-42C9-B44F-50EA4177BD78}" destId="{1487D755-3D40-4D82-A23A-C98808B75FF8}" srcOrd="0" destOrd="0" parTransId="{A9CC015C-4952-454F-AE38-F106F09D041B}" sibTransId="{3780EA8A-448D-4CF8-911B-7FE298F6BAB3}"/>
    <dgm:cxn modelId="{1AB3F6C8-10A4-4203-A24E-DE695AFB3606}" type="presOf" srcId="{1487D755-3D40-4D82-A23A-C98808B75FF8}" destId="{968700EC-35F7-4EFD-9DF7-335611EA6B07}" srcOrd="0" destOrd="0" presId="urn:microsoft.com/office/officeart/2005/8/layout/vList5"/>
    <dgm:cxn modelId="{162D2EE5-945D-4874-B81B-46C8216E9297}" type="presOf" srcId="{837E925C-5142-4C34-A14B-22671EA60FA0}" destId="{01BA4E21-FEA0-4B6D-9F1D-521851DEEE35}" srcOrd="0" destOrd="3" presId="urn:microsoft.com/office/officeart/2005/8/layout/vList5"/>
    <dgm:cxn modelId="{B97C6EE5-DCF5-47D9-9337-BAA17E86A659}" srcId="{B63A747F-BA01-4242-9A5D-6F68E6993E60}" destId="{D3DB262F-213B-475C-8737-317C96AB2A2A}" srcOrd="1" destOrd="0" parTransId="{146DC904-EE1B-4556-939A-A2A3FE421447}" sibTransId="{FA52FE1B-6B27-471C-85C7-765D7BA0124A}"/>
    <dgm:cxn modelId="{01179AE5-E897-4B1A-89F9-919418AC3A3F}" srcId="{7BD2CC9D-DA0F-4FF4-A3AE-90C5C75B9957}" destId="{A6F57B7A-8857-46A8-B6C1-1C14B4E4917B}" srcOrd="1" destOrd="0" parTransId="{98FD907F-B22F-447E-8DEE-E7037AE85ED1}" sibTransId="{AD434F3A-98B6-4A16-A4F5-DB9EBA4687D5}"/>
    <dgm:cxn modelId="{AB56D0EC-85AA-4C72-B480-7E22DFF3FE12}" srcId="{7BD2CC9D-DA0F-4FF4-A3AE-90C5C75B9957}" destId="{ECD22F57-578A-4C94-BA10-CAB9D843E8BF}" srcOrd="3" destOrd="0" parTransId="{C7E8C4F4-63FC-4BA0-8E9C-A3EDEA1F8354}" sibTransId="{891E8309-2A6E-4559-A272-C0D145F62599}"/>
    <dgm:cxn modelId="{1779FCFA-8EBF-4673-BD1B-B88A7EB5F52D}" srcId="{CDF84C3F-C56A-42C9-B44F-50EA4177BD78}" destId="{FA67034F-CC3C-4A9D-96C6-393EF6937DFA}" srcOrd="1" destOrd="0" parTransId="{053BEE6B-8381-4BD3-A588-7551D632E4BF}" sibTransId="{D68A8F57-9B70-4171-B343-4DBDCDEA9667}"/>
    <dgm:cxn modelId="{97F377FC-9588-4878-9C6D-314594845D4B}" type="presOf" srcId="{A6F57B7A-8857-46A8-B6C1-1C14B4E4917B}" destId="{36C8DFBD-B36D-4AAB-A5E3-5ED8F0F35428}" srcOrd="0" destOrd="1" presId="urn:microsoft.com/office/officeart/2005/8/layout/vList5"/>
    <dgm:cxn modelId="{BAB191E9-1CBC-41C3-8C33-66C3399BBA86}" type="presParOf" srcId="{C43E0272-0D0A-4C99-8440-EE62CBCB4E70}" destId="{02B688CC-B685-4B02-B9B4-9507BE60F016}" srcOrd="0" destOrd="0" presId="urn:microsoft.com/office/officeart/2005/8/layout/vList5"/>
    <dgm:cxn modelId="{5902D94A-97E8-4DDE-802C-E7BE6F11BA5C}" type="presParOf" srcId="{02B688CC-B685-4B02-B9B4-9507BE60F016}" destId="{6DFF7854-2CC4-43BC-A8D4-5902336DBCF6}" srcOrd="0" destOrd="0" presId="urn:microsoft.com/office/officeart/2005/8/layout/vList5"/>
    <dgm:cxn modelId="{D6033526-0FA0-4B32-9784-EB9AE83BC332}" type="presParOf" srcId="{02B688CC-B685-4B02-B9B4-9507BE60F016}" destId="{968700EC-35F7-4EFD-9DF7-335611EA6B07}" srcOrd="1" destOrd="0" presId="urn:microsoft.com/office/officeart/2005/8/layout/vList5"/>
    <dgm:cxn modelId="{028CC184-7487-4FD9-ABC9-79A56B601CE8}" type="presParOf" srcId="{C43E0272-0D0A-4C99-8440-EE62CBCB4E70}" destId="{D30CEB64-68D3-4355-B0EF-4F235F416205}" srcOrd="1" destOrd="0" presId="urn:microsoft.com/office/officeart/2005/8/layout/vList5"/>
    <dgm:cxn modelId="{D49C1A32-DD90-4785-9CBA-C7FDCD2CF7A5}" type="presParOf" srcId="{C43E0272-0D0A-4C99-8440-EE62CBCB4E70}" destId="{04514A03-7E3E-43B7-B4D0-D9CD077D42C5}" srcOrd="2" destOrd="0" presId="urn:microsoft.com/office/officeart/2005/8/layout/vList5"/>
    <dgm:cxn modelId="{03861138-023D-4362-9C08-8E4A6CE342E0}" type="presParOf" srcId="{04514A03-7E3E-43B7-B4D0-D9CD077D42C5}" destId="{C0B2D34D-2303-420F-A127-A26DD7AA7BD6}" srcOrd="0" destOrd="0" presId="urn:microsoft.com/office/officeart/2005/8/layout/vList5"/>
    <dgm:cxn modelId="{DB3B1172-930A-4EDB-A6BE-1B1C1B911609}" type="presParOf" srcId="{04514A03-7E3E-43B7-B4D0-D9CD077D42C5}" destId="{01BA4E21-FEA0-4B6D-9F1D-521851DEEE35}" srcOrd="1" destOrd="0" presId="urn:microsoft.com/office/officeart/2005/8/layout/vList5"/>
    <dgm:cxn modelId="{C7AA421D-C80E-468A-92A2-547BA3B3C1D2}" type="presParOf" srcId="{C43E0272-0D0A-4C99-8440-EE62CBCB4E70}" destId="{883C2694-9086-4BEC-BA6A-3C738DF30115}" srcOrd="3" destOrd="0" presId="urn:microsoft.com/office/officeart/2005/8/layout/vList5"/>
    <dgm:cxn modelId="{0F08C854-3B50-43C6-A35F-4010712453FB}" type="presParOf" srcId="{C43E0272-0D0A-4C99-8440-EE62CBCB4E70}" destId="{6295D8C0-7F00-426C-8E3C-B6E8F14E6CBF}" srcOrd="4" destOrd="0" presId="urn:microsoft.com/office/officeart/2005/8/layout/vList5"/>
    <dgm:cxn modelId="{79E699DE-4A24-47C9-9693-0FCC4F193039}" type="presParOf" srcId="{6295D8C0-7F00-426C-8E3C-B6E8F14E6CBF}" destId="{9B34C80C-7859-4A1D-AA73-1DAD4398DB85}" srcOrd="0" destOrd="0" presId="urn:microsoft.com/office/officeart/2005/8/layout/vList5"/>
    <dgm:cxn modelId="{D5F87420-59B3-49E4-BB3F-6128D77B7BB5}" type="presParOf" srcId="{6295D8C0-7F00-426C-8E3C-B6E8F14E6CBF}" destId="{36C8DFBD-B36D-4AAB-A5E3-5ED8F0F3542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39EE15-B2B3-4DFB-95E8-78E4895102C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910B06-51C4-477E-B360-E1CBFB735D9A}">
      <dgm:prSet/>
      <dgm:spPr/>
      <dgm:t>
        <a:bodyPr/>
        <a:lstStyle/>
        <a:p>
          <a:r>
            <a:rPr lang="en-US" b="1"/>
            <a:t>Who Is Employed?</a:t>
          </a:r>
          <a:endParaRPr lang="en-US"/>
        </a:p>
      </dgm:t>
    </dgm:pt>
    <dgm:pt modelId="{A2569932-BEA6-4D22-9376-E88BF145CF38}" type="parTrans" cxnId="{AB25B5DB-AB11-4B5E-A1E0-0993E6AD8E09}">
      <dgm:prSet/>
      <dgm:spPr/>
      <dgm:t>
        <a:bodyPr/>
        <a:lstStyle/>
        <a:p>
          <a:endParaRPr lang="en-US"/>
        </a:p>
      </dgm:t>
    </dgm:pt>
    <dgm:pt modelId="{7C835492-D907-4827-8E38-050128B9CAB4}" type="sibTrans" cxnId="{AB25B5DB-AB11-4B5E-A1E0-0993E6AD8E09}">
      <dgm:prSet/>
      <dgm:spPr/>
      <dgm:t>
        <a:bodyPr/>
        <a:lstStyle/>
        <a:p>
          <a:endParaRPr lang="en-US"/>
        </a:p>
      </dgm:t>
    </dgm:pt>
    <dgm:pt modelId="{E7ED9A51-3730-4804-99F8-62FA1CC69E79}">
      <dgm:prSet/>
      <dgm:spPr/>
      <dgm:t>
        <a:bodyPr/>
        <a:lstStyle/>
        <a:p>
          <a:r>
            <a:rPr lang="en-US"/>
            <a:t>A person is employed if:</a:t>
          </a:r>
        </a:p>
      </dgm:t>
    </dgm:pt>
    <dgm:pt modelId="{A8508A0B-1EEB-42BC-B17C-B2BB1F089944}" type="parTrans" cxnId="{BF19AD76-7751-44BB-A372-0ACD1B99B86F}">
      <dgm:prSet/>
      <dgm:spPr/>
      <dgm:t>
        <a:bodyPr/>
        <a:lstStyle/>
        <a:p>
          <a:endParaRPr lang="en-US"/>
        </a:p>
      </dgm:t>
    </dgm:pt>
    <dgm:pt modelId="{55593E99-EE0C-41F6-89E0-FCD77A058419}" type="sibTrans" cxnId="{BF19AD76-7751-44BB-A372-0ACD1B99B86F}">
      <dgm:prSet/>
      <dgm:spPr/>
      <dgm:t>
        <a:bodyPr/>
        <a:lstStyle/>
        <a:p>
          <a:endParaRPr lang="en-US"/>
        </a:p>
      </dgm:t>
    </dgm:pt>
    <dgm:pt modelId="{623E355D-5DE2-4D52-AEF7-7CF7E3C213B5}">
      <dgm:prSet/>
      <dgm:spPr/>
      <dgm:t>
        <a:bodyPr/>
        <a:lstStyle/>
        <a:p>
          <a:r>
            <a:rPr lang="en-US"/>
            <a:t>Works full-time or part-time </a:t>
          </a:r>
        </a:p>
      </dgm:t>
    </dgm:pt>
    <dgm:pt modelId="{EB58722E-A16A-40D3-B9D1-DEE7A7CED7DD}" type="parTrans" cxnId="{08F14EA7-5D52-4198-8F2D-64D935A51E88}">
      <dgm:prSet/>
      <dgm:spPr/>
      <dgm:t>
        <a:bodyPr/>
        <a:lstStyle/>
        <a:p>
          <a:endParaRPr lang="en-US"/>
        </a:p>
      </dgm:t>
    </dgm:pt>
    <dgm:pt modelId="{96E19E14-429E-47B8-90F6-C2F15EFDA345}" type="sibTrans" cxnId="{08F14EA7-5D52-4198-8F2D-64D935A51E88}">
      <dgm:prSet/>
      <dgm:spPr/>
      <dgm:t>
        <a:bodyPr/>
        <a:lstStyle/>
        <a:p>
          <a:endParaRPr lang="en-US"/>
        </a:p>
      </dgm:t>
    </dgm:pt>
    <dgm:pt modelId="{F468896B-AA8F-4E73-B6F0-99434B648544}">
      <dgm:prSet/>
      <dgm:spPr/>
      <dgm:t>
        <a:bodyPr/>
        <a:lstStyle/>
        <a:p>
          <a:r>
            <a:rPr lang="en-US"/>
            <a:t>Is temporarily absent from work </a:t>
          </a:r>
        </a:p>
      </dgm:t>
    </dgm:pt>
    <dgm:pt modelId="{37BCB848-69D2-4AF5-BAE2-5E61445E66BB}" type="parTrans" cxnId="{74F879AA-4FFE-4675-A206-DBD992B09B2B}">
      <dgm:prSet/>
      <dgm:spPr/>
      <dgm:t>
        <a:bodyPr/>
        <a:lstStyle/>
        <a:p>
          <a:endParaRPr lang="en-US"/>
        </a:p>
      </dgm:t>
    </dgm:pt>
    <dgm:pt modelId="{8244E527-A380-49F4-B628-6E0F5F82907C}" type="sibTrans" cxnId="{74F879AA-4FFE-4675-A206-DBD992B09B2B}">
      <dgm:prSet/>
      <dgm:spPr/>
      <dgm:t>
        <a:bodyPr/>
        <a:lstStyle/>
        <a:p>
          <a:endParaRPr lang="en-US"/>
        </a:p>
      </dgm:t>
    </dgm:pt>
    <dgm:pt modelId="{CB5842F3-08A1-4301-BB7E-76687A2D445D}">
      <dgm:prSet/>
      <dgm:spPr/>
      <dgm:t>
        <a:bodyPr/>
        <a:lstStyle/>
        <a:p>
          <a:r>
            <a:rPr lang="en-US"/>
            <a:t>Is self-employed</a:t>
          </a:r>
        </a:p>
      </dgm:t>
    </dgm:pt>
    <dgm:pt modelId="{71B03AA9-188B-4DEB-A6F6-337D497C9536}" type="parTrans" cxnId="{CD4FB0E9-CD15-4572-9EF9-6CD6F2B73E84}">
      <dgm:prSet/>
      <dgm:spPr/>
      <dgm:t>
        <a:bodyPr/>
        <a:lstStyle/>
        <a:p>
          <a:endParaRPr lang="en-US"/>
        </a:p>
      </dgm:t>
    </dgm:pt>
    <dgm:pt modelId="{5D389802-A272-4400-A228-0153D4B4E34B}" type="sibTrans" cxnId="{CD4FB0E9-CD15-4572-9EF9-6CD6F2B73E84}">
      <dgm:prSet/>
      <dgm:spPr/>
      <dgm:t>
        <a:bodyPr/>
        <a:lstStyle/>
        <a:p>
          <a:endParaRPr lang="en-US"/>
        </a:p>
      </dgm:t>
    </dgm:pt>
    <dgm:pt modelId="{2F218B8D-00DA-4BD8-B999-A4F28138AE4A}">
      <dgm:prSet/>
      <dgm:spPr/>
      <dgm:t>
        <a:bodyPr/>
        <a:lstStyle/>
        <a:p>
          <a:r>
            <a:rPr lang="en-US" b="1"/>
            <a:t>Who Is Unemployed?</a:t>
          </a:r>
          <a:endParaRPr lang="en-US"/>
        </a:p>
      </dgm:t>
    </dgm:pt>
    <dgm:pt modelId="{89D19299-6D1C-4909-8226-C13B3D2FC26D}" type="parTrans" cxnId="{E660A67D-5C8E-4FF4-84DF-5D333BB15CFE}">
      <dgm:prSet/>
      <dgm:spPr/>
      <dgm:t>
        <a:bodyPr/>
        <a:lstStyle/>
        <a:p>
          <a:endParaRPr lang="en-US"/>
        </a:p>
      </dgm:t>
    </dgm:pt>
    <dgm:pt modelId="{02848DB3-C75A-4679-AB14-69443A1A697F}" type="sibTrans" cxnId="{E660A67D-5C8E-4FF4-84DF-5D333BB15CFE}">
      <dgm:prSet/>
      <dgm:spPr/>
      <dgm:t>
        <a:bodyPr/>
        <a:lstStyle/>
        <a:p>
          <a:endParaRPr lang="en-US"/>
        </a:p>
      </dgm:t>
    </dgm:pt>
    <dgm:pt modelId="{2DB66CFC-2F5A-4A40-A779-3E49683C26C8}">
      <dgm:prSet/>
      <dgm:spPr/>
      <dgm:t>
        <a:bodyPr/>
        <a:lstStyle/>
        <a:p>
          <a:r>
            <a:rPr lang="en-US"/>
            <a:t>A person is unemployed if:</a:t>
          </a:r>
        </a:p>
      </dgm:t>
    </dgm:pt>
    <dgm:pt modelId="{0BC34F68-C74A-45E7-B355-1B2E914A27AA}" type="parTrans" cxnId="{402D43F3-F1F0-4C0F-87A2-D34108F4194E}">
      <dgm:prSet/>
      <dgm:spPr/>
      <dgm:t>
        <a:bodyPr/>
        <a:lstStyle/>
        <a:p>
          <a:endParaRPr lang="en-US"/>
        </a:p>
      </dgm:t>
    </dgm:pt>
    <dgm:pt modelId="{570B23D8-5F26-46A7-8B69-139B9FA29AFE}" type="sibTrans" cxnId="{402D43F3-F1F0-4C0F-87A2-D34108F4194E}">
      <dgm:prSet/>
      <dgm:spPr/>
      <dgm:t>
        <a:bodyPr/>
        <a:lstStyle/>
        <a:p>
          <a:endParaRPr lang="en-US"/>
        </a:p>
      </dgm:t>
    </dgm:pt>
    <dgm:pt modelId="{2F7E776E-EFF2-403F-93D1-56DFC32F8788}">
      <dgm:prSet/>
      <dgm:spPr/>
      <dgm:t>
        <a:bodyPr/>
        <a:lstStyle/>
        <a:p>
          <a:r>
            <a:rPr lang="en-US"/>
            <a:t>Has no job </a:t>
          </a:r>
        </a:p>
      </dgm:t>
    </dgm:pt>
    <dgm:pt modelId="{CC08F78C-8348-45B8-B869-0F0EEA696F9C}" type="parTrans" cxnId="{9ED5A659-9556-4959-B12F-C2896BDB157B}">
      <dgm:prSet/>
      <dgm:spPr/>
      <dgm:t>
        <a:bodyPr/>
        <a:lstStyle/>
        <a:p>
          <a:endParaRPr lang="en-US"/>
        </a:p>
      </dgm:t>
    </dgm:pt>
    <dgm:pt modelId="{64F99B2D-5EC3-4945-9040-46CD0B51F8EE}" type="sibTrans" cxnId="{9ED5A659-9556-4959-B12F-C2896BDB157B}">
      <dgm:prSet/>
      <dgm:spPr/>
      <dgm:t>
        <a:bodyPr/>
        <a:lstStyle/>
        <a:p>
          <a:endParaRPr lang="en-US"/>
        </a:p>
      </dgm:t>
    </dgm:pt>
    <dgm:pt modelId="{30E2ACFF-BC3C-4B5A-903D-A29167DD2A8E}">
      <dgm:prSet/>
      <dgm:spPr/>
      <dgm:t>
        <a:bodyPr/>
        <a:lstStyle/>
        <a:p>
          <a:r>
            <a:rPr lang="en-US"/>
            <a:t>Is available for work </a:t>
          </a:r>
        </a:p>
      </dgm:t>
    </dgm:pt>
    <dgm:pt modelId="{91F52A41-16FE-4FBA-BDEA-DE94C8EC4B69}" type="parTrans" cxnId="{7DBF0898-B070-4904-A028-40F14DA269F2}">
      <dgm:prSet/>
      <dgm:spPr/>
      <dgm:t>
        <a:bodyPr/>
        <a:lstStyle/>
        <a:p>
          <a:endParaRPr lang="en-US"/>
        </a:p>
      </dgm:t>
    </dgm:pt>
    <dgm:pt modelId="{E610997E-D649-42EF-B6CE-38C94A98FCB0}" type="sibTrans" cxnId="{7DBF0898-B070-4904-A028-40F14DA269F2}">
      <dgm:prSet/>
      <dgm:spPr/>
      <dgm:t>
        <a:bodyPr/>
        <a:lstStyle/>
        <a:p>
          <a:endParaRPr lang="en-US"/>
        </a:p>
      </dgm:t>
    </dgm:pt>
    <dgm:pt modelId="{AF2759C7-D569-43DB-90CA-F5C4A62060A3}">
      <dgm:prSet/>
      <dgm:spPr/>
      <dgm:t>
        <a:bodyPr/>
        <a:lstStyle/>
        <a:p>
          <a:r>
            <a:rPr lang="en-US"/>
            <a:t>Has actively searched recently </a:t>
          </a:r>
        </a:p>
      </dgm:t>
    </dgm:pt>
    <dgm:pt modelId="{A3599BEC-6D1B-40F3-9CB5-91698680F1BD}" type="parTrans" cxnId="{ACE7F665-B076-4157-86A0-A06D22B4E8BC}">
      <dgm:prSet/>
      <dgm:spPr/>
      <dgm:t>
        <a:bodyPr/>
        <a:lstStyle/>
        <a:p>
          <a:endParaRPr lang="en-US"/>
        </a:p>
      </dgm:t>
    </dgm:pt>
    <dgm:pt modelId="{EF126FB2-8516-481E-B291-74736690F964}" type="sibTrans" cxnId="{ACE7F665-B076-4157-86A0-A06D22B4E8BC}">
      <dgm:prSet/>
      <dgm:spPr/>
      <dgm:t>
        <a:bodyPr/>
        <a:lstStyle/>
        <a:p>
          <a:endParaRPr lang="en-US"/>
        </a:p>
      </dgm:t>
    </dgm:pt>
    <dgm:pt modelId="{34EFC221-5BF7-4201-82D2-3F290269838F}">
      <dgm:prSet/>
      <dgm:spPr/>
      <dgm:t>
        <a:bodyPr/>
        <a:lstStyle/>
        <a:p>
          <a:r>
            <a:rPr lang="en-US"/>
            <a:t>Waiting to be recalled after a layoff </a:t>
          </a:r>
        </a:p>
      </dgm:t>
    </dgm:pt>
    <dgm:pt modelId="{B594D268-00C5-4A7F-941A-E95E3487F6CE}" type="parTrans" cxnId="{D003FFD8-26D3-48BA-84F7-D90F45586E14}">
      <dgm:prSet/>
      <dgm:spPr/>
      <dgm:t>
        <a:bodyPr/>
        <a:lstStyle/>
        <a:p>
          <a:endParaRPr lang="en-US"/>
        </a:p>
      </dgm:t>
    </dgm:pt>
    <dgm:pt modelId="{3BA11935-4A75-4DDA-86D6-D8FC153AD5ED}" type="sibTrans" cxnId="{D003FFD8-26D3-48BA-84F7-D90F45586E14}">
      <dgm:prSet/>
      <dgm:spPr/>
      <dgm:t>
        <a:bodyPr/>
        <a:lstStyle/>
        <a:p>
          <a:endParaRPr lang="en-US"/>
        </a:p>
      </dgm:t>
    </dgm:pt>
    <dgm:pt modelId="{EE79E28A-73D3-4157-B37B-583AAE4D98BE}">
      <dgm:prSet/>
      <dgm:spPr/>
      <dgm:t>
        <a:bodyPr/>
        <a:lstStyle/>
        <a:p>
          <a:r>
            <a:rPr lang="en-US"/>
            <a:t>Waiting to start a new job soon</a:t>
          </a:r>
        </a:p>
      </dgm:t>
    </dgm:pt>
    <dgm:pt modelId="{044790CE-6CC9-481E-84CE-4CFBDE6AAD9B}" type="parTrans" cxnId="{2F9A8CA0-78DF-45C5-A44B-D02FAFD52AD7}">
      <dgm:prSet/>
      <dgm:spPr/>
      <dgm:t>
        <a:bodyPr/>
        <a:lstStyle/>
        <a:p>
          <a:endParaRPr lang="en-US"/>
        </a:p>
      </dgm:t>
    </dgm:pt>
    <dgm:pt modelId="{72FAB1E4-4109-44C7-97E6-42E126FD928F}" type="sibTrans" cxnId="{2F9A8CA0-78DF-45C5-A44B-D02FAFD52AD7}">
      <dgm:prSet/>
      <dgm:spPr/>
      <dgm:t>
        <a:bodyPr/>
        <a:lstStyle/>
        <a:p>
          <a:endParaRPr lang="en-US"/>
        </a:p>
      </dgm:t>
    </dgm:pt>
    <dgm:pt modelId="{D31439EA-B958-4827-AD68-9907829CB63A}" type="pres">
      <dgm:prSet presAssocID="{5039EE15-B2B3-4DFB-95E8-78E4895102CD}" presName="linear" presStyleCnt="0">
        <dgm:presLayoutVars>
          <dgm:dir/>
          <dgm:animLvl val="lvl"/>
          <dgm:resizeHandles val="exact"/>
        </dgm:presLayoutVars>
      </dgm:prSet>
      <dgm:spPr/>
    </dgm:pt>
    <dgm:pt modelId="{5093DFA0-F9AD-4643-9ECD-AE4983124251}" type="pres">
      <dgm:prSet presAssocID="{41910B06-51C4-477E-B360-E1CBFB735D9A}" presName="parentLin" presStyleCnt="0"/>
      <dgm:spPr/>
    </dgm:pt>
    <dgm:pt modelId="{B532AC03-3CEF-4F88-9091-B2358D72255F}" type="pres">
      <dgm:prSet presAssocID="{41910B06-51C4-477E-B360-E1CBFB735D9A}" presName="parentLeftMargin" presStyleLbl="node1" presStyleIdx="0" presStyleCnt="2"/>
      <dgm:spPr/>
    </dgm:pt>
    <dgm:pt modelId="{1D568C4E-4309-4DFE-9E35-9BD40101BBB5}" type="pres">
      <dgm:prSet presAssocID="{41910B06-51C4-477E-B360-E1CBFB735D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EC0940-03A2-470C-A50A-0C4622457C1A}" type="pres">
      <dgm:prSet presAssocID="{41910B06-51C4-477E-B360-E1CBFB735D9A}" presName="negativeSpace" presStyleCnt="0"/>
      <dgm:spPr/>
    </dgm:pt>
    <dgm:pt modelId="{D1675A5F-7EB9-4510-96A2-56CFD4262326}" type="pres">
      <dgm:prSet presAssocID="{41910B06-51C4-477E-B360-E1CBFB735D9A}" presName="childText" presStyleLbl="conFgAcc1" presStyleIdx="0" presStyleCnt="2">
        <dgm:presLayoutVars>
          <dgm:bulletEnabled val="1"/>
        </dgm:presLayoutVars>
      </dgm:prSet>
      <dgm:spPr/>
    </dgm:pt>
    <dgm:pt modelId="{EC3498D1-7B30-439A-8AA0-D90923D52260}" type="pres">
      <dgm:prSet presAssocID="{7C835492-D907-4827-8E38-050128B9CAB4}" presName="spaceBetweenRectangles" presStyleCnt="0"/>
      <dgm:spPr/>
    </dgm:pt>
    <dgm:pt modelId="{F89C58D2-8144-4041-8684-8CD2FD163A17}" type="pres">
      <dgm:prSet presAssocID="{2F218B8D-00DA-4BD8-B999-A4F28138AE4A}" presName="parentLin" presStyleCnt="0"/>
      <dgm:spPr/>
    </dgm:pt>
    <dgm:pt modelId="{2640A88D-A9DA-4AD4-A7EE-3F3CF35C2315}" type="pres">
      <dgm:prSet presAssocID="{2F218B8D-00DA-4BD8-B999-A4F28138AE4A}" presName="parentLeftMargin" presStyleLbl="node1" presStyleIdx="0" presStyleCnt="2"/>
      <dgm:spPr/>
    </dgm:pt>
    <dgm:pt modelId="{D86D5D86-B9BB-44D5-A0D8-DC16C76BB839}" type="pres">
      <dgm:prSet presAssocID="{2F218B8D-00DA-4BD8-B999-A4F28138AE4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77DBE9D-58AD-47B0-AB82-CD9E0D25B120}" type="pres">
      <dgm:prSet presAssocID="{2F218B8D-00DA-4BD8-B999-A4F28138AE4A}" presName="negativeSpace" presStyleCnt="0"/>
      <dgm:spPr/>
    </dgm:pt>
    <dgm:pt modelId="{FD658E17-923C-4BAD-86DA-8002A9B48EB4}" type="pres">
      <dgm:prSet presAssocID="{2F218B8D-00DA-4BD8-B999-A4F28138AE4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B7F5F26-2869-4EA1-A3B6-0F84DDD92401}" type="presOf" srcId="{30E2ACFF-BC3C-4B5A-903D-A29167DD2A8E}" destId="{FD658E17-923C-4BAD-86DA-8002A9B48EB4}" srcOrd="0" destOrd="2" presId="urn:microsoft.com/office/officeart/2005/8/layout/list1"/>
    <dgm:cxn modelId="{26956E36-984C-472F-A084-2B69DE814D07}" type="presOf" srcId="{AF2759C7-D569-43DB-90CA-F5C4A62060A3}" destId="{FD658E17-923C-4BAD-86DA-8002A9B48EB4}" srcOrd="0" destOrd="3" presId="urn:microsoft.com/office/officeart/2005/8/layout/list1"/>
    <dgm:cxn modelId="{ACE7F665-B076-4157-86A0-A06D22B4E8BC}" srcId="{2DB66CFC-2F5A-4A40-A779-3E49683C26C8}" destId="{AF2759C7-D569-43DB-90CA-F5C4A62060A3}" srcOrd="2" destOrd="0" parTransId="{A3599BEC-6D1B-40F3-9CB5-91698680F1BD}" sibTransId="{EF126FB2-8516-481E-B291-74736690F964}"/>
    <dgm:cxn modelId="{E9CD9F66-5899-47F6-938D-F1A63F2AAC86}" type="presOf" srcId="{5039EE15-B2B3-4DFB-95E8-78E4895102CD}" destId="{D31439EA-B958-4827-AD68-9907829CB63A}" srcOrd="0" destOrd="0" presId="urn:microsoft.com/office/officeart/2005/8/layout/list1"/>
    <dgm:cxn modelId="{BF19AD76-7751-44BB-A372-0ACD1B99B86F}" srcId="{41910B06-51C4-477E-B360-E1CBFB735D9A}" destId="{E7ED9A51-3730-4804-99F8-62FA1CC69E79}" srcOrd="0" destOrd="0" parTransId="{A8508A0B-1EEB-42BC-B17C-B2BB1F089944}" sibTransId="{55593E99-EE0C-41F6-89E0-FCD77A058419}"/>
    <dgm:cxn modelId="{6EEF2F58-8149-484E-ADF1-864E6E82BE59}" type="presOf" srcId="{EE79E28A-73D3-4157-B37B-583AAE4D98BE}" destId="{FD658E17-923C-4BAD-86DA-8002A9B48EB4}" srcOrd="0" destOrd="5" presId="urn:microsoft.com/office/officeart/2005/8/layout/list1"/>
    <dgm:cxn modelId="{9ED5A659-9556-4959-B12F-C2896BDB157B}" srcId="{2DB66CFC-2F5A-4A40-A779-3E49683C26C8}" destId="{2F7E776E-EFF2-403F-93D1-56DFC32F8788}" srcOrd="0" destOrd="0" parTransId="{CC08F78C-8348-45B8-B869-0F0EEA696F9C}" sibTransId="{64F99B2D-5EC3-4945-9040-46CD0B51F8EE}"/>
    <dgm:cxn modelId="{E660A67D-5C8E-4FF4-84DF-5D333BB15CFE}" srcId="{5039EE15-B2B3-4DFB-95E8-78E4895102CD}" destId="{2F218B8D-00DA-4BD8-B999-A4F28138AE4A}" srcOrd="1" destOrd="0" parTransId="{89D19299-6D1C-4909-8226-C13B3D2FC26D}" sibTransId="{02848DB3-C75A-4679-AB14-69443A1A697F}"/>
    <dgm:cxn modelId="{CF564D83-9AB6-4467-91E7-2590C2F7040F}" type="presOf" srcId="{2F7E776E-EFF2-403F-93D1-56DFC32F8788}" destId="{FD658E17-923C-4BAD-86DA-8002A9B48EB4}" srcOrd="0" destOrd="1" presId="urn:microsoft.com/office/officeart/2005/8/layout/list1"/>
    <dgm:cxn modelId="{6C131A84-1350-4340-856C-55B903814584}" type="presOf" srcId="{CB5842F3-08A1-4301-BB7E-76687A2D445D}" destId="{D1675A5F-7EB9-4510-96A2-56CFD4262326}" srcOrd="0" destOrd="3" presId="urn:microsoft.com/office/officeart/2005/8/layout/list1"/>
    <dgm:cxn modelId="{F4EFF98F-F5CA-4E78-87A9-D36F87DD2C16}" type="presOf" srcId="{E7ED9A51-3730-4804-99F8-62FA1CC69E79}" destId="{D1675A5F-7EB9-4510-96A2-56CFD4262326}" srcOrd="0" destOrd="0" presId="urn:microsoft.com/office/officeart/2005/8/layout/list1"/>
    <dgm:cxn modelId="{7DBF0898-B070-4904-A028-40F14DA269F2}" srcId="{2DB66CFC-2F5A-4A40-A779-3E49683C26C8}" destId="{30E2ACFF-BC3C-4B5A-903D-A29167DD2A8E}" srcOrd="1" destOrd="0" parTransId="{91F52A41-16FE-4FBA-BDEA-DE94C8EC4B69}" sibTransId="{E610997E-D649-42EF-B6CE-38C94A98FCB0}"/>
    <dgm:cxn modelId="{2F9A8CA0-78DF-45C5-A44B-D02FAFD52AD7}" srcId="{2F218B8D-00DA-4BD8-B999-A4F28138AE4A}" destId="{EE79E28A-73D3-4157-B37B-583AAE4D98BE}" srcOrd="2" destOrd="0" parTransId="{044790CE-6CC9-481E-84CE-4CFBDE6AAD9B}" sibTransId="{72FAB1E4-4109-44C7-97E6-42E126FD928F}"/>
    <dgm:cxn modelId="{08F14EA7-5D52-4198-8F2D-64D935A51E88}" srcId="{41910B06-51C4-477E-B360-E1CBFB735D9A}" destId="{623E355D-5DE2-4D52-AEF7-7CF7E3C213B5}" srcOrd="1" destOrd="0" parTransId="{EB58722E-A16A-40D3-B9D1-DEE7A7CED7DD}" sibTransId="{96E19E14-429E-47B8-90F6-C2F15EFDA345}"/>
    <dgm:cxn modelId="{529E57AA-E9FA-476B-9CBE-A7A4B0F4BC0F}" type="presOf" srcId="{2F218B8D-00DA-4BD8-B999-A4F28138AE4A}" destId="{2640A88D-A9DA-4AD4-A7EE-3F3CF35C2315}" srcOrd="0" destOrd="0" presId="urn:microsoft.com/office/officeart/2005/8/layout/list1"/>
    <dgm:cxn modelId="{74F879AA-4FFE-4675-A206-DBD992B09B2B}" srcId="{41910B06-51C4-477E-B360-E1CBFB735D9A}" destId="{F468896B-AA8F-4E73-B6F0-99434B648544}" srcOrd="2" destOrd="0" parTransId="{37BCB848-69D2-4AF5-BAE2-5E61445E66BB}" sibTransId="{8244E527-A380-49F4-B628-6E0F5F82907C}"/>
    <dgm:cxn modelId="{ADDBFBAA-48CE-4CFD-9B78-B392A92CFDC7}" type="presOf" srcId="{F468896B-AA8F-4E73-B6F0-99434B648544}" destId="{D1675A5F-7EB9-4510-96A2-56CFD4262326}" srcOrd="0" destOrd="2" presId="urn:microsoft.com/office/officeart/2005/8/layout/list1"/>
    <dgm:cxn modelId="{0179F8C9-05C0-4B31-A53A-159F52692490}" type="presOf" srcId="{623E355D-5DE2-4D52-AEF7-7CF7E3C213B5}" destId="{D1675A5F-7EB9-4510-96A2-56CFD4262326}" srcOrd="0" destOrd="1" presId="urn:microsoft.com/office/officeart/2005/8/layout/list1"/>
    <dgm:cxn modelId="{D003FFD8-26D3-48BA-84F7-D90F45586E14}" srcId="{2F218B8D-00DA-4BD8-B999-A4F28138AE4A}" destId="{34EFC221-5BF7-4201-82D2-3F290269838F}" srcOrd="1" destOrd="0" parTransId="{B594D268-00C5-4A7F-941A-E95E3487F6CE}" sibTransId="{3BA11935-4A75-4DDA-86D6-D8FC153AD5ED}"/>
    <dgm:cxn modelId="{5E7CECD9-6DFF-4878-8633-F5E4E45DE91C}" type="presOf" srcId="{41910B06-51C4-477E-B360-E1CBFB735D9A}" destId="{1D568C4E-4309-4DFE-9E35-9BD40101BBB5}" srcOrd="1" destOrd="0" presId="urn:microsoft.com/office/officeart/2005/8/layout/list1"/>
    <dgm:cxn modelId="{AB25B5DB-AB11-4B5E-A1E0-0993E6AD8E09}" srcId="{5039EE15-B2B3-4DFB-95E8-78E4895102CD}" destId="{41910B06-51C4-477E-B360-E1CBFB735D9A}" srcOrd="0" destOrd="0" parTransId="{A2569932-BEA6-4D22-9376-E88BF145CF38}" sibTransId="{7C835492-D907-4827-8E38-050128B9CAB4}"/>
    <dgm:cxn modelId="{573263DF-9465-42F3-B4C0-6B3F840A3145}" type="presOf" srcId="{2DB66CFC-2F5A-4A40-A779-3E49683C26C8}" destId="{FD658E17-923C-4BAD-86DA-8002A9B48EB4}" srcOrd="0" destOrd="0" presId="urn:microsoft.com/office/officeart/2005/8/layout/list1"/>
    <dgm:cxn modelId="{CD4FB0E9-CD15-4572-9EF9-6CD6F2B73E84}" srcId="{41910B06-51C4-477E-B360-E1CBFB735D9A}" destId="{CB5842F3-08A1-4301-BB7E-76687A2D445D}" srcOrd="3" destOrd="0" parTransId="{71B03AA9-188B-4DEB-A6F6-337D497C9536}" sibTransId="{5D389802-A272-4400-A228-0153D4B4E34B}"/>
    <dgm:cxn modelId="{402D43F3-F1F0-4C0F-87A2-D34108F4194E}" srcId="{2F218B8D-00DA-4BD8-B999-A4F28138AE4A}" destId="{2DB66CFC-2F5A-4A40-A779-3E49683C26C8}" srcOrd="0" destOrd="0" parTransId="{0BC34F68-C74A-45E7-B355-1B2E914A27AA}" sibTransId="{570B23D8-5F26-46A7-8B69-139B9FA29AFE}"/>
    <dgm:cxn modelId="{30055FF6-DC29-44DB-A35E-3A78E5094FE6}" type="presOf" srcId="{2F218B8D-00DA-4BD8-B999-A4F28138AE4A}" destId="{D86D5D86-B9BB-44D5-A0D8-DC16C76BB839}" srcOrd="1" destOrd="0" presId="urn:microsoft.com/office/officeart/2005/8/layout/list1"/>
    <dgm:cxn modelId="{295145F6-9AD1-46E1-92B0-586EC9701B38}" type="presOf" srcId="{34EFC221-5BF7-4201-82D2-3F290269838F}" destId="{FD658E17-923C-4BAD-86DA-8002A9B48EB4}" srcOrd="0" destOrd="4" presId="urn:microsoft.com/office/officeart/2005/8/layout/list1"/>
    <dgm:cxn modelId="{C9F536F8-3E52-45CD-8F63-FFB6F64FCA5F}" type="presOf" srcId="{41910B06-51C4-477E-B360-E1CBFB735D9A}" destId="{B532AC03-3CEF-4F88-9091-B2358D72255F}" srcOrd="0" destOrd="0" presId="urn:microsoft.com/office/officeart/2005/8/layout/list1"/>
    <dgm:cxn modelId="{FDC1CA1E-511E-4F28-AB52-193C8F6460FC}" type="presParOf" srcId="{D31439EA-B958-4827-AD68-9907829CB63A}" destId="{5093DFA0-F9AD-4643-9ECD-AE4983124251}" srcOrd="0" destOrd="0" presId="urn:microsoft.com/office/officeart/2005/8/layout/list1"/>
    <dgm:cxn modelId="{5EBD2775-A447-4460-BCF6-02E77B46A9F7}" type="presParOf" srcId="{5093DFA0-F9AD-4643-9ECD-AE4983124251}" destId="{B532AC03-3CEF-4F88-9091-B2358D72255F}" srcOrd="0" destOrd="0" presId="urn:microsoft.com/office/officeart/2005/8/layout/list1"/>
    <dgm:cxn modelId="{F3BC89C9-8821-40C7-AF67-8A840F05FE66}" type="presParOf" srcId="{5093DFA0-F9AD-4643-9ECD-AE4983124251}" destId="{1D568C4E-4309-4DFE-9E35-9BD40101BBB5}" srcOrd="1" destOrd="0" presId="urn:microsoft.com/office/officeart/2005/8/layout/list1"/>
    <dgm:cxn modelId="{31266910-B489-42ED-8A3D-B7597A75E3AB}" type="presParOf" srcId="{D31439EA-B958-4827-AD68-9907829CB63A}" destId="{3DEC0940-03A2-470C-A50A-0C4622457C1A}" srcOrd="1" destOrd="0" presId="urn:microsoft.com/office/officeart/2005/8/layout/list1"/>
    <dgm:cxn modelId="{2496711E-7D84-4FCD-AF51-613E118579E7}" type="presParOf" srcId="{D31439EA-B958-4827-AD68-9907829CB63A}" destId="{D1675A5F-7EB9-4510-96A2-56CFD4262326}" srcOrd="2" destOrd="0" presId="urn:microsoft.com/office/officeart/2005/8/layout/list1"/>
    <dgm:cxn modelId="{8004472B-EB69-46C8-AE44-A5CF16A242B8}" type="presParOf" srcId="{D31439EA-B958-4827-AD68-9907829CB63A}" destId="{EC3498D1-7B30-439A-8AA0-D90923D52260}" srcOrd="3" destOrd="0" presId="urn:microsoft.com/office/officeart/2005/8/layout/list1"/>
    <dgm:cxn modelId="{B101B397-2733-4832-A148-CFCA58CFE59F}" type="presParOf" srcId="{D31439EA-B958-4827-AD68-9907829CB63A}" destId="{F89C58D2-8144-4041-8684-8CD2FD163A17}" srcOrd="4" destOrd="0" presId="urn:microsoft.com/office/officeart/2005/8/layout/list1"/>
    <dgm:cxn modelId="{93F8438E-9DCF-4809-B277-82E9BC7DADC7}" type="presParOf" srcId="{F89C58D2-8144-4041-8684-8CD2FD163A17}" destId="{2640A88D-A9DA-4AD4-A7EE-3F3CF35C2315}" srcOrd="0" destOrd="0" presId="urn:microsoft.com/office/officeart/2005/8/layout/list1"/>
    <dgm:cxn modelId="{90D142A3-AFFD-4940-8ACB-C93F772E9AD3}" type="presParOf" srcId="{F89C58D2-8144-4041-8684-8CD2FD163A17}" destId="{D86D5D86-B9BB-44D5-A0D8-DC16C76BB839}" srcOrd="1" destOrd="0" presId="urn:microsoft.com/office/officeart/2005/8/layout/list1"/>
    <dgm:cxn modelId="{2C9E79E7-F4D5-4EDB-8D51-83C85336A3B2}" type="presParOf" srcId="{D31439EA-B958-4827-AD68-9907829CB63A}" destId="{277DBE9D-58AD-47B0-AB82-CD9E0D25B120}" srcOrd="5" destOrd="0" presId="urn:microsoft.com/office/officeart/2005/8/layout/list1"/>
    <dgm:cxn modelId="{AB69A387-3A24-4E3E-97E4-F884C16606EC}" type="presParOf" srcId="{D31439EA-B958-4827-AD68-9907829CB63A}" destId="{FD658E17-923C-4BAD-86DA-8002A9B48EB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4068EF-0B66-47FA-8891-889EE30359C1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8A1F48-A675-4D0C-B1CC-1F3E2CBE639B}">
      <dgm:prSet/>
      <dgm:spPr/>
      <dgm:t>
        <a:bodyPr/>
        <a:lstStyle/>
        <a:p>
          <a:r>
            <a:rPr lang="en-US"/>
            <a:t>The unemployment rate does not capture all labor market problems.</a:t>
          </a:r>
        </a:p>
      </dgm:t>
    </dgm:pt>
    <dgm:pt modelId="{B38FB0CD-34E5-4E7A-85AC-4FDC284EF0B6}" type="parTrans" cxnId="{5FF82202-C9CF-42B8-A76C-B36C292FDE18}">
      <dgm:prSet/>
      <dgm:spPr/>
      <dgm:t>
        <a:bodyPr/>
        <a:lstStyle/>
        <a:p>
          <a:endParaRPr lang="en-US"/>
        </a:p>
      </dgm:t>
    </dgm:pt>
    <dgm:pt modelId="{37160DA2-0EF3-4B23-BEB1-62DBB590D078}" type="sibTrans" cxnId="{5FF82202-C9CF-42B8-A76C-B36C292FDE18}">
      <dgm:prSet/>
      <dgm:spPr/>
      <dgm:t>
        <a:bodyPr/>
        <a:lstStyle/>
        <a:p>
          <a:endParaRPr lang="en-US"/>
        </a:p>
      </dgm:t>
    </dgm:pt>
    <dgm:pt modelId="{8BE16781-06BC-4EFF-B5A8-100DCCF5DD18}">
      <dgm:prSet/>
      <dgm:spPr/>
      <dgm:t>
        <a:bodyPr/>
        <a:lstStyle/>
        <a:p>
          <a:r>
            <a:rPr lang="en-US" b="1"/>
            <a:t>Discouraged Workers</a:t>
          </a:r>
          <a:endParaRPr lang="en-US"/>
        </a:p>
      </dgm:t>
    </dgm:pt>
    <dgm:pt modelId="{58A30A6A-A8FA-4702-BEFB-6E2324E597F9}" type="parTrans" cxnId="{88BF96A0-952F-4A6E-A546-69384F674554}">
      <dgm:prSet/>
      <dgm:spPr/>
      <dgm:t>
        <a:bodyPr/>
        <a:lstStyle/>
        <a:p>
          <a:endParaRPr lang="en-US"/>
        </a:p>
      </dgm:t>
    </dgm:pt>
    <dgm:pt modelId="{AF37AAA6-2376-48AB-91B8-07B306EADE63}" type="sibTrans" cxnId="{88BF96A0-952F-4A6E-A546-69384F674554}">
      <dgm:prSet/>
      <dgm:spPr/>
      <dgm:t>
        <a:bodyPr/>
        <a:lstStyle/>
        <a:p>
          <a:endParaRPr lang="en-US"/>
        </a:p>
      </dgm:t>
    </dgm:pt>
    <dgm:pt modelId="{501517AD-7BC6-4956-BE92-78A61FA205FF}">
      <dgm:prSet/>
      <dgm:spPr/>
      <dgm:t>
        <a:bodyPr/>
        <a:lstStyle/>
        <a:p>
          <a:r>
            <a:rPr lang="en-US"/>
            <a:t>People who want jobs but stopped searching </a:t>
          </a:r>
        </a:p>
      </dgm:t>
    </dgm:pt>
    <dgm:pt modelId="{19FEA9A7-B0D5-4636-BA6B-BF0D893FD64D}" type="parTrans" cxnId="{C746329E-B739-4DBC-A2C9-8102AA5D74DA}">
      <dgm:prSet/>
      <dgm:spPr/>
      <dgm:t>
        <a:bodyPr/>
        <a:lstStyle/>
        <a:p>
          <a:endParaRPr lang="en-US"/>
        </a:p>
      </dgm:t>
    </dgm:pt>
    <dgm:pt modelId="{179875E7-76B5-4858-AA8A-D75DB0EBA8E6}" type="sibTrans" cxnId="{C746329E-B739-4DBC-A2C9-8102AA5D74DA}">
      <dgm:prSet/>
      <dgm:spPr/>
      <dgm:t>
        <a:bodyPr/>
        <a:lstStyle/>
        <a:p>
          <a:endParaRPr lang="en-US"/>
        </a:p>
      </dgm:t>
    </dgm:pt>
    <dgm:pt modelId="{FB7FBF23-AC52-4DEB-9F40-F105BB7D2353}">
      <dgm:prSet/>
      <dgm:spPr/>
      <dgm:t>
        <a:bodyPr/>
        <a:lstStyle/>
        <a:p>
          <a:r>
            <a:rPr lang="en-US"/>
            <a:t>As they are not counted as unemployed, unemployment may be understated.</a:t>
          </a:r>
        </a:p>
      </dgm:t>
    </dgm:pt>
    <dgm:pt modelId="{8D9545B4-E806-4EE6-AD64-DC32947CE196}" type="parTrans" cxnId="{22F5E0AE-77B4-4B76-9428-42FF9A6C5AF6}">
      <dgm:prSet/>
      <dgm:spPr/>
      <dgm:t>
        <a:bodyPr/>
        <a:lstStyle/>
        <a:p>
          <a:endParaRPr lang="en-US"/>
        </a:p>
      </dgm:t>
    </dgm:pt>
    <dgm:pt modelId="{E120AEEC-1463-42D2-AD75-D9A3CFC56D5E}" type="sibTrans" cxnId="{22F5E0AE-77B4-4B76-9428-42FF9A6C5AF6}">
      <dgm:prSet/>
      <dgm:spPr/>
      <dgm:t>
        <a:bodyPr/>
        <a:lstStyle/>
        <a:p>
          <a:endParaRPr lang="en-US"/>
        </a:p>
      </dgm:t>
    </dgm:pt>
    <dgm:pt modelId="{B75158B3-F8F8-46A5-B73B-9FF01060FB60}">
      <dgm:prSet/>
      <dgm:spPr/>
      <dgm:t>
        <a:bodyPr/>
        <a:lstStyle/>
        <a:p>
          <a:r>
            <a:rPr lang="en-US" b="1"/>
            <a:t>Underemployment</a:t>
          </a:r>
          <a:endParaRPr lang="en-US"/>
        </a:p>
      </dgm:t>
    </dgm:pt>
    <dgm:pt modelId="{278AF695-DD1C-4E2D-B3A3-B85AA9D73457}" type="parTrans" cxnId="{74621CCE-4541-4984-BE89-71B715E3A535}">
      <dgm:prSet/>
      <dgm:spPr/>
      <dgm:t>
        <a:bodyPr/>
        <a:lstStyle/>
        <a:p>
          <a:endParaRPr lang="en-US"/>
        </a:p>
      </dgm:t>
    </dgm:pt>
    <dgm:pt modelId="{84E331A8-B15B-4DEA-8708-BDB4E381CE7D}" type="sibTrans" cxnId="{74621CCE-4541-4984-BE89-71B715E3A535}">
      <dgm:prSet/>
      <dgm:spPr/>
      <dgm:t>
        <a:bodyPr/>
        <a:lstStyle/>
        <a:p>
          <a:endParaRPr lang="en-US"/>
        </a:p>
      </dgm:t>
    </dgm:pt>
    <dgm:pt modelId="{017A4C6F-2FC4-408E-9D28-E7E8A56A1F6F}">
      <dgm:prSet/>
      <dgm:spPr/>
      <dgm:t>
        <a:bodyPr/>
        <a:lstStyle/>
        <a:p>
          <a:r>
            <a:rPr lang="en-US"/>
            <a:t>People who are Working part-time and want full-time jobs </a:t>
          </a:r>
        </a:p>
      </dgm:t>
    </dgm:pt>
    <dgm:pt modelId="{733802BE-C5E8-4403-B7DC-BC3EB142FF25}" type="parTrans" cxnId="{4015622F-67FB-4EAC-9C26-6FB9FB7981F0}">
      <dgm:prSet/>
      <dgm:spPr/>
      <dgm:t>
        <a:bodyPr/>
        <a:lstStyle/>
        <a:p>
          <a:endParaRPr lang="en-US"/>
        </a:p>
      </dgm:t>
    </dgm:pt>
    <dgm:pt modelId="{70F365F3-BE8C-42F3-BA6E-6A7D5EF7914E}" type="sibTrans" cxnId="{4015622F-67FB-4EAC-9C26-6FB9FB7981F0}">
      <dgm:prSet/>
      <dgm:spPr/>
      <dgm:t>
        <a:bodyPr/>
        <a:lstStyle/>
        <a:p>
          <a:endParaRPr lang="en-US"/>
        </a:p>
      </dgm:t>
    </dgm:pt>
    <dgm:pt modelId="{682AD877-AB96-4EC7-9022-141EB81CC122}">
      <dgm:prSet/>
      <dgm:spPr/>
      <dgm:t>
        <a:bodyPr/>
        <a:lstStyle/>
        <a:p>
          <a:r>
            <a:rPr lang="en-US"/>
            <a:t>Counted as employed although labor is underutilized.</a:t>
          </a:r>
        </a:p>
      </dgm:t>
    </dgm:pt>
    <dgm:pt modelId="{0E6578D4-D915-4DD1-B57C-9108C53F568B}" type="parTrans" cxnId="{3E5514C0-23D9-4A28-903F-8B5F113EFBA5}">
      <dgm:prSet/>
      <dgm:spPr/>
      <dgm:t>
        <a:bodyPr/>
        <a:lstStyle/>
        <a:p>
          <a:endParaRPr lang="en-US"/>
        </a:p>
      </dgm:t>
    </dgm:pt>
    <dgm:pt modelId="{B17C9C66-C44C-481C-8D22-D3E45BF04100}" type="sibTrans" cxnId="{3E5514C0-23D9-4A28-903F-8B5F113EFBA5}">
      <dgm:prSet/>
      <dgm:spPr/>
      <dgm:t>
        <a:bodyPr/>
        <a:lstStyle/>
        <a:p>
          <a:endParaRPr lang="en-US"/>
        </a:p>
      </dgm:t>
    </dgm:pt>
    <dgm:pt modelId="{B7AE0A1E-E485-49EE-8980-8A4131101667}">
      <dgm:prSet/>
      <dgm:spPr/>
      <dgm:t>
        <a:bodyPr/>
        <a:lstStyle/>
        <a:p>
          <a:r>
            <a:rPr lang="en-US" b="1"/>
            <a:t>Marginally Attached Workers</a:t>
          </a:r>
          <a:endParaRPr lang="en-US"/>
        </a:p>
      </dgm:t>
    </dgm:pt>
    <dgm:pt modelId="{8CE1E293-918C-4558-B1BD-8FB2E7A9F448}" type="parTrans" cxnId="{66497C63-5750-416A-A2E5-8D53BA2A2D07}">
      <dgm:prSet/>
      <dgm:spPr/>
      <dgm:t>
        <a:bodyPr/>
        <a:lstStyle/>
        <a:p>
          <a:endParaRPr lang="en-US"/>
        </a:p>
      </dgm:t>
    </dgm:pt>
    <dgm:pt modelId="{AA81F4BB-1619-49AA-A584-355973FA493C}" type="sibTrans" cxnId="{66497C63-5750-416A-A2E5-8D53BA2A2D07}">
      <dgm:prSet/>
      <dgm:spPr/>
      <dgm:t>
        <a:bodyPr/>
        <a:lstStyle/>
        <a:p>
          <a:endParaRPr lang="en-US"/>
        </a:p>
      </dgm:t>
    </dgm:pt>
    <dgm:pt modelId="{0EACB3E6-9A3E-4AE4-AE0D-D704E51B8906}">
      <dgm:prSet/>
      <dgm:spPr/>
      <dgm:t>
        <a:bodyPr/>
        <a:lstStyle/>
        <a:p>
          <a:r>
            <a:rPr lang="en-US"/>
            <a:t>People who Want jobs and Occasionally search </a:t>
          </a:r>
        </a:p>
      </dgm:t>
    </dgm:pt>
    <dgm:pt modelId="{F807A9E0-4878-4EE1-B743-EE3508CB7484}" type="parTrans" cxnId="{F62CFB0D-73D0-480E-8006-8582B60A2DA1}">
      <dgm:prSet/>
      <dgm:spPr/>
      <dgm:t>
        <a:bodyPr/>
        <a:lstStyle/>
        <a:p>
          <a:endParaRPr lang="en-US"/>
        </a:p>
      </dgm:t>
    </dgm:pt>
    <dgm:pt modelId="{CEA211DE-52CA-49FA-AC0F-FB3CD3D13DF0}" type="sibTrans" cxnId="{F62CFB0D-73D0-480E-8006-8582B60A2DA1}">
      <dgm:prSet/>
      <dgm:spPr/>
      <dgm:t>
        <a:bodyPr/>
        <a:lstStyle/>
        <a:p>
          <a:endParaRPr lang="en-US"/>
        </a:p>
      </dgm:t>
    </dgm:pt>
    <dgm:pt modelId="{9A92C01E-D20E-4960-85E6-ADA937E446C4}">
      <dgm:prSet/>
      <dgm:spPr/>
      <dgm:t>
        <a:bodyPr/>
        <a:lstStyle/>
        <a:p>
          <a:r>
            <a:rPr lang="en-US"/>
            <a:t>Not counted in official unemployment statistics.</a:t>
          </a:r>
        </a:p>
      </dgm:t>
    </dgm:pt>
    <dgm:pt modelId="{8997538A-65F5-484E-ACAF-6F336120D99E}" type="parTrans" cxnId="{CDDF539C-42D3-4286-A5A6-1A3C07EFCA21}">
      <dgm:prSet/>
      <dgm:spPr/>
      <dgm:t>
        <a:bodyPr/>
        <a:lstStyle/>
        <a:p>
          <a:endParaRPr lang="en-US"/>
        </a:p>
      </dgm:t>
    </dgm:pt>
    <dgm:pt modelId="{3DA0EEA0-DBA2-4A0F-B1DB-0CDF1D415227}" type="sibTrans" cxnId="{CDDF539C-42D3-4286-A5A6-1A3C07EFCA21}">
      <dgm:prSet/>
      <dgm:spPr/>
      <dgm:t>
        <a:bodyPr/>
        <a:lstStyle/>
        <a:p>
          <a:endParaRPr lang="en-US"/>
        </a:p>
      </dgm:t>
    </dgm:pt>
    <dgm:pt modelId="{2C209600-AA73-4DDF-A808-EA64A89DB372}" type="pres">
      <dgm:prSet presAssocID="{6B4068EF-0B66-47FA-8891-889EE30359C1}" presName="linear" presStyleCnt="0">
        <dgm:presLayoutVars>
          <dgm:dir/>
          <dgm:animLvl val="lvl"/>
          <dgm:resizeHandles val="exact"/>
        </dgm:presLayoutVars>
      </dgm:prSet>
      <dgm:spPr/>
    </dgm:pt>
    <dgm:pt modelId="{BD4BAC91-A12D-4A06-B2A8-A475934E20BF}" type="pres">
      <dgm:prSet presAssocID="{328A1F48-A675-4D0C-B1CC-1F3E2CBE639B}" presName="parentLin" presStyleCnt="0"/>
      <dgm:spPr/>
    </dgm:pt>
    <dgm:pt modelId="{0E436CDE-4EA8-4420-BB24-13CBF93F05D2}" type="pres">
      <dgm:prSet presAssocID="{328A1F48-A675-4D0C-B1CC-1F3E2CBE639B}" presName="parentLeftMargin" presStyleLbl="node1" presStyleIdx="0" presStyleCnt="4"/>
      <dgm:spPr/>
    </dgm:pt>
    <dgm:pt modelId="{C3FB8B17-A33A-4AF4-B781-F0D56C028C9E}" type="pres">
      <dgm:prSet presAssocID="{328A1F48-A675-4D0C-B1CC-1F3E2CBE63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BD4551-6700-49E4-974B-996D46CE3E91}" type="pres">
      <dgm:prSet presAssocID="{328A1F48-A675-4D0C-B1CC-1F3E2CBE639B}" presName="negativeSpace" presStyleCnt="0"/>
      <dgm:spPr/>
    </dgm:pt>
    <dgm:pt modelId="{10C7E63F-2352-4114-853C-488280E4BA47}" type="pres">
      <dgm:prSet presAssocID="{328A1F48-A675-4D0C-B1CC-1F3E2CBE639B}" presName="childText" presStyleLbl="conFgAcc1" presStyleIdx="0" presStyleCnt="4">
        <dgm:presLayoutVars>
          <dgm:bulletEnabled val="1"/>
        </dgm:presLayoutVars>
      </dgm:prSet>
      <dgm:spPr/>
    </dgm:pt>
    <dgm:pt modelId="{26BF4BFC-6888-42DE-AA38-55B0BEA81161}" type="pres">
      <dgm:prSet presAssocID="{37160DA2-0EF3-4B23-BEB1-62DBB590D078}" presName="spaceBetweenRectangles" presStyleCnt="0"/>
      <dgm:spPr/>
    </dgm:pt>
    <dgm:pt modelId="{5273BE0E-C5AF-4152-9501-EB7ADDD9C995}" type="pres">
      <dgm:prSet presAssocID="{8BE16781-06BC-4EFF-B5A8-100DCCF5DD18}" presName="parentLin" presStyleCnt="0"/>
      <dgm:spPr/>
    </dgm:pt>
    <dgm:pt modelId="{23C40DC4-001C-4EE0-BEDB-38FD1DD2227C}" type="pres">
      <dgm:prSet presAssocID="{8BE16781-06BC-4EFF-B5A8-100DCCF5DD18}" presName="parentLeftMargin" presStyleLbl="node1" presStyleIdx="0" presStyleCnt="4"/>
      <dgm:spPr/>
    </dgm:pt>
    <dgm:pt modelId="{7FE03EB6-E926-4D84-BE06-675C553FBFC4}" type="pres">
      <dgm:prSet presAssocID="{8BE16781-06BC-4EFF-B5A8-100DCCF5DD1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B56227-4049-474B-A1E8-01CDB3615CF0}" type="pres">
      <dgm:prSet presAssocID="{8BE16781-06BC-4EFF-B5A8-100DCCF5DD18}" presName="negativeSpace" presStyleCnt="0"/>
      <dgm:spPr/>
    </dgm:pt>
    <dgm:pt modelId="{CA0E7809-DC63-404F-8D07-E15185E8D3FE}" type="pres">
      <dgm:prSet presAssocID="{8BE16781-06BC-4EFF-B5A8-100DCCF5DD18}" presName="childText" presStyleLbl="conFgAcc1" presStyleIdx="1" presStyleCnt="4">
        <dgm:presLayoutVars>
          <dgm:bulletEnabled val="1"/>
        </dgm:presLayoutVars>
      </dgm:prSet>
      <dgm:spPr/>
    </dgm:pt>
    <dgm:pt modelId="{786053FF-694F-4781-9F0D-EF4D110DEA9D}" type="pres">
      <dgm:prSet presAssocID="{AF37AAA6-2376-48AB-91B8-07B306EADE63}" presName="spaceBetweenRectangles" presStyleCnt="0"/>
      <dgm:spPr/>
    </dgm:pt>
    <dgm:pt modelId="{C6E606AD-31FD-43BF-880E-C24B8969EB47}" type="pres">
      <dgm:prSet presAssocID="{B75158B3-F8F8-46A5-B73B-9FF01060FB60}" presName="parentLin" presStyleCnt="0"/>
      <dgm:spPr/>
    </dgm:pt>
    <dgm:pt modelId="{7F6C186C-B284-448B-80B3-25BC44BA372C}" type="pres">
      <dgm:prSet presAssocID="{B75158B3-F8F8-46A5-B73B-9FF01060FB60}" presName="parentLeftMargin" presStyleLbl="node1" presStyleIdx="1" presStyleCnt="4"/>
      <dgm:spPr/>
    </dgm:pt>
    <dgm:pt modelId="{3941E7D0-C7C8-40F1-8D2D-9C45CCC6EF63}" type="pres">
      <dgm:prSet presAssocID="{B75158B3-F8F8-46A5-B73B-9FF01060FB6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61A2A4-2299-4D9A-989F-39374083C8E1}" type="pres">
      <dgm:prSet presAssocID="{B75158B3-F8F8-46A5-B73B-9FF01060FB60}" presName="negativeSpace" presStyleCnt="0"/>
      <dgm:spPr/>
    </dgm:pt>
    <dgm:pt modelId="{54D39ACD-F2A8-4801-8601-327120873A7D}" type="pres">
      <dgm:prSet presAssocID="{B75158B3-F8F8-46A5-B73B-9FF01060FB60}" presName="childText" presStyleLbl="conFgAcc1" presStyleIdx="2" presStyleCnt="4">
        <dgm:presLayoutVars>
          <dgm:bulletEnabled val="1"/>
        </dgm:presLayoutVars>
      </dgm:prSet>
      <dgm:spPr/>
    </dgm:pt>
    <dgm:pt modelId="{EEB79880-BE63-4E4F-8BBC-71AE46B1E464}" type="pres">
      <dgm:prSet presAssocID="{84E331A8-B15B-4DEA-8708-BDB4E381CE7D}" presName="spaceBetweenRectangles" presStyleCnt="0"/>
      <dgm:spPr/>
    </dgm:pt>
    <dgm:pt modelId="{E3B1A185-A3B1-4D56-9181-66F6C0FD3F11}" type="pres">
      <dgm:prSet presAssocID="{B7AE0A1E-E485-49EE-8980-8A4131101667}" presName="parentLin" presStyleCnt="0"/>
      <dgm:spPr/>
    </dgm:pt>
    <dgm:pt modelId="{F9CC5188-736A-4DFB-B5B1-93A5BEC4AC9B}" type="pres">
      <dgm:prSet presAssocID="{B7AE0A1E-E485-49EE-8980-8A4131101667}" presName="parentLeftMargin" presStyleLbl="node1" presStyleIdx="2" presStyleCnt="4"/>
      <dgm:spPr/>
    </dgm:pt>
    <dgm:pt modelId="{656F3699-188B-49FF-BE2F-5CEA93169420}" type="pres">
      <dgm:prSet presAssocID="{B7AE0A1E-E485-49EE-8980-8A413110166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BA52BE8-61AF-42C8-A27E-55D4193A2D19}" type="pres">
      <dgm:prSet presAssocID="{B7AE0A1E-E485-49EE-8980-8A4131101667}" presName="negativeSpace" presStyleCnt="0"/>
      <dgm:spPr/>
    </dgm:pt>
    <dgm:pt modelId="{2731EAFD-2756-4AD5-B5A1-546A0319F42A}" type="pres">
      <dgm:prSet presAssocID="{B7AE0A1E-E485-49EE-8980-8A413110166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FF82202-C9CF-42B8-A76C-B36C292FDE18}" srcId="{6B4068EF-0B66-47FA-8891-889EE30359C1}" destId="{328A1F48-A675-4D0C-B1CC-1F3E2CBE639B}" srcOrd="0" destOrd="0" parTransId="{B38FB0CD-34E5-4E7A-85AC-4FDC284EF0B6}" sibTransId="{37160DA2-0EF3-4B23-BEB1-62DBB590D078}"/>
    <dgm:cxn modelId="{CEE68105-57CD-4B21-A4B2-22D51C952F48}" type="presOf" srcId="{FB7FBF23-AC52-4DEB-9F40-F105BB7D2353}" destId="{CA0E7809-DC63-404F-8D07-E15185E8D3FE}" srcOrd="0" destOrd="1" presId="urn:microsoft.com/office/officeart/2005/8/layout/list1"/>
    <dgm:cxn modelId="{F62CFB0D-73D0-480E-8006-8582B60A2DA1}" srcId="{B7AE0A1E-E485-49EE-8980-8A4131101667}" destId="{0EACB3E6-9A3E-4AE4-AE0D-D704E51B8906}" srcOrd="0" destOrd="0" parTransId="{F807A9E0-4878-4EE1-B743-EE3508CB7484}" sibTransId="{CEA211DE-52CA-49FA-AC0F-FB3CD3D13DF0}"/>
    <dgm:cxn modelId="{14B8EA1F-EA68-4F78-80FF-048471D01D80}" type="presOf" srcId="{8BE16781-06BC-4EFF-B5A8-100DCCF5DD18}" destId="{23C40DC4-001C-4EE0-BEDB-38FD1DD2227C}" srcOrd="0" destOrd="0" presId="urn:microsoft.com/office/officeart/2005/8/layout/list1"/>
    <dgm:cxn modelId="{4015622F-67FB-4EAC-9C26-6FB9FB7981F0}" srcId="{B75158B3-F8F8-46A5-B73B-9FF01060FB60}" destId="{017A4C6F-2FC4-408E-9D28-E7E8A56A1F6F}" srcOrd="0" destOrd="0" parTransId="{733802BE-C5E8-4403-B7DC-BC3EB142FF25}" sibTransId="{70F365F3-BE8C-42F3-BA6E-6A7D5EF7914E}"/>
    <dgm:cxn modelId="{66497C63-5750-416A-A2E5-8D53BA2A2D07}" srcId="{6B4068EF-0B66-47FA-8891-889EE30359C1}" destId="{B7AE0A1E-E485-49EE-8980-8A4131101667}" srcOrd="3" destOrd="0" parTransId="{8CE1E293-918C-4558-B1BD-8FB2E7A9F448}" sibTransId="{AA81F4BB-1619-49AA-A584-355973FA493C}"/>
    <dgm:cxn modelId="{8DECA76F-DE97-49C6-8081-ABB38DC7EC91}" type="presOf" srcId="{501517AD-7BC6-4956-BE92-78A61FA205FF}" destId="{CA0E7809-DC63-404F-8D07-E15185E8D3FE}" srcOrd="0" destOrd="0" presId="urn:microsoft.com/office/officeart/2005/8/layout/list1"/>
    <dgm:cxn modelId="{CB476272-7316-4840-9443-C7780E36EF0A}" type="presOf" srcId="{B7AE0A1E-E485-49EE-8980-8A4131101667}" destId="{656F3699-188B-49FF-BE2F-5CEA93169420}" srcOrd="1" destOrd="0" presId="urn:microsoft.com/office/officeart/2005/8/layout/list1"/>
    <dgm:cxn modelId="{4CE6C18C-53CC-401B-9F0F-33E28880746D}" type="presOf" srcId="{328A1F48-A675-4D0C-B1CC-1F3E2CBE639B}" destId="{0E436CDE-4EA8-4420-BB24-13CBF93F05D2}" srcOrd="0" destOrd="0" presId="urn:microsoft.com/office/officeart/2005/8/layout/list1"/>
    <dgm:cxn modelId="{CDDF539C-42D3-4286-A5A6-1A3C07EFCA21}" srcId="{B7AE0A1E-E485-49EE-8980-8A4131101667}" destId="{9A92C01E-D20E-4960-85E6-ADA937E446C4}" srcOrd="1" destOrd="0" parTransId="{8997538A-65F5-484E-ACAF-6F336120D99E}" sibTransId="{3DA0EEA0-DBA2-4A0F-B1DB-0CDF1D415227}"/>
    <dgm:cxn modelId="{C746329E-B739-4DBC-A2C9-8102AA5D74DA}" srcId="{8BE16781-06BC-4EFF-B5A8-100DCCF5DD18}" destId="{501517AD-7BC6-4956-BE92-78A61FA205FF}" srcOrd="0" destOrd="0" parTransId="{19FEA9A7-B0D5-4636-BA6B-BF0D893FD64D}" sibTransId="{179875E7-76B5-4858-AA8A-D75DB0EBA8E6}"/>
    <dgm:cxn modelId="{6261599F-1D16-4BFC-98DD-D28508B77129}" type="presOf" srcId="{B75158B3-F8F8-46A5-B73B-9FF01060FB60}" destId="{7F6C186C-B284-448B-80B3-25BC44BA372C}" srcOrd="0" destOrd="0" presId="urn:microsoft.com/office/officeart/2005/8/layout/list1"/>
    <dgm:cxn modelId="{88BF96A0-952F-4A6E-A546-69384F674554}" srcId="{6B4068EF-0B66-47FA-8891-889EE30359C1}" destId="{8BE16781-06BC-4EFF-B5A8-100DCCF5DD18}" srcOrd="1" destOrd="0" parTransId="{58A30A6A-A8FA-4702-BEFB-6E2324E597F9}" sibTransId="{AF37AAA6-2376-48AB-91B8-07B306EADE63}"/>
    <dgm:cxn modelId="{4F63EBA2-67BD-47BC-9EC8-A0EB29294930}" type="presOf" srcId="{B7AE0A1E-E485-49EE-8980-8A4131101667}" destId="{F9CC5188-736A-4DFB-B5B1-93A5BEC4AC9B}" srcOrd="0" destOrd="0" presId="urn:microsoft.com/office/officeart/2005/8/layout/list1"/>
    <dgm:cxn modelId="{CE7801AB-2A28-4849-BA92-2FFDA59D2817}" type="presOf" srcId="{328A1F48-A675-4D0C-B1CC-1F3E2CBE639B}" destId="{C3FB8B17-A33A-4AF4-B781-F0D56C028C9E}" srcOrd="1" destOrd="0" presId="urn:microsoft.com/office/officeart/2005/8/layout/list1"/>
    <dgm:cxn modelId="{0EFB93AB-0EF7-4298-ADC8-5A78938DF161}" type="presOf" srcId="{017A4C6F-2FC4-408E-9D28-E7E8A56A1F6F}" destId="{54D39ACD-F2A8-4801-8601-327120873A7D}" srcOrd="0" destOrd="0" presId="urn:microsoft.com/office/officeart/2005/8/layout/list1"/>
    <dgm:cxn modelId="{020CD1AD-2A14-49BD-867E-AE750AB05403}" type="presOf" srcId="{9A92C01E-D20E-4960-85E6-ADA937E446C4}" destId="{2731EAFD-2756-4AD5-B5A1-546A0319F42A}" srcOrd="0" destOrd="1" presId="urn:microsoft.com/office/officeart/2005/8/layout/list1"/>
    <dgm:cxn modelId="{22F5E0AE-77B4-4B76-9428-42FF9A6C5AF6}" srcId="{8BE16781-06BC-4EFF-B5A8-100DCCF5DD18}" destId="{FB7FBF23-AC52-4DEB-9F40-F105BB7D2353}" srcOrd="1" destOrd="0" parTransId="{8D9545B4-E806-4EE6-AD64-DC32947CE196}" sibTransId="{E120AEEC-1463-42D2-AD75-D9A3CFC56D5E}"/>
    <dgm:cxn modelId="{97C372BD-7AD4-4BD3-BF46-1A099EB9C7D7}" type="presOf" srcId="{8BE16781-06BC-4EFF-B5A8-100DCCF5DD18}" destId="{7FE03EB6-E926-4D84-BE06-675C553FBFC4}" srcOrd="1" destOrd="0" presId="urn:microsoft.com/office/officeart/2005/8/layout/list1"/>
    <dgm:cxn modelId="{3E5514C0-23D9-4A28-903F-8B5F113EFBA5}" srcId="{B75158B3-F8F8-46A5-B73B-9FF01060FB60}" destId="{682AD877-AB96-4EC7-9022-141EB81CC122}" srcOrd="1" destOrd="0" parTransId="{0E6578D4-D915-4DD1-B57C-9108C53F568B}" sibTransId="{B17C9C66-C44C-481C-8D22-D3E45BF04100}"/>
    <dgm:cxn modelId="{B4E442CC-3C10-4109-8E09-AB749C71D487}" type="presOf" srcId="{B75158B3-F8F8-46A5-B73B-9FF01060FB60}" destId="{3941E7D0-C7C8-40F1-8D2D-9C45CCC6EF63}" srcOrd="1" destOrd="0" presId="urn:microsoft.com/office/officeart/2005/8/layout/list1"/>
    <dgm:cxn modelId="{74621CCE-4541-4984-BE89-71B715E3A535}" srcId="{6B4068EF-0B66-47FA-8891-889EE30359C1}" destId="{B75158B3-F8F8-46A5-B73B-9FF01060FB60}" srcOrd="2" destOrd="0" parTransId="{278AF695-DD1C-4E2D-B3A3-B85AA9D73457}" sibTransId="{84E331A8-B15B-4DEA-8708-BDB4E381CE7D}"/>
    <dgm:cxn modelId="{302C48D9-4B9F-4078-8157-62982327C735}" type="presOf" srcId="{682AD877-AB96-4EC7-9022-141EB81CC122}" destId="{54D39ACD-F2A8-4801-8601-327120873A7D}" srcOrd="0" destOrd="1" presId="urn:microsoft.com/office/officeart/2005/8/layout/list1"/>
    <dgm:cxn modelId="{DD3242DC-F86B-416B-A964-8BF50D996E28}" type="presOf" srcId="{6B4068EF-0B66-47FA-8891-889EE30359C1}" destId="{2C209600-AA73-4DDF-A808-EA64A89DB372}" srcOrd="0" destOrd="0" presId="urn:microsoft.com/office/officeart/2005/8/layout/list1"/>
    <dgm:cxn modelId="{362A57FD-105B-4C50-B1DA-90C58CC426C7}" type="presOf" srcId="{0EACB3E6-9A3E-4AE4-AE0D-D704E51B8906}" destId="{2731EAFD-2756-4AD5-B5A1-546A0319F42A}" srcOrd="0" destOrd="0" presId="urn:microsoft.com/office/officeart/2005/8/layout/list1"/>
    <dgm:cxn modelId="{A365692B-202B-4CB3-80D5-C568D20BBE8E}" type="presParOf" srcId="{2C209600-AA73-4DDF-A808-EA64A89DB372}" destId="{BD4BAC91-A12D-4A06-B2A8-A475934E20BF}" srcOrd="0" destOrd="0" presId="urn:microsoft.com/office/officeart/2005/8/layout/list1"/>
    <dgm:cxn modelId="{F224DCB7-9DDF-4B04-8A2D-D3D73602596C}" type="presParOf" srcId="{BD4BAC91-A12D-4A06-B2A8-A475934E20BF}" destId="{0E436CDE-4EA8-4420-BB24-13CBF93F05D2}" srcOrd="0" destOrd="0" presId="urn:microsoft.com/office/officeart/2005/8/layout/list1"/>
    <dgm:cxn modelId="{801C0742-5A9F-4570-97B5-49E84B3A99AD}" type="presParOf" srcId="{BD4BAC91-A12D-4A06-B2A8-A475934E20BF}" destId="{C3FB8B17-A33A-4AF4-B781-F0D56C028C9E}" srcOrd="1" destOrd="0" presId="urn:microsoft.com/office/officeart/2005/8/layout/list1"/>
    <dgm:cxn modelId="{9CB85D13-6FE4-4EB5-BB95-E49ABAD042A5}" type="presParOf" srcId="{2C209600-AA73-4DDF-A808-EA64A89DB372}" destId="{0DBD4551-6700-49E4-974B-996D46CE3E91}" srcOrd="1" destOrd="0" presId="urn:microsoft.com/office/officeart/2005/8/layout/list1"/>
    <dgm:cxn modelId="{CCB23F5B-9BE1-49BB-85B8-263BB8F09092}" type="presParOf" srcId="{2C209600-AA73-4DDF-A808-EA64A89DB372}" destId="{10C7E63F-2352-4114-853C-488280E4BA47}" srcOrd="2" destOrd="0" presId="urn:microsoft.com/office/officeart/2005/8/layout/list1"/>
    <dgm:cxn modelId="{873F026C-DB57-42D7-8FB5-EB7FD065480F}" type="presParOf" srcId="{2C209600-AA73-4DDF-A808-EA64A89DB372}" destId="{26BF4BFC-6888-42DE-AA38-55B0BEA81161}" srcOrd="3" destOrd="0" presId="urn:microsoft.com/office/officeart/2005/8/layout/list1"/>
    <dgm:cxn modelId="{26AF935E-9A5D-4FC5-9532-97A311E91DD4}" type="presParOf" srcId="{2C209600-AA73-4DDF-A808-EA64A89DB372}" destId="{5273BE0E-C5AF-4152-9501-EB7ADDD9C995}" srcOrd="4" destOrd="0" presId="urn:microsoft.com/office/officeart/2005/8/layout/list1"/>
    <dgm:cxn modelId="{594A1E04-A48B-4DED-826B-9ABA8CE1939F}" type="presParOf" srcId="{5273BE0E-C5AF-4152-9501-EB7ADDD9C995}" destId="{23C40DC4-001C-4EE0-BEDB-38FD1DD2227C}" srcOrd="0" destOrd="0" presId="urn:microsoft.com/office/officeart/2005/8/layout/list1"/>
    <dgm:cxn modelId="{3DD5BFCD-E953-44E1-ACD4-D5A67CB2175C}" type="presParOf" srcId="{5273BE0E-C5AF-4152-9501-EB7ADDD9C995}" destId="{7FE03EB6-E926-4D84-BE06-675C553FBFC4}" srcOrd="1" destOrd="0" presId="urn:microsoft.com/office/officeart/2005/8/layout/list1"/>
    <dgm:cxn modelId="{F61BEF18-837E-4DA7-A50C-90D7E9DE12E6}" type="presParOf" srcId="{2C209600-AA73-4DDF-A808-EA64A89DB372}" destId="{D7B56227-4049-474B-A1E8-01CDB3615CF0}" srcOrd="5" destOrd="0" presId="urn:microsoft.com/office/officeart/2005/8/layout/list1"/>
    <dgm:cxn modelId="{3D19B8C3-7E46-4B53-B88F-C17D5E800FF0}" type="presParOf" srcId="{2C209600-AA73-4DDF-A808-EA64A89DB372}" destId="{CA0E7809-DC63-404F-8D07-E15185E8D3FE}" srcOrd="6" destOrd="0" presId="urn:microsoft.com/office/officeart/2005/8/layout/list1"/>
    <dgm:cxn modelId="{276C854A-E0E1-4C77-9248-259B89C610A5}" type="presParOf" srcId="{2C209600-AA73-4DDF-A808-EA64A89DB372}" destId="{786053FF-694F-4781-9F0D-EF4D110DEA9D}" srcOrd="7" destOrd="0" presId="urn:microsoft.com/office/officeart/2005/8/layout/list1"/>
    <dgm:cxn modelId="{9560CF6E-ED99-4313-843E-64CD9BC35165}" type="presParOf" srcId="{2C209600-AA73-4DDF-A808-EA64A89DB372}" destId="{C6E606AD-31FD-43BF-880E-C24B8969EB47}" srcOrd="8" destOrd="0" presId="urn:microsoft.com/office/officeart/2005/8/layout/list1"/>
    <dgm:cxn modelId="{D84E8B93-248F-4112-A39E-775C67B2C217}" type="presParOf" srcId="{C6E606AD-31FD-43BF-880E-C24B8969EB47}" destId="{7F6C186C-B284-448B-80B3-25BC44BA372C}" srcOrd="0" destOrd="0" presId="urn:microsoft.com/office/officeart/2005/8/layout/list1"/>
    <dgm:cxn modelId="{29E82220-FC45-4A18-A5FE-9DF502DC06EA}" type="presParOf" srcId="{C6E606AD-31FD-43BF-880E-C24B8969EB47}" destId="{3941E7D0-C7C8-40F1-8D2D-9C45CCC6EF63}" srcOrd="1" destOrd="0" presId="urn:microsoft.com/office/officeart/2005/8/layout/list1"/>
    <dgm:cxn modelId="{344343C5-4820-4DA5-8678-039970C16D03}" type="presParOf" srcId="{2C209600-AA73-4DDF-A808-EA64A89DB372}" destId="{C761A2A4-2299-4D9A-989F-39374083C8E1}" srcOrd="9" destOrd="0" presId="urn:microsoft.com/office/officeart/2005/8/layout/list1"/>
    <dgm:cxn modelId="{60D1FB06-F7A6-4AE9-BDD8-0101951573E9}" type="presParOf" srcId="{2C209600-AA73-4DDF-A808-EA64A89DB372}" destId="{54D39ACD-F2A8-4801-8601-327120873A7D}" srcOrd="10" destOrd="0" presId="urn:microsoft.com/office/officeart/2005/8/layout/list1"/>
    <dgm:cxn modelId="{6547092F-15BF-4D84-B379-ABF6A6240BF1}" type="presParOf" srcId="{2C209600-AA73-4DDF-A808-EA64A89DB372}" destId="{EEB79880-BE63-4E4F-8BBC-71AE46B1E464}" srcOrd="11" destOrd="0" presId="urn:microsoft.com/office/officeart/2005/8/layout/list1"/>
    <dgm:cxn modelId="{C0844B61-FB84-4BB9-ABB9-5F4F37BFDBA0}" type="presParOf" srcId="{2C209600-AA73-4DDF-A808-EA64A89DB372}" destId="{E3B1A185-A3B1-4D56-9181-66F6C0FD3F11}" srcOrd="12" destOrd="0" presId="urn:microsoft.com/office/officeart/2005/8/layout/list1"/>
    <dgm:cxn modelId="{B4598C34-6D55-47CA-9343-C33CC7BE3B04}" type="presParOf" srcId="{E3B1A185-A3B1-4D56-9181-66F6C0FD3F11}" destId="{F9CC5188-736A-4DFB-B5B1-93A5BEC4AC9B}" srcOrd="0" destOrd="0" presId="urn:microsoft.com/office/officeart/2005/8/layout/list1"/>
    <dgm:cxn modelId="{2C09EC18-0A0D-45D1-B13E-BCAC62F2ADA5}" type="presParOf" srcId="{E3B1A185-A3B1-4D56-9181-66F6C0FD3F11}" destId="{656F3699-188B-49FF-BE2F-5CEA93169420}" srcOrd="1" destOrd="0" presId="urn:microsoft.com/office/officeart/2005/8/layout/list1"/>
    <dgm:cxn modelId="{835E3D5C-A53E-4959-B3F3-364E0401C560}" type="presParOf" srcId="{2C209600-AA73-4DDF-A808-EA64A89DB372}" destId="{0BA52BE8-61AF-42C8-A27E-55D4193A2D19}" srcOrd="13" destOrd="0" presId="urn:microsoft.com/office/officeart/2005/8/layout/list1"/>
    <dgm:cxn modelId="{5783AA3B-A35B-43A4-8461-2E451EB27FBB}" type="presParOf" srcId="{2C209600-AA73-4DDF-A808-EA64A89DB372}" destId="{2731EAFD-2756-4AD5-B5A1-546A0319F42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F6080C-1C57-4EFE-B7A6-856BDFACA323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5F08F5-F08F-4673-9140-FB57CE02384B}">
      <dgm:prSet/>
      <dgm:spPr/>
      <dgm:t>
        <a:bodyPr/>
        <a:lstStyle/>
        <a:p>
          <a:r>
            <a:rPr lang="en-US"/>
            <a:t>Full employment does NOT mean zero unemployment.</a:t>
          </a:r>
        </a:p>
      </dgm:t>
    </dgm:pt>
    <dgm:pt modelId="{ACCB7B0A-0AEB-4EA7-B8C9-0CA0888E11A6}" type="parTrans" cxnId="{2C43571E-5AAE-4174-84B0-A71A1A580FD8}">
      <dgm:prSet/>
      <dgm:spPr/>
      <dgm:t>
        <a:bodyPr/>
        <a:lstStyle/>
        <a:p>
          <a:endParaRPr lang="en-US"/>
        </a:p>
      </dgm:t>
    </dgm:pt>
    <dgm:pt modelId="{3E0E0705-F893-438E-A7B7-BC7C77E0B369}" type="sibTrans" cxnId="{2C43571E-5AAE-4174-84B0-A71A1A580FD8}">
      <dgm:prSet/>
      <dgm:spPr/>
      <dgm:t>
        <a:bodyPr/>
        <a:lstStyle/>
        <a:p>
          <a:endParaRPr lang="en-US"/>
        </a:p>
      </dgm:t>
    </dgm:pt>
    <dgm:pt modelId="{04E7992C-58BC-41DD-8CDB-586C866AF5FF}">
      <dgm:prSet/>
      <dgm:spPr/>
      <dgm:t>
        <a:bodyPr/>
        <a:lstStyle/>
        <a:p>
          <a:r>
            <a:rPr lang="en-US" dirty="0"/>
            <a:t>Even in a healthy economy</a:t>
          </a:r>
        </a:p>
      </dgm:t>
    </dgm:pt>
    <dgm:pt modelId="{46C2A8DF-26F7-4819-A1FA-57BD6D6AAB77}" type="parTrans" cxnId="{BDDEFAD6-B569-4EE1-AF36-435E41A8C4C8}">
      <dgm:prSet/>
      <dgm:spPr/>
      <dgm:t>
        <a:bodyPr/>
        <a:lstStyle/>
        <a:p>
          <a:endParaRPr lang="en-US"/>
        </a:p>
      </dgm:t>
    </dgm:pt>
    <dgm:pt modelId="{CC8F7B46-35DA-41ED-BDC6-A1D38D8D50DB}" type="sibTrans" cxnId="{BDDEFAD6-B569-4EE1-AF36-435E41A8C4C8}">
      <dgm:prSet/>
      <dgm:spPr/>
      <dgm:t>
        <a:bodyPr/>
        <a:lstStyle/>
        <a:p>
          <a:endParaRPr lang="en-US"/>
        </a:p>
      </dgm:t>
    </dgm:pt>
    <dgm:pt modelId="{45898492-4BB2-4532-8C00-02D70E0FB80D}">
      <dgm:prSet/>
      <dgm:spPr/>
      <dgm:t>
        <a:bodyPr/>
        <a:lstStyle/>
        <a:p>
          <a:r>
            <a:rPr lang="en-US" dirty="0"/>
            <a:t>Some workers change jobs </a:t>
          </a:r>
        </a:p>
      </dgm:t>
    </dgm:pt>
    <dgm:pt modelId="{D8871E07-56D1-4F70-B6B2-238C3393926A}" type="parTrans" cxnId="{DB392616-5699-4FB5-BB77-50087351B3C4}">
      <dgm:prSet/>
      <dgm:spPr/>
      <dgm:t>
        <a:bodyPr/>
        <a:lstStyle/>
        <a:p>
          <a:endParaRPr lang="en-US"/>
        </a:p>
      </dgm:t>
    </dgm:pt>
    <dgm:pt modelId="{731367F9-4263-4317-B2BA-33A9C6F3A529}" type="sibTrans" cxnId="{DB392616-5699-4FB5-BB77-50087351B3C4}">
      <dgm:prSet/>
      <dgm:spPr/>
      <dgm:t>
        <a:bodyPr/>
        <a:lstStyle/>
        <a:p>
          <a:endParaRPr lang="en-US"/>
        </a:p>
      </dgm:t>
    </dgm:pt>
    <dgm:pt modelId="{F14DC3BE-CE06-4929-B5C6-762B7862C4F2}">
      <dgm:prSet/>
      <dgm:spPr/>
      <dgm:t>
        <a:bodyPr/>
        <a:lstStyle/>
        <a:p>
          <a:r>
            <a:rPr lang="en-US" dirty="0"/>
            <a:t>Some industries evolve </a:t>
          </a:r>
        </a:p>
      </dgm:t>
    </dgm:pt>
    <dgm:pt modelId="{DD2F61F6-396C-4F7C-AD22-7D630D0D57C8}" type="parTrans" cxnId="{B9280252-7527-483B-BF94-782135D4224A}">
      <dgm:prSet/>
      <dgm:spPr/>
      <dgm:t>
        <a:bodyPr/>
        <a:lstStyle/>
        <a:p>
          <a:endParaRPr lang="en-US"/>
        </a:p>
      </dgm:t>
    </dgm:pt>
    <dgm:pt modelId="{F3F0A1E9-D064-4B95-9882-684EEE45FD73}" type="sibTrans" cxnId="{B9280252-7527-483B-BF94-782135D4224A}">
      <dgm:prSet/>
      <dgm:spPr/>
      <dgm:t>
        <a:bodyPr/>
        <a:lstStyle/>
        <a:p>
          <a:endParaRPr lang="en-US"/>
        </a:p>
      </dgm:t>
    </dgm:pt>
    <dgm:pt modelId="{8632C871-3081-44A3-AA7F-CC37A996C80A}">
      <dgm:prSet/>
      <dgm:spPr/>
      <dgm:t>
        <a:bodyPr/>
        <a:lstStyle/>
        <a:p>
          <a:r>
            <a:rPr lang="en-US" dirty="0"/>
            <a:t>Therefore</a:t>
          </a:r>
        </a:p>
      </dgm:t>
    </dgm:pt>
    <dgm:pt modelId="{6421B716-4966-46A9-9EA4-4CFAA37E6EF4}" type="parTrans" cxnId="{BF642217-4268-427B-8152-81ADB12EFFF4}">
      <dgm:prSet/>
      <dgm:spPr/>
      <dgm:t>
        <a:bodyPr/>
        <a:lstStyle/>
        <a:p>
          <a:endParaRPr lang="en-US"/>
        </a:p>
      </dgm:t>
    </dgm:pt>
    <dgm:pt modelId="{A1D01AB5-4EA7-49DF-B245-0D09CF71BE7E}" type="sibTrans" cxnId="{BF642217-4268-427B-8152-81ADB12EFFF4}">
      <dgm:prSet/>
      <dgm:spPr/>
      <dgm:t>
        <a:bodyPr/>
        <a:lstStyle/>
        <a:p>
          <a:endParaRPr lang="en-US"/>
        </a:p>
      </dgm:t>
    </dgm:pt>
    <dgm:pt modelId="{1350D1EE-32A6-460D-852F-9E99AB2D149D}">
      <dgm:prSet/>
      <dgm:spPr/>
      <dgm:t>
        <a:bodyPr/>
        <a:lstStyle/>
        <a:p>
          <a:r>
            <a:rPr lang="en-US" b="1" dirty="0"/>
            <a:t>Full Employment Exists When Only</a:t>
          </a:r>
          <a:endParaRPr lang="en-US" dirty="0"/>
        </a:p>
      </dgm:t>
    </dgm:pt>
    <dgm:pt modelId="{D542FA13-D824-4AEA-9726-034DE0E0922D}" type="parTrans" cxnId="{26B17F71-7106-434A-8C0F-6F6ECC4D401B}">
      <dgm:prSet/>
      <dgm:spPr/>
      <dgm:t>
        <a:bodyPr/>
        <a:lstStyle/>
        <a:p>
          <a:endParaRPr lang="en-US"/>
        </a:p>
      </dgm:t>
    </dgm:pt>
    <dgm:pt modelId="{D9B327E3-E749-4BCE-9CE0-A892A0D9776D}" type="sibTrans" cxnId="{26B17F71-7106-434A-8C0F-6F6ECC4D401B}">
      <dgm:prSet/>
      <dgm:spPr/>
      <dgm:t>
        <a:bodyPr/>
        <a:lstStyle/>
        <a:p>
          <a:endParaRPr lang="en-US"/>
        </a:p>
      </dgm:t>
    </dgm:pt>
    <dgm:pt modelId="{E3E71AC0-EFF2-4F88-8C21-56412497C043}">
      <dgm:prSet/>
      <dgm:spPr/>
      <dgm:t>
        <a:bodyPr/>
        <a:lstStyle/>
        <a:p>
          <a:r>
            <a:rPr lang="en-US" dirty="0"/>
            <a:t>Frictional unemployment </a:t>
          </a:r>
        </a:p>
      </dgm:t>
    </dgm:pt>
    <dgm:pt modelId="{BF533469-F671-4B9F-935B-684F17683FCC}" type="parTrans" cxnId="{EE8CA2B0-5C07-4435-899D-4E5E718154B0}">
      <dgm:prSet/>
      <dgm:spPr/>
      <dgm:t>
        <a:bodyPr/>
        <a:lstStyle/>
        <a:p>
          <a:endParaRPr lang="en-US"/>
        </a:p>
      </dgm:t>
    </dgm:pt>
    <dgm:pt modelId="{4C10E98E-7702-4CF7-86DA-00A65BF219DD}" type="sibTrans" cxnId="{EE8CA2B0-5C07-4435-899D-4E5E718154B0}">
      <dgm:prSet/>
      <dgm:spPr/>
      <dgm:t>
        <a:bodyPr/>
        <a:lstStyle/>
        <a:p>
          <a:endParaRPr lang="en-US"/>
        </a:p>
      </dgm:t>
    </dgm:pt>
    <dgm:pt modelId="{CC8A2B1C-F708-44C4-A3A3-C1E50E7A0A3B}">
      <dgm:prSet/>
      <dgm:spPr/>
      <dgm:t>
        <a:bodyPr/>
        <a:lstStyle/>
        <a:p>
          <a:r>
            <a:rPr lang="en-US" dirty="0"/>
            <a:t>Structural unemployment remain.</a:t>
          </a:r>
        </a:p>
      </dgm:t>
    </dgm:pt>
    <dgm:pt modelId="{7E60F0FE-EF43-474F-947F-1B136B31FF74}" type="parTrans" cxnId="{4F8B00C2-E140-43F2-BA88-835CDE189905}">
      <dgm:prSet/>
      <dgm:spPr/>
      <dgm:t>
        <a:bodyPr/>
        <a:lstStyle/>
        <a:p>
          <a:endParaRPr lang="en-US"/>
        </a:p>
      </dgm:t>
    </dgm:pt>
    <dgm:pt modelId="{334DDD17-613E-4814-809F-4D5AE096873A}" type="sibTrans" cxnId="{4F8B00C2-E140-43F2-BA88-835CDE189905}">
      <dgm:prSet/>
      <dgm:spPr/>
      <dgm:t>
        <a:bodyPr/>
        <a:lstStyle/>
        <a:p>
          <a:endParaRPr lang="en-US"/>
        </a:p>
      </dgm:t>
    </dgm:pt>
    <dgm:pt modelId="{4AAADD57-6333-4FD2-8795-6A0219CA99BF}" type="pres">
      <dgm:prSet presAssocID="{B8F6080C-1C57-4EFE-B7A6-856BDFACA323}" presName="linear" presStyleCnt="0">
        <dgm:presLayoutVars>
          <dgm:dir/>
          <dgm:animLvl val="lvl"/>
          <dgm:resizeHandles val="exact"/>
        </dgm:presLayoutVars>
      </dgm:prSet>
      <dgm:spPr/>
    </dgm:pt>
    <dgm:pt modelId="{45ABF3D6-9DC1-425E-AF2E-06854CE0D4BF}" type="pres">
      <dgm:prSet presAssocID="{585F08F5-F08F-4673-9140-FB57CE02384B}" presName="parentLin" presStyleCnt="0"/>
      <dgm:spPr/>
    </dgm:pt>
    <dgm:pt modelId="{26F43615-E50C-4F7F-B10F-220880A84A4E}" type="pres">
      <dgm:prSet presAssocID="{585F08F5-F08F-4673-9140-FB57CE02384B}" presName="parentLeftMargin" presStyleLbl="node1" presStyleIdx="0" presStyleCnt="2"/>
      <dgm:spPr/>
    </dgm:pt>
    <dgm:pt modelId="{FB402251-8DA4-45BB-A4BD-658CED45DA5C}" type="pres">
      <dgm:prSet presAssocID="{585F08F5-F08F-4673-9140-FB57CE02384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D8AB212-FD65-4573-AC09-BED0E1C5C894}" type="pres">
      <dgm:prSet presAssocID="{585F08F5-F08F-4673-9140-FB57CE02384B}" presName="negativeSpace" presStyleCnt="0"/>
      <dgm:spPr/>
    </dgm:pt>
    <dgm:pt modelId="{17392611-BDED-4EB7-B3D1-DC805D44BD02}" type="pres">
      <dgm:prSet presAssocID="{585F08F5-F08F-4673-9140-FB57CE02384B}" presName="childText" presStyleLbl="conFgAcc1" presStyleIdx="0" presStyleCnt="2">
        <dgm:presLayoutVars>
          <dgm:bulletEnabled val="1"/>
        </dgm:presLayoutVars>
      </dgm:prSet>
      <dgm:spPr/>
    </dgm:pt>
    <dgm:pt modelId="{D0C9B6E6-6221-4921-BDF8-ECD40A1418AB}" type="pres">
      <dgm:prSet presAssocID="{3E0E0705-F893-438E-A7B7-BC7C77E0B369}" presName="spaceBetweenRectangles" presStyleCnt="0"/>
      <dgm:spPr/>
    </dgm:pt>
    <dgm:pt modelId="{12E8E419-08B1-43A6-9788-D5B5DD489AA6}" type="pres">
      <dgm:prSet presAssocID="{8632C871-3081-44A3-AA7F-CC37A996C80A}" presName="parentLin" presStyleCnt="0"/>
      <dgm:spPr/>
    </dgm:pt>
    <dgm:pt modelId="{643FD405-1AEA-46E1-9753-25D048D62A8E}" type="pres">
      <dgm:prSet presAssocID="{8632C871-3081-44A3-AA7F-CC37A996C80A}" presName="parentLeftMargin" presStyleLbl="node1" presStyleIdx="0" presStyleCnt="2"/>
      <dgm:spPr/>
    </dgm:pt>
    <dgm:pt modelId="{E067C64E-9572-489E-A76B-96D8A4E4D631}" type="pres">
      <dgm:prSet presAssocID="{8632C871-3081-44A3-AA7F-CC37A996C80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AE60749-095C-4F31-BFA7-230B63729E59}" type="pres">
      <dgm:prSet presAssocID="{8632C871-3081-44A3-AA7F-CC37A996C80A}" presName="negativeSpace" presStyleCnt="0"/>
      <dgm:spPr/>
    </dgm:pt>
    <dgm:pt modelId="{89C37C57-8C66-47E2-8944-3F26A1211D91}" type="pres">
      <dgm:prSet presAssocID="{8632C871-3081-44A3-AA7F-CC37A996C80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B392616-5699-4FB5-BB77-50087351B3C4}" srcId="{04E7992C-58BC-41DD-8CDB-586C866AF5FF}" destId="{45898492-4BB2-4532-8C00-02D70E0FB80D}" srcOrd="0" destOrd="0" parTransId="{D8871E07-56D1-4F70-B6B2-238C3393926A}" sibTransId="{731367F9-4263-4317-B2BA-33A9C6F3A529}"/>
    <dgm:cxn modelId="{BF642217-4268-427B-8152-81ADB12EFFF4}" srcId="{B8F6080C-1C57-4EFE-B7A6-856BDFACA323}" destId="{8632C871-3081-44A3-AA7F-CC37A996C80A}" srcOrd="1" destOrd="0" parTransId="{6421B716-4966-46A9-9EA4-4CFAA37E6EF4}" sibTransId="{A1D01AB5-4EA7-49DF-B245-0D09CF71BE7E}"/>
    <dgm:cxn modelId="{545F9019-E0AF-4FED-A4A1-80472707FE5C}" type="presOf" srcId="{CC8A2B1C-F708-44C4-A3A3-C1E50E7A0A3B}" destId="{89C37C57-8C66-47E2-8944-3F26A1211D91}" srcOrd="0" destOrd="2" presId="urn:microsoft.com/office/officeart/2005/8/layout/list1"/>
    <dgm:cxn modelId="{2C43571E-5AAE-4174-84B0-A71A1A580FD8}" srcId="{B8F6080C-1C57-4EFE-B7A6-856BDFACA323}" destId="{585F08F5-F08F-4673-9140-FB57CE02384B}" srcOrd="0" destOrd="0" parTransId="{ACCB7B0A-0AEB-4EA7-B8C9-0CA0888E11A6}" sibTransId="{3E0E0705-F893-438E-A7B7-BC7C77E0B369}"/>
    <dgm:cxn modelId="{F12F9B44-1A23-43ED-A458-773304FB1E74}" type="presOf" srcId="{1350D1EE-32A6-460D-852F-9E99AB2D149D}" destId="{89C37C57-8C66-47E2-8944-3F26A1211D91}" srcOrd="0" destOrd="0" presId="urn:microsoft.com/office/officeart/2005/8/layout/list1"/>
    <dgm:cxn modelId="{26B17F71-7106-434A-8C0F-6F6ECC4D401B}" srcId="{8632C871-3081-44A3-AA7F-CC37A996C80A}" destId="{1350D1EE-32A6-460D-852F-9E99AB2D149D}" srcOrd="0" destOrd="0" parTransId="{D542FA13-D824-4AEA-9726-034DE0E0922D}" sibTransId="{D9B327E3-E749-4BCE-9CE0-A892A0D9776D}"/>
    <dgm:cxn modelId="{B9280252-7527-483B-BF94-782135D4224A}" srcId="{04E7992C-58BC-41DD-8CDB-586C866AF5FF}" destId="{F14DC3BE-CE06-4929-B5C6-762B7862C4F2}" srcOrd="1" destOrd="0" parTransId="{DD2F61F6-396C-4F7C-AD22-7D630D0D57C8}" sibTransId="{F3F0A1E9-D064-4B95-9882-684EEE45FD73}"/>
    <dgm:cxn modelId="{87794D53-F2FE-4EA1-9FC7-288BAE9CB75D}" type="presOf" srcId="{8632C871-3081-44A3-AA7F-CC37A996C80A}" destId="{643FD405-1AEA-46E1-9753-25D048D62A8E}" srcOrd="0" destOrd="0" presId="urn:microsoft.com/office/officeart/2005/8/layout/list1"/>
    <dgm:cxn modelId="{63DF587B-8F27-4642-B48F-85188DFC781F}" type="presOf" srcId="{04E7992C-58BC-41DD-8CDB-586C866AF5FF}" destId="{17392611-BDED-4EB7-B3D1-DC805D44BD02}" srcOrd="0" destOrd="0" presId="urn:microsoft.com/office/officeart/2005/8/layout/list1"/>
    <dgm:cxn modelId="{9703A389-D522-4A8A-8183-9F164F1E2DE9}" type="presOf" srcId="{585F08F5-F08F-4673-9140-FB57CE02384B}" destId="{26F43615-E50C-4F7F-B10F-220880A84A4E}" srcOrd="0" destOrd="0" presId="urn:microsoft.com/office/officeart/2005/8/layout/list1"/>
    <dgm:cxn modelId="{9FD3D7A9-C650-476C-9CD1-52E456723902}" type="presOf" srcId="{45898492-4BB2-4532-8C00-02D70E0FB80D}" destId="{17392611-BDED-4EB7-B3D1-DC805D44BD02}" srcOrd="0" destOrd="1" presId="urn:microsoft.com/office/officeart/2005/8/layout/list1"/>
    <dgm:cxn modelId="{EE8CA2B0-5C07-4435-899D-4E5E718154B0}" srcId="{1350D1EE-32A6-460D-852F-9E99AB2D149D}" destId="{E3E71AC0-EFF2-4F88-8C21-56412497C043}" srcOrd="0" destOrd="0" parTransId="{BF533469-F671-4B9F-935B-684F17683FCC}" sibTransId="{4C10E98E-7702-4CF7-86DA-00A65BF219DD}"/>
    <dgm:cxn modelId="{ADC263BF-AB19-47BB-89DB-B6C7732636A6}" type="presOf" srcId="{585F08F5-F08F-4673-9140-FB57CE02384B}" destId="{FB402251-8DA4-45BB-A4BD-658CED45DA5C}" srcOrd="1" destOrd="0" presId="urn:microsoft.com/office/officeart/2005/8/layout/list1"/>
    <dgm:cxn modelId="{4F8B00C2-E140-43F2-BA88-835CDE189905}" srcId="{1350D1EE-32A6-460D-852F-9E99AB2D149D}" destId="{CC8A2B1C-F708-44C4-A3A3-C1E50E7A0A3B}" srcOrd="1" destOrd="0" parTransId="{7E60F0FE-EF43-474F-947F-1B136B31FF74}" sibTransId="{334DDD17-613E-4814-809F-4D5AE096873A}"/>
    <dgm:cxn modelId="{82D5AFC2-C79C-4691-B946-00B040B262BB}" type="presOf" srcId="{B8F6080C-1C57-4EFE-B7A6-856BDFACA323}" destId="{4AAADD57-6333-4FD2-8795-6A0219CA99BF}" srcOrd="0" destOrd="0" presId="urn:microsoft.com/office/officeart/2005/8/layout/list1"/>
    <dgm:cxn modelId="{BDDEFAD6-B569-4EE1-AF36-435E41A8C4C8}" srcId="{585F08F5-F08F-4673-9140-FB57CE02384B}" destId="{04E7992C-58BC-41DD-8CDB-586C866AF5FF}" srcOrd="0" destOrd="0" parTransId="{46C2A8DF-26F7-4819-A1FA-57BD6D6AAB77}" sibTransId="{CC8F7B46-35DA-41ED-BDC6-A1D38D8D50DB}"/>
    <dgm:cxn modelId="{2FAC7CDB-4618-4FD8-83AE-F93E89E9C1C1}" type="presOf" srcId="{E3E71AC0-EFF2-4F88-8C21-56412497C043}" destId="{89C37C57-8C66-47E2-8944-3F26A1211D91}" srcOrd="0" destOrd="1" presId="urn:microsoft.com/office/officeart/2005/8/layout/list1"/>
    <dgm:cxn modelId="{60D779EB-31F8-4CB8-9B1C-90E04803F89C}" type="presOf" srcId="{8632C871-3081-44A3-AA7F-CC37A996C80A}" destId="{E067C64E-9572-489E-A76B-96D8A4E4D631}" srcOrd="1" destOrd="0" presId="urn:microsoft.com/office/officeart/2005/8/layout/list1"/>
    <dgm:cxn modelId="{927A42F1-06EA-4ABB-AE3E-B31D6BEBB72A}" type="presOf" srcId="{F14DC3BE-CE06-4929-B5C6-762B7862C4F2}" destId="{17392611-BDED-4EB7-B3D1-DC805D44BD02}" srcOrd="0" destOrd="2" presId="urn:microsoft.com/office/officeart/2005/8/layout/list1"/>
    <dgm:cxn modelId="{906878C3-C6FE-41A5-90FF-04594CA14F96}" type="presParOf" srcId="{4AAADD57-6333-4FD2-8795-6A0219CA99BF}" destId="{45ABF3D6-9DC1-425E-AF2E-06854CE0D4BF}" srcOrd="0" destOrd="0" presId="urn:microsoft.com/office/officeart/2005/8/layout/list1"/>
    <dgm:cxn modelId="{93C3E478-7884-42B9-A83D-5443DF6F1BAD}" type="presParOf" srcId="{45ABF3D6-9DC1-425E-AF2E-06854CE0D4BF}" destId="{26F43615-E50C-4F7F-B10F-220880A84A4E}" srcOrd="0" destOrd="0" presId="urn:microsoft.com/office/officeart/2005/8/layout/list1"/>
    <dgm:cxn modelId="{B3F4B249-5D33-426A-9381-1BB182BBF2A6}" type="presParOf" srcId="{45ABF3D6-9DC1-425E-AF2E-06854CE0D4BF}" destId="{FB402251-8DA4-45BB-A4BD-658CED45DA5C}" srcOrd="1" destOrd="0" presId="urn:microsoft.com/office/officeart/2005/8/layout/list1"/>
    <dgm:cxn modelId="{E86C3E5C-C3C6-4EFC-B0E7-C4E7FE19D6FC}" type="presParOf" srcId="{4AAADD57-6333-4FD2-8795-6A0219CA99BF}" destId="{0D8AB212-FD65-4573-AC09-BED0E1C5C894}" srcOrd="1" destOrd="0" presId="urn:microsoft.com/office/officeart/2005/8/layout/list1"/>
    <dgm:cxn modelId="{1BFE185B-B805-4A86-B14B-A2855BE99A3D}" type="presParOf" srcId="{4AAADD57-6333-4FD2-8795-6A0219CA99BF}" destId="{17392611-BDED-4EB7-B3D1-DC805D44BD02}" srcOrd="2" destOrd="0" presId="urn:microsoft.com/office/officeart/2005/8/layout/list1"/>
    <dgm:cxn modelId="{D2808EEE-6822-48BB-972F-85F5877E50EE}" type="presParOf" srcId="{4AAADD57-6333-4FD2-8795-6A0219CA99BF}" destId="{D0C9B6E6-6221-4921-BDF8-ECD40A1418AB}" srcOrd="3" destOrd="0" presId="urn:microsoft.com/office/officeart/2005/8/layout/list1"/>
    <dgm:cxn modelId="{A352F8A6-C889-44DA-9575-30CA79D8018F}" type="presParOf" srcId="{4AAADD57-6333-4FD2-8795-6A0219CA99BF}" destId="{12E8E419-08B1-43A6-9788-D5B5DD489AA6}" srcOrd="4" destOrd="0" presId="urn:microsoft.com/office/officeart/2005/8/layout/list1"/>
    <dgm:cxn modelId="{B0FBB32B-E955-445C-A37E-33019C15372E}" type="presParOf" srcId="{12E8E419-08B1-43A6-9788-D5B5DD489AA6}" destId="{643FD405-1AEA-46E1-9753-25D048D62A8E}" srcOrd="0" destOrd="0" presId="urn:microsoft.com/office/officeart/2005/8/layout/list1"/>
    <dgm:cxn modelId="{26B9813A-7B07-4A04-9E2A-A43CF5CDDA8A}" type="presParOf" srcId="{12E8E419-08B1-43A6-9788-D5B5DD489AA6}" destId="{E067C64E-9572-489E-A76B-96D8A4E4D631}" srcOrd="1" destOrd="0" presId="urn:microsoft.com/office/officeart/2005/8/layout/list1"/>
    <dgm:cxn modelId="{FA64DDCA-733F-4083-A919-2696BB2AE1B6}" type="presParOf" srcId="{4AAADD57-6333-4FD2-8795-6A0219CA99BF}" destId="{BAE60749-095C-4F31-BFA7-230B63729E59}" srcOrd="5" destOrd="0" presId="urn:microsoft.com/office/officeart/2005/8/layout/list1"/>
    <dgm:cxn modelId="{5413EAAE-EFA8-486C-A530-6A4FA479D0DC}" type="presParOf" srcId="{4AAADD57-6333-4FD2-8795-6A0219CA99BF}" destId="{89C37C57-8C66-47E2-8944-3F26A1211D9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9626B6-3295-4DE0-B864-393284990D0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96EB2D-D8DB-4FEB-8DB5-B535FF5B882D}">
      <dgm:prSet/>
      <dgm:spPr/>
      <dgm:t>
        <a:bodyPr/>
        <a:lstStyle/>
        <a:p>
          <a:r>
            <a:rPr lang="en-US"/>
            <a:t>The age distribution of the population</a:t>
          </a:r>
        </a:p>
      </dgm:t>
    </dgm:pt>
    <dgm:pt modelId="{B4817018-45EC-4F67-89C6-9C36107AD8A4}" type="parTrans" cxnId="{CB9FBBB5-8ABA-4847-A138-597F40392B95}">
      <dgm:prSet/>
      <dgm:spPr/>
      <dgm:t>
        <a:bodyPr/>
        <a:lstStyle/>
        <a:p>
          <a:endParaRPr lang="en-US"/>
        </a:p>
      </dgm:t>
    </dgm:pt>
    <dgm:pt modelId="{64EA0406-8514-4D76-A723-3AD02FBB5520}" type="sibTrans" cxnId="{CB9FBBB5-8ABA-4847-A138-597F40392B95}">
      <dgm:prSet/>
      <dgm:spPr/>
      <dgm:t>
        <a:bodyPr/>
        <a:lstStyle/>
        <a:p>
          <a:endParaRPr lang="en-US"/>
        </a:p>
      </dgm:t>
    </dgm:pt>
    <dgm:pt modelId="{ABCDFDFF-4647-4114-9992-5DCED80F3964}">
      <dgm:prSet/>
      <dgm:spPr/>
      <dgm:t>
        <a:bodyPr/>
        <a:lstStyle/>
        <a:p>
          <a:r>
            <a:rPr lang="en-US"/>
            <a:t>The scale of structural change</a:t>
          </a:r>
        </a:p>
      </dgm:t>
    </dgm:pt>
    <dgm:pt modelId="{987E4697-6BF1-4EE4-968A-36B49995E109}" type="parTrans" cxnId="{FCA9965A-5A35-4762-B052-DE7727ECA25F}">
      <dgm:prSet/>
      <dgm:spPr/>
      <dgm:t>
        <a:bodyPr/>
        <a:lstStyle/>
        <a:p>
          <a:endParaRPr lang="en-US"/>
        </a:p>
      </dgm:t>
    </dgm:pt>
    <dgm:pt modelId="{129B357D-0486-4053-B915-8E6D64E04666}" type="sibTrans" cxnId="{FCA9965A-5A35-4762-B052-DE7727ECA25F}">
      <dgm:prSet/>
      <dgm:spPr/>
      <dgm:t>
        <a:bodyPr/>
        <a:lstStyle/>
        <a:p>
          <a:endParaRPr lang="en-US"/>
        </a:p>
      </dgm:t>
    </dgm:pt>
    <dgm:pt modelId="{AA147012-7F52-4DE3-9F67-6BF3118BA43D}">
      <dgm:prSet/>
      <dgm:spPr/>
      <dgm:t>
        <a:bodyPr/>
        <a:lstStyle/>
        <a:p>
          <a:r>
            <a:rPr lang="en-US"/>
            <a:t>The real wage rate</a:t>
          </a:r>
        </a:p>
      </dgm:t>
    </dgm:pt>
    <dgm:pt modelId="{61094F45-E7CC-462F-803A-CD1DB3B27191}" type="parTrans" cxnId="{22CFE7BB-A5A7-4F41-AB77-914CF0AC7007}">
      <dgm:prSet/>
      <dgm:spPr/>
      <dgm:t>
        <a:bodyPr/>
        <a:lstStyle/>
        <a:p>
          <a:endParaRPr lang="en-US"/>
        </a:p>
      </dgm:t>
    </dgm:pt>
    <dgm:pt modelId="{B524070A-9212-4314-9BE8-5CAF6F7CA9B4}" type="sibTrans" cxnId="{22CFE7BB-A5A7-4F41-AB77-914CF0AC7007}">
      <dgm:prSet/>
      <dgm:spPr/>
      <dgm:t>
        <a:bodyPr/>
        <a:lstStyle/>
        <a:p>
          <a:endParaRPr lang="en-US"/>
        </a:p>
      </dgm:t>
    </dgm:pt>
    <dgm:pt modelId="{A14F0797-826F-4256-B8E9-D9028EBF776A}">
      <dgm:prSet/>
      <dgm:spPr/>
      <dgm:t>
        <a:bodyPr/>
        <a:lstStyle/>
        <a:p>
          <a:r>
            <a:rPr lang="en-US"/>
            <a:t>Unemployment benefits</a:t>
          </a:r>
        </a:p>
      </dgm:t>
    </dgm:pt>
    <dgm:pt modelId="{0ABE295E-1DCD-4883-840D-5AAE6862CAB6}" type="parTrans" cxnId="{E8E9A8D7-BE34-4946-B6B4-AC02B8F664FF}">
      <dgm:prSet/>
      <dgm:spPr/>
      <dgm:t>
        <a:bodyPr/>
        <a:lstStyle/>
        <a:p>
          <a:endParaRPr lang="en-US"/>
        </a:p>
      </dgm:t>
    </dgm:pt>
    <dgm:pt modelId="{37224B6D-5507-498C-8F41-087F26221E1B}" type="sibTrans" cxnId="{E8E9A8D7-BE34-4946-B6B4-AC02B8F664FF}">
      <dgm:prSet/>
      <dgm:spPr/>
      <dgm:t>
        <a:bodyPr/>
        <a:lstStyle/>
        <a:p>
          <a:endParaRPr lang="en-US"/>
        </a:p>
      </dgm:t>
    </dgm:pt>
    <dgm:pt modelId="{70BF0280-184D-4240-BBE7-33400C2AABF7}" type="pres">
      <dgm:prSet presAssocID="{629626B6-3295-4DE0-B864-393284990D07}" presName="matrix" presStyleCnt="0">
        <dgm:presLayoutVars>
          <dgm:chMax val="1"/>
          <dgm:dir/>
          <dgm:resizeHandles val="exact"/>
        </dgm:presLayoutVars>
      </dgm:prSet>
      <dgm:spPr/>
    </dgm:pt>
    <dgm:pt modelId="{706D8EBA-B736-48A9-BF2B-E755208A1D3A}" type="pres">
      <dgm:prSet presAssocID="{629626B6-3295-4DE0-B864-393284990D07}" presName="diamond" presStyleLbl="bgShp" presStyleIdx="0" presStyleCnt="1"/>
      <dgm:spPr/>
    </dgm:pt>
    <dgm:pt modelId="{3EB337BF-888E-460C-855C-C6A6D8B9E5DF}" type="pres">
      <dgm:prSet presAssocID="{629626B6-3295-4DE0-B864-393284990D0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3B7371C-DBC8-41C3-8B74-68A3297B7FCE}" type="pres">
      <dgm:prSet presAssocID="{629626B6-3295-4DE0-B864-393284990D0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64886D1-F1A2-4053-9038-0246FAD7D302}" type="pres">
      <dgm:prSet presAssocID="{629626B6-3295-4DE0-B864-393284990D0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ECCCA9B-1809-4411-A00B-4E88B03C01B6}" type="pres">
      <dgm:prSet presAssocID="{629626B6-3295-4DE0-B864-393284990D0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4539B08-2DD6-43DE-81D9-FFEFA643497E}" type="presOf" srcId="{AA147012-7F52-4DE3-9F67-6BF3118BA43D}" destId="{764886D1-F1A2-4053-9038-0246FAD7D302}" srcOrd="0" destOrd="0" presId="urn:microsoft.com/office/officeart/2005/8/layout/matrix3"/>
    <dgm:cxn modelId="{DBDB160F-FF09-4EA1-9CB3-8806E2A19ACA}" type="presOf" srcId="{ABCDFDFF-4647-4114-9992-5DCED80F3964}" destId="{03B7371C-DBC8-41C3-8B74-68A3297B7FCE}" srcOrd="0" destOrd="0" presId="urn:microsoft.com/office/officeart/2005/8/layout/matrix3"/>
    <dgm:cxn modelId="{FCA9965A-5A35-4762-B052-DE7727ECA25F}" srcId="{629626B6-3295-4DE0-B864-393284990D07}" destId="{ABCDFDFF-4647-4114-9992-5DCED80F3964}" srcOrd="1" destOrd="0" parTransId="{987E4697-6BF1-4EE4-968A-36B49995E109}" sibTransId="{129B357D-0486-4053-B915-8E6D64E04666}"/>
    <dgm:cxn modelId="{838701A1-1992-42EF-B29E-6FE045C8ECC1}" type="presOf" srcId="{629626B6-3295-4DE0-B864-393284990D07}" destId="{70BF0280-184D-4240-BBE7-33400C2AABF7}" srcOrd="0" destOrd="0" presId="urn:microsoft.com/office/officeart/2005/8/layout/matrix3"/>
    <dgm:cxn modelId="{CB9FBBB5-8ABA-4847-A138-597F40392B95}" srcId="{629626B6-3295-4DE0-B864-393284990D07}" destId="{F596EB2D-D8DB-4FEB-8DB5-B535FF5B882D}" srcOrd="0" destOrd="0" parTransId="{B4817018-45EC-4F67-89C6-9C36107AD8A4}" sibTransId="{64EA0406-8514-4D76-A723-3AD02FBB5520}"/>
    <dgm:cxn modelId="{22CFE7BB-A5A7-4F41-AB77-914CF0AC7007}" srcId="{629626B6-3295-4DE0-B864-393284990D07}" destId="{AA147012-7F52-4DE3-9F67-6BF3118BA43D}" srcOrd="2" destOrd="0" parTransId="{61094F45-E7CC-462F-803A-CD1DB3B27191}" sibTransId="{B524070A-9212-4314-9BE8-5CAF6F7CA9B4}"/>
    <dgm:cxn modelId="{68799BBE-6873-43CB-8022-D2AB1CCFEA5B}" type="presOf" srcId="{A14F0797-826F-4256-B8E9-D9028EBF776A}" destId="{5ECCCA9B-1809-4411-A00B-4E88B03C01B6}" srcOrd="0" destOrd="0" presId="urn:microsoft.com/office/officeart/2005/8/layout/matrix3"/>
    <dgm:cxn modelId="{E45E40D1-F000-491A-AABF-230EFE925634}" type="presOf" srcId="{F596EB2D-D8DB-4FEB-8DB5-B535FF5B882D}" destId="{3EB337BF-888E-460C-855C-C6A6D8B9E5DF}" srcOrd="0" destOrd="0" presId="urn:microsoft.com/office/officeart/2005/8/layout/matrix3"/>
    <dgm:cxn modelId="{E8E9A8D7-BE34-4946-B6B4-AC02B8F664FF}" srcId="{629626B6-3295-4DE0-B864-393284990D07}" destId="{A14F0797-826F-4256-B8E9-D9028EBF776A}" srcOrd="3" destOrd="0" parTransId="{0ABE295E-1DCD-4883-840D-5AAE6862CAB6}" sibTransId="{37224B6D-5507-498C-8F41-087F26221E1B}"/>
    <dgm:cxn modelId="{BCDAE76D-EC79-4CFA-B40F-1B6917D5675F}" type="presParOf" srcId="{70BF0280-184D-4240-BBE7-33400C2AABF7}" destId="{706D8EBA-B736-48A9-BF2B-E755208A1D3A}" srcOrd="0" destOrd="0" presId="urn:microsoft.com/office/officeart/2005/8/layout/matrix3"/>
    <dgm:cxn modelId="{8BD43388-5E59-42A6-BA51-83EF694DC55F}" type="presParOf" srcId="{70BF0280-184D-4240-BBE7-33400C2AABF7}" destId="{3EB337BF-888E-460C-855C-C6A6D8B9E5DF}" srcOrd="1" destOrd="0" presId="urn:microsoft.com/office/officeart/2005/8/layout/matrix3"/>
    <dgm:cxn modelId="{3DC08D08-5895-4E4D-B582-11F9D0EE8F30}" type="presParOf" srcId="{70BF0280-184D-4240-BBE7-33400C2AABF7}" destId="{03B7371C-DBC8-41C3-8B74-68A3297B7FCE}" srcOrd="2" destOrd="0" presId="urn:microsoft.com/office/officeart/2005/8/layout/matrix3"/>
    <dgm:cxn modelId="{F92D86DD-FF44-4E22-B54E-589BCA7668BF}" type="presParOf" srcId="{70BF0280-184D-4240-BBE7-33400C2AABF7}" destId="{764886D1-F1A2-4053-9038-0246FAD7D302}" srcOrd="3" destOrd="0" presId="urn:microsoft.com/office/officeart/2005/8/layout/matrix3"/>
    <dgm:cxn modelId="{070FC678-A2FE-4600-A0BA-CA0868967540}" type="presParOf" srcId="{70BF0280-184D-4240-BBE7-33400C2AABF7}" destId="{5ECCCA9B-1809-4411-A00B-4E88B03C01B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700EC-35F7-4EFD-9DF7-335611EA6B07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The working-age population includes people legally eligible to work.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It excludes children and some institutionalized individuals.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Combination of Labor Force and Not in Labor Force </a:t>
          </a:r>
        </a:p>
      </dsp:txBody>
      <dsp:txXfrm rot="-5400000">
        <a:off x="3785616" y="197117"/>
        <a:ext cx="6675221" cy="1012303"/>
      </dsp:txXfrm>
    </dsp:sp>
    <dsp:sp modelId="{6DFF7854-2CC4-43BC-A8D4-5902336DBCF6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Working-Age Population</a:t>
          </a:r>
          <a:endParaRPr lang="en-US" sz="3900" kern="1200"/>
        </a:p>
      </dsp:txBody>
      <dsp:txXfrm>
        <a:off x="68454" y="70578"/>
        <a:ext cx="3648708" cy="1265378"/>
      </dsp:txXfrm>
    </dsp:sp>
    <dsp:sp modelId="{01BA4E21-FEA0-4B6D-9F1D-521851DEEE35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Labor Force = Employed + Unemployed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People are in the labor force if they: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Have a job, or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Are actively looking for work</a:t>
          </a:r>
        </a:p>
      </dsp:txBody>
      <dsp:txXfrm rot="-5400000">
        <a:off x="3785616" y="1669517"/>
        <a:ext cx="6675221" cy="1012303"/>
      </dsp:txXfrm>
    </dsp:sp>
    <dsp:sp modelId="{C0B2D34D-2303-420F-A127-A26DD7AA7BD6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Labor Force</a:t>
          </a:r>
          <a:endParaRPr lang="en-US" sz="3900" kern="1200"/>
        </a:p>
      </dsp:txBody>
      <dsp:txXfrm>
        <a:off x="68454" y="1542979"/>
        <a:ext cx="3648708" cy="1265378"/>
      </dsp:txXfrm>
    </dsp:sp>
    <dsp:sp modelId="{36C8DFBD-B36D-4AAB-A5E3-5ED8F0F35428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Full-time students not seeking jobs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Retirees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Homemakers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Discouraged workers</a:t>
          </a:r>
        </a:p>
      </dsp:txBody>
      <dsp:txXfrm rot="-5400000">
        <a:off x="3785616" y="3141918"/>
        <a:ext cx="6675221" cy="1012303"/>
      </dsp:txXfrm>
    </dsp:sp>
    <dsp:sp modelId="{9B34C80C-7859-4A1D-AA73-1DAD4398DB85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Not in workforce </a:t>
          </a:r>
          <a:endParaRPr lang="en-US" sz="3900" kern="1200"/>
        </a:p>
      </dsp:txBody>
      <dsp:txXfrm>
        <a:off x="68454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75A5F-7EB9-4510-96A2-56CFD4262326}">
      <dsp:nvSpPr>
        <dsp:cNvPr id="0" name=""/>
        <dsp:cNvSpPr/>
      </dsp:nvSpPr>
      <dsp:spPr>
        <a:xfrm>
          <a:off x="0" y="282293"/>
          <a:ext cx="10515600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person is employed if: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Works full-time or part-time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Is temporarily absent from work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Is self-employed</a:t>
          </a:r>
        </a:p>
      </dsp:txBody>
      <dsp:txXfrm>
        <a:off x="0" y="282293"/>
        <a:ext cx="10515600" cy="1552950"/>
      </dsp:txXfrm>
    </dsp:sp>
    <dsp:sp modelId="{1D568C4E-4309-4DFE-9E35-9BD40101BBB5}">
      <dsp:nvSpPr>
        <dsp:cNvPr id="0" name=""/>
        <dsp:cNvSpPr/>
      </dsp:nvSpPr>
      <dsp:spPr>
        <a:xfrm>
          <a:off x="525780" y="31373"/>
          <a:ext cx="7360920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Who Is Employed?</a:t>
          </a:r>
          <a:endParaRPr lang="en-US" sz="1700" kern="1200"/>
        </a:p>
      </dsp:txBody>
      <dsp:txXfrm>
        <a:off x="550278" y="55871"/>
        <a:ext cx="7311924" cy="452844"/>
      </dsp:txXfrm>
    </dsp:sp>
    <dsp:sp modelId="{FD658E17-923C-4BAD-86DA-8002A9B48EB4}">
      <dsp:nvSpPr>
        <dsp:cNvPr id="0" name=""/>
        <dsp:cNvSpPr/>
      </dsp:nvSpPr>
      <dsp:spPr>
        <a:xfrm>
          <a:off x="0" y="2177964"/>
          <a:ext cx="10515600" cy="214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person is unemployed if: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Has no job 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Is available for work 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Has actively searched recently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Waiting to be recalled after a layoff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Waiting to start a new job soon</a:t>
          </a:r>
        </a:p>
      </dsp:txBody>
      <dsp:txXfrm>
        <a:off x="0" y="2177964"/>
        <a:ext cx="10515600" cy="2142000"/>
      </dsp:txXfrm>
    </dsp:sp>
    <dsp:sp modelId="{D86D5D86-B9BB-44D5-A0D8-DC16C76BB839}">
      <dsp:nvSpPr>
        <dsp:cNvPr id="0" name=""/>
        <dsp:cNvSpPr/>
      </dsp:nvSpPr>
      <dsp:spPr>
        <a:xfrm>
          <a:off x="525780" y="1927044"/>
          <a:ext cx="7360920" cy="5018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Who Is Unemployed?</a:t>
          </a:r>
          <a:endParaRPr lang="en-US" sz="1700" kern="1200"/>
        </a:p>
      </dsp:txBody>
      <dsp:txXfrm>
        <a:off x="550278" y="1951542"/>
        <a:ext cx="7311924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C7E63F-2352-4114-853C-488280E4BA47}">
      <dsp:nvSpPr>
        <dsp:cNvPr id="0" name=""/>
        <dsp:cNvSpPr/>
      </dsp:nvSpPr>
      <dsp:spPr>
        <a:xfrm>
          <a:off x="0" y="332581"/>
          <a:ext cx="10515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B8B17-A33A-4AF4-B781-F0D56C028C9E}">
      <dsp:nvSpPr>
        <dsp:cNvPr id="0" name=""/>
        <dsp:cNvSpPr/>
      </dsp:nvSpPr>
      <dsp:spPr>
        <a:xfrm>
          <a:off x="525780" y="111181"/>
          <a:ext cx="7360920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unemployment rate does not capture all labor market problems.</a:t>
          </a:r>
        </a:p>
      </dsp:txBody>
      <dsp:txXfrm>
        <a:off x="547396" y="132797"/>
        <a:ext cx="7317688" cy="399568"/>
      </dsp:txXfrm>
    </dsp:sp>
    <dsp:sp modelId="{CA0E7809-DC63-404F-8D07-E15185E8D3FE}">
      <dsp:nvSpPr>
        <dsp:cNvPr id="0" name=""/>
        <dsp:cNvSpPr/>
      </dsp:nvSpPr>
      <dsp:spPr>
        <a:xfrm>
          <a:off x="0" y="1012981"/>
          <a:ext cx="105156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12420" rIns="81612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People who want jobs but stopped searching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As they are not counted as unemployed, unemployment may be understated.</a:t>
          </a:r>
        </a:p>
      </dsp:txBody>
      <dsp:txXfrm>
        <a:off x="0" y="1012981"/>
        <a:ext cx="10515600" cy="874125"/>
      </dsp:txXfrm>
    </dsp:sp>
    <dsp:sp modelId="{7FE03EB6-E926-4D84-BE06-675C553FBFC4}">
      <dsp:nvSpPr>
        <dsp:cNvPr id="0" name=""/>
        <dsp:cNvSpPr/>
      </dsp:nvSpPr>
      <dsp:spPr>
        <a:xfrm>
          <a:off x="525780" y="791581"/>
          <a:ext cx="7360920" cy="44280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Discouraged Workers</a:t>
          </a:r>
          <a:endParaRPr lang="en-US" sz="1500" kern="1200"/>
        </a:p>
      </dsp:txBody>
      <dsp:txXfrm>
        <a:off x="547396" y="813197"/>
        <a:ext cx="7317688" cy="399568"/>
      </dsp:txXfrm>
    </dsp:sp>
    <dsp:sp modelId="{54D39ACD-F2A8-4801-8601-327120873A7D}">
      <dsp:nvSpPr>
        <dsp:cNvPr id="0" name=""/>
        <dsp:cNvSpPr/>
      </dsp:nvSpPr>
      <dsp:spPr>
        <a:xfrm>
          <a:off x="0" y="2189506"/>
          <a:ext cx="105156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12420" rIns="81612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People who are Working part-time and want full-time jobs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Counted as employed although labor is underutilized.</a:t>
          </a:r>
        </a:p>
      </dsp:txBody>
      <dsp:txXfrm>
        <a:off x="0" y="2189506"/>
        <a:ext cx="10515600" cy="874125"/>
      </dsp:txXfrm>
    </dsp:sp>
    <dsp:sp modelId="{3941E7D0-C7C8-40F1-8D2D-9C45CCC6EF63}">
      <dsp:nvSpPr>
        <dsp:cNvPr id="0" name=""/>
        <dsp:cNvSpPr/>
      </dsp:nvSpPr>
      <dsp:spPr>
        <a:xfrm>
          <a:off x="525780" y="1968106"/>
          <a:ext cx="7360920" cy="44280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Underemployment</a:t>
          </a:r>
          <a:endParaRPr lang="en-US" sz="1500" kern="1200"/>
        </a:p>
      </dsp:txBody>
      <dsp:txXfrm>
        <a:off x="547396" y="1989722"/>
        <a:ext cx="7317688" cy="399568"/>
      </dsp:txXfrm>
    </dsp:sp>
    <dsp:sp modelId="{2731EAFD-2756-4AD5-B5A1-546A0319F42A}">
      <dsp:nvSpPr>
        <dsp:cNvPr id="0" name=""/>
        <dsp:cNvSpPr/>
      </dsp:nvSpPr>
      <dsp:spPr>
        <a:xfrm>
          <a:off x="0" y="3366031"/>
          <a:ext cx="105156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12420" rIns="81612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People who Want jobs and Occasionally search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Not counted in official unemployment statistics.</a:t>
          </a:r>
        </a:p>
      </dsp:txBody>
      <dsp:txXfrm>
        <a:off x="0" y="3366031"/>
        <a:ext cx="10515600" cy="874125"/>
      </dsp:txXfrm>
    </dsp:sp>
    <dsp:sp modelId="{656F3699-188B-49FF-BE2F-5CEA93169420}">
      <dsp:nvSpPr>
        <dsp:cNvPr id="0" name=""/>
        <dsp:cNvSpPr/>
      </dsp:nvSpPr>
      <dsp:spPr>
        <a:xfrm>
          <a:off x="525780" y="3144631"/>
          <a:ext cx="7360920" cy="4428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Marginally Attached Workers</a:t>
          </a:r>
          <a:endParaRPr lang="en-US" sz="1500" kern="1200"/>
        </a:p>
      </dsp:txBody>
      <dsp:txXfrm>
        <a:off x="547396" y="3166247"/>
        <a:ext cx="7317688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92611-BDED-4EB7-B3D1-DC805D44BD02}">
      <dsp:nvSpPr>
        <dsp:cNvPr id="0" name=""/>
        <dsp:cNvSpPr/>
      </dsp:nvSpPr>
      <dsp:spPr>
        <a:xfrm>
          <a:off x="0" y="453068"/>
          <a:ext cx="10515600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Even in a healthy economy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Some workers change jobs 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Some industries evolve </a:t>
          </a:r>
        </a:p>
      </dsp:txBody>
      <dsp:txXfrm>
        <a:off x="0" y="453068"/>
        <a:ext cx="10515600" cy="1663200"/>
      </dsp:txXfrm>
    </dsp:sp>
    <dsp:sp modelId="{FB402251-8DA4-45BB-A4BD-658CED45DA5C}">
      <dsp:nvSpPr>
        <dsp:cNvPr id="0" name=""/>
        <dsp:cNvSpPr/>
      </dsp:nvSpPr>
      <dsp:spPr>
        <a:xfrm>
          <a:off x="525780" y="128348"/>
          <a:ext cx="7360920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Full employment does NOT mean zero unemployment.</a:t>
          </a:r>
        </a:p>
      </dsp:txBody>
      <dsp:txXfrm>
        <a:off x="557483" y="160051"/>
        <a:ext cx="7297514" cy="586034"/>
      </dsp:txXfrm>
    </dsp:sp>
    <dsp:sp modelId="{89C37C57-8C66-47E2-8944-3F26A1211D91}">
      <dsp:nvSpPr>
        <dsp:cNvPr id="0" name=""/>
        <dsp:cNvSpPr/>
      </dsp:nvSpPr>
      <dsp:spPr>
        <a:xfrm>
          <a:off x="0" y="2559789"/>
          <a:ext cx="10515600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 dirty="0"/>
            <a:t>Full Employment Exists When Only</a:t>
          </a:r>
          <a:endParaRPr lang="en-US" sz="2200" kern="1200" dirty="0"/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Frictional unemployment 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Structural unemployment remain.</a:t>
          </a:r>
        </a:p>
      </dsp:txBody>
      <dsp:txXfrm>
        <a:off x="0" y="2559789"/>
        <a:ext cx="10515600" cy="1663200"/>
      </dsp:txXfrm>
    </dsp:sp>
    <dsp:sp modelId="{E067C64E-9572-489E-A76B-96D8A4E4D631}">
      <dsp:nvSpPr>
        <dsp:cNvPr id="0" name=""/>
        <dsp:cNvSpPr/>
      </dsp:nvSpPr>
      <dsp:spPr>
        <a:xfrm>
          <a:off x="525780" y="2235069"/>
          <a:ext cx="7360920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Therefore</a:t>
          </a:r>
        </a:p>
      </dsp:txBody>
      <dsp:txXfrm>
        <a:off x="557483" y="2266772"/>
        <a:ext cx="7297514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6D8EBA-B736-48A9-BF2B-E755208A1D3A}">
      <dsp:nvSpPr>
        <dsp:cNvPr id="0" name=""/>
        <dsp:cNvSpPr/>
      </dsp:nvSpPr>
      <dsp:spPr>
        <a:xfrm>
          <a:off x="3082131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337BF-888E-460C-855C-C6A6D8B9E5DF}">
      <dsp:nvSpPr>
        <dsp:cNvPr id="0" name=""/>
        <dsp:cNvSpPr/>
      </dsp:nvSpPr>
      <dsp:spPr>
        <a:xfrm>
          <a:off x="3495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age distribution of the population</a:t>
          </a:r>
        </a:p>
      </dsp:txBody>
      <dsp:txXfrm>
        <a:off x="3578350" y="496219"/>
        <a:ext cx="1531337" cy="1531337"/>
      </dsp:txXfrm>
    </dsp:sp>
    <dsp:sp modelId="{03B7371C-DBC8-41C3-8B74-68A3297B7FCE}">
      <dsp:nvSpPr>
        <dsp:cNvPr id="0" name=""/>
        <dsp:cNvSpPr/>
      </dsp:nvSpPr>
      <dsp:spPr>
        <a:xfrm>
          <a:off x="5323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scale of structural change</a:t>
          </a:r>
        </a:p>
      </dsp:txBody>
      <dsp:txXfrm>
        <a:off x="5405912" y="496219"/>
        <a:ext cx="1531337" cy="1531337"/>
      </dsp:txXfrm>
    </dsp:sp>
    <dsp:sp modelId="{764886D1-F1A2-4053-9038-0246FAD7D302}">
      <dsp:nvSpPr>
        <dsp:cNvPr id="0" name=""/>
        <dsp:cNvSpPr/>
      </dsp:nvSpPr>
      <dsp:spPr>
        <a:xfrm>
          <a:off x="3495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real wage rate</a:t>
          </a:r>
        </a:p>
      </dsp:txBody>
      <dsp:txXfrm>
        <a:off x="3578350" y="2323781"/>
        <a:ext cx="1531337" cy="1531337"/>
      </dsp:txXfrm>
    </dsp:sp>
    <dsp:sp modelId="{5ECCCA9B-1809-4411-A00B-4E88B03C01B6}">
      <dsp:nvSpPr>
        <dsp:cNvPr id="0" name=""/>
        <dsp:cNvSpPr/>
      </dsp:nvSpPr>
      <dsp:spPr>
        <a:xfrm>
          <a:off x="5323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Unemployment benefits</a:t>
          </a:r>
        </a:p>
      </dsp:txBody>
      <dsp:txXfrm>
        <a:off x="5405912" y="2323781"/>
        <a:ext cx="1531337" cy="1531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A1FC-E8D1-D37D-3441-ABB20CBD5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760BC-2BDB-C33B-682F-ACD1B47BA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5E95B-1F8F-11D1-FD94-640D9690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7AFA8-A85C-ABFB-8886-1C3C6906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4CFE-6656-6DED-E1C3-E776C8CC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8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CDEC-5753-77FA-0177-B18C8079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AC628-110B-CA11-EC5A-7C0265CFA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EBB71-4EF9-8FE1-AC9A-3C23FC8D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C3FCA-1D18-EC83-4A7A-D43FA040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3907B-3A2E-AFA4-A579-7CC06442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8CC7-5450-9EB6-269C-C61987BC2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EC46A-57BF-62F6-5070-D4995A63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A2CBF-6B33-0139-7017-0CD6A3B84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D2EED-A0D5-0AD5-0CE1-F184670D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4E4CE-A609-A1B6-A962-936079C4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28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67F1-6D11-B62C-810A-C9245A9A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616A-362D-3971-11DC-454015FDE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670B9-FF1D-7B38-DB86-4E4BC5FFE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BE0B4-777E-F238-549E-B6B2DEA4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7B62D-5503-8057-E895-185E7B0C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E63D0-108D-E84D-408D-ADF2DC44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8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50D4-BEC4-36EB-F29D-61AB4CBA1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4269E-3C3C-E627-B738-5D4D7B89A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9C57-E898-7D64-6443-EDBAB8968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9DA6E-E470-68BA-ACEB-9E5E50228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BBAAF-D2B3-471D-8A74-2D66E9C70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C976D8-A3C6-138F-750D-B8A4A6B7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14808-B136-19D9-AA90-F7574098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B31F5-CAA0-A551-C08F-EE5F5D26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1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0938-5263-1FCA-28E9-C3C51D19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AEDC8-D358-DDB9-C5E3-368E3A86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F1856-3C51-9EC7-565D-080C9F21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E060F-7539-9C52-84C8-18C6F19D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71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3E511-C3F2-4E00-3203-E677F5B8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76445-E865-B92B-FA32-92BF4A99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0C4D0-557C-6995-635E-7DF5AB43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3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3CD7-433B-8949-7A4F-20FCEDDA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66BE4-F89D-3BDF-5794-4740C310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EF5A1-88DB-370C-9F65-C0FAA350D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FC238-49B6-E3DF-E5B9-F5F6CE45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F2CA5-CC92-BBB8-2530-1FE3B17D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E7A5E-47FD-F934-8779-707E43E4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5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F085-0AC3-D9A1-D71F-86723521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09A80-A480-8333-E83E-1F5834BBD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3D293-B653-951D-9A3A-EB343B557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3275C-BEFE-47CD-816B-9005C617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06EFB-65CC-365B-6AF2-F2D59993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12448-5284-BAB7-D6E8-2E8CA51F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7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28EA0-7306-06DD-9F12-C8E6FD26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17CDE-8481-C189-B85F-5EE4BEA95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77C01-A0B1-6093-2F71-B929FDA5E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E1F46-7EC7-7A19-681E-B706B062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11A44-A3B1-3621-7B6E-29C52CFF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5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A0039-E1AB-BD91-2200-8D46ECFDE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35968-D4CD-8818-AFF7-1256B768F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C2178-9F91-DE0C-5E3C-72675E4C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4BA4-E51B-2597-1BC9-F9390416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F791B-DAF1-42C7-7557-37142920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6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DEB5F-DE08-A5D2-888C-7B95633C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16797-E87C-71F7-1D32-B3599BF66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7CAB8-7EB8-0669-D64C-6BAAA4B71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EE178-D588-4B5B-99E9-6F878E00D05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89D41-BA77-B93F-B7EE-FAC93305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83B39-CD6B-8780-03ED-566042E5E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471F2F-B5F3-454E-A572-3DC623E11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38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B1538-325B-3951-481B-281B7DDA2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Monitoring Jobs and Inflation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59F82-ECDA-E271-807E-B19D1C939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Professor Syed A. Mamun, PhD, FCMA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72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4423D-6C96-6F2B-CADC-F8FC943E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Learning Objectives</a:t>
            </a:r>
            <a:br>
              <a:rPr lang="en-US" sz="4000"/>
            </a:b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EB520-CEB0-A468-9869-E505C0D28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600"/>
              <a:t>Explain why unemployment is an important macroeconomic problem. </a:t>
            </a:r>
          </a:p>
          <a:p>
            <a:r>
              <a:rPr lang="en-US" sz="1600"/>
              <a:t>Define and measure employment, unemployment, and labor force participation. </a:t>
            </a:r>
          </a:p>
          <a:p>
            <a:r>
              <a:rPr lang="en-US" sz="1600"/>
              <a:t>Distinguish among frictional, structural, and cyclical unemployment. </a:t>
            </a:r>
          </a:p>
          <a:p>
            <a:r>
              <a:rPr lang="en-US" sz="1600"/>
              <a:t>Explain the concept of full employment and the natural unemployment rate. </a:t>
            </a:r>
          </a:p>
          <a:p>
            <a:r>
              <a:rPr lang="en-US" sz="1600"/>
              <a:t>Understand inflation and its economic costs. </a:t>
            </a:r>
          </a:p>
          <a:p>
            <a:r>
              <a:rPr lang="en-US" sz="1600"/>
              <a:t>Measure inflation using the Consumer Price Index (CPI). </a:t>
            </a:r>
          </a:p>
          <a:p>
            <a:r>
              <a:rPr lang="en-US" sz="1600"/>
              <a:t>Identify biases in CPI measurement. Interpret labor market and inflation statistics for policy analysis.</a:t>
            </a:r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44449E4E-7772-B8DC-6D27-5B7CF70D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98" r="22541" b="-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248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4933E-CF8F-5687-20A2-C4FF96C6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Unemployment Matters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DA1C1-46D4-005A-EEC3-DC7A3E2FD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Unemployment is one of the most closely watched economic indicators because it creates:</a:t>
            </a:r>
          </a:p>
          <a:p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Lost Income and Production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Workers lose wages. 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Firms produce less output. 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National income declines. 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Economic growth slows. </a:t>
            </a:r>
          </a:p>
          <a:p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Loss of Human Capital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Human capital refers to workers' skills, knowledge, and experience.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Long-term unemployment can: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Reduce skills 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Lower future earnings 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Make workers less employable 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47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4BDAEE-16F5-A41E-1FB0-6FEF76B13B3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33" b="98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B0C6F-734C-9BA7-067F-D469A15A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Measuring Employment and Unemployment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19350D-A20A-DF07-65FD-E128DF193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7424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169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A108E3-1E70-29E9-426F-D955F0A8BA3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756" b="39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CAC4F-F145-AC3E-C477-292C00569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Employed vs Unemployed Person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A55C11-BF0D-5190-FC34-F81BF6BF4B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9318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62928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4E9B-900C-2D06-CC39-4397F53A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524891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3600" dirty="0"/>
              <a:t>Key Labor Market Indicators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2288BB-63C3-5038-3B49-3E5F31E370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9433"/>
                <a:ext cx="10515600" cy="463753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sz="2000" b="1" dirty="0"/>
                  <a:t>Unemployment Rate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0"/>
                      <m:t>Unemployment</m:t>
                    </m:r>
                    <m:r>
                      <m:rPr>
                        <m:nor/>
                      </m:rPr>
                      <a:rPr lang="en-US" sz="1600" b="0" i="1"/>
                      <m:t> </m:t>
                    </m:r>
                    <m:r>
                      <m:rPr>
                        <m:nor/>
                      </m:rPr>
                      <a:rPr lang="en-US" sz="1600" b="0" i="1"/>
                      <m:t>Rate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i="1"/>
                          <m:t>Unemployed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0" i="1" smtClean="0"/>
                          <m:t>Work</m:t>
                        </m:r>
                        <m:r>
                          <m:rPr>
                            <m:nor/>
                          </m:rPr>
                          <a:rPr lang="en-US" sz="1600" b="0" i="1" smtClean="0"/>
                          <m:t> </m:t>
                        </m:r>
                        <m:r>
                          <m:rPr>
                            <m:nor/>
                          </m:rPr>
                          <a:rPr lang="en-US" sz="1600" i="1"/>
                          <m:t>Force</m:t>
                        </m:r>
                      </m:den>
                    </m:f>
                    <m:r>
                      <a:rPr lang="en-US" sz="160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sz="1600" b="0" dirty="0"/>
              </a:p>
              <a:p>
                <a:pPr lvl="1"/>
                <a:r>
                  <a:rPr lang="en-US" sz="1800" i="1" dirty="0"/>
                  <a:t>Workforce = No of employed + Number of unemployed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Labor Force Participation Rate or Economic Activity Rate</a:t>
                </a:r>
              </a:p>
              <a:p>
                <a:pPr lvl="1"/>
                <a:r>
                  <a:rPr lang="en-US" sz="1800" dirty="0"/>
                  <a:t>Measures willingness to work.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0" smtClean="0"/>
                      <m:t>Participation</m:t>
                    </m:r>
                    <m:r>
                      <m:rPr>
                        <m:nor/>
                      </m:rPr>
                      <a:rPr lang="en-US" sz="1800" b="0" i="1"/>
                      <m:t> </m:t>
                    </m:r>
                    <m:r>
                      <m:rPr>
                        <m:nor/>
                      </m:rPr>
                      <a:rPr lang="en-US" sz="1800" b="0" i="1"/>
                      <m:t>Rate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0" i="1" smtClean="0"/>
                          <m:t>Workf</m:t>
                        </m:r>
                        <m:r>
                          <m:rPr>
                            <m:nor/>
                          </m:rPr>
                          <a:rPr lang="en-US" sz="1800" i="1"/>
                          <m:t>orce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i="1"/>
                          <m:t>Working</m:t>
                        </m:r>
                        <m:r>
                          <m:rPr>
                            <m:nor/>
                          </m:rPr>
                          <a:rPr lang="en-US" sz="1800" i="1"/>
                          <m:t> </m:t>
                        </m:r>
                        <m:r>
                          <m:rPr>
                            <m:nor/>
                          </m:rPr>
                          <a:rPr lang="en-US" sz="1800" i="1"/>
                          <m:t>Age</m:t>
                        </m:r>
                        <m:r>
                          <m:rPr>
                            <m:nor/>
                          </m:rPr>
                          <a:rPr lang="en-US" sz="1800" i="1"/>
                          <m:t> </m:t>
                        </m:r>
                        <m:r>
                          <m:rPr>
                            <m:nor/>
                          </m:rPr>
                          <a:rPr lang="en-US" sz="1800" i="1"/>
                          <m:t>Population</m:t>
                        </m:r>
                      </m:den>
                    </m:f>
                    <m:r>
                      <a:rPr lang="en-US" sz="180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sz="1800" b="0" dirty="0"/>
              </a:p>
              <a:p>
                <a:endParaRPr lang="en-US" sz="2000" b="1" dirty="0"/>
              </a:p>
              <a:p>
                <a:r>
                  <a:rPr lang="en-US" sz="2000" b="1" dirty="0"/>
                  <a:t>Employment Rate or Employment-to-Population Ratio</a:t>
                </a:r>
              </a:p>
              <a:p>
                <a:pPr lvl="1"/>
                <a:r>
                  <a:rPr lang="en-US" sz="1800" dirty="0"/>
                  <a:t>Measures the percentage of working-age people who have jobs.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0"/>
                      <m:t>Employment</m:t>
                    </m:r>
                    <m:r>
                      <m:rPr>
                        <m:nor/>
                      </m:rPr>
                      <a:rPr lang="en-US" sz="1800" b="0" i="1"/>
                      <m:t> </m:t>
                    </m:r>
                    <m:r>
                      <m:rPr>
                        <m:nor/>
                      </m:rPr>
                      <a:rPr lang="en-US" sz="1800" b="0" i="1"/>
                      <m:t>Population</m:t>
                    </m:r>
                    <m:r>
                      <m:rPr>
                        <m:nor/>
                      </m:rPr>
                      <a:rPr lang="en-US" sz="1800" b="0" i="1"/>
                      <m:t> </m:t>
                    </m:r>
                    <m:r>
                      <m:rPr>
                        <m:nor/>
                      </m:rPr>
                      <a:rPr lang="en-US" sz="1800" b="0" i="1"/>
                      <m:t>Ratio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i="1"/>
                          <m:t>Employment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i="1"/>
                          <m:t>Working</m:t>
                        </m:r>
                        <m:r>
                          <m:rPr>
                            <m:nor/>
                          </m:rPr>
                          <a:rPr lang="en-US" sz="1800" i="1"/>
                          <m:t> </m:t>
                        </m:r>
                        <m:r>
                          <m:rPr>
                            <m:nor/>
                          </m:rPr>
                          <a:rPr lang="en-US" sz="1800" i="1"/>
                          <m:t>Age</m:t>
                        </m:r>
                        <m:r>
                          <m:rPr>
                            <m:nor/>
                          </m:rPr>
                          <a:rPr lang="en-US" sz="1800" i="1"/>
                          <m:t> </m:t>
                        </m:r>
                        <m:r>
                          <m:rPr>
                            <m:nor/>
                          </m:rPr>
                          <a:rPr lang="en-US" sz="1800" i="1"/>
                          <m:t>Population</m:t>
                        </m:r>
                      </m:den>
                    </m:f>
                    <m:r>
                      <a:rPr lang="en-US" sz="180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sz="1800" b="0" dirty="0"/>
              </a:p>
              <a:p>
                <a:endParaRPr lang="en-US" sz="1700" b="0" i="1" dirty="0"/>
              </a:p>
              <a:p>
                <a:r>
                  <a:rPr lang="en-US" sz="1700" b="0" i="1" dirty="0"/>
                  <a:t>Note: </a:t>
                </a:r>
                <a:r>
                  <a:rPr lang="en-US" sz="1700" i="1" dirty="0"/>
                  <a:t>The </a:t>
                </a:r>
                <a:r>
                  <a:rPr lang="en-US" sz="1900" b="1" i="1" dirty="0"/>
                  <a:t>working-age population</a:t>
                </a:r>
                <a:r>
                  <a:rPr lang="en-US" sz="1700" i="1" dirty="0"/>
                  <a:t> includes all individuals of a designated age (typically 18 to 60) who are legally and physically able to work. The </a:t>
                </a:r>
                <a:r>
                  <a:rPr lang="en-US" sz="1900" b="1" i="1" dirty="0"/>
                  <a:t>workforce</a:t>
                </a:r>
                <a:r>
                  <a:rPr lang="en-US" sz="1700" i="1" dirty="0"/>
                  <a:t> (or labor force) is a smaller, active subset of this group: those who are currently employed or actively seeking work.</a:t>
                </a:r>
                <a:endParaRPr lang="en-US" sz="1700" b="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2288BB-63C3-5038-3B49-3E5F31E37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9433"/>
                <a:ext cx="10515600" cy="4637530"/>
              </a:xfrm>
              <a:blipFill>
                <a:blip r:embed="rId2"/>
                <a:stretch>
                  <a:fillRect l="-290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06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27DF78-E0B3-0D0E-2794-A3345A0089B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B38EA7-C025-1C3C-63CD-BBAEA0E53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Why Unemployment Rate Is Imperfect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093C66-AFB3-7922-F8ED-8D9C933CE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522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4792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282CA0-0092-F5C9-0EE5-41DF97E7C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6"/>
            <a:ext cx="4766330" cy="100269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Unemployment and Full Employment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A4B53-709B-003C-1BA4-A18508B82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060294"/>
            <a:ext cx="4765949" cy="3714865"/>
          </a:xfrm>
        </p:spPr>
        <p:txBody>
          <a:bodyPr anchor="t">
            <a:normAutofit/>
          </a:bodyPr>
          <a:lstStyle/>
          <a:p>
            <a:r>
              <a:rPr lang="en-US" sz="1300" b="1" dirty="0">
                <a:solidFill>
                  <a:schemeClr val="tx2"/>
                </a:solidFill>
              </a:rPr>
              <a:t>Frictional Unemployment </a:t>
            </a:r>
          </a:p>
          <a:p>
            <a:pPr lvl="1"/>
            <a:r>
              <a:rPr lang="en-US" sz="1300" dirty="0">
                <a:solidFill>
                  <a:schemeClr val="tx2"/>
                </a:solidFill>
              </a:rPr>
              <a:t>Occurs when workers are temporarily between jobs, looking for their first role, or re-entering the workforce.</a:t>
            </a:r>
          </a:p>
          <a:p>
            <a:r>
              <a:rPr lang="en-US" sz="1300" b="1" dirty="0">
                <a:solidFill>
                  <a:schemeClr val="tx2"/>
                </a:solidFill>
              </a:rPr>
              <a:t>Structural Unemployment </a:t>
            </a:r>
          </a:p>
          <a:p>
            <a:pPr lvl="1"/>
            <a:r>
              <a:rPr lang="en-US" sz="1300" dirty="0">
                <a:solidFill>
                  <a:schemeClr val="tx2"/>
                </a:solidFill>
              </a:rPr>
              <a:t>Changes of technology and competition cause unemployment </a:t>
            </a:r>
          </a:p>
          <a:p>
            <a:pPr lvl="1"/>
            <a:r>
              <a:rPr lang="en-US" sz="1300" dirty="0">
                <a:solidFill>
                  <a:schemeClr val="tx2"/>
                </a:solidFill>
              </a:rPr>
              <a:t>A long-term mismatch between the skills workers possess and the skills demanded by the job market.</a:t>
            </a:r>
          </a:p>
          <a:p>
            <a:r>
              <a:rPr lang="en-US" sz="1300" b="1" dirty="0">
                <a:solidFill>
                  <a:schemeClr val="tx2"/>
                </a:solidFill>
              </a:rPr>
              <a:t>Cyclical Unemployment</a:t>
            </a:r>
          </a:p>
          <a:p>
            <a:pPr lvl="1"/>
            <a:r>
              <a:rPr lang="en-US" sz="1300" dirty="0">
                <a:solidFill>
                  <a:schemeClr val="tx2"/>
                </a:solidFill>
              </a:rPr>
              <a:t>Joblessness that fluctuates directly with the business cycle, rising during recessions and falling during economic expansions.</a:t>
            </a:r>
          </a:p>
          <a:p>
            <a:r>
              <a:rPr lang="en-US" sz="1300" dirty="0">
                <a:solidFill>
                  <a:schemeClr val="tx2"/>
                </a:solidFill>
              </a:rPr>
              <a:t>Natural Unemployment </a:t>
            </a:r>
          </a:p>
          <a:p>
            <a:pPr lvl="1"/>
            <a:r>
              <a:rPr lang="en-US" sz="1300" dirty="0">
                <a:solidFill>
                  <a:schemeClr val="tx2"/>
                </a:solidFill>
              </a:rPr>
              <a:t>When all unemployment is fractional and structural</a:t>
            </a:r>
          </a:p>
          <a:p>
            <a:pPr lvl="1"/>
            <a:r>
              <a:rPr lang="en-US" sz="1300" dirty="0">
                <a:solidFill>
                  <a:schemeClr val="tx2"/>
                </a:solidFill>
              </a:rPr>
              <a:t>Full employment is the context when unemployment is equal to Natural Unemployment. </a:t>
            </a:r>
          </a:p>
          <a:p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D74F37-E96C-2520-9161-906C48E76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275123"/>
              </p:ext>
            </p:extLst>
          </p:nvPr>
        </p:nvGraphicFramePr>
        <p:xfrm>
          <a:off x="7708392" y="3113868"/>
          <a:ext cx="4142233" cy="1553811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066463">
                  <a:extLst>
                    <a:ext uri="{9D8B030D-6E8A-4147-A177-3AD203B41FA5}">
                      <a16:colId xmlns:a16="http://schemas.microsoft.com/office/drawing/2014/main" val="4152341230"/>
                    </a:ext>
                  </a:extLst>
                </a:gridCol>
                <a:gridCol w="1181699">
                  <a:extLst>
                    <a:ext uri="{9D8B030D-6E8A-4147-A177-3AD203B41FA5}">
                      <a16:colId xmlns:a16="http://schemas.microsoft.com/office/drawing/2014/main" val="1256861484"/>
                    </a:ext>
                  </a:extLst>
                </a:gridCol>
                <a:gridCol w="1894071">
                  <a:extLst>
                    <a:ext uri="{9D8B030D-6E8A-4147-A177-3AD203B41FA5}">
                      <a16:colId xmlns:a16="http://schemas.microsoft.com/office/drawing/2014/main" val="1092195932"/>
                    </a:ext>
                  </a:extLst>
                </a:gridCol>
              </a:tblGrid>
              <a:tr h="331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Type</a:t>
                      </a:r>
                    </a:p>
                  </a:txBody>
                  <a:tcPr marL="75428" marR="75428" marT="37714" marB="377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Cause</a:t>
                      </a:r>
                    </a:p>
                  </a:txBody>
                  <a:tcPr marL="75428" marR="75428" marT="37714" marB="377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Example</a:t>
                      </a:r>
                    </a:p>
                  </a:txBody>
                  <a:tcPr marL="75428" marR="75428" marT="37714" marB="37714" anchor="ctr"/>
                </a:tc>
                <a:extLst>
                  <a:ext uri="{0D108BD9-81ED-4DB2-BD59-A6C34878D82A}">
                    <a16:rowId xmlns:a16="http://schemas.microsoft.com/office/drawing/2014/main" val="3291752392"/>
                  </a:ext>
                </a:extLst>
              </a:tr>
              <a:tr h="331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Frictional</a:t>
                      </a:r>
                    </a:p>
                  </a:txBody>
                  <a:tcPr marL="75428" marR="75428" marT="37714" marB="377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Job search</a:t>
                      </a:r>
                    </a:p>
                  </a:txBody>
                  <a:tcPr marL="75428" marR="75428" marT="37714" marB="377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New graduate</a:t>
                      </a:r>
                    </a:p>
                  </a:txBody>
                  <a:tcPr marL="75428" marR="75428" marT="37714" marB="37714" anchor="ctr"/>
                </a:tc>
                <a:extLst>
                  <a:ext uri="{0D108BD9-81ED-4DB2-BD59-A6C34878D82A}">
                    <a16:rowId xmlns:a16="http://schemas.microsoft.com/office/drawing/2014/main" val="219603124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Structural</a:t>
                      </a:r>
                    </a:p>
                  </a:txBody>
                  <a:tcPr marL="75428" marR="75428" marT="37714" marB="377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Skills mismatch</a:t>
                      </a:r>
                    </a:p>
                  </a:txBody>
                  <a:tcPr marL="75428" marR="75428" marT="37714" marB="377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Worker replaced by automation</a:t>
                      </a:r>
                    </a:p>
                  </a:txBody>
                  <a:tcPr marL="75428" marR="75428" marT="37714" marB="37714" anchor="ctr"/>
                </a:tc>
                <a:extLst>
                  <a:ext uri="{0D108BD9-81ED-4DB2-BD59-A6C34878D82A}">
                    <a16:rowId xmlns:a16="http://schemas.microsoft.com/office/drawing/2014/main" val="3656329634"/>
                  </a:ext>
                </a:extLst>
              </a:tr>
              <a:tr h="331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Cyclical</a:t>
                      </a:r>
                    </a:p>
                  </a:txBody>
                  <a:tcPr marL="75428" marR="75428" marT="37714" marB="377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Recession</a:t>
                      </a:r>
                    </a:p>
                  </a:txBody>
                  <a:tcPr marL="75428" marR="75428" marT="37714" marB="377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Factory layoffs</a:t>
                      </a:r>
                    </a:p>
                  </a:txBody>
                  <a:tcPr marL="75428" marR="75428" marT="37714" marB="37714" anchor="ctr"/>
                </a:tc>
                <a:extLst>
                  <a:ext uri="{0D108BD9-81ED-4DB2-BD59-A6C34878D82A}">
                    <a16:rowId xmlns:a16="http://schemas.microsoft.com/office/drawing/2014/main" val="425098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09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D77C1-1A5C-CCBF-1AEE-0F49063E8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4" y="865633"/>
            <a:ext cx="9625593" cy="469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84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BF99F8-DB1C-6278-1F65-F34FD2A2E1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1DD35-6D2A-6A92-8048-3557955AD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Full Employment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F26AAF-A817-4759-A419-1B4385255C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9274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334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4FB0E-D1BA-6E88-C512-18F56449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598043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dirty="0"/>
              <a:t>Natural Unemployment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6D6D93-9D5A-1011-87E2-7F3E816CEA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unemployment rate that exists at full employment.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Natural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Rate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/>
                      <m:t>Frictional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i="1"/>
                      <m:t>Structural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does not include </a:t>
                </a:r>
                <a:r>
                  <a:rPr lang="en-US" b="1" dirty="0"/>
                  <a:t>Cyclical Unemployment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6D6D93-9D5A-1011-87E2-7F3E816CE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567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06D8-C741-84E8-41AC-0819079B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Factors affect Natural Unemployment 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269767-83A7-9720-77B6-FF872296FE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62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4B842E-FE74-A04C-55F5-A682BF174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98152"/>
            <a:ext cx="10905066" cy="526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36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11EFD-23DD-87AA-A625-E01BE6E29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84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1404A5-2B31-6A58-7439-B7DBCEA38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98152"/>
            <a:ext cx="10905066" cy="52616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915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F2BF85-F16C-E608-3C82-A640D080D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689" y="3071183"/>
            <a:ext cx="9910296" cy="2590027"/>
          </a:xfrm>
        </p:spPr>
        <p:txBody>
          <a:bodyPr anchor="t">
            <a:normAutofit/>
          </a:bodyPr>
          <a:lstStyle/>
          <a:p>
            <a:pPr algn="l"/>
            <a:r>
              <a:rPr lang="en-US" sz="8000"/>
              <a:t>Inflation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02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0E182-9E21-6BB9-4171-ADC3D23FD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Price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90CAB-3D07-BE8B-4C7E-53136CD60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Price Level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/>
              <a:t>price level</a:t>
            </a:r>
            <a:r>
              <a:rPr lang="en-US" sz="2000" dirty="0"/>
              <a:t> is the average level of prices of all goods and services in an economy at a particular time.</a:t>
            </a:r>
          </a:p>
          <a:p>
            <a:pPr lvl="1"/>
            <a:r>
              <a:rPr lang="en-US" sz="2000" dirty="0"/>
              <a:t>It tells us:</a:t>
            </a:r>
          </a:p>
          <a:p>
            <a:pPr lvl="2"/>
            <a:r>
              <a:rPr lang="en-US" dirty="0"/>
              <a:t>Whether goods are becoming more expensive. </a:t>
            </a:r>
          </a:p>
          <a:p>
            <a:pPr lvl="2"/>
            <a:r>
              <a:rPr lang="en-US" dirty="0"/>
              <a:t>Whether purchasing power is rising or falling. </a:t>
            </a:r>
          </a:p>
          <a:p>
            <a:pPr lvl="2"/>
            <a:r>
              <a:rPr lang="en-US" dirty="0"/>
              <a:t>Whether inflation exists. </a:t>
            </a:r>
          </a:p>
          <a:p>
            <a:r>
              <a:rPr lang="en-US" sz="2000" b="1" dirty="0"/>
              <a:t>Why Price Level Matters</a:t>
            </a:r>
          </a:p>
          <a:p>
            <a:pPr lvl="1"/>
            <a:r>
              <a:rPr lang="en-US" sz="2000" dirty="0"/>
              <a:t>Price level affects</a:t>
            </a:r>
          </a:p>
          <a:p>
            <a:pPr lvl="1"/>
            <a:r>
              <a:rPr lang="en-US" sz="2000" dirty="0"/>
              <a:t>Household purchasing power </a:t>
            </a:r>
          </a:p>
          <a:p>
            <a:pPr lvl="1"/>
            <a:r>
              <a:rPr lang="en-US" sz="2000" dirty="0"/>
              <a:t>Business investment </a:t>
            </a:r>
          </a:p>
          <a:p>
            <a:pPr lvl="1"/>
            <a:r>
              <a:rPr lang="en-US" sz="2000" dirty="0"/>
              <a:t>Interest rates </a:t>
            </a:r>
          </a:p>
          <a:p>
            <a:pPr lvl="1"/>
            <a:r>
              <a:rPr lang="en-US" sz="2000" dirty="0"/>
              <a:t>Wage negotiations </a:t>
            </a:r>
          </a:p>
          <a:p>
            <a:pPr lvl="1"/>
            <a:r>
              <a:rPr lang="en-US" sz="2000" dirty="0"/>
              <a:t>Government policies </a:t>
            </a:r>
          </a:p>
          <a:p>
            <a:pPr lvl="1"/>
            <a:r>
              <a:rPr lang="en-US" sz="2000" dirty="0"/>
              <a:t>International competitiveness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67238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FF024-C47C-01CE-7BCD-64021981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Changes of Price level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10B097-E918-37AB-B173-A5528E261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46427"/>
              </p:ext>
            </p:extLst>
          </p:nvPr>
        </p:nvGraphicFramePr>
        <p:xfrm>
          <a:off x="5922492" y="1642509"/>
          <a:ext cx="5536003" cy="351423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25951">
                  <a:extLst>
                    <a:ext uri="{9D8B030D-6E8A-4147-A177-3AD203B41FA5}">
                      <a16:colId xmlns:a16="http://schemas.microsoft.com/office/drawing/2014/main" val="159118300"/>
                    </a:ext>
                  </a:extLst>
                </a:gridCol>
                <a:gridCol w="1905026">
                  <a:extLst>
                    <a:ext uri="{9D8B030D-6E8A-4147-A177-3AD203B41FA5}">
                      <a16:colId xmlns:a16="http://schemas.microsoft.com/office/drawing/2014/main" val="2874089443"/>
                    </a:ext>
                  </a:extLst>
                </a:gridCol>
                <a:gridCol w="1905026">
                  <a:extLst>
                    <a:ext uri="{9D8B030D-6E8A-4147-A177-3AD203B41FA5}">
                      <a16:colId xmlns:a16="http://schemas.microsoft.com/office/drawing/2014/main" val="618332667"/>
                    </a:ext>
                  </a:extLst>
                </a:gridCol>
              </a:tblGrid>
              <a:tr h="91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 marL="142469" marR="142469" marT="142469" marB="14246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2024 Price (Tk.)</a:t>
                      </a:r>
                    </a:p>
                  </a:txBody>
                  <a:tcPr marL="142469" marR="142469" marT="142469" marB="14246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2025 Price (Tk.)</a:t>
                      </a:r>
                    </a:p>
                  </a:txBody>
                  <a:tcPr marL="142469" marR="142469" marT="142469" marB="14246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212481"/>
                  </a:ext>
                </a:extLst>
              </a:tr>
              <a:tr h="650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Rice</a:t>
                      </a:r>
                    </a:p>
                  </a:txBody>
                  <a:tcPr marL="142469" marR="142469" marT="71234" marB="142469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241244"/>
                  </a:ext>
                </a:extLst>
              </a:tr>
              <a:tr h="650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Fish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460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18466"/>
                  </a:ext>
                </a:extLst>
              </a:tr>
              <a:tr h="650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Milk</a:t>
                      </a:r>
                    </a:p>
                  </a:txBody>
                  <a:tcPr marL="142469" marR="142469" marT="71234" marB="142469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616868"/>
                  </a:ext>
                </a:extLst>
              </a:tr>
              <a:tr h="650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Bus Fare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42469" marR="142469" marT="71234" marB="1424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170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765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A12F5-2C01-E4C7-77E0-9D3F9945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Consumer Price Index (CPI)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01012-3E75-6108-3A77-89CA0817AA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2000"/>
                  <a:t>The </a:t>
                </a:r>
                <a:r>
                  <a:rPr lang="en-US" sz="2000" b="1"/>
                  <a:t>Consumer Price Index (CPI)</a:t>
                </a:r>
                <a:r>
                  <a:rPr lang="en-US" sz="2000"/>
                  <a:t> measures the average price of a fixed basket of goods and services purchased by a typical household.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𝐶𝑃𝐼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i="1"/>
                          <m:t>Cost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of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Basket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in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Current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Year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i="1"/>
                          <m:t>Cost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of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Basket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in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Base</m:t>
                        </m:r>
                        <m:r>
                          <m:rPr>
                            <m:nor/>
                          </m:rPr>
                          <a:rPr lang="en-US" sz="2000" i="1"/>
                          <m:t> </m:t>
                        </m:r>
                        <m:r>
                          <m:rPr>
                            <m:nor/>
                          </m:rPr>
                          <a:rPr lang="en-US" sz="2000" i="1"/>
                          <m:t>Year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sz="2000" b="0"/>
              </a:p>
              <a:p>
                <a:r>
                  <a:rPr lang="en-US" sz="2000"/>
                  <a:t>Example</a:t>
                </a:r>
              </a:p>
              <a:p>
                <a:pPr lvl="1"/>
                <a:r>
                  <a:rPr lang="en-US" sz="2000"/>
                  <a:t>Base Year Basket Cost = Tk. 4,000</a:t>
                </a:r>
              </a:p>
              <a:p>
                <a:pPr lvl="1"/>
                <a:r>
                  <a:rPr lang="en-US" sz="2000"/>
                  <a:t>Current Basket Cost = Tk. 5,200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𝐶𝑃𝐼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5200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4000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×100=130</m:t>
                    </m:r>
                  </m:oMath>
                </a14:m>
                <a:endParaRPr lang="en-US" sz="2000"/>
              </a:p>
              <a:p>
                <a:r>
                  <a:rPr lang="en-US" sz="2000"/>
                  <a:t>Prices are </a:t>
                </a:r>
                <a:r>
                  <a:rPr lang="en-US" sz="2000" b="1"/>
                  <a:t>30% higher</a:t>
                </a:r>
                <a:r>
                  <a:rPr lang="en-US" sz="2000"/>
                  <a:t> than in the base year.</a:t>
                </a:r>
              </a:p>
              <a:p>
                <a:endParaRPr lang="en-US" sz="20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01012-3E75-6108-3A77-89CA0817AA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  <a:blipFill>
                <a:blip r:embed="rId2"/>
                <a:stretch>
                  <a:fillRect l="-990" t="-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504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8E7A5-4EE6-636A-213E-4715DF5D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Inflation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0303C-0E19-827F-CC5D-B6D46B2BA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Inflation is a </a:t>
            </a:r>
            <a:r>
              <a:rPr lang="en-US" sz="2400" b="1"/>
              <a:t>persistent increase in the general price level</a:t>
            </a:r>
            <a:r>
              <a:rPr lang="en-US" sz="2400"/>
              <a:t> over time.</a:t>
            </a:r>
          </a:p>
          <a:p>
            <a:r>
              <a:rPr lang="en-US" sz="2400"/>
              <a:t>It reduces the purchasing power of money.</a:t>
            </a:r>
          </a:p>
          <a:p>
            <a:r>
              <a:rPr lang="en-US" sz="2400" b="1"/>
              <a:t>Purchasing Power</a:t>
            </a:r>
          </a:p>
          <a:p>
            <a:pPr lvl="1"/>
            <a:r>
              <a:rPr lang="en-US"/>
              <a:t>Suppose Tk.100 buys 2 kg rice today </a:t>
            </a:r>
          </a:p>
          <a:p>
            <a:pPr lvl="1"/>
            <a:r>
              <a:rPr lang="en-US"/>
              <a:t>Next year Tk.100 buys 1.7 kg rice </a:t>
            </a:r>
          </a:p>
          <a:p>
            <a:pPr lvl="1"/>
            <a:r>
              <a:rPr lang="en-US"/>
              <a:t>Money buys fewer goods.</a:t>
            </a:r>
          </a:p>
          <a:p>
            <a:pPr lvl="1"/>
            <a:r>
              <a:rPr lang="en-US"/>
              <a:t>Purchasing power decreases.</a:t>
            </a:r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26071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9112E-5F95-0B43-4195-03BCBD8F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Deflation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1C585-F735-912A-C80A-745B62BC6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/>
              <a:t>Deflation is a </a:t>
            </a:r>
            <a:r>
              <a:rPr lang="en-US" sz="1800" b="1"/>
              <a:t>persistent decrease in the general price level.</a:t>
            </a:r>
            <a:endParaRPr lang="en-US" sz="1800"/>
          </a:p>
          <a:p>
            <a:r>
              <a:rPr lang="en-US" sz="1800"/>
              <a:t>Goods become cheaper.</a:t>
            </a:r>
          </a:p>
          <a:p>
            <a:r>
              <a:rPr lang="en-US" sz="1800"/>
              <a:t>Money gains purchasing power.</a:t>
            </a:r>
          </a:p>
          <a:p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007EF1-D630-470E-4F8E-C1EE69373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699804"/>
              </p:ext>
            </p:extLst>
          </p:nvPr>
        </p:nvGraphicFramePr>
        <p:xfrm>
          <a:off x="5987738" y="2116810"/>
          <a:ext cx="5628019" cy="2391511"/>
        </p:xfrm>
        <a:graphic>
          <a:graphicData uri="http://schemas.openxmlformats.org/drawingml/2006/table">
            <a:tbl>
              <a:tblPr/>
              <a:tblGrid>
                <a:gridCol w="2734293">
                  <a:extLst>
                    <a:ext uri="{9D8B030D-6E8A-4147-A177-3AD203B41FA5}">
                      <a16:colId xmlns:a16="http://schemas.microsoft.com/office/drawing/2014/main" val="460486457"/>
                    </a:ext>
                  </a:extLst>
                </a:gridCol>
                <a:gridCol w="2893726">
                  <a:extLst>
                    <a:ext uri="{9D8B030D-6E8A-4147-A177-3AD203B41FA5}">
                      <a16:colId xmlns:a16="http://schemas.microsoft.com/office/drawing/2014/main" val="323015349"/>
                    </a:ext>
                  </a:extLst>
                </a:gridCol>
              </a:tblGrid>
              <a:tr h="420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Inflation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Deflation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449906"/>
                  </a:ext>
                </a:extLst>
              </a:tr>
              <a:tr h="420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 dirty="0">
                          <a:effectLst/>
                          <a:latin typeface="Arial" panose="020B0604020202020204" pitchFamily="34" charset="0"/>
                        </a:rPr>
                        <a:t>Prices increase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Prices decrease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522707"/>
                  </a:ext>
                </a:extLst>
              </a:tr>
              <a:tr h="420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Money loses value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Money gains value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38766"/>
                  </a:ext>
                </a:extLst>
              </a:tr>
              <a:tr h="420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Purchasing power falls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Purchasing power rises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934479"/>
                  </a:ext>
                </a:extLst>
              </a:tr>
              <a:tr h="707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Usually caused by excess demand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Usually caused by weak demand</a:t>
                      </a:r>
                    </a:p>
                  </a:txBody>
                  <a:tcPr marL="95660" marR="95660" marT="47830" marB="478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309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398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55415-41BC-7C4D-3415-8D83F3F7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Measuring Inflation Rate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B6EDF8-2760-58FA-7A1E-6B23D98E32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6218" y="1316737"/>
                <a:ext cx="5542387" cy="4446750"/>
              </a:xfrm>
            </p:spPr>
            <p:txBody>
              <a:bodyPr anchor="t"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US" sz="1700" b="1" dirty="0"/>
              </a:p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/>
                      <m:t>Inflation</m:t>
                    </m:r>
                    <m:r>
                      <m:rPr>
                        <m:nor/>
                      </m:rPr>
                      <a:rPr lang="en-US" sz="2000" b="0" i="1"/>
                      <m:t> </m:t>
                    </m:r>
                    <m:r>
                      <m:rPr>
                        <m:nor/>
                      </m:rPr>
                      <a:rPr lang="en-US" sz="2000" b="0" i="1"/>
                      <m:t>Rate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𝐶𝑃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𝐶𝑃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𝐶𝑃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br>
                  <a:rPr lang="en-US" sz="2000" dirty="0"/>
                </a:br>
                <a:endParaRPr lang="en-US" sz="2000" dirty="0"/>
              </a:p>
              <a:p>
                <a:r>
                  <a:rPr lang="en-US" sz="2000" b="1" dirty="0"/>
                  <a:t>Example</a:t>
                </a:r>
              </a:p>
              <a:p>
                <a:pPr lvl="1"/>
                <a:r>
                  <a:rPr lang="en-US" sz="2000" dirty="0"/>
                  <a:t>CPI 2024 = 120</a:t>
                </a:r>
              </a:p>
              <a:p>
                <a:pPr lvl="1"/>
                <a:r>
                  <a:rPr lang="en-US" sz="2000" dirty="0"/>
                  <a:t>CPI 2025 = 132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𝐼𝑛𝑓𝑙𝑎𝑡𝑖𝑜𝑛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132−120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×100=10%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Inflation Rate = </a:t>
                </a:r>
                <a:r>
                  <a:rPr lang="en-US" sz="2000" b="1" dirty="0"/>
                  <a:t>10%</a:t>
                </a:r>
                <a:br>
                  <a:rPr lang="en-US" sz="2000" dirty="0"/>
                </a:br>
                <a:endParaRPr lang="en-US" sz="2000" dirty="0"/>
              </a:p>
              <a:p>
                <a:r>
                  <a:rPr lang="en-US" sz="2000" b="1" dirty="0"/>
                  <a:t>Deflation Example</a:t>
                </a:r>
              </a:p>
              <a:p>
                <a:pPr lvl="1"/>
                <a:r>
                  <a:rPr lang="en-US" sz="2000" dirty="0"/>
                  <a:t>CPI 2024 = 120</a:t>
                </a:r>
              </a:p>
              <a:p>
                <a:pPr lvl="1"/>
                <a:r>
                  <a:rPr lang="en-US" sz="2000" dirty="0"/>
                  <a:t>CPI 2025 = 114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𝐷𝑒𝑓𝑙𝑎𝑡𝑖𝑜𝑛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114−120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×100=−5%</m:t>
                    </m:r>
                  </m:oMath>
                </a14:m>
                <a:endParaRPr lang="en-US" sz="2000" dirty="0"/>
              </a:p>
              <a:p>
                <a:endParaRPr lang="en-US" sz="17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B6EDF8-2760-58FA-7A1E-6B23D98E32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6218" y="1316737"/>
                <a:ext cx="5542387" cy="4446750"/>
              </a:xfrm>
              <a:blipFill>
                <a:blip r:embed="rId2"/>
                <a:stretch>
                  <a:fillRect l="-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66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989</Words>
  <Application>Microsoft Office PowerPoint</Application>
  <PresentationFormat>Widescreen</PresentationFormat>
  <Paragraphs>191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Monitoring Jobs and Inflation</vt:lpstr>
      <vt:lpstr>Learning Objectives </vt:lpstr>
      <vt:lpstr>Why Unemployment Matters</vt:lpstr>
      <vt:lpstr>Measuring Employment and Unemployment</vt:lpstr>
      <vt:lpstr>Employed vs Unemployed Person</vt:lpstr>
      <vt:lpstr>Key Labor Market Indicators</vt:lpstr>
      <vt:lpstr>Why Unemployment Rate Is Imperfect</vt:lpstr>
      <vt:lpstr>Unemployment and Full Employment </vt:lpstr>
      <vt:lpstr>PowerPoint Presentation</vt:lpstr>
      <vt:lpstr>Full Employment </vt:lpstr>
      <vt:lpstr>Natural Unemployment Rate</vt:lpstr>
      <vt:lpstr>Factors affect Natural Unemployment </vt:lpstr>
      <vt:lpstr>PowerPoint Presentation</vt:lpstr>
      <vt:lpstr>PowerPoint Presentation</vt:lpstr>
      <vt:lpstr>PowerPoint Presentation</vt:lpstr>
      <vt:lpstr>Inflation</vt:lpstr>
      <vt:lpstr>Price level</vt:lpstr>
      <vt:lpstr>Changes of Price level </vt:lpstr>
      <vt:lpstr>Consumer Price Index (CPI)</vt:lpstr>
      <vt:lpstr>Inflation </vt:lpstr>
      <vt:lpstr>Deflation</vt:lpstr>
      <vt:lpstr>Measuring Inflation Rate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 Mamun, PhD, FCMA</dc:creator>
  <cp:lastModifiedBy>Syed A Mamun, PhD, FCMA</cp:lastModifiedBy>
  <cp:revision>4</cp:revision>
  <dcterms:created xsi:type="dcterms:W3CDTF">2026-06-24T07:17:08Z</dcterms:created>
  <dcterms:modified xsi:type="dcterms:W3CDTF">2026-06-29T08:26:33Z</dcterms:modified>
</cp:coreProperties>
</file>