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7"/>
  </p:notesMasterIdLst>
  <p:sldIdLst>
    <p:sldId id="277" r:id="rId3"/>
    <p:sldId id="267" r:id="rId4"/>
    <p:sldId id="268" r:id="rId5"/>
    <p:sldId id="258" r:id="rId6"/>
    <p:sldId id="259" r:id="rId7"/>
    <p:sldId id="260" r:id="rId8"/>
    <p:sldId id="261" r:id="rId9"/>
    <p:sldId id="263" r:id="rId10"/>
    <p:sldId id="262" r:id="rId11"/>
    <p:sldId id="265" r:id="rId12"/>
    <p:sldId id="269" r:id="rId13"/>
    <p:sldId id="264" r:id="rId14"/>
    <p:sldId id="270" r:id="rId15"/>
    <p:sldId id="271" r:id="rId16"/>
    <p:sldId id="272" r:id="rId17"/>
    <p:sldId id="273" r:id="rId18"/>
    <p:sldId id="275" r:id="rId19"/>
    <p:sldId id="274" r:id="rId20"/>
    <p:sldId id="276" r:id="rId21"/>
    <p:sldId id="266" r:id="rId22"/>
    <p:sldId id="278" r:id="rId23"/>
    <p:sldId id="279" r:id="rId24"/>
    <p:sldId id="280" r:id="rId25"/>
    <p:sldId id="281" r:id="rId26"/>
    <p:sldId id="282" r:id="rId27"/>
    <p:sldId id="283" r:id="rId28"/>
    <p:sldId id="284" r:id="rId29"/>
    <p:sldId id="287" r:id="rId30"/>
    <p:sldId id="285" r:id="rId31"/>
    <p:sldId id="286"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7" autoAdjust="0"/>
    <p:restoredTop sz="94660"/>
  </p:normalViewPr>
  <p:slideViewPr>
    <p:cSldViewPr snapToGrid="0">
      <p:cViewPr varScale="1">
        <p:scale>
          <a:sx n="79" d="100"/>
          <a:sy n="79" d="100"/>
        </p:scale>
        <p:origin x="12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1B1669-59D7-42E4-BB22-7B7E23D1A49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5AE98D9-0D8F-4C05-8E57-3C9597465CC4}">
      <dgm:prSet/>
      <dgm:spPr/>
      <dgm:t>
        <a:bodyPr/>
        <a:lstStyle/>
        <a:p>
          <a:r>
            <a:rPr lang="en-US"/>
            <a:t>Financial Institutions and Financial Markets</a:t>
          </a:r>
        </a:p>
      </dgm:t>
    </dgm:pt>
    <dgm:pt modelId="{833ACB06-F061-4C75-A521-2FAB17F9B80C}" type="parTrans" cxnId="{C58917D6-DE8F-4022-8D2D-53F73A1313DA}">
      <dgm:prSet/>
      <dgm:spPr/>
      <dgm:t>
        <a:bodyPr/>
        <a:lstStyle/>
        <a:p>
          <a:endParaRPr lang="en-US"/>
        </a:p>
      </dgm:t>
    </dgm:pt>
    <dgm:pt modelId="{469C5AF1-1CCE-4EEB-BCA1-B391C729A327}" type="sibTrans" cxnId="{C58917D6-DE8F-4022-8D2D-53F73A1313DA}">
      <dgm:prSet/>
      <dgm:spPr/>
      <dgm:t>
        <a:bodyPr/>
        <a:lstStyle/>
        <a:p>
          <a:endParaRPr lang="en-US"/>
        </a:p>
      </dgm:t>
    </dgm:pt>
    <dgm:pt modelId="{4CBEA32D-7607-4AE2-8E84-B3245851C8EA}">
      <dgm:prSet/>
      <dgm:spPr/>
      <dgm:t>
        <a:bodyPr/>
        <a:lstStyle/>
        <a:p>
          <a:r>
            <a:rPr lang="en-US"/>
            <a:t>Loanable Funds market </a:t>
          </a:r>
        </a:p>
      </dgm:t>
    </dgm:pt>
    <dgm:pt modelId="{5E1FCA53-46E1-4628-A780-7A509C805CDB}" type="parTrans" cxnId="{9903F6F8-28AD-4E04-80B4-410E266E67FF}">
      <dgm:prSet/>
      <dgm:spPr/>
      <dgm:t>
        <a:bodyPr/>
        <a:lstStyle/>
        <a:p>
          <a:endParaRPr lang="en-US"/>
        </a:p>
      </dgm:t>
    </dgm:pt>
    <dgm:pt modelId="{FA5722D3-E304-4B8E-93D4-D0F531C01949}" type="sibTrans" cxnId="{9903F6F8-28AD-4E04-80B4-410E266E67FF}">
      <dgm:prSet/>
      <dgm:spPr/>
      <dgm:t>
        <a:bodyPr/>
        <a:lstStyle/>
        <a:p>
          <a:endParaRPr lang="en-US"/>
        </a:p>
      </dgm:t>
    </dgm:pt>
    <dgm:pt modelId="{DC9D853B-4E17-4C40-AF39-85D911406F4B}">
      <dgm:prSet/>
      <dgm:spPr/>
      <dgm:t>
        <a:bodyPr/>
        <a:lstStyle/>
        <a:p>
          <a:r>
            <a:rPr lang="en-US"/>
            <a:t>Government in the Loanable Funds Market</a:t>
          </a:r>
        </a:p>
      </dgm:t>
    </dgm:pt>
    <dgm:pt modelId="{D17C79E7-E33F-4320-AD72-6099AE8158D1}" type="parTrans" cxnId="{6762B585-25F7-4A05-8E8B-3B25532F796C}">
      <dgm:prSet/>
      <dgm:spPr/>
      <dgm:t>
        <a:bodyPr/>
        <a:lstStyle/>
        <a:p>
          <a:endParaRPr lang="en-US"/>
        </a:p>
      </dgm:t>
    </dgm:pt>
    <dgm:pt modelId="{055E6CFF-4F90-479D-8E51-2A69E21C02D2}" type="sibTrans" cxnId="{6762B585-25F7-4A05-8E8B-3B25532F796C}">
      <dgm:prSet/>
      <dgm:spPr/>
      <dgm:t>
        <a:bodyPr/>
        <a:lstStyle/>
        <a:p>
          <a:endParaRPr lang="en-US"/>
        </a:p>
      </dgm:t>
    </dgm:pt>
    <dgm:pt modelId="{365B331C-CD09-4769-B091-7123C01777A8}" type="pres">
      <dgm:prSet presAssocID="{4B1B1669-59D7-42E4-BB22-7B7E23D1A49D}" presName="root" presStyleCnt="0">
        <dgm:presLayoutVars>
          <dgm:dir/>
          <dgm:resizeHandles val="exact"/>
        </dgm:presLayoutVars>
      </dgm:prSet>
      <dgm:spPr/>
    </dgm:pt>
    <dgm:pt modelId="{5E9E0F30-B026-4336-B455-123B24D1798E}" type="pres">
      <dgm:prSet presAssocID="{E5AE98D9-0D8F-4C05-8E57-3C9597465CC4}" presName="compNode" presStyleCnt="0"/>
      <dgm:spPr/>
    </dgm:pt>
    <dgm:pt modelId="{4163F2C1-B952-4698-A973-672461724160}" type="pres">
      <dgm:prSet presAssocID="{E5AE98D9-0D8F-4C05-8E57-3C9597465CC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nk"/>
        </a:ext>
      </dgm:extLst>
    </dgm:pt>
    <dgm:pt modelId="{33979961-C8FD-40EF-BA47-A06A3F8D1D16}" type="pres">
      <dgm:prSet presAssocID="{E5AE98D9-0D8F-4C05-8E57-3C9597465CC4}" presName="spaceRect" presStyleCnt="0"/>
      <dgm:spPr/>
    </dgm:pt>
    <dgm:pt modelId="{21ADA1F4-0AC2-48DB-B577-2999DEF6363D}" type="pres">
      <dgm:prSet presAssocID="{E5AE98D9-0D8F-4C05-8E57-3C9597465CC4}" presName="textRect" presStyleLbl="revTx" presStyleIdx="0" presStyleCnt="3">
        <dgm:presLayoutVars>
          <dgm:chMax val="1"/>
          <dgm:chPref val="1"/>
        </dgm:presLayoutVars>
      </dgm:prSet>
      <dgm:spPr/>
    </dgm:pt>
    <dgm:pt modelId="{175E161D-E652-4185-B146-6DE70BCF6FF1}" type="pres">
      <dgm:prSet presAssocID="{469C5AF1-1CCE-4EEB-BCA1-B391C729A327}" presName="sibTrans" presStyleCnt="0"/>
      <dgm:spPr/>
    </dgm:pt>
    <dgm:pt modelId="{40210C4A-B3E1-4E7F-B4C9-AC088753A55A}" type="pres">
      <dgm:prSet presAssocID="{4CBEA32D-7607-4AE2-8E84-B3245851C8EA}" presName="compNode" presStyleCnt="0"/>
      <dgm:spPr/>
    </dgm:pt>
    <dgm:pt modelId="{59D2A7C3-82F6-4D71-A9A7-BD2B9C4D1AAD}" type="pres">
      <dgm:prSet presAssocID="{4CBEA32D-7607-4AE2-8E84-B3245851C8EA}"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892F8BBC-2A5C-40A4-9175-458493791055}" type="pres">
      <dgm:prSet presAssocID="{4CBEA32D-7607-4AE2-8E84-B3245851C8EA}" presName="spaceRect" presStyleCnt="0"/>
      <dgm:spPr/>
    </dgm:pt>
    <dgm:pt modelId="{E75F6526-7E72-4CA0-A3AE-2D48209C6FB2}" type="pres">
      <dgm:prSet presAssocID="{4CBEA32D-7607-4AE2-8E84-B3245851C8EA}" presName="textRect" presStyleLbl="revTx" presStyleIdx="1" presStyleCnt="3">
        <dgm:presLayoutVars>
          <dgm:chMax val="1"/>
          <dgm:chPref val="1"/>
        </dgm:presLayoutVars>
      </dgm:prSet>
      <dgm:spPr/>
    </dgm:pt>
    <dgm:pt modelId="{4FC9D4E2-16B0-4470-AC71-B07B0D96A25F}" type="pres">
      <dgm:prSet presAssocID="{FA5722D3-E304-4B8E-93D4-D0F531C01949}" presName="sibTrans" presStyleCnt="0"/>
      <dgm:spPr/>
    </dgm:pt>
    <dgm:pt modelId="{699E73C7-7757-41A5-954B-C50696171F08}" type="pres">
      <dgm:prSet presAssocID="{DC9D853B-4E17-4C40-AF39-85D911406F4B}" presName="compNode" presStyleCnt="0"/>
      <dgm:spPr/>
    </dgm:pt>
    <dgm:pt modelId="{227BA2B9-D141-493C-8C28-5CFF0F2DF941}" type="pres">
      <dgm:prSet presAssocID="{DC9D853B-4E17-4C40-AF39-85D911406F4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ourt"/>
        </a:ext>
      </dgm:extLst>
    </dgm:pt>
    <dgm:pt modelId="{67A6A167-1623-47BC-B630-59A884F5F67D}" type="pres">
      <dgm:prSet presAssocID="{DC9D853B-4E17-4C40-AF39-85D911406F4B}" presName="spaceRect" presStyleCnt="0"/>
      <dgm:spPr/>
    </dgm:pt>
    <dgm:pt modelId="{AEC7C44E-B42F-4242-8E7A-CADDC22B1CC3}" type="pres">
      <dgm:prSet presAssocID="{DC9D853B-4E17-4C40-AF39-85D911406F4B}" presName="textRect" presStyleLbl="revTx" presStyleIdx="2" presStyleCnt="3">
        <dgm:presLayoutVars>
          <dgm:chMax val="1"/>
          <dgm:chPref val="1"/>
        </dgm:presLayoutVars>
      </dgm:prSet>
      <dgm:spPr/>
    </dgm:pt>
  </dgm:ptLst>
  <dgm:cxnLst>
    <dgm:cxn modelId="{FC8FEB0E-F6B5-4440-8AC5-9481676827E9}" type="presOf" srcId="{DC9D853B-4E17-4C40-AF39-85D911406F4B}" destId="{AEC7C44E-B42F-4242-8E7A-CADDC22B1CC3}" srcOrd="0" destOrd="0" presId="urn:microsoft.com/office/officeart/2018/2/layout/IconLabelList"/>
    <dgm:cxn modelId="{6762B585-25F7-4A05-8E8B-3B25532F796C}" srcId="{4B1B1669-59D7-42E4-BB22-7B7E23D1A49D}" destId="{DC9D853B-4E17-4C40-AF39-85D911406F4B}" srcOrd="2" destOrd="0" parTransId="{D17C79E7-E33F-4320-AD72-6099AE8158D1}" sibTransId="{055E6CFF-4F90-479D-8E51-2A69E21C02D2}"/>
    <dgm:cxn modelId="{295A74A8-B232-4084-B61B-BD5E55980B90}" type="presOf" srcId="{4CBEA32D-7607-4AE2-8E84-B3245851C8EA}" destId="{E75F6526-7E72-4CA0-A3AE-2D48209C6FB2}" srcOrd="0" destOrd="0" presId="urn:microsoft.com/office/officeart/2018/2/layout/IconLabelList"/>
    <dgm:cxn modelId="{C58917D6-DE8F-4022-8D2D-53F73A1313DA}" srcId="{4B1B1669-59D7-42E4-BB22-7B7E23D1A49D}" destId="{E5AE98D9-0D8F-4C05-8E57-3C9597465CC4}" srcOrd="0" destOrd="0" parTransId="{833ACB06-F061-4C75-A521-2FAB17F9B80C}" sibTransId="{469C5AF1-1CCE-4EEB-BCA1-B391C729A327}"/>
    <dgm:cxn modelId="{1D7C23E8-49D9-486F-866A-01AF09E33FD3}" type="presOf" srcId="{E5AE98D9-0D8F-4C05-8E57-3C9597465CC4}" destId="{21ADA1F4-0AC2-48DB-B577-2999DEF6363D}" srcOrd="0" destOrd="0" presId="urn:microsoft.com/office/officeart/2018/2/layout/IconLabelList"/>
    <dgm:cxn modelId="{3E7789EC-3E7D-4742-AA31-45339FD3A568}" type="presOf" srcId="{4B1B1669-59D7-42E4-BB22-7B7E23D1A49D}" destId="{365B331C-CD09-4769-B091-7123C01777A8}" srcOrd="0" destOrd="0" presId="urn:microsoft.com/office/officeart/2018/2/layout/IconLabelList"/>
    <dgm:cxn modelId="{9903F6F8-28AD-4E04-80B4-410E266E67FF}" srcId="{4B1B1669-59D7-42E4-BB22-7B7E23D1A49D}" destId="{4CBEA32D-7607-4AE2-8E84-B3245851C8EA}" srcOrd="1" destOrd="0" parTransId="{5E1FCA53-46E1-4628-A780-7A509C805CDB}" sibTransId="{FA5722D3-E304-4B8E-93D4-D0F531C01949}"/>
    <dgm:cxn modelId="{C4C95321-2713-480A-8C41-8110B8F64D4C}" type="presParOf" srcId="{365B331C-CD09-4769-B091-7123C01777A8}" destId="{5E9E0F30-B026-4336-B455-123B24D1798E}" srcOrd="0" destOrd="0" presId="urn:microsoft.com/office/officeart/2018/2/layout/IconLabelList"/>
    <dgm:cxn modelId="{ACE257D3-ECE7-4ABB-89C4-BB4A05C3513F}" type="presParOf" srcId="{5E9E0F30-B026-4336-B455-123B24D1798E}" destId="{4163F2C1-B952-4698-A973-672461724160}" srcOrd="0" destOrd="0" presId="urn:microsoft.com/office/officeart/2018/2/layout/IconLabelList"/>
    <dgm:cxn modelId="{0FB40C01-9FCD-4146-A950-366988784D7D}" type="presParOf" srcId="{5E9E0F30-B026-4336-B455-123B24D1798E}" destId="{33979961-C8FD-40EF-BA47-A06A3F8D1D16}" srcOrd="1" destOrd="0" presId="urn:microsoft.com/office/officeart/2018/2/layout/IconLabelList"/>
    <dgm:cxn modelId="{E31E943A-AAFD-4F76-A96C-73EB454901C2}" type="presParOf" srcId="{5E9E0F30-B026-4336-B455-123B24D1798E}" destId="{21ADA1F4-0AC2-48DB-B577-2999DEF6363D}" srcOrd="2" destOrd="0" presId="urn:microsoft.com/office/officeart/2018/2/layout/IconLabelList"/>
    <dgm:cxn modelId="{1316E572-50B1-4D65-ACFE-3073BCC34CE3}" type="presParOf" srcId="{365B331C-CD09-4769-B091-7123C01777A8}" destId="{175E161D-E652-4185-B146-6DE70BCF6FF1}" srcOrd="1" destOrd="0" presId="urn:microsoft.com/office/officeart/2018/2/layout/IconLabelList"/>
    <dgm:cxn modelId="{752427C0-0242-4154-A644-44079D15931A}" type="presParOf" srcId="{365B331C-CD09-4769-B091-7123C01777A8}" destId="{40210C4A-B3E1-4E7F-B4C9-AC088753A55A}" srcOrd="2" destOrd="0" presId="urn:microsoft.com/office/officeart/2018/2/layout/IconLabelList"/>
    <dgm:cxn modelId="{63D7E966-4576-407F-B31D-A79456CDECBF}" type="presParOf" srcId="{40210C4A-B3E1-4E7F-B4C9-AC088753A55A}" destId="{59D2A7C3-82F6-4D71-A9A7-BD2B9C4D1AAD}" srcOrd="0" destOrd="0" presId="urn:microsoft.com/office/officeart/2018/2/layout/IconLabelList"/>
    <dgm:cxn modelId="{0648179C-FC3A-42AA-9D87-50087CF8768A}" type="presParOf" srcId="{40210C4A-B3E1-4E7F-B4C9-AC088753A55A}" destId="{892F8BBC-2A5C-40A4-9175-458493791055}" srcOrd="1" destOrd="0" presId="urn:microsoft.com/office/officeart/2018/2/layout/IconLabelList"/>
    <dgm:cxn modelId="{7AB7FBDB-6726-4A18-9ED6-558E918B2434}" type="presParOf" srcId="{40210C4A-B3E1-4E7F-B4C9-AC088753A55A}" destId="{E75F6526-7E72-4CA0-A3AE-2D48209C6FB2}" srcOrd="2" destOrd="0" presId="urn:microsoft.com/office/officeart/2018/2/layout/IconLabelList"/>
    <dgm:cxn modelId="{0B101D74-BCC7-4438-8770-88F05CA65557}" type="presParOf" srcId="{365B331C-CD09-4769-B091-7123C01777A8}" destId="{4FC9D4E2-16B0-4470-AC71-B07B0D96A25F}" srcOrd="3" destOrd="0" presId="urn:microsoft.com/office/officeart/2018/2/layout/IconLabelList"/>
    <dgm:cxn modelId="{218B9898-666D-4DFA-B093-0A4BA55112BC}" type="presParOf" srcId="{365B331C-CD09-4769-B091-7123C01777A8}" destId="{699E73C7-7757-41A5-954B-C50696171F08}" srcOrd="4" destOrd="0" presId="urn:microsoft.com/office/officeart/2018/2/layout/IconLabelList"/>
    <dgm:cxn modelId="{47A3F2A9-759D-4ABE-9AAF-824C8F063EDE}" type="presParOf" srcId="{699E73C7-7757-41A5-954B-C50696171F08}" destId="{227BA2B9-D141-493C-8C28-5CFF0F2DF941}" srcOrd="0" destOrd="0" presId="urn:microsoft.com/office/officeart/2018/2/layout/IconLabelList"/>
    <dgm:cxn modelId="{D228EC7D-0A5C-477E-ABD8-A899739DF24E}" type="presParOf" srcId="{699E73C7-7757-41A5-954B-C50696171F08}" destId="{67A6A167-1623-47BC-B630-59A884F5F67D}" srcOrd="1" destOrd="0" presId="urn:microsoft.com/office/officeart/2018/2/layout/IconLabelList"/>
    <dgm:cxn modelId="{21FCD345-F0A7-4EAE-AC33-4363B5960664}" type="presParOf" srcId="{699E73C7-7757-41A5-954B-C50696171F08}" destId="{AEC7C44E-B42F-4242-8E7A-CADDC22B1CC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E60F8E-3349-4DA1-89F7-11B8F9084DFE}" type="doc">
      <dgm:prSet loTypeId="urn:microsoft.com/office/officeart/2018/5/layout/IconCircleLabelList" loCatId="icon" qsTypeId="urn:microsoft.com/office/officeart/2005/8/quickstyle/simple1" qsCatId="simple" csTypeId="urn:microsoft.com/office/officeart/2018/5/colors/Iconchunking_neutralicon_accent0_3" csCatId="mainScheme" phldr="1"/>
      <dgm:spPr/>
      <dgm:t>
        <a:bodyPr/>
        <a:lstStyle/>
        <a:p>
          <a:endParaRPr lang="en-US"/>
        </a:p>
      </dgm:t>
    </dgm:pt>
    <dgm:pt modelId="{E25BBC5B-A139-4894-9F28-CFCAACDB04B4}">
      <dgm:prSet/>
      <dgm:spPr/>
      <dgm:t>
        <a:bodyPr/>
        <a:lstStyle/>
        <a:p>
          <a:pPr>
            <a:defRPr cap="all"/>
          </a:pPr>
          <a:r>
            <a:rPr lang="en-US"/>
            <a:t>Loan Market</a:t>
          </a:r>
        </a:p>
      </dgm:t>
    </dgm:pt>
    <dgm:pt modelId="{C529C9E0-6502-4158-9677-550FDF97F433}" type="parTrans" cxnId="{95875F1A-931B-477A-8BF0-35C2DD9EA687}">
      <dgm:prSet/>
      <dgm:spPr/>
      <dgm:t>
        <a:bodyPr/>
        <a:lstStyle/>
        <a:p>
          <a:endParaRPr lang="en-US"/>
        </a:p>
      </dgm:t>
    </dgm:pt>
    <dgm:pt modelId="{EC3E1852-3CB6-4215-814A-C56B369F019C}" type="sibTrans" cxnId="{95875F1A-931B-477A-8BF0-35C2DD9EA687}">
      <dgm:prSet/>
      <dgm:spPr/>
      <dgm:t>
        <a:bodyPr/>
        <a:lstStyle/>
        <a:p>
          <a:endParaRPr lang="en-US"/>
        </a:p>
      </dgm:t>
    </dgm:pt>
    <dgm:pt modelId="{6EB56E1F-7B6B-4F68-84FA-6EF0BEEFE4F9}">
      <dgm:prSet/>
      <dgm:spPr/>
      <dgm:t>
        <a:bodyPr/>
        <a:lstStyle/>
        <a:p>
          <a:pPr>
            <a:defRPr cap="all"/>
          </a:pPr>
          <a:r>
            <a:rPr lang="en-US"/>
            <a:t>Bond Market</a:t>
          </a:r>
        </a:p>
      </dgm:t>
    </dgm:pt>
    <dgm:pt modelId="{34E5833E-282A-4500-8915-CB388FE06F43}" type="parTrans" cxnId="{D630150B-D56C-49BA-A6C4-F04EFD6E8ADB}">
      <dgm:prSet/>
      <dgm:spPr/>
      <dgm:t>
        <a:bodyPr/>
        <a:lstStyle/>
        <a:p>
          <a:endParaRPr lang="en-US"/>
        </a:p>
      </dgm:t>
    </dgm:pt>
    <dgm:pt modelId="{FC29D760-DA27-4B36-BCE3-344EA8900BC1}" type="sibTrans" cxnId="{D630150B-D56C-49BA-A6C4-F04EFD6E8ADB}">
      <dgm:prSet/>
      <dgm:spPr/>
      <dgm:t>
        <a:bodyPr/>
        <a:lstStyle/>
        <a:p>
          <a:endParaRPr lang="en-US"/>
        </a:p>
      </dgm:t>
    </dgm:pt>
    <dgm:pt modelId="{77C345A7-1D39-44F0-8327-B1677D394C45}">
      <dgm:prSet/>
      <dgm:spPr/>
      <dgm:t>
        <a:bodyPr/>
        <a:lstStyle/>
        <a:p>
          <a:pPr>
            <a:defRPr cap="all"/>
          </a:pPr>
          <a:r>
            <a:rPr lang="en-US"/>
            <a:t>Stock Market</a:t>
          </a:r>
        </a:p>
      </dgm:t>
    </dgm:pt>
    <dgm:pt modelId="{126FA3A4-ED61-4439-8984-71D7767500E5}" type="parTrans" cxnId="{B3F8819C-D50B-4E1D-8AFD-52C2FDA6D840}">
      <dgm:prSet/>
      <dgm:spPr/>
      <dgm:t>
        <a:bodyPr/>
        <a:lstStyle/>
        <a:p>
          <a:endParaRPr lang="en-US"/>
        </a:p>
      </dgm:t>
    </dgm:pt>
    <dgm:pt modelId="{F19611A0-9D97-4E6B-B9AE-E9CBC4498E5B}" type="sibTrans" cxnId="{B3F8819C-D50B-4E1D-8AFD-52C2FDA6D840}">
      <dgm:prSet/>
      <dgm:spPr/>
      <dgm:t>
        <a:bodyPr/>
        <a:lstStyle/>
        <a:p>
          <a:endParaRPr lang="en-US"/>
        </a:p>
      </dgm:t>
    </dgm:pt>
    <dgm:pt modelId="{C2AB9AD6-6EA2-44FC-8B98-CBDA3D9CEEE7}" type="pres">
      <dgm:prSet presAssocID="{97E60F8E-3349-4DA1-89F7-11B8F9084DFE}" presName="root" presStyleCnt="0">
        <dgm:presLayoutVars>
          <dgm:dir/>
          <dgm:resizeHandles val="exact"/>
        </dgm:presLayoutVars>
      </dgm:prSet>
      <dgm:spPr/>
    </dgm:pt>
    <dgm:pt modelId="{2EECC017-EA3A-4222-8292-B119FB9C6473}" type="pres">
      <dgm:prSet presAssocID="{E25BBC5B-A139-4894-9F28-CFCAACDB04B4}" presName="compNode" presStyleCnt="0"/>
      <dgm:spPr/>
    </dgm:pt>
    <dgm:pt modelId="{E659066F-580B-4AB7-85A5-748F1535B57C}" type="pres">
      <dgm:prSet presAssocID="{E25BBC5B-A139-4894-9F28-CFCAACDB04B4}" presName="iconBgRect" presStyleLbl="bgShp" presStyleIdx="0" presStyleCnt="3"/>
      <dgm:spPr/>
    </dgm:pt>
    <dgm:pt modelId="{E12136B1-7164-45A7-A598-A0744811DDF1}" type="pres">
      <dgm:prSet presAssocID="{E25BBC5B-A139-4894-9F28-CFCAACDB04B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oney"/>
        </a:ext>
      </dgm:extLst>
    </dgm:pt>
    <dgm:pt modelId="{0A7BE75A-24A4-4E73-A58A-71E4DCF88EB9}" type="pres">
      <dgm:prSet presAssocID="{E25BBC5B-A139-4894-9F28-CFCAACDB04B4}" presName="spaceRect" presStyleCnt="0"/>
      <dgm:spPr/>
    </dgm:pt>
    <dgm:pt modelId="{B1A93580-83F4-429B-891D-E477996FB685}" type="pres">
      <dgm:prSet presAssocID="{E25BBC5B-A139-4894-9F28-CFCAACDB04B4}" presName="textRect" presStyleLbl="revTx" presStyleIdx="0" presStyleCnt="3">
        <dgm:presLayoutVars>
          <dgm:chMax val="1"/>
          <dgm:chPref val="1"/>
        </dgm:presLayoutVars>
      </dgm:prSet>
      <dgm:spPr/>
    </dgm:pt>
    <dgm:pt modelId="{1CA5A4B4-1B7A-47C7-B797-AEAB95B6BB1E}" type="pres">
      <dgm:prSet presAssocID="{EC3E1852-3CB6-4215-814A-C56B369F019C}" presName="sibTrans" presStyleCnt="0"/>
      <dgm:spPr/>
    </dgm:pt>
    <dgm:pt modelId="{A2689F88-5DE7-4EEE-8880-EEEC450878C6}" type="pres">
      <dgm:prSet presAssocID="{6EB56E1F-7B6B-4F68-84FA-6EF0BEEFE4F9}" presName="compNode" presStyleCnt="0"/>
      <dgm:spPr/>
    </dgm:pt>
    <dgm:pt modelId="{AC650A20-03CF-4C50-9DF5-156FF8A0A9DE}" type="pres">
      <dgm:prSet presAssocID="{6EB56E1F-7B6B-4F68-84FA-6EF0BEEFE4F9}" presName="iconBgRect" presStyleLbl="bgShp" presStyleIdx="1" presStyleCnt="3"/>
      <dgm:spPr/>
    </dgm:pt>
    <dgm:pt modelId="{378D4BEB-50B7-4CDE-8DD3-87D3A5B44C84}" type="pres">
      <dgm:prSet presAssocID="{6EB56E1F-7B6B-4F68-84FA-6EF0BEEFE4F9}"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4915806A-ACFE-4B65-AF1E-F82B025DBBBC}" type="pres">
      <dgm:prSet presAssocID="{6EB56E1F-7B6B-4F68-84FA-6EF0BEEFE4F9}" presName="spaceRect" presStyleCnt="0"/>
      <dgm:spPr/>
    </dgm:pt>
    <dgm:pt modelId="{54F4DE5D-4EEA-45DB-AC95-BF810B117A79}" type="pres">
      <dgm:prSet presAssocID="{6EB56E1F-7B6B-4F68-84FA-6EF0BEEFE4F9}" presName="textRect" presStyleLbl="revTx" presStyleIdx="1" presStyleCnt="3">
        <dgm:presLayoutVars>
          <dgm:chMax val="1"/>
          <dgm:chPref val="1"/>
        </dgm:presLayoutVars>
      </dgm:prSet>
      <dgm:spPr/>
    </dgm:pt>
    <dgm:pt modelId="{18B0ED04-829D-448E-991E-F483EA323FB3}" type="pres">
      <dgm:prSet presAssocID="{FC29D760-DA27-4B36-BCE3-344EA8900BC1}" presName="sibTrans" presStyleCnt="0"/>
      <dgm:spPr/>
    </dgm:pt>
    <dgm:pt modelId="{9DE6D15D-06DE-45AB-85F6-DEA00461666C}" type="pres">
      <dgm:prSet presAssocID="{77C345A7-1D39-44F0-8327-B1677D394C45}" presName="compNode" presStyleCnt="0"/>
      <dgm:spPr/>
    </dgm:pt>
    <dgm:pt modelId="{28CFF7CC-72AC-4036-91BA-31AC201052CC}" type="pres">
      <dgm:prSet presAssocID="{77C345A7-1D39-44F0-8327-B1677D394C45}" presName="iconBgRect" presStyleLbl="bgShp" presStyleIdx="2" presStyleCnt="3"/>
      <dgm:spPr/>
    </dgm:pt>
    <dgm:pt modelId="{F8C81132-E1C2-468B-AEEC-006902A7BFE8}" type="pres">
      <dgm:prSet presAssocID="{77C345A7-1D39-44F0-8327-B1677D394C4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ownward trend"/>
        </a:ext>
      </dgm:extLst>
    </dgm:pt>
    <dgm:pt modelId="{36331DAB-6278-474C-869F-B43CB3B627C3}" type="pres">
      <dgm:prSet presAssocID="{77C345A7-1D39-44F0-8327-B1677D394C45}" presName="spaceRect" presStyleCnt="0"/>
      <dgm:spPr/>
    </dgm:pt>
    <dgm:pt modelId="{80DFA8D2-737A-4402-AA8C-B6E4BA6D2C83}" type="pres">
      <dgm:prSet presAssocID="{77C345A7-1D39-44F0-8327-B1677D394C45}" presName="textRect" presStyleLbl="revTx" presStyleIdx="2" presStyleCnt="3">
        <dgm:presLayoutVars>
          <dgm:chMax val="1"/>
          <dgm:chPref val="1"/>
        </dgm:presLayoutVars>
      </dgm:prSet>
      <dgm:spPr/>
    </dgm:pt>
  </dgm:ptLst>
  <dgm:cxnLst>
    <dgm:cxn modelId="{D630150B-D56C-49BA-A6C4-F04EFD6E8ADB}" srcId="{97E60F8E-3349-4DA1-89F7-11B8F9084DFE}" destId="{6EB56E1F-7B6B-4F68-84FA-6EF0BEEFE4F9}" srcOrd="1" destOrd="0" parTransId="{34E5833E-282A-4500-8915-CB388FE06F43}" sibTransId="{FC29D760-DA27-4B36-BCE3-344EA8900BC1}"/>
    <dgm:cxn modelId="{95875F1A-931B-477A-8BF0-35C2DD9EA687}" srcId="{97E60F8E-3349-4DA1-89F7-11B8F9084DFE}" destId="{E25BBC5B-A139-4894-9F28-CFCAACDB04B4}" srcOrd="0" destOrd="0" parTransId="{C529C9E0-6502-4158-9677-550FDF97F433}" sibTransId="{EC3E1852-3CB6-4215-814A-C56B369F019C}"/>
    <dgm:cxn modelId="{48EF452A-656D-46D3-935A-55DF8C1E334D}" type="presOf" srcId="{97E60F8E-3349-4DA1-89F7-11B8F9084DFE}" destId="{C2AB9AD6-6EA2-44FC-8B98-CBDA3D9CEEE7}" srcOrd="0" destOrd="0" presId="urn:microsoft.com/office/officeart/2018/5/layout/IconCircleLabelList"/>
    <dgm:cxn modelId="{3D0D3862-DF04-45E2-9807-1C05E5C6F77F}" type="presOf" srcId="{6EB56E1F-7B6B-4F68-84FA-6EF0BEEFE4F9}" destId="{54F4DE5D-4EEA-45DB-AC95-BF810B117A79}" srcOrd="0" destOrd="0" presId="urn:microsoft.com/office/officeart/2018/5/layout/IconCircleLabelList"/>
    <dgm:cxn modelId="{28A8DA69-95A1-4E54-A451-6FB1961C4503}" type="presOf" srcId="{77C345A7-1D39-44F0-8327-B1677D394C45}" destId="{80DFA8D2-737A-4402-AA8C-B6E4BA6D2C83}" srcOrd="0" destOrd="0" presId="urn:microsoft.com/office/officeart/2018/5/layout/IconCircleLabelList"/>
    <dgm:cxn modelId="{B3F8819C-D50B-4E1D-8AFD-52C2FDA6D840}" srcId="{97E60F8E-3349-4DA1-89F7-11B8F9084DFE}" destId="{77C345A7-1D39-44F0-8327-B1677D394C45}" srcOrd="2" destOrd="0" parTransId="{126FA3A4-ED61-4439-8984-71D7767500E5}" sibTransId="{F19611A0-9D97-4E6B-B9AE-E9CBC4498E5B}"/>
    <dgm:cxn modelId="{484EA4E3-B091-47B5-AECC-095CFAC28508}" type="presOf" srcId="{E25BBC5B-A139-4894-9F28-CFCAACDB04B4}" destId="{B1A93580-83F4-429B-891D-E477996FB685}" srcOrd="0" destOrd="0" presId="urn:microsoft.com/office/officeart/2018/5/layout/IconCircleLabelList"/>
    <dgm:cxn modelId="{71062C50-4B32-4150-83B1-C88FC4BF1A77}" type="presParOf" srcId="{C2AB9AD6-6EA2-44FC-8B98-CBDA3D9CEEE7}" destId="{2EECC017-EA3A-4222-8292-B119FB9C6473}" srcOrd="0" destOrd="0" presId="urn:microsoft.com/office/officeart/2018/5/layout/IconCircleLabelList"/>
    <dgm:cxn modelId="{9359456D-4601-4136-A5DB-151339AECC69}" type="presParOf" srcId="{2EECC017-EA3A-4222-8292-B119FB9C6473}" destId="{E659066F-580B-4AB7-85A5-748F1535B57C}" srcOrd="0" destOrd="0" presId="urn:microsoft.com/office/officeart/2018/5/layout/IconCircleLabelList"/>
    <dgm:cxn modelId="{2C22C6EC-4011-443B-9C5F-491EB352CF3B}" type="presParOf" srcId="{2EECC017-EA3A-4222-8292-B119FB9C6473}" destId="{E12136B1-7164-45A7-A598-A0744811DDF1}" srcOrd="1" destOrd="0" presId="urn:microsoft.com/office/officeart/2018/5/layout/IconCircleLabelList"/>
    <dgm:cxn modelId="{279E4625-890D-4C40-8BBB-7D2DBCE273B1}" type="presParOf" srcId="{2EECC017-EA3A-4222-8292-B119FB9C6473}" destId="{0A7BE75A-24A4-4E73-A58A-71E4DCF88EB9}" srcOrd="2" destOrd="0" presId="urn:microsoft.com/office/officeart/2018/5/layout/IconCircleLabelList"/>
    <dgm:cxn modelId="{ABF74258-A850-4227-B2C5-620B6B998B47}" type="presParOf" srcId="{2EECC017-EA3A-4222-8292-B119FB9C6473}" destId="{B1A93580-83F4-429B-891D-E477996FB685}" srcOrd="3" destOrd="0" presId="urn:microsoft.com/office/officeart/2018/5/layout/IconCircleLabelList"/>
    <dgm:cxn modelId="{8E6E3A23-B414-45B3-8511-A5C3E84DCB1F}" type="presParOf" srcId="{C2AB9AD6-6EA2-44FC-8B98-CBDA3D9CEEE7}" destId="{1CA5A4B4-1B7A-47C7-B797-AEAB95B6BB1E}" srcOrd="1" destOrd="0" presId="urn:microsoft.com/office/officeart/2018/5/layout/IconCircleLabelList"/>
    <dgm:cxn modelId="{64208B42-6B50-4546-B2A9-9A776145703D}" type="presParOf" srcId="{C2AB9AD6-6EA2-44FC-8B98-CBDA3D9CEEE7}" destId="{A2689F88-5DE7-4EEE-8880-EEEC450878C6}" srcOrd="2" destOrd="0" presId="urn:microsoft.com/office/officeart/2018/5/layout/IconCircleLabelList"/>
    <dgm:cxn modelId="{E857DB79-6B6E-45DE-8DF3-37B4B8D69001}" type="presParOf" srcId="{A2689F88-5DE7-4EEE-8880-EEEC450878C6}" destId="{AC650A20-03CF-4C50-9DF5-156FF8A0A9DE}" srcOrd="0" destOrd="0" presId="urn:microsoft.com/office/officeart/2018/5/layout/IconCircleLabelList"/>
    <dgm:cxn modelId="{680B4694-2DC7-4DD4-B05A-8AD1CBC3F887}" type="presParOf" srcId="{A2689F88-5DE7-4EEE-8880-EEEC450878C6}" destId="{378D4BEB-50B7-4CDE-8DD3-87D3A5B44C84}" srcOrd="1" destOrd="0" presId="urn:microsoft.com/office/officeart/2018/5/layout/IconCircleLabelList"/>
    <dgm:cxn modelId="{8201A8B4-FC3C-43CE-99F3-78F70D0430BF}" type="presParOf" srcId="{A2689F88-5DE7-4EEE-8880-EEEC450878C6}" destId="{4915806A-ACFE-4B65-AF1E-F82B025DBBBC}" srcOrd="2" destOrd="0" presId="urn:microsoft.com/office/officeart/2018/5/layout/IconCircleLabelList"/>
    <dgm:cxn modelId="{28950F2C-F61B-4588-96C1-F27977FD7475}" type="presParOf" srcId="{A2689F88-5DE7-4EEE-8880-EEEC450878C6}" destId="{54F4DE5D-4EEA-45DB-AC95-BF810B117A79}" srcOrd="3" destOrd="0" presId="urn:microsoft.com/office/officeart/2018/5/layout/IconCircleLabelList"/>
    <dgm:cxn modelId="{62DD0B73-6C77-4834-99CC-609FE802E6FF}" type="presParOf" srcId="{C2AB9AD6-6EA2-44FC-8B98-CBDA3D9CEEE7}" destId="{18B0ED04-829D-448E-991E-F483EA323FB3}" srcOrd="3" destOrd="0" presId="urn:microsoft.com/office/officeart/2018/5/layout/IconCircleLabelList"/>
    <dgm:cxn modelId="{7B0EDA84-C36C-42C8-A8A1-B5EF6774C7A0}" type="presParOf" srcId="{C2AB9AD6-6EA2-44FC-8B98-CBDA3D9CEEE7}" destId="{9DE6D15D-06DE-45AB-85F6-DEA00461666C}" srcOrd="4" destOrd="0" presId="urn:microsoft.com/office/officeart/2018/5/layout/IconCircleLabelList"/>
    <dgm:cxn modelId="{14144828-A969-46AB-88F6-E2636C66637C}" type="presParOf" srcId="{9DE6D15D-06DE-45AB-85F6-DEA00461666C}" destId="{28CFF7CC-72AC-4036-91BA-31AC201052CC}" srcOrd="0" destOrd="0" presId="urn:microsoft.com/office/officeart/2018/5/layout/IconCircleLabelList"/>
    <dgm:cxn modelId="{67DF3934-3C35-42EC-BDAB-F8CA1876A037}" type="presParOf" srcId="{9DE6D15D-06DE-45AB-85F6-DEA00461666C}" destId="{F8C81132-E1C2-468B-AEEC-006902A7BFE8}" srcOrd="1" destOrd="0" presId="urn:microsoft.com/office/officeart/2018/5/layout/IconCircleLabelList"/>
    <dgm:cxn modelId="{6D791005-9DAA-4BD9-AB47-251BF184D139}" type="presParOf" srcId="{9DE6D15D-06DE-45AB-85F6-DEA00461666C}" destId="{36331DAB-6278-474C-869F-B43CB3B627C3}" srcOrd="2" destOrd="0" presId="urn:microsoft.com/office/officeart/2018/5/layout/IconCircleLabelList"/>
    <dgm:cxn modelId="{5266FA6E-3474-46FE-9FF1-7D1569D28C70}" type="presParOf" srcId="{9DE6D15D-06DE-45AB-85F6-DEA00461666C}" destId="{80DFA8D2-737A-4402-AA8C-B6E4BA6D2C8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AB69BEA-B1E3-482E-BD12-130F6BBF0950}" type="doc">
      <dgm:prSet loTypeId="urn:microsoft.com/office/officeart/2005/8/layout/list1" loCatId="list" qsTypeId="urn:microsoft.com/office/officeart/2005/8/quickstyle/simple5" qsCatId="simple" csTypeId="urn:microsoft.com/office/officeart/2005/8/colors/colorful2" csCatId="colorful"/>
      <dgm:spPr/>
      <dgm:t>
        <a:bodyPr/>
        <a:lstStyle/>
        <a:p>
          <a:endParaRPr lang="en-US"/>
        </a:p>
      </dgm:t>
    </dgm:pt>
    <dgm:pt modelId="{84E5FF0C-DF03-462F-AE0D-559004EE87FA}">
      <dgm:prSet/>
      <dgm:spPr/>
      <dgm:t>
        <a:bodyPr/>
        <a:lstStyle/>
        <a:p>
          <a:r>
            <a:rPr lang="en-US"/>
            <a:t>Borrowers obtain loans from banks.</a:t>
          </a:r>
        </a:p>
      </dgm:t>
    </dgm:pt>
    <dgm:pt modelId="{510B7DA7-E9F4-46B0-91B9-1FF9570AB3FA}" type="parTrans" cxnId="{778F0FB5-B26B-4E8C-AB3F-F6FAD33CA9BA}">
      <dgm:prSet/>
      <dgm:spPr/>
      <dgm:t>
        <a:bodyPr/>
        <a:lstStyle/>
        <a:p>
          <a:endParaRPr lang="en-US"/>
        </a:p>
      </dgm:t>
    </dgm:pt>
    <dgm:pt modelId="{180861D6-8A97-4442-AD0D-E55B5F49F65B}" type="sibTrans" cxnId="{778F0FB5-B26B-4E8C-AB3F-F6FAD33CA9BA}">
      <dgm:prSet/>
      <dgm:spPr/>
      <dgm:t>
        <a:bodyPr/>
        <a:lstStyle/>
        <a:p>
          <a:endParaRPr lang="en-US"/>
        </a:p>
      </dgm:t>
    </dgm:pt>
    <dgm:pt modelId="{BB751C6F-F0B8-43ED-A701-AD93F2215D2E}">
      <dgm:prSet/>
      <dgm:spPr/>
      <dgm:t>
        <a:bodyPr/>
        <a:lstStyle/>
        <a:p>
          <a:r>
            <a:rPr lang="en-US"/>
            <a:t>Examples</a:t>
          </a:r>
        </a:p>
      </dgm:t>
    </dgm:pt>
    <dgm:pt modelId="{D52C79AB-5ABD-4124-97C1-32FA42B02802}" type="parTrans" cxnId="{5B5BE350-02A5-4B38-9B11-9611172CCDC1}">
      <dgm:prSet/>
      <dgm:spPr/>
      <dgm:t>
        <a:bodyPr/>
        <a:lstStyle/>
        <a:p>
          <a:endParaRPr lang="en-US"/>
        </a:p>
      </dgm:t>
    </dgm:pt>
    <dgm:pt modelId="{DFB1B293-6AE6-4DBA-A2EC-A6587166503F}" type="sibTrans" cxnId="{5B5BE350-02A5-4B38-9B11-9611172CCDC1}">
      <dgm:prSet/>
      <dgm:spPr/>
      <dgm:t>
        <a:bodyPr/>
        <a:lstStyle/>
        <a:p>
          <a:endParaRPr lang="en-US"/>
        </a:p>
      </dgm:t>
    </dgm:pt>
    <dgm:pt modelId="{27391907-C60D-4B42-9975-21B5708639C2}">
      <dgm:prSet/>
      <dgm:spPr/>
      <dgm:t>
        <a:bodyPr/>
        <a:lstStyle/>
        <a:p>
          <a:r>
            <a:rPr lang="en-US"/>
            <a:t>Home loan </a:t>
          </a:r>
        </a:p>
      </dgm:t>
    </dgm:pt>
    <dgm:pt modelId="{0EF36CCD-6E68-4D2E-A9D8-4C5703181E83}" type="parTrans" cxnId="{0123D420-E02E-4FD0-9785-87F2BA9D1768}">
      <dgm:prSet/>
      <dgm:spPr/>
      <dgm:t>
        <a:bodyPr/>
        <a:lstStyle/>
        <a:p>
          <a:endParaRPr lang="en-US"/>
        </a:p>
      </dgm:t>
    </dgm:pt>
    <dgm:pt modelId="{73933225-A07A-4073-A191-3DA9BF283255}" type="sibTrans" cxnId="{0123D420-E02E-4FD0-9785-87F2BA9D1768}">
      <dgm:prSet/>
      <dgm:spPr/>
      <dgm:t>
        <a:bodyPr/>
        <a:lstStyle/>
        <a:p>
          <a:endParaRPr lang="en-US"/>
        </a:p>
      </dgm:t>
    </dgm:pt>
    <dgm:pt modelId="{23E58B53-1E94-4EC1-A59B-0BD26135CEE4}">
      <dgm:prSet/>
      <dgm:spPr/>
      <dgm:t>
        <a:bodyPr/>
        <a:lstStyle/>
        <a:p>
          <a:r>
            <a:rPr lang="en-US"/>
            <a:t>Business loan </a:t>
          </a:r>
        </a:p>
      </dgm:t>
    </dgm:pt>
    <dgm:pt modelId="{B271CAB3-C6DB-4E0E-8733-9118AE8BD01F}" type="parTrans" cxnId="{A7E53C19-2A3D-4D4C-A500-246CEAF2FD3D}">
      <dgm:prSet/>
      <dgm:spPr/>
      <dgm:t>
        <a:bodyPr/>
        <a:lstStyle/>
        <a:p>
          <a:endParaRPr lang="en-US"/>
        </a:p>
      </dgm:t>
    </dgm:pt>
    <dgm:pt modelId="{5951054B-8ED0-4E3E-A109-3DB441456603}" type="sibTrans" cxnId="{A7E53C19-2A3D-4D4C-A500-246CEAF2FD3D}">
      <dgm:prSet/>
      <dgm:spPr/>
      <dgm:t>
        <a:bodyPr/>
        <a:lstStyle/>
        <a:p>
          <a:endParaRPr lang="en-US"/>
        </a:p>
      </dgm:t>
    </dgm:pt>
    <dgm:pt modelId="{31D77E72-EC03-46A0-B8BF-24CB4547C109}">
      <dgm:prSet/>
      <dgm:spPr/>
      <dgm:t>
        <a:bodyPr/>
        <a:lstStyle/>
        <a:p>
          <a:r>
            <a:rPr lang="en-US"/>
            <a:t>Agricultural loan </a:t>
          </a:r>
        </a:p>
      </dgm:t>
    </dgm:pt>
    <dgm:pt modelId="{72A40A71-6EE9-48FF-BB10-BC2524C6AAA6}" type="parTrans" cxnId="{2FECAB0E-E1B6-47E6-8F02-154412775B84}">
      <dgm:prSet/>
      <dgm:spPr/>
      <dgm:t>
        <a:bodyPr/>
        <a:lstStyle/>
        <a:p>
          <a:endParaRPr lang="en-US"/>
        </a:p>
      </dgm:t>
    </dgm:pt>
    <dgm:pt modelId="{47800EB7-B0A1-4FB0-B377-4412112949DF}" type="sibTrans" cxnId="{2FECAB0E-E1B6-47E6-8F02-154412775B84}">
      <dgm:prSet/>
      <dgm:spPr/>
      <dgm:t>
        <a:bodyPr/>
        <a:lstStyle/>
        <a:p>
          <a:endParaRPr lang="en-US"/>
        </a:p>
      </dgm:t>
    </dgm:pt>
    <dgm:pt modelId="{68A2A0BB-E649-46B5-9A12-D802465537C1}">
      <dgm:prSet/>
      <dgm:spPr/>
      <dgm:t>
        <a:bodyPr/>
        <a:lstStyle/>
        <a:p>
          <a:r>
            <a:rPr lang="en-US"/>
            <a:t>Characteristics</a:t>
          </a:r>
        </a:p>
      </dgm:t>
    </dgm:pt>
    <dgm:pt modelId="{2DE4F0FD-F819-4DB5-9982-468BF11E12D2}" type="parTrans" cxnId="{9700D82B-72E8-4236-B748-787E3AC152DC}">
      <dgm:prSet/>
      <dgm:spPr/>
      <dgm:t>
        <a:bodyPr/>
        <a:lstStyle/>
        <a:p>
          <a:endParaRPr lang="en-US"/>
        </a:p>
      </dgm:t>
    </dgm:pt>
    <dgm:pt modelId="{7D884F32-89CF-48AE-A2FC-FFF9CDF22223}" type="sibTrans" cxnId="{9700D82B-72E8-4236-B748-787E3AC152DC}">
      <dgm:prSet/>
      <dgm:spPr/>
      <dgm:t>
        <a:bodyPr/>
        <a:lstStyle/>
        <a:p>
          <a:endParaRPr lang="en-US"/>
        </a:p>
      </dgm:t>
    </dgm:pt>
    <dgm:pt modelId="{B6FB68F1-29D8-4E03-A4E4-1BC727E3E0DA}">
      <dgm:prSet/>
      <dgm:spPr/>
      <dgm:t>
        <a:bodyPr/>
        <a:lstStyle/>
        <a:p>
          <a:r>
            <a:rPr lang="en-US"/>
            <a:t>Fixed repayment </a:t>
          </a:r>
        </a:p>
      </dgm:t>
    </dgm:pt>
    <dgm:pt modelId="{C534E88C-0B5A-418C-ADEB-EEE425AE91A8}" type="parTrans" cxnId="{C20FCA9E-135D-4C56-94D4-8DEFB87608F9}">
      <dgm:prSet/>
      <dgm:spPr/>
      <dgm:t>
        <a:bodyPr/>
        <a:lstStyle/>
        <a:p>
          <a:endParaRPr lang="en-US"/>
        </a:p>
      </dgm:t>
    </dgm:pt>
    <dgm:pt modelId="{AB0B481B-2260-4681-B72C-6347645F573C}" type="sibTrans" cxnId="{C20FCA9E-135D-4C56-94D4-8DEFB87608F9}">
      <dgm:prSet/>
      <dgm:spPr/>
      <dgm:t>
        <a:bodyPr/>
        <a:lstStyle/>
        <a:p>
          <a:endParaRPr lang="en-US"/>
        </a:p>
      </dgm:t>
    </dgm:pt>
    <dgm:pt modelId="{68380717-5798-449A-90EA-F3A23A6239D2}">
      <dgm:prSet/>
      <dgm:spPr/>
      <dgm:t>
        <a:bodyPr/>
        <a:lstStyle/>
        <a:p>
          <a:r>
            <a:rPr lang="en-US"/>
            <a:t>Interest payments </a:t>
          </a:r>
        </a:p>
      </dgm:t>
    </dgm:pt>
    <dgm:pt modelId="{0D55B25B-8E96-41DE-AC3A-2A33D8C6771E}" type="parTrans" cxnId="{DF935F86-1ADD-4C5F-96C2-FBBACC943A61}">
      <dgm:prSet/>
      <dgm:spPr/>
      <dgm:t>
        <a:bodyPr/>
        <a:lstStyle/>
        <a:p>
          <a:endParaRPr lang="en-US"/>
        </a:p>
      </dgm:t>
    </dgm:pt>
    <dgm:pt modelId="{F8B4FA3D-79AB-457E-8098-959284E9C8FB}" type="sibTrans" cxnId="{DF935F86-1ADD-4C5F-96C2-FBBACC943A61}">
      <dgm:prSet/>
      <dgm:spPr/>
      <dgm:t>
        <a:bodyPr/>
        <a:lstStyle/>
        <a:p>
          <a:endParaRPr lang="en-US"/>
        </a:p>
      </dgm:t>
    </dgm:pt>
    <dgm:pt modelId="{622A8848-A3C2-4015-99EF-14CA25885328}">
      <dgm:prSet/>
      <dgm:spPr/>
      <dgm:t>
        <a:bodyPr/>
        <a:lstStyle/>
        <a:p>
          <a:r>
            <a:rPr lang="en-US"/>
            <a:t>Bank is intermediary</a:t>
          </a:r>
        </a:p>
      </dgm:t>
    </dgm:pt>
    <dgm:pt modelId="{D721102D-B421-403B-BF14-26A48B94024F}" type="parTrans" cxnId="{C1CE9CF1-A9D8-42C0-8C75-58C884CFEF5E}">
      <dgm:prSet/>
      <dgm:spPr/>
      <dgm:t>
        <a:bodyPr/>
        <a:lstStyle/>
        <a:p>
          <a:endParaRPr lang="en-US"/>
        </a:p>
      </dgm:t>
    </dgm:pt>
    <dgm:pt modelId="{BF21E84C-33E7-45B3-B651-BE0FD18BC3D4}" type="sibTrans" cxnId="{C1CE9CF1-A9D8-42C0-8C75-58C884CFEF5E}">
      <dgm:prSet/>
      <dgm:spPr/>
      <dgm:t>
        <a:bodyPr/>
        <a:lstStyle/>
        <a:p>
          <a:endParaRPr lang="en-US"/>
        </a:p>
      </dgm:t>
    </dgm:pt>
    <dgm:pt modelId="{7B367C3F-59FF-490E-BF73-4E9A0F4CF230}" type="pres">
      <dgm:prSet presAssocID="{2AB69BEA-B1E3-482E-BD12-130F6BBF0950}" presName="linear" presStyleCnt="0">
        <dgm:presLayoutVars>
          <dgm:dir/>
          <dgm:animLvl val="lvl"/>
          <dgm:resizeHandles val="exact"/>
        </dgm:presLayoutVars>
      </dgm:prSet>
      <dgm:spPr/>
    </dgm:pt>
    <dgm:pt modelId="{E6E3D139-E150-4913-9F21-F4051A664FEF}" type="pres">
      <dgm:prSet presAssocID="{84E5FF0C-DF03-462F-AE0D-559004EE87FA}" presName="parentLin" presStyleCnt="0"/>
      <dgm:spPr/>
    </dgm:pt>
    <dgm:pt modelId="{5B830D54-18C7-4795-880C-94D29B6B8647}" type="pres">
      <dgm:prSet presAssocID="{84E5FF0C-DF03-462F-AE0D-559004EE87FA}" presName="parentLeftMargin" presStyleLbl="node1" presStyleIdx="0" presStyleCnt="3"/>
      <dgm:spPr/>
    </dgm:pt>
    <dgm:pt modelId="{3274F148-1352-41F8-ADB4-3667ADA62471}" type="pres">
      <dgm:prSet presAssocID="{84E5FF0C-DF03-462F-AE0D-559004EE87FA}" presName="parentText" presStyleLbl="node1" presStyleIdx="0" presStyleCnt="3">
        <dgm:presLayoutVars>
          <dgm:chMax val="0"/>
          <dgm:bulletEnabled val="1"/>
        </dgm:presLayoutVars>
      </dgm:prSet>
      <dgm:spPr/>
    </dgm:pt>
    <dgm:pt modelId="{DDBD2E31-939F-4782-AA67-99E3A6B6D5AA}" type="pres">
      <dgm:prSet presAssocID="{84E5FF0C-DF03-462F-AE0D-559004EE87FA}" presName="negativeSpace" presStyleCnt="0"/>
      <dgm:spPr/>
    </dgm:pt>
    <dgm:pt modelId="{D7F110A3-06E2-4BEC-80E8-03C91EBF6016}" type="pres">
      <dgm:prSet presAssocID="{84E5FF0C-DF03-462F-AE0D-559004EE87FA}" presName="childText" presStyleLbl="conFgAcc1" presStyleIdx="0" presStyleCnt="3">
        <dgm:presLayoutVars>
          <dgm:bulletEnabled val="1"/>
        </dgm:presLayoutVars>
      </dgm:prSet>
      <dgm:spPr/>
    </dgm:pt>
    <dgm:pt modelId="{BF69C4B5-EBE8-467B-9085-486D1550FDED}" type="pres">
      <dgm:prSet presAssocID="{180861D6-8A97-4442-AD0D-E55B5F49F65B}" presName="spaceBetweenRectangles" presStyleCnt="0"/>
      <dgm:spPr/>
    </dgm:pt>
    <dgm:pt modelId="{C79DA2A0-BAD4-44D5-A47C-79727A43DCC1}" type="pres">
      <dgm:prSet presAssocID="{BB751C6F-F0B8-43ED-A701-AD93F2215D2E}" presName="parentLin" presStyleCnt="0"/>
      <dgm:spPr/>
    </dgm:pt>
    <dgm:pt modelId="{CAA880D5-E9EB-4670-90BF-57DFFC270C11}" type="pres">
      <dgm:prSet presAssocID="{BB751C6F-F0B8-43ED-A701-AD93F2215D2E}" presName="parentLeftMargin" presStyleLbl="node1" presStyleIdx="0" presStyleCnt="3"/>
      <dgm:spPr/>
    </dgm:pt>
    <dgm:pt modelId="{576143CB-3B21-409E-B19A-04D86E78FBB9}" type="pres">
      <dgm:prSet presAssocID="{BB751C6F-F0B8-43ED-A701-AD93F2215D2E}" presName="parentText" presStyleLbl="node1" presStyleIdx="1" presStyleCnt="3">
        <dgm:presLayoutVars>
          <dgm:chMax val="0"/>
          <dgm:bulletEnabled val="1"/>
        </dgm:presLayoutVars>
      </dgm:prSet>
      <dgm:spPr/>
    </dgm:pt>
    <dgm:pt modelId="{7F9B5D38-C0B4-4577-ADCF-E71C959B0915}" type="pres">
      <dgm:prSet presAssocID="{BB751C6F-F0B8-43ED-A701-AD93F2215D2E}" presName="negativeSpace" presStyleCnt="0"/>
      <dgm:spPr/>
    </dgm:pt>
    <dgm:pt modelId="{0D499CCF-40C4-4D94-8E3A-0366BC33FE23}" type="pres">
      <dgm:prSet presAssocID="{BB751C6F-F0B8-43ED-A701-AD93F2215D2E}" presName="childText" presStyleLbl="conFgAcc1" presStyleIdx="1" presStyleCnt="3">
        <dgm:presLayoutVars>
          <dgm:bulletEnabled val="1"/>
        </dgm:presLayoutVars>
      </dgm:prSet>
      <dgm:spPr/>
    </dgm:pt>
    <dgm:pt modelId="{6F7FBD37-D49D-4996-8FEA-6055CB6F758F}" type="pres">
      <dgm:prSet presAssocID="{DFB1B293-6AE6-4DBA-A2EC-A6587166503F}" presName="spaceBetweenRectangles" presStyleCnt="0"/>
      <dgm:spPr/>
    </dgm:pt>
    <dgm:pt modelId="{435F10E5-3F99-4BFA-814B-9BF0A79C19BC}" type="pres">
      <dgm:prSet presAssocID="{68A2A0BB-E649-46B5-9A12-D802465537C1}" presName="parentLin" presStyleCnt="0"/>
      <dgm:spPr/>
    </dgm:pt>
    <dgm:pt modelId="{A3F5F403-90C6-4830-9304-21FFFA5E8873}" type="pres">
      <dgm:prSet presAssocID="{68A2A0BB-E649-46B5-9A12-D802465537C1}" presName="parentLeftMargin" presStyleLbl="node1" presStyleIdx="1" presStyleCnt="3"/>
      <dgm:spPr/>
    </dgm:pt>
    <dgm:pt modelId="{1EE9083F-8DA3-4FCB-B5D1-4D1D017F943C}" type="pres">
      <dgm:prSet presAssocID="{68A2A0BB-E649-46B5-9A12-D802465537C1}" presName="parentText" presStyleLbl="node1" presStyleIdx="2" presStyleCnt="3">
        <dgm:presLayoutVars>
          <dgm:chMax val="0"/>
          <dgm:bulletEnabled val="1"/>
        </dgm:presLayoutVars>
      </dgm:prSet>
      <dgm:spPr/>
    </dgm:pt>
    <dgm:pt modelId="{94E54BA3-4A6B-429C-A08F-AF729EDD1A17}" type="pres">
      <dgm:prSet presAssocID="{68A2A0BB-E649-46B5-9A12-D802465537C1}" presName="negativeSpace" presStyleCnt="0"/>
      <dgm:spPr/>
    </dgm:pt>
    <dgm:pt modelId="{0A5F3EA8-3CFF-4704-99F1-2D3B288555A0}" type="pres">
      <dgm:prSet presAssocID="{68A2A0BB-E649-46B5-9A12-D802465537C1}" presName="childText" presStyleLbl="conFgAcc1" presStyleIdx="2" presStyleCnt="3">
        <dgm:presLayoutVars>
          <dgm:bulletEnabled val="1"/>
        </dgm:presLayoutVars>
      </dgm:prSet>
      <dgm:spPr/>
    </dgm:pt>
  </dgm:ptLst>
  <dgm:cxnLst>
    <dgm:cxn modelId="{2FECAB0E-E1B6-47E6-8F02-154412775B84}" srcId="{BB751C6F-F0B8-43ED-A701-AD93F2215D2E}" destId="{31D77E72-EC03-46A0-B8BF-24CB4547C109}" srcOrd="2" destOrd="0" parTransId="{72A40A71-6EE9-48FF-BB10-BC2524C6AAA6}" sibTransId="{47800EB7-B0A1-4FB0-B377-4412112949DF}"/>
    <dgm:cxn modelId="{94BC8A13-637D-48F5-99E1-7EE468C16386}" type="presOf" srcId="{23E58B53-1E94-4EC1-A59B-0BD26135CEE4}" destId="{0D499CCF-40C4-4D94-8E3A-0366BC33FE23}" srcOrd="0" destOrd="1" presId="urn:microsoft.com/office/officeart/2005/8/layout/list1"/>
    <dgm:cxn modelId="{3950C113-CA84-45E7-8D70-5509770C96CD}" type="presOf" srcId="{68A2A0BB-E649-46B5-9A12-D802465537C1}" destId="{A3F5F403-90C6-4830-9304-21FFFA5E8873}" srcOrd="0" destOrd="0" presId="urn:microsoft.com/office/officeart/2005/8/layout/list1"/>
    <dgm:cxn modelId="{A7E53C19-2A3D-4D4C-A500-246CEAF2FD3D}" srcId="{BB751C6F-F0B8-43ED-A701-AD93F2215D2E}" destId="{23E58B53-1E94-4EC1-A59B-0BD26135CEE4}" srcOrd="1" destOrd="0" parTransId="{B271CAB3-C6DB-4E0E-8733-9118AE8BD01F}" sibTransId="{5951054B-8ED0-4E3E-A109-3DB441456603}"/>
    <dgm:cxn modelId="{0123D420-E02E-4FD0-9785-87F2BA9D1768}" srcId="{BB751C6F-F0B8-43ED-A701-AD93F2215D2E}" destId="{27391907-C60D-4B42-9975-21B5708639C2}" srcOrd="0" destOrd="0" parTransId="{0EF36CCD-6E68-4D2E-A9D8-4C5703181E83}" sibTransId="{73933225-A07A-4073-A191-3DA9BF283255}"/>
    <dgm:cxn modelId="{68C2CA27-EA15-4500-885D-06350622C63E}" type="presOf" srcId="{27391907-C60D-4B42-9975-21B5708639C2}" destId="{0D499CCF-40C4-4D94-8E3A-0366BC33FE23}" srcOrd="0" destOrd="0" presId="urn:microsoft.com/office/officeart/2005/8/layout/list1"/>
    <dgm:cxn modelId="{E6ACE627-26AC-4199-AF3B-2AE432F97C2B}" type="presOf" srcId="{84E5FF0C-DF03-462F-AE0D-559004EE87FA}" destId="{3274F148-1352-41F8-ADB4-3667ADA62471}" srcOrd="1" destOrd="0" presId="urn:microsoft.com/office/officeart/2005/8/layout/list1"/>
    <dgm:cxn modelId="{9700D82B-72E8-4236-B748-787E3AC152DC}" srcId="{2AB69BEA-B1E3-482E-BD12-130F6BBF0950}" destId="{68A2A0BB-E649-46B5-9A12-D802465537C1}" srcOrd="2" destOrd="0" parTransId="{2DE4F0FD-F819-4DB5-9982-468BF11E12D2}" sibTransId="{7D884F32-89CF-48AE-A2FC-FFF9CDF22223}"/>
    <dgm:cxn modelId="{EF52262F-D615-4E13-8821-D7DE9120FD58}" type="presOf" srcId="{BB751C6F-F0B8-43ED-A701-AD93F2215D2E}" destId="{576143CB-3B21-409E-B19A-04D86E78FBB9}" srcOrd="1" destOrd="0" presId="urn:microsoft.com/office/officeart/2005/8/layout/list1"/>
    <dgm:cxn modelId="{1AFA003B-EAED-4775-A533-62A659FBFC1B}" type="presOf" srcId="{BB751C6F-F0B8-43ED-A701-AD93F2215D2E}" destId="{CAA880D5-E9EB-4670-90BF-57DFFC270C11}" srcOrd="0" destOrd="0" presId="urn:microsoft.com/office/officeart/2005/8/layout/list1"/>
    <dgm:cxn modelId="{5B5BE350-02A5-4B38-9B11-9611172CCDC1}" srcId="{2AB69BEA-B1E3-482E-BD12-130F6BBF0950}" destId="{BB751C6F-F0B8-43ED-A701-AD93F2215D2E}" srcOrd="1" destOrd="0" parTransId="{D52C79AB-5ABD-4124-97C1-32FA42B02802}" sibTransId="{DFB1B293-6AE6-4DBA-A2EC-A6587166503F}"/>
    <dgm:cxn modelId="{F209E574-1A1D-4017-8D61-8D6A88C39044}" type="presOf" srcId="{68380717-5798-449A-90EA-F3A23A6239D2}" destId="{0A5F3EA8-3CFF-4704-99F1-2D3B288555A0}" srcOrd="0" destOrd="1" presId="urn:microsoft.com/office/officeart/2005/8/layout/list1"/>
    <dgm:cxn modelId="{DF935F86-1ADD-4C5F-96C2-FBBACC943A61}" srcId="{68A2A0BB-E649-46B5-9A12-D802465537C1}" destId="{68380717-5798-449A-90EA-F3A23A6239D2}" srcOrd="1" destOrd="0" parTransId="{0D55B25B-8E96-41DE-AC3A-2A33D8C6771E}" sibTransId="{F8B4FA3D-79AB-457E-8098-959284E9C8FB}"/>
    <dgm:cxn modelId="{0016EF9C-194B-4BDF-BF14-FF53BECAF98B}" type="presOf" srcId="{31D77E72-EC03-46A0-B8BF-24CB4547C109}" destId="{0D499CCF-40C4-4D94-8E3A-0366BC33FE23}" srcOrd="0" destOrd="2" presId="urn:microsoft.com/office/officeart/2005/8/layout/list1"/>
    <dgm:cxn modelId="{C20FCA9E-135D-4C56-94D4-8DEFB87608F9}" srcId="{68A2A0BB-E649-46B5-9A12-D802465537C1}" destId="{B6FB68F1-29D8-4E03-A4E4-1BC727E3E0DA}" srcOrd="0" destOrd="0" parTransId="{C534E88C-0B5A-418C-ADEB-EEE425AE91A8}" sibTransId="{AB0B481B-2260-4681-B72C-6347645F573C}"/>
    <dgm:cxn modelId="{DFF402A5-0CBB-4210-9511-C6DB6DD3EDE8}" type="presOf" srcId="{622A8848-A3C2-4015-99EF-14CA25885328}" destId="{0A5F3EA8-3CFF-4704-99F1-2D3B288555A0}" srcOrd="0" destOrd="2" presId="urn:microsoft.com/office/officeart/2005/8/layout/list1"/>
    <dgm:cxn modelId="{778F0FB5-B26B-4E8C-AB3F-F6FAD33CA9BA}" srcId="{2AB69BEA-B1E3-482E-BD12-130F6BBF0950}" destId="{84E5FF0C-DF03-462F-AE0D-559004EE87FA}" srcOrd="0" destOrd="0" parTransId="{510B7DA7-E9F4-46B0-91B9-1FF9570AB3FA}" sibTransId="{180861D6-8A97-4442-AD0D-E55B5F49F65B}"/>
    <dgm:cxn modelId="{952089C6-E66E-42B3-B8EE-2B354BE50AAA}" type="presOf" srcId="{84E5FF0C-DF03-462F-AE0D-559004EE87FA}" destId="{5B830D54-18C7-4795-880C-94D29B6B8647}" srcOrd="0" destOrd="0" presId="urn:microsoft.com/office/officeart/2005/8/layout/list1"/>
    <dgm:cxn modelId="{4275CDCC-B214-49B0-935B-3E3EF6B257B6}" type="presOf" srcId="{B6FB68F1-29D8-4E03-A4E4-1BC727E3E0DA}" destId="{0A5F3EA8-3CFF-4704-99F1-2D3B288555A0}" srcOrd="0" destOrd="0" presId="urn:microsoft.com/office/officeart/2005/8/layout/list1"/>
    <dgm:cxn modelId="{1230EEDE-55DB-4FBD-B12C-1307CF1D5E40}" type="presOf" srcId="{68A2A0BB-E649-46B5-9A12-D802465537C1}" destId="{1EE9083F-8DA3-4FCB-B5D1-4D1D017F943C}" srcOrd="1" destOrd="0" presId="urn:microsoft.com/office/officeart/2005/8/layout/list1"/>
    <dgm:cxn modelId="{4177B0E9-141D-4748-B8F4-9345DD95B808}" type="presOf" srcId="{2AB69BEA-B1E3-482E-BD12-130F6BBF0950}" destId="{7B367C3F-59FF-490E-BF73-4E9A0F4CF230}" srcOrd="0" destOrd="0" presId="urn:microsoft.com/office/officeart/2005/8/layout/list1"/>
    <dgm:cxn modelId="{C1CE9CF1-A9D8-42C0-8C75-58C884CFEF5E}" srcId="{68A2A0BB-E649-46B5-9A12-D802465537C1}" destId="{622A8848-A3C2-4015-99EF-14CA25885328}" srcOrd="2" destOrd="0" parTransId="{D721102D-B421-403B-BF14-26A48B94024F}" sibTransId="{BF21E84C-33E7-45B3-B651-BE0FD18BC3D4}"/>
    <dgm:cxn modelId="{435B6A34-9DF7-46BA-AAA7-9DC5076F217B}" type="presParOf" srcId="{7B367C3F-59FF-490E-BF73-4E9A0F4CF230}" destId="{E6E3D139-E150-4913-9F21-F4051A664FEF}" srcOrd="0" destOrd="0" presId="urn:microsoft.com/office/officeart/2005/8/layout/list1"/>
    <dgm:cxn modelId="{BF0E01CE-BB2E-4F51-A707-9D2A74A05DF9}" type="presParOf" srcId="{E6E3D139-E150-4913-9F21-F4051A664FEF}" destId="{5B830D54-18C7-4795-880C-94D29B6B8647}" srcOrd="0" destOrd="0" presId="urn:microsoft.com/office/officeart/2005/8/layout/list1"/>
    <dgm:cxn modelId="{33B5BDEE-13A6-479E-B212-491D29DD2962}" type="presParOf" srcId="{E6E3D139-E150-4913-9F21-F4051A664FEF}" destId="{3274F148-1352-41F8-ADB4-3667ADA62471}" srcOrd="1" destOrd="0" presId="urn:microsoft.com/office/officeart/2005/8/layout/list1"/>
    <dgm:cxn modelId="{EC700DAB-645E-4B2C-B5A2-0FAC37546928}" type="presParOf" srcId="{7B367C3F-59FF-490E-BF73-4E9A0F4CF230}" destId="{DDBD2E31-939F-4782-AA67-99E3A6B6D5AA}" srcOrd="1" destOrd="0" presId="urn:microsoft.com/office/officeart/2005/8/layout/list1"/>
    <dgm:cxn modelId="{CAAB4AA3-E4D5-4062-A050-FB237CBCCE08}" type="presParOf" srcId="{7B367C3F-59FF-490E-BF73-4E9A0F4CF230}" destId="{D7F110A3-06E2-4BEC-80E8-03C91EBF6016}" srcOrd="2" destOrd="0" presId="urn:microsoft.com/office/officeart/2005/8/layout/list1"/>
    <dgm:cxn modelId="{CD80FC0A-BBCE-412B-A260-A12336BC9697}" type="presParOf" srcId="{7B367C3F-59FF-490E-BF73-4E9A0F4CF230}" destId="{BF69C4B5-EBE8-467B-9085-486D1550FDED}" srcOrd="3" destOrd="0" presId="urn:microsoft.com/office/officeart/2005/8/layout/list1"/>
    <dgm:cxn modelId="{2B925F97-C41C-4ED2-AC41-74D9FA08DC23}" type="presParOf" srcId="{7B367C3F-59FF-490E-BF73-4E9A0F4CF230}" destId="{C79DA2A0-BAD4-44D5-A47C-79727A43DCC1}" srcOrd="4" destOrd="0" presId="urn:microsoft.com/office/officeart/2005/8/layout/list1"/>
    <dgm:cxn modelId="{2F6DFF04-DF48-44C3-B154-A5CBFEF16B66}" type="presParOf" srcId="{C79DA2A0-BAD4-44D5-A47C-79727A43DCC1}" destId="{CAA880D5-E9EB-4670-90BF-57DFFC270C11}" srcOrd="0" destOrd="0" presId="urn:microsoft.com/office/officeart/2005/8/layout/list1"/>
    <dgm:cxn modelId="{7551D605-9BD9-4FB1-881D-47AAD9E65C6B}" type="presParOf" srcId="{C79DA2A0-BAD4-44D5-A47C-79727A43DCC1}" destId="{576143CB-3B21-409E-B19A-04D86E78FBB9}" srcOrd="1" destOrd="0" presId="urn:microsoft.com/office/officeart/2005/8/layout/list1"/>
    <dgm:cxn modelId="{980EF913-63DD-4A91-B06F-3506338648AC}" type="presParOf" srcId="{7B367C3F-59FF-490E-BF73-4E9A0F4CF230}" destId="{7F9B5D38-C0B4-4577-ADCF-E71C959B0915}" srcOrd="5" destOrd="0" presId="urn:microsoft.com/office/officeart/2005/8/layout/list1"/>
    <dgm:cxn modelId="{1C18E3E2-95A0-4249-944C-9C36A31F77F2}" type="presParOf" srcId="{7B367C3F-59FF-490E-BF73-4E9A0F4CF230}" destId="{0D499CCF-40C4-4D94-8E3A-0366BC33FE23}" srcOrd="6" destOrd="0" presId="urn:microsoft.com/office/officeart/2005/8/layout/list1"/>
    <dgm:cxn modelId="{AD7E5F40-9DB4-4D93-9171-3C6E76F10212}" type="presParOf" srcId="{7B367C3F-59FF-490E-BF73-4E9A0F4CF230}" destId="{6F7FBD37-D49D-4996-8FEA-6055CB6F758F}" srcOrd="7" destOrd="0" presId="urn:microsoft.com/office/officeart/2005/8/layout/list1"/>
    <dgm:cxn modelId="{B243CC7B-2FDD-4CED-8040-8B8EEFA80EAA}" type="presParOf" srcId="{7B367C3F-59FF-490E-BF73-4E9A0F4CF230}" destId="{435F10E5-3F99-4BFA-814B-9BF0A79C19BC}" srcOrd="8" destOrd="0" presId="urn:microsoft.com/office/officeart/2005/8/layout/list1"/>
    <dgm:cxn modelId="{BCE0DF32-64A7-4AA9-84B4-DFC908058FE0}" type="presParOf" srcId="{435F10E5-3F99-4BFA-814B-9BF0A79C19BC}" destId="{A3F5F403-90C6-4830-9304-21FFFA5E8873}" srcOrd="0" destOrd="0" presId="urn:microsoft.com/office/officeart/2005/8/layout/list1"/>
    <dgm:cxn modelId="{5C4984AB-B6E2-4DC5-9BB0-D45C7B90CA37}" type="presParOf" srcId="{435F10E5-3F99-4BFA-814B-9BF0A79C19BC}" destId="{1EE9083F-8DA3-4FCB-B5D1-4D1D017F943C}" srcOrd="1" destOrd="0" presId="urn:microsoft.com/office/officeart/2005/8/layout/list1"/>
    <dgm:cxn modelId="{EF2BCD6B-CE9F-4C8F-A13F-7D40804B001A}" type="presParOf" srcId="{7B367C3F-59FF-490E-BF73-4E9A0F4CF230}" destId="{94E54BA3-4A6B-429C-A08F-AF729EDD1A17}" srcOrd="9" destOrd="0" presId="urn:microsoft.com/office/officeart/2005/8/layout/list1"/>
    <dgm:cxn modelId="{B08E0264-0F70-426A-B297-4BE177EE3564}" type="presParOf" srcId="{7B367C3F-59FF-490E-BF73-4E9A0F4CF230}" destId="{0A5F3EA8-3CFF-4704-99F1-2D3B288555A0}"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33308A-B367-4BD4-B32A-1F753E57015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A53E065-E375-4DB8-A632-B238D9C781F8}">
      <dgm:prSet/>
      <dgm:spPr/>
      <dgm:t>
        <a:bodyPr/>
        <a:lstStyle/>
        <a:p>
          <a:r>
            <a:rPr lang="en-US"/>
            <a:t>Commercial Banks</a:t>
          </a:r>
        </a:p>
      </dgm:t>
    </dgm:pt>
    <dgm:pt modelId="{FE7B08C2-A825-4DF7-87CD-8138B301CAB5}" type="parTrans" cxnId="{95B96783-927A-487A-B3C3-04198B1E482B}">
      <dgm:prSet/>
      <dgm:spPr/>
      <dgm:t>
        <a:bodyPr/>
        <a:lstStyle/>
        <a:p>
          <a:endParaRPr lang="en-US"/>
        </a:p>
      </dgm:t>
    </dgm:pt>
    <dgm:pt modelId="{41461C40-B245-4C74-B4C5-25ECD46B3655}" type="sibTrans" cxnId="{95B96783-927A-487A-B3C3-04198B1E482B}">
      <dgm:prSet/>
      <dgm:spPr/>
      <dgm:t>
        <a:bodyPr/>
        <a:lstStyle/>
        <a:p>
          <a:endParaRPr lang="en-US"/>
        </a:p>
      </dgm:t>
    </dgm:pt>
    <dgm:pt modelId="{988160BF-F880-4887-9AAE-C14E2F8AA49D}">
      <dgm:prSet/>
      <dgm:spPr/>
      <dgm:t>
        <a:bodyPr/>
        <a:lstStyle/>
        <a:p>
          <a:r>
            <a:rPr lang="en-US"/>
            <a:t>Islami Bank </a:t>
          </a:r>
        </a:p>
      </dgm:t>
    </dgm:pt>
    <dgm:pt modelId="{53E03663-53A3-4F27-AF28-F41F04CFC5A5}" type="parTrans" cxnId="{444FF018-7426-47E2-A5B7-5F5D91B743C9}">
      <dgm:prSet/>
      <dgm:spPr/>
      <dgm:t>
        <a:bodyPr/>
        <a:lstStyle/>
        <a:p>
          <a:endParaRPr lang="en-US"/>
        </a:p>
      </dgm:t>
    </dgm:pt>
    <dgm:pt modelId="{0281CCFB-AF1F-4F0B-ACC5-852724B25577}" type="sibTrans" cxnId="{444FF018-7426-47E2-A5B7-5F5D91B743C9}">
      <dgm:prSet/>
      <dgm:spPr/>
      <dgm:t>
        <a:bodyPr/>
        <a:lstStyle/>
        <a:p>
          <a:endParaRPr lang="en-US"/>
        </a:p>
      </dgm:t>
    </dgm:pt>
    <dgm:pt modelId="{7A2CE0B0-A6CE-47C3-BCAA-599837B7B7AF}">
      <dgm:prSet/>
      <dgm:spPr/>
      <dgm:t>
        <a:bodyPr/>
        <a:lstStyle/>
        <a:p>
          <a:r>
            <a:rPr lang="en-US"/>
            <a:t>BRAC Bank </a:t>
          </a:r>
        </a:p>
      </dgm:t>
    </dgm:pt>
    <dgm:pt modelId="{9D428B8C-0085-4C4C-BEA5-DBCF3DADDAD4}" type="parTrans" cxnId="{641F89D2-76BF-4918-91C3-5E242381A272}">
      <dgm:prSet/>
      <dgm:spPr/>
      <dgm:t>
        <a:bodyPr/>
        <a:lstStyle/>
        <a:p>
          <a:endParaRPr lang="en-US"/>
        </a:p>
      </dgm:t>
    </dgm:pt>
    <dgm:pt modelId="{750CFB6E-3D56-4911-BBEA-19CE41D1E944}" type="sibTrans" cxnId="{641F89D2-76BF-4918-91C3-5E242381A272}">
      <dgm:prSet/>
      <dgm:spPr/>
      <dgm:t>
        <a:bodyPr/>
        <a:lstStyle/>
        <a:p>
          <a:endParaRPr lang="en-US"/>
        </a:p>
      </dgm:t>
    </dgm:pt>
    <dgm:pt modelId="{4E0C3039-C3FA-4DE0-B81B-38F998174F5E}">
      <dgm:prSet/>
      <dgm:spPr/>
      <dgm:t>
        <a:bodyPr/>
        <a:lstStyle/>
        <a:p>
          <a:r>
            <a:rPr lang="en-US"/>
            <a:t>Dutch-Bangla Bank </a:t>
          </a:r>
        </a:p>
      </dgm:t>
    </dgm:pt>
    <dgm:pt modelId="{B22A3C4D-6768-4C7D-A180-D4ACE6F94EB5}" type="parTrans" cxnId="{87F407DF-EC8A-400F-88B0-AE05318D0429}">
      <dgm:prSet/>
      <dgm:spPr/>
      <dgm:t>
        <a:bodyPr/>
        <a:lstStyle/>
        <a:p>
          <a:endParaRPr lang="en-US"/>
        </a:p>
      </dgm:t>
    </dgm:pt>
    <dgm:pt modelId="{AFCE5E74-C2AF-4FA9-A28B-B6FC925FB554}" type="sibTrans" cxnId="{87F407DF-EC8A-400F-88B0-AE05318D0429}">
      <dgm:prSet/>
      <dgm:spPr/>
      <dgm:t>
        <a:bodyPr/>
        <a:lstStyle/>
        <a:p>
          <a:endParaRPr lang="en-US"/>
        </a:p>
      </dgm:t>
    </dgm:pt>
    <dgm:pt modelId="{5ECECAFD-4B40-416A-861B-496AA301AE25}">
      <dgm:prSet/>
      <dgm:spPr/>
      <dgm:t>
        <a:bodyPr/>
        <a:lstStyle/>
        <a:p>
          <a:r>
            <a:rPr lang="en-US"/>
            <a:t>Investment Banks</a:t>
          </a:r>
        </a:p>
      </dgm:t>
    </dgm:pt>
    <dgm:pt modelId="{A174E219-ED1C-479F-BE16-9B5255EB0FFD}" type="parTrans" cxnId="{BE3FC716-4541-4977-8645-2113815E2A49}">
      <dgm:prSet/>
      <dgm:spPr/>
      <dgm:t>
        <a:bodyPr/>
        <a:lstStyle/>
        <a:p>
          <a:endParaRPr lang="en-US"/>
        </a:p>
      </dgm:t>
    </dgm:pt>
    <dgm:pt modelId="{35E03555-D265-4CEA-99ED-1AB38DA6A140}" type="sibTrans" cxnId="{BE3FC716-4541-4977-8645-2113815E2A49}">
      <dgm:prSet/>
      <dgm:spPr/>
      <dgm:t>
        <a:bodyPr/>
        <a:lstStyle/>
        <a:p>
          <a:endParaRPr lang="en-US"/>
        </a:p>
      </dgm:t>
    </dgm:pt>
    <dgm:pt modelId="{31A1A5C9-96D2-4FC3-A13C-4BAE782673D7}">
      <dgm:prSet/>
      <dgm:spPr/>
      <dgm:t>
        <a:bodyPr/>
        <a:lstStyle/>
        <a:p>
          <a:r>
            <a:rPr lang="en-US"/>
            <a:t>Issue securities </a:t>
          </a:r>
        </a:p>
      </dgm:t>
    </dgm:pt>
    <dgm:pt modelId="{64AC7BB1-006C-476B-97DC-872AF0F4C767}" type="parTrans" cxnId="{AB79E9B7-0D33-4273-BB4F-5D09A9637B84}">
      <dgm:prSet/>
      <dgm:spPr/>
      <dgm:t>
        <a:bodyPr/>
        <a:lstStyle/>
        <a:p>
          <a:endParaRPr lang="en-US"/>
        </a:p>
      </dgm:t>
    </dgm:pt>
    <dgm:pt modelId="{4963D16A-7E30-47DD-93C2-CE843A55EA40}" type="sibTrans" cxnId="{AB79E9B7-0D33-4273-BB4F-5D09A9637B84}">
      <dgm:prSet/>
      <dgm:spPr/>
      <dgm:t>
        <a:bodyPr/>
        <a:lstStyle/>
        <a:p>
          <a:endParaRPr lang="en-US"/>
        </a:p>
      </dgm:t>
    </dgm:pt>
    <dgm:pt modelId="{DC53DBF1-FACA-48D2-8EFF-29B32E42CE17}">
      <dgm:prSet/>
      <dgm:spPr/>
      <dgm:t>
        <a:bodyPr/>
        <a:lstStyle/>
        <a:p>
          <a:r>
            <a:rPr lang="en-US"/>
            <a:t>Underwriting </a:t>
          </a:r>
        </a:p>
      </dgm:t>
    </dgm:pt>
    <dgm:pt modelId="{4DE806FB-2364-40AA-A2C0-EC3A6C7CD05C}" type="parTrans" cxnId="{DE6864A3-536D-48A9-9E2C-EB91E4FF8FB8}">
      <dgm:prSet/>
      <dgm:spPr/>
      <dgm:t>
        <a:bodyPr/>
        <a:lstStyle/>
        <a:p>
          <a:endParaRPr lang="en-US"/>
        </a:p>
      </dgm:t>
    </dgm:pt>
    <dgm:pt modelId="{D31C4D99-57FC-43BE-A8E6-173272E17D63}" type="sibTrans" cxnId="{DE6864A3-536D-48A9-9E2C-EB91E4FF8FB8}">
      <dgm:prSet/>
      <dgm:spPr/>
      <dgm:t>
        <a:bodyPr/>
        <a:lstStyle/>
        <a:p>
          <a:endParaRPr lang="en-US"/>
        </a:p>
      </dgm:t>
    </dgm:pt>
    <dgm:pt modelId="{4EF3EBFE-A9A9-495F-A0EA-47267FCFFD24}">
      <dgm:prSet/>
      <dgm:spPr/>
      <dgm:t>
        <a:bodyPr/>
        <a:lstStyle/>
        <a:p>
          <a:r>
            <a:rPr lang="en-US"/>
            <a:t>Insurance Companies</a:t>
          </a:r>
        </a:p>
      </dgm:t>
    </dgm:pt>
    <dgm:pt modelId="{5A1052A3-14F9-4ABC-A1FE-C1039D8FCEF9}" type="parTrans" cxnId="{B8C864BE-9556-4469-A1DD-8ABB10EE1A02}">
      <dgm:prSet/>
      <dgm:spPr/>
      <dgm:t>
        <a:bodyPr/>
        <a:lstStyle/>
        <a:p>
          <a:endParaRPr lang="en-US"/>
        </a:p>
      </dgm:t>
    </dgm:pt>
    <dgm:pt modelId="{E39F2132-97C0-48D6-83AF-EF86907DD5DF}" type="sibTrans" cxnId="{B8C864BE-9556-4469-A1DD-8ABB10EE1A02}">
      <dgm:prSet/>
      <dgm:spPr/>
      <dgm:t>
        <a:bodyPr/>
        <a:lstStyle/>
        <a:p>
          <a:endParaRPr lang="en-US"/>
        </a:p>
      </dgm:t>
    </dgm:pt>
    <dgm:pt modelId="{EBC42358-0FBD-47DF-827E-5077B719843E}">
      <dgm:prSet/>
      <dgm:spPr/>
      <dgm:t>
        <a:bodyPr/>
        <a:lstStyle/>
        <a:p>
          <a:r>
            <a:rPr lang="en-US"/>
            <a:t>Collect premiums </a:t>
          </a:r>
        </a:p>
      </dgm:t>
    </dgm:pt>
    <dgm:pt modelId="{3B7F082E-F84D-45E3-B233-625DA521AFD2}" type="parTrans" cxnId="{B1EB93C2-4346-4699-8ECD-F73A1C11F0C6}">
      <dgm:prSet/>
      <dgm:spPr/>
      <dgm:t>
        <a:bodyPr/>
        <a:lstStyle/>
        <a:p>
          <a:endParaRPr lang="en-US"/>
        </a:p>
      </dgm:t>
    </dgm:pt>
    <dgm:pt modelId="{27BB8F82-3957-4ACF-8D02-F6FE137DD21B}" type="sibTrans" cxnId="{B1EB93C2-4346-4699-8ECD-F73A1C11F0C6}">
      <dgm:prSet/>
      <dgm:spPr/>
      <dgm:t>
        <a:bodyPr/>
        <a:lstStyle/>
        <a:p>
          <a:endParaRPr lang="en-US"/>
        </a:p>
      </dgm:t>
    </dgm:pt>
    <dgm:pt modelId="{610AB1E4-8611-45E5-B479-D760BFE3201B}">
      <dgm:prSet/>
      <dgm:spPr/>
      <dgm:t>
        <a:bodyPr/>
        <a:lstStyle/>
        <a:p>
          <a:r>
            <a:rPr lang="en-US"/>
            <a:t>Invest funds </a:t>
          </a:r>
        </a:p>
      </dgm:t>
    </dgm:pt>
    <dgm:pt modelId="{A30DEB60-05A4-415C-B84E-B66DE47291C1}" type="parTrans" cxnId="{408BB622-BFF9-420D-8A33-740C104A6B66}">
      <dgm:prSet/>
      <dgm:spPr/>
      <dgm:t>
        <a:bodyPr/>
        <a:lstStyle/>
        <a:p>
          <a:endParaRPr lang="en-US"/>
        </a:p>
      </dgm:t>
    </dgm:pt>
    <dgm:pt modelId="{E71E84F4-A90A-4875-9EE0-F3A6E676EECB}" type="sibTrans" cxnId="{408BB622-BFF9-420D-8A33-740C104A6B66}">
      <dgm:prSet/>
      <dgm:spPr/>
      <dgm:t>
        <a:bodyPr/>
        <a:lstStyle/>
        <a:p>
          <a:endParaRPr lang="en-US"/>
        </a:p>
      </dgm:t>
    </dgm:pt>
    <dgm:pt modelId="{D08D8459-BD52-4D71-AFF0-574C9784E6C6}">
      <dgm:prSet/>
      <dgm:spPr/>
      <dgm:t>
        <a:bodyPr/>
        <a:lstStyle/>
        <a:p>
          <a:r>
            <a:rPr lang="en-US"/>
            <a:t>Mutual Funds</a:t>
          </a:r>
        </a:p>
      </dgm:t>
    </dgm:pt>
    <dgm:pt modelId="{6FCE7C03-1D07-457F-A4A7-5590D9753268}" type="parTrans" cxnId="{B6DE0ECA-B10F-4139-B121-8E2802684323}">
      <dgm:prSet/>
      <dgm:spPr/>
      <dgm:t>
        <a:bodyPr/>
        <a:lstStyle/>
        <a:p>
          <a:endParaRPr lang="en-US"/>
        </a:p>
      </dgm:t>
    </dgm:pt>
    <dgm:pt modelId="{05D5DE23-D082-4235-AB77-474E17E42EEA}" type="sibTrans" cxnId="{B6DE0ECA-B10F-4139-B121-8E2802684323}">
      <dgm:prSet/>
      <dgm:spPr/>
      <dgm:t>
        <a:bodyPr/>
        <a:lstStyle/>
        <a:p>
          <a:endParaRPr lang="en-US"/>
        </a:p>
      </dgm:t>
    </dgm:pt>
    <dgm:pt modelId="{5CF279C5-D4AA-41CB-8B9C-0E3AE2370901}">
      <dgm:prSet/>
      <dgm:spPr/>
      <dgm:t>
        <a:bodyPr/>
        <a:lstStyle/>
        <a:p>
          <a:r>
            <a:rPr lang="en-US"/>
            <a:t>Pool investors' money </a:t>
          </a:r>
        </a:p>
      </dgm:t>
    </dgm:pt>
    <dgm:pt modelId="{8E00E136-12CA-40AD-999D-A37CBB00252E}" type="parTrans" cxnId="{0E277FA1-A6BF-42F0-B5C2-1F802F3809DA}">
      <dgm:prSet/>
      <dgm:spPr/>
      <dgm:t>
        <a:bodyPr/>
        <a:lstStyle/>
        <a:p>
          <a:endParaRPr lang="en-US"/>
        </a:p>
      </dgm:t>
    </dgm:pt>
    <dgm:pt modelId="{DAA94460-A4A9-4F0C-A557-0460821CFC6B}" type="sibTrans" cxnId="{0E277FA1-A6BF-42F0-B5C2-1F802F3809DA}">
      <dgm:prSet/>
      <dgm:spPr/>
      <dgm:t>
        <a:bodyPr/>
        <a:lstStyle/>
        <a:p>
          <a:endParaRPr lang="en-US"/>
        </a:p>
      </dgm:t>
    </dgm:pt>
    <dgm:pt modelId="{D053CF40-446E-4254-92F3-42E527889839}">
      <dgm:prSet/>
      <dgm:spPr/>
      <dgm:t>
        <a:bodyPr/>
        <a:lstStyle/>
        <a:p>
          <a:r>
            <a:rPr lang="en-US"/>
            <a:t>Mortgage Companies </a:t>
          </a:r>
        </a:p>
      </dgm:t>
    </dgm:pt>
    <dgm:pt modelId="{B3AD3457-7099-4674-9A7A-5AF2A49985C4}" type="parTrans" cxnId="{3DE9C554-4AE4-4564-8D24-505A01897BCF}">
      <dgm:prSet/>
      <dgm:spPr/>
      <dgm:t>
        <a:bodyPr/>
        <a:lstStyle/>
        <a:p>
          <a:endParaRPr lang="en-US"/>
        </a:p>
      </dgm:t>
    </dgm:pt>
    <dgm:pt modelId="{6B5F82C3-5880-4A1B-BE92-2F88616B4E13}" type="sibTrans" cxnId="{3DE9C554-4AE4-4564-8D24-505A01897BCF}">
      <dgm:prSet/>
      <dgm:spPr/>
      <dgm:t>
        <a:bodyPr/>
        <a:lstStyle/>
        <a:p>
          <a:endParaRPr lang="en-US"/>
        </a:p>
      </dgm:t>
    </dgm:pt>
    <dgm:pt modelId="{596C2ADA-29EF-48F6-B9D9-A2F597A85D9E}">
      <dgm:prSet/>
      <dgm:spPr/>
      <dgm:t>
        <a:bodyPr/>
        <a:lstStyle/>
        <a:p>
          <a:r>
            <a:rPr lang="en-US"/>
            <a:t>Pension Funds</a:t>
          </a:r>
        </a:p>
      </dgm:t>
    </dgm:pt>
    <dgm:pt modelId="{14249D9B-0363-4B25-8D4D-07D4E91044CC}" type="parTrans" cxnId="{050F97C5-A756-48F7-8537-AE47CE4717A7}">
      <dgm:prSet/>
      <dgm:spPr/>
      <dgm:t>
        <a:bodyPr/>
        <a:lstStyle/>
        <a:p>
          <a:endParaRPr lang="en-US"/>
        </a:p>
      </dgm:t>
    </dgm:pt>
    <dgm:pt modelId="{54F3853E-BB89-43D6-956F-23DE0F899EEB}" type="sibTrans" cxnId="{050F97C5-A756-48F7-8537-AE47CE4717A7}">
      <dgm:prSet/>
      <dgm:spPr/>
      <dgm:t>
        <a:bodyPr/>
        <a:lstStyle/>
        <a:p>
          <a:endParaRPr lang="en-US"/>
        </a:p>
      </dgm:t>
    </dgm:pt>
    <dgm:pt modelId="{799C676D-44BB-49C3-B4DC-7DA4D44CC733}">
      <dgm:prSet/>
      <dgm:spPr/>
      <dgm:t>
        <a:bodyPr/>
        <a:lstStyle/>
        <a:p>
          <a:r>
            <a:rPr lang="en-US"/>
            <a:t>Invest retirement savings</a:t>
          </a:r>
        </a:p>
      </dgm:t>
    </dgm:pt>
    <dgm:pt modelId="{30E6D90F-15C9-4D76-A366-B69F0559FEF0}" type="parTrans" cxnId="{956D91AA-B998-4317-84AC-95BB5E09312E}">
      <dgm:prSet/>
      <dgm:spPr/>
      <dgm:t>
        <a:bodyPr/>
        <a:lstStyle/>
        <a:p>
          <a:endParaRPr lang="en-US"/>
        </a:p>
      </dgm:t>
    </dgm:pt>
    <dgm:pt modelId="{3F31F4D8-0F60-4E9A-BF8F-C6805A772E27}" type="sibTrans" cxnId="{956D91AA-B998-4317-84AC-95BB5E09312E}">
      <dgm:prSet/>
      <dgm:spPr/>
      <dgm:t>
        <a:bodyPr/>
        <a:lstStyle/>
        <a:p>
          <a:endParaRPr lang="en-US"/>
        </a:p>
      </dgm:t>
    </dgm:pt>
    <dgm:pt modelId="{F4535F9E-C8BA-4687-8875-7E7B8E9AE3A8}" type="pres">
      <dgm:prSet presAssocID="{3333308A-B367-4BD4-B32A-1F753E570157}" presName="linear" presStyleCnt="0">
        <dgm:presLayoutVars>
          <dgm:animLvl val="lvl"/>
          <dgm:resizeHandles val="exact"/>
        </dgm:presLayoutVars>
      </dgm:prSet>
      <dgm:spPr/>
    </dgm:pt>
    <dgm:pt modelId="{0656A130-8A56-494C-91D8-1C5C5D7ECB92}" type="pres">
      <dgm:prSet presAssocID="{3A53E065-E375-4DB8-A632-B238D9C781F8}" presName="parentText" presStyleLbl="node1" presStyleIdx="0" presStyleCnt="6">
        <dgm:presLayoutVars>
          <dgm:chMax val="0"/>
          <dgm:bulletEnabled val="1"/>
        </dgm:presLayoutVars>
      </dgm:prSet>
      <dgm:spPr/>
    </dgm:pt>
    <dgm:pt modelId="{AD10F775-0369-4C9D-98AC-C82DC5F02002}" type="pres">
      <dgm:prSet presAssocID="{3A53E065-E375-4DB8-A632-B238D9C781F8}" presName="childText" presStyleLbl="revTx" presStyleIdx="0" presStyleCnt="5">
        <dgm:presLayoutVars>
          <dgm:bulletEnabled val="1"/>
        </dgm:presLayoutVars>
      </dgm:prSet>
      <dgm:spPr/>
    </dgm:pt>
    <dgm:pt modelId="{27F68770-F609-4F3A-83E7-D424D46F2156}" type="pres">
      <dgm:prSet presAssocID="{5ECECAFD-4B40-416A-861B-496AA301AE25}" presName="parentText" presStyleLbl="node1" presStyleIdx="1" presStyleCnt="6">
        <dgm:presLayoutVars>
          <dgm:chMax val="0"/>
          <dgm:bulletEnabled val="1"/>
        </dgm:presLayoutVars>
      </dgm:prSet>
      <dgm:spPr/>
    </dgm:pt>
    <dgm:pt modelId="{E79A3D29-A5C4-44BA-9984-5E422059BD24}" type="pres">
      <dgm:prSet presAssocID="{5ECECAFD-4B40-416A-861B-496AA301AE25}" presName="childText" presStyleLbl="revTx" presStyleIdx="1" presStyleCnt="5">
        <dgm:presLayoutVars>
          <dgm:bulletEnabled val="1"/>
        </dgm:presLayoutVars>
      </dgm:prSet>
      <dgm:spPr/>
    </dgm:pt>
    <dgm:pt modelId="{9B900545-0386-4628-B36F-2E6D9F171A3F}" type="pres">
      <dgm:prSet presAssocID="{4EF3EBFE-A9A9-495F-A0EA-47267FCFFD24}" presName="parentText" presStyleLbl="node1" presStyleIdx="2" presStyleCnt="6">
        <dgm:presLayoutVars>
          <dgm:chMax val="0"/>
          <dgm:bulletEnabled val="1"/>
        </dgm:presLayoutVars>
      </dgm:prSet>
      <dgm:spPr/>
    </dgm:pt>
    <dgm:pt modelId="{05477EAB-ACA9-465E-A44A-7C9797228656}" type="pres">
      <dgm:prSet presAssocID="{4EF3EBFE-A9A9-495F-A0EA-47267FCFFD24}" presName="childText" presStyleLbl="revTx" presStyleIdx="2" presStyleCnt="5">
        <dgm:presLayoutVars>
          <dgm:bulletEnabled val="1"/>
        </dgm:presLayoutVars>
      </dgm:prSet>
      <dgm:spPr/>
    </dgm:pt>
    <dgm:pt modelId="{BA81C895-4EC9-42D6-AF93-7DB3182D5705}" type="pres">
      <dgm:prSet presAssocID="{D08D8459-BD52-4D71-AFF0-574C9784E6C6}" presName="parentText" presStyleLbl="node1" presStyleIdx="3" presStyleCnt="6">
        <dgm:presLayoutVars>
          <dgm:chMax val="0"/>
          <dgm:bulletEnabled val="1"/>
        </dgm:presLayoutVars>
      </dgm:prSet>
      <dgm:spPr/>
    </dgm:pt>
    <dgm:pt modelId="{7CE824DF-FAF9-49AB-A0E2-5E26D699864E}" type="pres">
      <dgm:prSet presAssocID="{D08D8459-BD52-4D71-AFF0-574C9784E6C6}" presName="childText" presStyleLbl="revTx" presStyleIdx="3" presStyleCnt="5">
        <dgm:presLayoutVars>
          <dgm:bulletEnabled val="1"/>
        </dgm:presLayoutVars>
      </dgm:prSet>
      <dgm:spPr/>
    </dgm:pt>
    <dgm:pt modelId="{564B5E8C-6892-4FEA-BA36-4EDCFB9B9AE8}" type="pres">
      <dgm:prSet presAssocID="{D053CF40-446E-4254-92F3-42E527889839}" presName="parentText" presStyleLbl="node1" presStyleIdx="4" presStyleCnt="6">
        <dgm:presLayoutVars>
          <dgm:chMax val="0"/>
          <dgm:bulletEnabled val="1"/>
        </dgm:presLayoutVars>
      </dgm:prSet>
      <dgm:spPr/>
    </dgm:pt>
    <dgm:pt modelId="{B18B616F-CCD7-4651-B880-C939B97C602F}" type="pres">
      <dgm:prSet presAssocID="{6B5F82C3-5880-4A1B-BE92-2F88616B4E13}" presName="spacer" presStyleCnt="0"/>
      <dgm:spPr/>
    </dgm:pt>
    <dgm:pt modelId="{0CBFCFA0-1817-4FDB-97EA-E01E8EFB2681}" type="pres">
      <dgm:prSet presAssocID="{596C2ADA-29EF-48F6-B9D9-A2F597A85D9E}" presName="parentText" presStyleLbl="node1" presStyleIdx="5" presStyleCnt="6">
        <dgm:presLayoutVars>
          <dgm:chMax val="0"/>
          <dgm:bulletEnabled val="1"/>
        </dgm:presLayoutVars>
      </dgm:prSet>
      <dgm:spPr/>
    </dgm:pt>
    <dgm:pt modelId="{B8D1CAD2-C42B-4910-AFDE-3BBD981D1694}" type="pres">
      <dgm:prSet presAssocID="{596C2ADA-29EF-48F6-B9D9-A2F597A85D9E}" presName="childText" presStyleLbl="revTx" presStyleIdx="4" presStyleCnt="5">
        <dgm:presLayoutVars>
          <dgm:bulletEnabled val="1"/>
        </dgm:presLayoutVars>
      </dgm:prSet>
      <dgm:spPr/>
    </dgm:pt>
  </dgm:ptLst>
  <dgm:cxnLst>
    <dgm:cxn modelId="{BE3FC716-4541-4977-8645-2113815E2A49}" srcId="{3333308A-B367-4BD4-B32A-1F753E570157}" destId="{5ECECAFD-4B40-416A-861B-496AA301AE25}" srcOrd="1" destOrd="0" parTransId="{A174E219-ED1C-479F-BE16-9B5255EB0FFD}" sibTransId="{35E03555-D265-4CEA-99ED-1AB38DA6A140}"/>
    <dgm:cxn modelId="{444FF018-7426-47E2-A5B7-5F5D91B743C9}" srcId="{3A53E065-E375-4DB8-A632-B238D9C781F8}" destId="{988160BF-F880-4887-9AAE-C14E2F8AA49D}" srcOrd="0" destOrd="0" parTransId="{53E03663-53A3-4F27-AF28-F41F04CFC5A5}" sibTransId="{0281CCFB-AF1F-4F0B-ACC5-852724B25577}"/>
    <dgm:cxn modelId="{408BB622-BFF9-420D-8A33-740C104A6B66}" srcId="{4EF3EBFE-A9A9-495F-A0EA-47267FCFFD24}" destId="{610AB1E4-8611-45E5-B479-D760BFE3201B}" srcOrd="1" destOrd="0" parTransId="{A30DEB60-05A4-415C-B84E-B66DE47291C1}" sibTransId="{E71E84F4-A90A-4875-9EE0-F3A6E676EECB}"/>
    <dgm:cxn modelId="{F359DF24-F61A-40A7-8BE6-1260E57ACD1E}" type="presOf" srcId="{D053CF40-446E-4254-92F3-42E527889839}" destId="{564B5E8C-6892-4FEA-BA36-4EDCFB9B9AE8}" srcOrd="0" destOrd="0" presId="urn:microsoft.com/office/officeart/2005/8/layout/vList2"/>
    <dgm:cxn modelId="{2C76A427-E6DB-4923-9AE9-5E6E022C7368}" type="presOf" srcId="{4EF3EBFE-A9A9-495F-A0EA-47267FCFFD24}" destId="{9B900545-0386-4628-B36F-2E6D9F171A3F}" srcOrd="0" destOrd="0" presId="urn:microsoft.com/office/officeart/2005/8/layout/vList2"/>
    <dgm:cxn modelId="{65036C5D-6981-4C41-9519-2F4F334AA9D4}" type="presOf" srcId="{799C676D-44BB-49C3-B4DC-7DA4D44CC733}" destId="{B8D1CAD2-C42B-4910-AFDE-3BBD981D1694}" srcOrd="0" destOrd="0" presId="urn:microsoft.com/office/officeart/2005/8/layout/vList2"/>
    <dgm:cxn modelId="{D2ED2060-56DA-4FBF-8668-3E3DF944E5AD}" type="presOf" srcId="{3A53E065-E375-4DB8-A632-B238D9C781F8}" destId="{0656A130-8A56-494C-91D8-1C5C5D7ECB92}" srcOrd="0" destOrd="0" presId="urn:microsoft.com/office/officeart/2005/8/layout/vList2"/>
    <dgm:cxn modelId="{214E5760-35D6-4156-A345-5A5F95F26A2D}" type="presOf" srcId="{31A1A5C9-96D2-4FC3-A13C-4BAE782673D7}" destId="{E79A3D29-A5C4-44BA-9984-5E422059BD24}" srcOrd="0" destOrd="0" presId="urn:microsoft.com/office/officeart/2005/8/layout/vList2"/>
    <dgm:cxn modelId="{C2BC9467-9F65-48A9-A564-A1E274F43311}" type="presOf" srcId="{5CF279C5-D4AA-41CB-8B9C-0E3AE2370901}" destId="{7CE824DF-FAF9-49AB-A0E2-5E26D699864E}" srcOrd="0" destOrd="0" presId="urn:microsoft.com/office/officeart/2005/8/layout/vList2"/>
    <dgm:cxn modelId="{3DE9C554-4AE4-4564-8D24-505A01897BCF}" srcId="{3333308A-B367-4BD4-B32A-1F753E570157}" destId="{D053CF40-446E-4254-92F3-42E527889839}" srcOrd="4" destOrd="0" parTransId="{B3AD3457-7099-4674-9A7A-5AF2A49985C4}" sibTransId="{6B5F82C3-5880-4A1B-BE92-2F88616B4E13}"/>
    <dgm:cxn modelId="{5C56D555-BAED-4842-8CE9-533C31434C3B}" type="presOf" srcId="{D08D8459-BD52-4D71-AFF0-574C9784E6C6}" destId="{BA81C895-4EC9-42D6-AF93-7DB3182D5705}" srcOrd="0" destOrd="0" presId="urn:microsoft.com/office/officeart/2005/8/layout/vList2"/>
    <dgm:cxn modelId="{EAAF8978-B472-4482-A625-3F62960D2835}" type="presOf" srcId="{4E0C3039-C3FA-4DE0-B81B-38F998174F5E}" destId="{AD10F775-0369-4C9D-98AC-C82DC5F02002}" srcOrd="0" destOrd="2" presId="urn:microsoft.com/office/officeart/2005/8/layout/vList2"/>
    <dgm:cxn modelId="{95B96783-927A-487A-B3C3-04198B1E482B}" srcId="{3333308A-B367-4BD4-B32A-1F753E570157}" destId="{3A53E065-E375-4DB8-A632-B238D9C781F8}" srcOrd="0" destOrd="0" parTransId="{FE7B08C2-A825-4DF7-87CD-8138B301CAB5}" sibTransId="{41461C40-B245-4C74-B4C5-25ECD46B3655}"/>
    <dgm:cxn modelId="{CBCDCB86-8FF4-4B0A-A4F0-E44CA9B4AA18}" type="presOf" srcId="{DC53DBF1-FACA-48D2-8EFF-29B32E42CE17}" destId="{E79A3D29-A5C4-44BA-9984-5E422059BD24}" srcOrd="0" destOrd="1" presId="urn:microsoft.com/office/officeart/2005/8/layout/vList2"/>
    <dgm:cxn modelId="{4E22AA99-771D-4D09-A64F-E9FFB1BACE68}" type="presOf" srcId="{596C2ADA-29EF-48F6-B9D9-A2F597A85D9E}" destId="{0CBFCFA0-1817-4FDB-97EA-E01E8EFB2681}" srcOrd="0" destOrd="0" presId="urn:microsoft.com/office/officeart/2005/8/layout/vList2"/>
    <dgm:cxn modelId="{F6D5A79C-C625-44B2-B8BA-7F2A996F0FA0}" type="presOf" srcId="{5ECECAFD-4B40-416A-861B-496AA301AE25}" destId="{27F68770-F609-4F3A-83E7-D424D46F2156}" srcOrd="0" destOrd="0" presId="urn:microsoft.com/office/officeart/2005/8/layout/vList2"/>
    <dgm:cxn modelId="{0E277FA1-A6BF-42F0-B5C2-1F802F3809DA}" srcId="{D08D8459-BD52-4D71-AFF0-574C9784E6C6}" destId="{5CF279C5-D4AA-41CB-8B9C-0E3AE2370901}" srcOrd="0" destOrd="0" parTransId="{8E00E136-12CA-40AD-999D-A37CBB00252E}" sibTransId="{DAA94460-A4A9-4F0C-A557-0460821CFC6B}"/>
    <dgm:cxn modelId="{DE6864A3-536D-48A9-9E2C-EB91E4FF8FB8}" srcId="{5ECECAFD-4B40-416A-861B-496AA301AE25}" destId="{DC53DBF1-FACA-48D2-8EFF-29B32E42CE17}" srcOrd="1" destOrd="0" parTransId="{4DE806FB-2364-40AA-A2C0-EC3A6C7CD05C}" sibTransId="{D31C4D99-57FC-43BE-A8E6-173272E17D63}"/>
    <dgm:cxn modelId="{55A06EAA-D9AE-48D1-BB92-3139709FD113}" type="presOf" srcId="{3333308A-B367-4BD4-B32A-1F753E570157}" destId="{F4535F9E-C8BA-4687-8875-7E7B8E9AE3A8}" srcOrd="0" destOrd="0" presId="urn:microsoft.com/office/officeart/2005/8/layout/vList2"/>
    <dgm:cxn modelId="{956D91AA-B998-4317-84AC-95BB5E09312E}" srcId="{596C2ADA-29EF-48F6-B9D9-A2F597A85D9E}" destId="{799C676D-44BB-49C3-B4DC-7DA4D44CC733}" srcOrd="0" destOrd="0" parTransId="{30E6D90F-15C9-4D76-A366-B69F0559FEF0}" sibTransId="{3F31F4D8-0F60-4E9A-BF8F-C6805A772E27}"/>
    <dgm:cxn modelId="{AB79E9B7-0D33-4273-BB4F-5D09A9637B84}" srcId="{5ECECAFD-4B40-416A-861B-496AA301AE25}" destId="{31A1A5C9-96D2-4FC3-A13C-4BAE782673D7}" srcOrd="0" destOrd="0" parTransId="{64AC7BB1-006C-476B-97DC-872AF0F4C767}" sibTransId="{4963D16A-7E30-47DD-93C2-CE843A55EA40}"/>
    <dgm:cxn modelId="{B8C864BE-9556-4469-A1DD-8ABB10EE1A02}" srcId="{3333308A-B367-4BD4-B32A-1F753E570157}" destId="{4EF3EBFE-A9A9-495F-A0EA-47267FCFFD24}" srcOrd="2" destOrd="0" parTransId="{5A1052A3-14F9-4ABC-A1FE-C1039D8FCEF9}" sibTransId="{E39F2132-97C0-48D6-83AF-EF86907DD5DF}"/>
    <dgm:cxn modelId="{B1EB93C2-4346-4699-8ECD-F73A1C11F0C6}" srcId="{4EF3EBFE-A9A9-495F-A0EA-47267FCFFD24}" destId="{EBC42358-0FBD-47DF-827E-5077B719843E}" srcOrd="0" destOrd="0" parTransId="{3B7F082E-F84D-45E3-B233-625DA521AFD2}" sibTransId="{27BB8F82-3957-4ACF-8D02-F6FE137DD21B}"/>
    <dgm:cxn modelId="{5E6DADC2-DE2C-46ED-8577-ABABC0D14835}" type="presOf" srcId="{EBC42358-0FBD-47DF-827E-5077B719843E}" destId="{05477EAB-ACA9-465E-A44A-7C9797228656}" srcOrd="0" destOrd="0" presId="urn:microsoft.com/office/officeart/2005/8/layout/vList2"/>
    <dgm:cxn modelId="{2D135CC4-956D-4245-9922-82EE4248FD9D}" type="presOf" srcId="{610AB1E4-8611-45E5-B479-D760BFE3201B}" destId="{05477EAB-ACA9-465E-A44A-7C9797228656}" srcOrd="0" destOrd="1" presId="urn:microsoft.com/office/officeart/2005/8/layout/vList2"/>
    <dgm:cxn modelId="{050F97C5-A756-48F7-8537-AE47CE4717A7}" srcId="{3333308A-B367-4BD4-B32A-1F753E570157}" destId="{596C2ADA-29EF-48F6-B9D9-A2F597A85D9E}" srcOrd="5" destOrd="0" parTransId="{14249D9B-0363-4B25-8D4D-07D4E91044CC}" sibTransId="{54F3853E-BB89-43D6-956F-23DE0F899EEB}"/>
    <dgm:cxn modelId="{B6DE0ECA-B10F-4139-B121-8E2802684323}" srcId="{3333308A-B367-4BD4-B32A-1F753E570157}" destId="{D08D8459-BD52-4D71-AFF0-574C9784E6C6}" srcOrd="3" destOrd="0" parTransId="{6FCE7C03-1D07-457F-A4A7-5590D9753268}" sibTransId="{05D5DE23-D082-4235-AB77-474E17E42EEA}"/>
    <dgm:cxn modelId="{641F89D2-76BF-4918-91C3-5E242381A272}" srcId="{3A53E065-E375-4DB8-A632-B238D9C781F8}" destId="{7A2CE0B0-A6CE-47C3-BCAA-599837B7B7AF}" srcOrd="1" destOrd="0" parTransId="{9D428B8C-0085-4C4C-BEA5-DBCF3DADDAD4}" sibTransId="{750CFB6E-3D56-4911-BBEA-19CE41D1E944}"/>
    <dgm:cxn modelId="{87F407DF-EC8A-400F-88B0-AE05318D0429}" srcId="{3A53E065-E375-4DB8-A632-B238D9C781F8}" destId="{4E0C3039-C3FA-4DE0-B81B-38F998174F5E}" srcOrd="2" destOrd="0" parTransId="{B22A3C4D-6768-4C7D-A180-D4ACE6F94EB5}" sibTransId="{AFCE5E74-C2AF-4FA9-A28B-B6FC925FB554}"/>
    <dgm:cxn modelId="{44CA11E2-BE1C-40A5-B924-BE8ED3D125C4}" type="presOf" srcId="{988160BF-F880-4887-9AAE-C14E2F8AA49D}" destId="{AD10F775-0369-4C9D-98AC-C82DC5F02002}" srcOrd="0" destOrd="0" presId="urn:microsoft.com/office/officeart/2005/8/layout/vList2"/>
    <dgm:cxn modelId="{311BE4F0-B17D-49F2-B051-67B93015A0A9}" type="presOf" srcId="{7A2CE0B0-A6CE-47C3-BCAA-599837B7B7AF}" destId="{AD10F775-0369-4C9D-98AC-C82DC5F02002}" srcOrd="0" destOrd="1" presId="urn:microsoft.com/office/officeart/2005/8/layout/vList2"/>
    <dgm:cxn modelId="{59CE9053-9B0D-4F86-A8D7-02F4D061ABFC}" type="presParOf" srcId="{F4535F9E-C8BA-4687-8875-7E7B8E9AE3A8}" destId="{0656A130-8A56-494C-91D8-1C5C5D7ECB92}" srcOrd="0" destOrd="0" presId="urn:microsoft.com/office/officeart/2005/8/layout/vList2"/>
    <dgm:cxn modelId="{7A25DCDC-6438-4A8C-8360-095C9519C11F}" type="presParOf" srcId="{F4535F9E-C8BA-4687-8875-7E7B8E9AE3A8}" destId="{AD10F775-0369-4C9D-98AC-C82DC5F02002}" srcOrd="1" destOrd="0" presId="urn:microsoft.com/office/officeart/2005/8/layout/vList2"/>
    <dgm:cxn modelId="{94F04641-7330-431E-A477-493D2B4953D7}" type="presParOf" srcId="{F4535F9E-C8BA-4687-8875-7E7B8E9AE3A8}" destId="{27F68770-F609-4F3A-83E7-D424D46F2156}" srcOrd="2" destOrd="0" presId="urn:microsoft.com/office/officeart/2005/8/layout/vList2"/>
    <dgm:cxn modelId="{E46745BF-D0B0-4236-A6EB-F5C6FF3A07CA}" type="presParOf" srcId="{F4535F9E-C8BA-4687-8875-7E7B8E9AE3A8}" destId="{E79A3D29-A5C4-44BA-9984-5E422059BD24}" srcOrd="3" destOrd="0" presId="urn:microsoft.com/office/officeart/2005/8/layout/vList2"/>
    <dgm:cxn modelId="{B6DF30F3-BC5F-48BF-8F50-1012E27994D2}" type="presParOf" srcId="{F4535F9E-C8BA-4687-8875-7E7B8E9AE3A8}" destId="{9B900545-0386-4628-B36F-2E6D9F171A3F}" srcOrd="4" destOrd="0" presId="urn:microsoft.com/office/officeart/2005/8/layout/vList2"/>
    <dgm:cxn modelId="{560BA4F1-2316-45F9-92F2-9D6ABE004530}" type="presParOf" srcId="{F4535F9E-C8BA-4687-8875-7E7B8E9AE3A8}" destId="{05477EAB-ACA9-465E-A44A-7C9797228656}" srcOrd="5" destOrd="0" presId="urn:microsoft.com/office/officeart/2005/8/layout/vList2"/>
    <dgm:cxn modelId="{286FD50B-175D-4900-B55E-E9047C566A59}" type="presParOf" srcId="{F4535F9E-C8BA-4687-8875-7E7B8E9AE3A8}" destId="{BA81C895-4EC9-42D6-AF93-7DB3182D5705}" srcOrd="6" destOrd="0" presId="urn:microsoft.com/office/officeart/2005/8/layout/vList2"/>
    <dgm:cxn modelId="{452A1CB8-AD42-4A5C-82D0-BB36566FF20D}" type="presParOf" srcId="{F4535F9E-C8BA-4687-8875-7E7B8E9AE3A8}" destId="{7CE824DF-FAF9-49AB-A0E2-5E26D699864E}" srcOrd="7" destOrd="0" presId="urn:microsoft.com/office/officeart/2005/8/layout/vList2"/>
    <dgm:cxn modelId="{4BF4585D-BD32-4DCF-9000-F2D37C4A12DF}" type="presParOf" srcId="{F4535F9E-C8BA-4687-8875-7E7B8E9AE3A8}" destId="{564B5E8C-6892-4FEA-BA36-4EDCFB9B9AE8}" srcOrd="8" destOrd="0" presId="urn:microsoft.com/office/officeart/2005/8/layout/vList2"/>
    <dgm:cxn modelId="{DA4F3F9D-C8B6-494A-A466-C028DAD4B34E}" type="presParOf" srcId="{F4535F9E-C8BA-4687-8875-7E7B8E9AE3A8}" destId="{B18B616F-CCD7-4651-B880-C939B97C602F}" srcOrd="9" destOrd="0" presId="urn:microsoft.com/office/officeart/2005/8/layout/vList2"/>
    <dgm:cxn modelId="{99B585EF-5518-4AF4-92D7-ACFA08F18321}" type="presParOf" srcId="{F4535F9E-C8BA-4687-8875-7E7B8E9AE3A8}" destId="{0CBFCFA0-1817-4FDB-97EA-E01E8EFB2681}" srcOrd="10" destOrd="0" presId="urn:microsoft.com/office/officeart/2005/8/layout/vList2"/>
    <dgm:cxn modelId="{BCE9FEAF-D2A8-4BA9-9E1E-8332231B5934}" type="presParOf" srcId="{F4535F9E-C8BA-4687-8875-7E7B8E9AE3A8}" destId="{B8D1CAD2-C42B-4910-AFDE-3BBD981D1694}"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D6A15BD-623B-4F33-8C15-CA0AA78BA02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679A8C6-7B0E-4D10-8E75-21CA610A3D0A}">
      <dgm:prSet/>
      <dgm:spPr/>
      <dgm:t>
        <a:bodyPr/>
        <a:lstStyle/>
        <a:p>
          <a:r>
            <a:rPr lang="en-US"/>
            <a:t>Consider a company that wants to construct a new factory.</a:t>
          </a:r>
        </a:p>
      </dgm:t>
    </dgm:pt>
    <dgm:pt modelId="{A2ED0E23-0C9A-4A55-B693-23A074BC2EB6}" type="parTrans" cxnId="{7D38A402-8B6C-43C2-B9C0-8C0B7F254B58}">
      <dgm:prSet/>
      <dgm:spPr/>
      <dgm:t>
        <a:bodyPr/>
        <a:lstStyle/>
        <a:p>
          <a:endParaRPr lang="en-US"/>
        </a:p>
      </dgm:t>
    </dgm:pt>
    <dgm:pt modelId="{2809B521-EBC9-4FF9-8EEE-D383312E6944}" type="sibTrans" cxnId="{7D38A402-8B6C-43C2-B9C0-8C0B7F254B58}">
      <dgm:prSet/>
      <dgm:spPr/>
      <dgm:t>
        <a:bodyPr/>
        <a:lstStyle/>
        <a:p>
          <a:endParaRPr lang="en-US"/>
        </a:p>
      </dgm:t>
    </dgm:pt>
    <dgm:pt modelId="{A3F5E70C-EF07-402C-B3FA-C71EDB8025FD}">
      <dgm:prSet/>
      <dgm:spPr/>
      <dgm:t>
        <a:bodyPr/>
        <a:lstStyle/>
        <a:p>
          <a:r>
            <a:rPr lang="en-US"/>
            <a:t>The factory may require </a:t>
          </a:r>
          <a:r>
            <a:rPr lang="en-US" b="1"/>
            <a:t>Tk. 500 million</a:t>
          </a:r>
          <a:r>
            <a:rPr lang="en-US"/>
            <a:t>, but the company may not have Tk. 500 million in cash.</a:t>
          </a:r>
        </a:p>
      </dgm:t>
    </dgm:pt>
    <dgm:pt modelId="{F759483A-7817-4A62-8A0F-79D710BEF83C}" type="parTrans" cxnId="{EF39BB49-82C3-4D60-98AD-F80BA78D5C18}">
      <dgm:prSet/>
      <dgm:spPr/>
      <dgm:t>
        <a:bodyPr/>
        <a:lstStyle/>
        <a:p>
          <a:endParaRPr lang="en-US"/>
        </a:p>
      </dgm:t>
    </dgm:pt>
    <dgm:pt modelId="{0F8FBE92-AD6E-4652-9E66-F1FFD14AB094}" type="sibTrans" cxnId="{EF39BB49-82C3-4D60-98AD-F80BA78D5C18}">
      <dgm:prSet/>
      <dgm:spPr/>
      <dgm:t>
        <a:bodyPr/>
        <a:lstStyle/>
        <a:p>
          <a:endParaRPr lang="en-US"/>
        </a:p>
      </dgm:t>
    </dgm:pt>
    <dgm:pt modelId="{2149BAB5-94E2-480D-8CB3-DF8B6E88398D}">
      <dgm:prSet/>
      <dgm:spPr/>
      <dgm:t>
        <a:bodyPr/>
        <a:lstStyle/>
        <a:p>
          <a:r>
            <a:rPr lang="en-US"/>
            <a:t>It can therefore:</a:t>
          </a:r>
        </a:p>
      </dgm:t>
    </dgm:pt>
    <dgm:pt modelId="{804C3481-B672-413B-A73D-29BA3810BA41}" type="parTrans" cxnId="{66B8B3A1-BC82-453C-9012-433D24461F40}">
      <dgm:prSet/>
      <dgm:spPr/>
      <dgm:t>
        <a:bodyPr/>
        <a:lstStyle/>
        <a:p>
          <a:endParaRPr lang="en-US"/>
        </a:p>
      </dgm:t>
    </dgm:pt>
    <dgm:pt modelId="{3519ED59-F9E1-4F99-B9EC-415423450374}" type="sibTrans" cxnId="{66B8B3A1-BC82-453C-9012-433D24461F40}">
      <dgm:prSet/>
      <dgm:spPr/>
      <dgm:t>
        <a:bodyPr/>
        <a:lstStyle/>
        <a:p>
          <a:endParaRPr lang="en-US"/>
        </a:p>
      </dgm:t>
    </dgm:pt>
    <dgm:pt modelId="{C62A2951-CA7D-4316-A2E0-022AED0C2D95}">
      <dgm:prSet/>
      <dgm:spPr/>
      <dgm:t>
        <a:bodyPr/>
        <a:lstStyle/>
        <a:p>
          <a:r>
            <a:rPr lang="en-US"/>
            <a:t>borrow from a bank, </a:t>
          </a:r>
        </a:p>
      </dgm:t>
    </dgm:pt>
    <dgm:pt modelId="{141EB3C5-2C36-4E4A-88BC-88107E4615F9}" type="parTrans" cxnId="{70B3ECAE-226E-4B73-B1D3-D5EE414E5576}">
      <dgm:prSet/>
      <dgm:spPr/>
      <dgm:t>
        <a:bodyPr/>
        <a:lstStyle/>
        <a:p>
          <a:endParaRPr lang="en-US"/>
        </a:p>
      </dgm:t>
    </dgm:pt>
    <dgm:pt modelId="{8DCF00B8-D08C-4452-B913-E0B27F963F08}" type="sibTrans" cxnId="{70B3ECAE-226E-4B73-B1D3-D5EE414E5576}">
      <dgm:prSet/>
      <dgm:spPr/>
      <dgm:t>
        <a:bodyPr/>
        <a:lstStyle/>
        <a:p>
          <a:endParaRPr lang="en-US"/>
        </a:p>
      </dgm:t>
    </dgm:pt>
    <dgm:pt modelId="{983EEEE2-341A-486E-97C1-761AF5B01CB5}">
      <dgm:prSet/>
      <dgm:spPr/>
      <dgm:t>
        <a:bodyPr/>
        <a:lstStyle/>
        <a:p>
          <a:r>
            <a:rPr lang="en-US"/>
            <a:t>issue bonds, </a:t>
          </a:r>
        </a:p>
      </dgm:t>
    </dgm:pt>
    <dgm:pt modelId="{E37AF5BC-E934-4D1E-B09C-EFDB5175A602}" type="parTrans" cxnId="{D3D84477-6484-4B73-A62B-429695F4A932}">
      <dgm:prSet/>
      <dgm:spPr/>
      <dgm:t>
        <a:bodyPr/>
        <a:lstStyle/>
        <a:p>
          <a:endParaRPr lang="en-US"/>
        </a:p>
      </dgm:t>
    </dgm:pt>
    <dgm:pt modelId="{FD0B780A-5206-47A0-8ED9-98E76941A356}" type="sibTrans" cxnId="{D3D84477-6484-4B73-A62B-429695F4A932}">
      <dgm:prSet/>
      <dgm:spPr/>
      <dgm:t>
        <a:bodyPr/>
        <a:lstStyle/>
        <a:p>
          <a:endParaRPr lang="en-US"/>
        </a:p>
      </dgm:t>
    </dgm:pt>
    <dgm:pt modelId="{7B94B854-C8D3-44FA-9F88-713FAEF74353}">
      <dgm:prSet/>
      <dgm:spPr/>
      <dgm:t>
        <a:bodyPr/>
        <a:lstStyle/>
        <a:p>
          <a:r>
            <a:rPr lang="en-US"/>
            <a:t>obtain other forms of financing. </a:t>
          </a:r>
        </a:p>
      </dgm:t>
    </dgm:pt>
    <dgm:pt modelId="{BEDAFB2F-1EF3-4AA9-B7C0-BE8D7B94D730}" type="parTrans" cxnId="{8F472D69-55B2-4E36-9EF9-2DAA3469BD1D}">
      <dgm:prSet/>
      <dgm:spPr/>
      <dgm:t>
        <a:bodyPr/>
        <a:lstStyle/>
        <a:p>
          <a:endParaRPr lang="en-US"/>
        </a:p>
      </dgm:t>
    </dgm:pt>
    <dgm:pt modelId="{57014B34-BEB2-4FB4-936F-82212A1AE1CA}" type="sibTrans" cxnId="{8F472D69-55B2-4E36-9EF9-2DAA3469BD1D}">
      <dgm:prSet/>
      <dgm:spPr/>
      <dgm:t>
        <a:bodyPr/>
        <a:lstStyle/>
        <a:p>
          <a:endParaRPr lang="en-US"/>
        </a:p>
      </dgm:t>
    </dgm:pt>
    <dgm:pt modelId="{8ED6719B-DD67-4526-AFA0-71295A52EF02}">
      <dgm:prSet/>
      <dgm:spPr/>
      <dgm:t>
        <a:bodyPr/>
        <a:lstStyle/>
        <a:p>
          <a:r>
            <a:rPr lang="en-US"/>
            <a:t>At the same time, households may have savings that they do not currently need for consumption.</a:t>
          </a:r>
        </a:p>
      </dgm:t>
    </dgm:pt>
    <dgm:pt modelId="{91F3EA43-5B5C-4DE3-8589-CD66F8CA4626}" type="parTrans" cxnId="{D551498A-BFFD-44F0-815B-A0EFFC62CFF9}">
      <dgm:prSet/>
      <dgm:spPr/>
      <dgm:t>
        <a:bodyPr/>
        <a:lstStyle/>
        <a:p>
          <a:endParaRPr lang="en-US"/>
        </a:p>
      </dgm:t>
    </dgm:pt>
    <dgm:pt modelId="{8585A685-D464-4FB2-A795-9421264AB944}" type="sibTrans" cxnId="{D551498A-BFFD-44F0-815B-A0EFFC62CFF9}">
      <dgm:prSet/>
      <dgm:spPr/>
      <dgm:t>
        <a:bodyPr/>
        <a:lstStyle/>
        <a:p>
          <a:endParaRPr lang="en-US"/>
        </a:p>
      </dgm:t>
    </dgm:pt>
    <dgm:pt modelId="{4335DD3E-5D78-42FA-B024-A271CD9BFA9A}">
      <dgm:prSet/>
      <dgm:spPr/>
      <dgm:t>
        <a:bodyPr/>
        <a:lstStyle/>
        <a:p>
          <a:r>
            <a:rPr lang="en-US" b="1"/>
            <a:t>Flow of funds</a:t>
          </a:r>
          <a:endParaRPr lang="en-US"/>
        </a:p>
      </dgm:t>
    </dgm:pt>
    <dgm:pt modelId="{ED65C29D-7618-41FA-8F86-6EB2D779BCF3}" type="parTrans" cxnId="{A9E6228B-93C6-4FE2-8357-5D0F9F3A0F95}">
      <dgm:prSet/>
      <dgm:spPr/>
      <dgm:t>
        <a:bodyPr/>
        <a:lstStyle/>
        <a:p>
          <a:endParaRPr lang="en-US"/>
        </a:p>
      </dgm:t>
    </dgm:pt>
    <dgm:pt modelId="{9EB4E6DF-9F38-4452-ADEC-37CC26E15A0F}" type="sibTrans" cxnId="{A9E6228B-93C6-4FE2-8357-5D0F9F3A0F95}">
      <dgm:prSet/>
      <dgm:spPr/>
      <dgm:t>
        <a:bodyPr/>
        <a:lstStyle/>
        <a:p>
          <a:endParaRPr lang="en-US"/>
        </a:p>
      </dgm:t>
    </dgm:pt>
    <dgm:pt modelId="{18D1EECA-C802-4FD2-BB8C-F3F6B14355EF}">
      <dgm:prSet/>
      <dgm:spPr/>
      <dgm:t>
        <a:bodyPr/>
        <a:lstStyle/>
        <a:p>
          <a:r>
            <a:rPr lang="en-US"/>
            <a:t>Household saving → Financial intermediaries/capital markets → Business investment</a:t>
          </a:r>
        </a:p>
      </dgm:t>
    </dgm:pt>
    <dgm:pt modelId="{75B795A0-93AC-438E-A71F-0390C9F90646}" type="parTrans" cxnId="{D2EEFF8B-3B7D-4D9A-94B4-BACED6F7D425}">
      <dgm:prSet/>
      <dgm:spPr/>
      <dgm:t>
        <a:bodyPr/>
        <a:lstStyle/>
        <a:p>
          <a:endParaRPr lang="en-US"/>
        </a:p>
      </dgm:t>
    </dgm:pt>
    <dgm:pt modelId="{EFB91735-A2BC-49CD-AE9B-8AD8765B010B}" type="sibTrans" cxnId="{D2EEFF8B-3B7D-4D9A-94B4-BACED6F7D425}">
      <dgm:prSet/>
      <dgm:spPr/>
      <dgm:t>
        <a:bodyPr/>
        <a:lstStyle/>
        <a:p>
          <a:endParaRPr lang="en-US"/>
        </a:p>
      </dgm:t>
    </dgm:pt>
    <dgm:pt modelId="{6DAD8D8D-5E6C-4CC9-9C30-2AACC3A11440}" type="pres">
      <dgm:prSet presAssocID="{5D6A15BD-623B-4F33-8C15-CA0AA78BA02D}" presName="linear" presStyleCnt="0">
        <dgm:presLayoutVars>
          <dgm:animLvl val="lvl"/>
          <dgm:resizeHandles val="exact"/>
        </dgm:presLayoutVars>
      </dgm:prSet>
      <dgm:spPr/>
    </dgm:pt>
    <dgm:pt modelId="{A24D6203-95D4-4DB8-A51B-CD9D1EE9C057}" type="pres">
      <dgm:prSet presAssocID="{0679A8C6-7B0E-4D10-8E75-21CA610A3D0A}" presName="parentText" presStyleLbl="node1" presStyleIdx="0" presStyleCnt="5">
        <dgm:presLayoutVars>
          <dgm:chMax val="0"/>
          <dgm:bulletEnabled val="1"/>
        </dgm:presLayoutVars>
      </dgm:prSet>
      <dgm:spPr/>
    </dgm:pt>
    <dgm:pt modelId="{7E0F2D0B-44A4-40A7-BF82-1596D4463CA5}" type="pres">
      <dgm:prSet presAssocID="{2809B521-EBC9-4FF9-8EEE-D383312E6944}" presName="spacer" presStyleCnt="0"/>
      <dgm:spPr/>
    </dgm:pt>
    <dgm:pt modelId="{72E61C7D-F343-4DBE-ACF5-B61DF56E685B}" type="pres">
      <dgm:prSet presAssocID="{A3F5E70C-EF07-402C-B3FA-C71EDB8025FD}" presName="parentText" presStyleLbl="node1" presStyleIdx="1" presStyleCnt="5">
        <dgm:presLayoutVars>
          <dgm:chMax val="0"/>
          <dgm:bulletEnabled val="1"/>
        </dgm:presLayoutVars>
      </dgm:prSet>
      <dgm:spPr/>
    </dgm:pt>
    <dgm:pt modelId="{EE39700B-5E28-4498-B6BD-AC09854060DF}" type="pres">
      <dgm:prSet presAssocID="{0F8FBE92-AD6E-4652-9E66-F1FFD14AB094}" presName="spacer" presStyleCnt="0"/>
      <dgm:spPr/>
    </dgm:pt>
    <dgm:pt modelId="{E667C5CF-6E81-49A3-9F09-33C453B33223}" type="pres">
      <dgm:prSet presAssocID="{2149BAB5-94E2-480D-8CB3-DF8B6E88398D}" presName="parentText" presStyleLbl="node1" presStyleIdx="2" presStyleCnt="5">
        <dgm:presLayoutVars>
          <dgm:chMax val="0"/>
          <dgm:bulletEnabled val="1"/>
        </dgm:presLayoutVars>
      </dgm:prSet>
      <dgm:spPr/>
    </dgm:pt>
    <dgm:pt modelId="{F962118D-B5F7-4F50-A174-35B4AD4AEBF9}" type="pres">
      <dgm:prSet presAssocID="{2149BAB5-94E2-480D-8CB3-DF8B6E88398D}" presName="childText" presStyleLbl="revTx" presStyleIdx="0" presStyleCnt="2">
        <dgm:presLayoutVars>
          <dgm:bulletEnabled val="1"/>
        </dgm:presLayoutVars>
      </dgm:prSet>
      <dgm:spPr/>
    </dgm:pt>
    <dgm:pt modelId="{DE2DD6A3-EACD-4E13-A82B-393A02A6D5AE}" type="pres">
      <dgm:prSet presAssocID="{8ED6719B-DD67-4526-AFA0-71295A52EF02}" presName="parentText" presStyleLbl="node1" presStyleIdx="3" presStyleCnt="5">
        <dgm:presLayoutVars>
          <dgm:chMax val="0"/>
          <dgm:bulletEnabled val="1"/>
        </dgm:presLayoutVars>
      </dgm:prSet>
      <dgm:spPr/>
    </dgm:pt>
    <dgm:pt modelId="{A5953D68-1DF4-4D10-91BE-2F0BD5F550B4}" type="pres">
      <dgm:prSet presAssocID="{8585A685-D464-4FB2-A795-9421264AB944}" presName="spacer" presStyleCnt="0"/>
      <dgm:spPr/>
    </dgm:pt>
    <dgm:pt modelId="{EFFF24E3-7CB9-435A-A26A-0A1FF4A4E460}" type="pres">
      <dgm:prSet presAssocID="{4335DD3E-5D78-42FA-B024-A271CD9BFA9A}" presName="parentText" presStyleLbl="node1" presStyleIdx="4" presStyleCnt="5">
        <dgm:presLayoutVars>
          <dgm:chMax val="0"/>
          <dgm:bulletEnabled val="1"/>
        </dgm:presLayoutVars>
      </dgm:prSet>
      <dgm:spPr/>
    </dgm:pt>
    <dgm:pt modelId="{23223968-C0BE-42E9-85A4-38A204DEF03B}" type="pres">
      <dgm:prSet presAssocID="{4335DD3E-5D78-42FA-B024-A271CD9BFA9A}" presName="childText" presStyleLbl="revTx" presStyleIdx="1" presStyleCnt="2">
        <dgm:presLayoutVars>
          <dgm:bulletEnabled val="1"/>
        </dgm:presLayoutVars>
      </dgm:prSet>
      <dgm:spPr/>
    </dgm:pt>
  </dgm:ptLst>
  <dgm:cxnLst>
    <dgm:cxn modelId="{7D38A402-8B6C-43C2-B9C0-8C0B7F254B58}" srcId="{5D6A15BD-623B-4F33-8C15-CA0AA78BA02D}" destId="{0679A8C6-7B0E-4D10-8E75-21CA610A3D0A}" srcOrd="0" destOrd="0" parTransId="{A2ED0E23-0C9A-4A55-B693-23A074BC2EB6}" sibTransId="{2809B521-EBC9-4FF9-8EEE-D383312E6944}"/>
    <dgm:cxn modelId="{1BA7E115-D1D8-4796-8A8F-2A8F2A2FCF90}" type="presOf" srcId="{4335DD3E-5D78-42FA-B024-A271CD9BFA9A}" destId="{EFFF24E3-7CB9-435A-A26A-0A1FF4A4E460}" srcOrd="0" destOrd="0" presId="urn:microsoft.com/office/officeart/2005/8/layout/vList2"/>
    <dgm:cxn modelId="{70CD3A17-EDFD-41F8-907E-1911A2E4DB6E}" type="presOf" srcId="{8ED6719B-DD67-4526-AFA0-71295A52EF02}" destId="{DE2DD6A3-EACD-4E13-A82B-393A02A6D5AE}" srcOrd="0" destOrd="0" presId="urn:microsoft.com/office/officeart/2005/8/layout/vList2"/>
    <dgm:cxn modelId="{CBFF9226-24CA-405C-9D61-3ED8238F94D0}" type="presOf" srcId="{C62A2951-CA7D-4316-A2E0-022AED0C2D95}" destId="{F962118D-B5F7-4F50-A174-35B4AD4AEBF9}" srcOrd="0" destOrd="0" presId="urn:microsoft.com/office/officeart/2005/8/layout/vList2"/>
    <dgm:cxn modelId="{8F472D69-55B2-4E36-9EF9-2DAA3469BD1D}" srcId="{2149BAB5-94E2-480D-8CB3-DF8B6E88398D}" destId="{7B94B854-C8D3-44FA-9F88-713FAEF74353}" srcOrd="2" destOrd="0" parTransId="{BEDAFB2F-1EF3-4AA9-B7C0-BE8D7B94D730}" sibTransId="{57014B34-BEB2-4FB4-936F-82212A1AE1CA}"/>
    <dgm:cxn modelId="{EF39BB49-82C3-4D60-98AD-F80BA78D5C18}" srcId="{5D6A15BD-623B-4F33-8C15-CA0AA78BA02D}" destId="{A3F5E70C-EF07-402C-B3FA-C71EDB8025FD}" srcOrd="1" destOrd="0" parTransId="{F759483A-7817-4A62-8A0F-79D710BEF83C}" sibTransId="{0F8FBE92-AD6E-4652-9E66-F1FFD14AB094}"/>
    <dgm:cxn modelId="{7D942C4B-23F0-4897-A8E3-3043B3CEEE94}" type="presOf" srcId="{A3F5E70C-EF07-402C-B3FA-C71EDB8025FD}" destId="{72E61C7D-F343-4DBE-ACF5-B61DF56E685B}" srcOrd="0" destOrd="0" presId="urn:microsoft.com/office/officeart/2005/8/layout/vList2"/>
    <dgm:cxn modelId="{D3D84477-6484-4B73-A62B-429695F4A932}" srcId="{2149BAB5-94E2-480D-8CB3-DF8B6E88398D}" destId="{983EEEE2-341A-486E-97C1-761AF5B01CB5}" srcOrd="1" destOrd="0" parTransId="{E37AF5BC-E934-4D1E-B09C-EFDB5175A602}" sibTransId="{FD0B780A-5206-47A0-8ED9-98E76941A356}"/>
    <dgm:cxn modelId="{D551498A-BFFD-44F0-815B-A0EFFC62CFF9}" srcId="{5D6A15BD-623B-4F33-8C15-CA0AA78BA02D}" destId="{8ED6719B-DD67-4526-AFA0-71295A52EF02}" srcOrd="3" destOrd="0" parTransId="{91F3EA43-5B5C-4DE3-8589-CD66F8CA4626}" sibTransId="{8585A685-D464-4FB2-A795-9421264AB944}"/>
    <dgm:cxn modelId="{A9E6228B-93C6-4FE2-8357-5D0F9F3A0F95}" srcId="{5D6A15BD-623B-4F33-8C15-CA0AA78BA02D}" destId="{4335DD3E-5D78-42FA-B024-A271CD9BFA9A}" srcOrd="4" destOrd="0" parTransId="{ED65C29D-7618-41FA-8F86-6EB2D779BCF3}" sibTransId="{9EB4E6DF-9F38-4452-ADEC-37CC26E15A0F}"/>
    <dgm:cxn modelId="{D2EEFF8B-3B7D-4D9A-94B4-BACED6F7D425}" srcId="{4335DD3E-5D78-42FA-B024-A271CD9BFA9A}" destId="{18D1EECA-C802-4FD2-BB8C-F3F6B14355EF}" srcOrd="0" destOrd="0" parTransId="{75B795A0-93AC-438E-A71F-0390C9F90646}" sibTransId="{EFB91735-A2BC-49CD-AE9B-8AD8765B010B}"/>
    <dgm:cxn modelId="{38477494-3EEE-443F-975D-E95935C3DD6B}" type="presOf" srcId="{18D1EECA-C802-4FD2-BB8C-F3F6B14355EF}" destId="{23223968-C0BE-42E9-85A4-38A204DEF03B}" srcOrd="0" destOrd="0" presId="urn:microsoft.com/office/officeart/2005/8/layout/vList2"/>
    <dgm:cxn modelId="{66B8B3A1-BC82-453C-9012-433D24461F40}" srcId="{5D6A15BD-623B-4F33-8C15-CA0AA78BA02D}" destId="{2149BAB5-94E2-480D-8CB3-DF8B6E88398D}" srcOrd="2" destOrd="0" parTransId="{804C3481-B672-413B-A73D-29BA3810BA41}" sibTransId="{3519ED59-F9E1-4F99-B9EC-415423450374}"/>
    <dgm:cxn modelId="{5938FEA3-5446-402A-88E6-DCEFF93D85A2}" type="presOf" srcId="{2149BAB5-94E2-480D-8CB3-DF8B6E88398D}" destId="{E667C5CF-6E81-49A3-9F09-33C453B33223}" srcOrd="0" destOrd="0" presId="urn:microsoft.com/office/officeart/2005/8/layout/vList2"/>
    <dgm:cxn modelId="{70B3ECAE-226E-4B73-B1D3-D5EE414E5576}" srcId="{2149BAB5-94E2-480D-8CB3-DF8B6E88398D}" destId="{C62A2951-CA7D-4316-A2E0-022AED0C2D95}" srcOrd="0" destOrd="0" parTransId="{141EB3C5-2C36-4E4A-88BC-88107E4615F9}" sibTransId="{8DCF00B8-D08C-4452-B913-E0B27F963F08}"/>
    <dgm:cxn modelId="{2C2A77BA-5FF0-4407-BAF2-A49BCA58B9EC}" type="presOf" srcId="{983EEEE2-341A-486E-97C1-761AF5B01CB5}" destId="{F962118D-B5F7-4F50-A174-35B4AD4AEBF9}" srcOrd="0" destOrd="1" presId="urn:microsoft.com/office/officeart/2005/8/layout/vList2"/>
    <dgm:cxn modelId="{D6F786E9-4E1D-42CF-8043-E862C07E0535}" type="presOf" srcId="{7B94B854-C8D3-44FA-9F88-713FAEF74353}" destId="{F962118D-B5F7-4F50-A174-35B4AD4AEBF9}" srcOrd="0" destOrd="2" presId="urn:microsoft.com/office/officeart/2005/8/layout/vList2"/>
    <dgm:cxn modelId="{CE64FBF5-978E-4866-B0D2-3024F6E26E5B}" type="presOf" srcId="{5D6A15BD-623B-4F33-8C15-CA0AA78BA02D}" destId="{6DAD8D8D-5E6C-4CC9-9C30-2AACC3A11440}" srcOrd="0" destOrd="0" presId="urn:microsoft.com/office/officeart/2005/8/layout/vList2"/>
    <dgm:cxn modelId="{80D180FF-F23C-423D-B83A-D613A1788EF7}" type="presOf" srcId="{0679A8C6-7B0E-4D10-8E75-21CA610A3D0A}" destId="{A24D6203-95D4-4DB8-A51B-CD9D1EE9C057}" srcOrd="0" destOrd="0" presId="urn:microsoft.com/office/officeart/2005/8/layout/vList2"/>
    <dgm:cxn modelId="{EDA86642-631E-447C-92A6-4BFA25E73311}" type="presParOf" srcId="{6DAD8D8D-5E6C-4CC9-9C30-2AACC3A11440}" destId="{A24D6203-95D4-4DB8-A51B-CD9D1EE9C057}" srcOrd="0" destOrd="0" presId="urn:microsoft.com/office/officeart/2005/8/layout/vList2"/>
    <dgm:cxn modelId="{9488CECE-8C37-4B5F-8BC4-70A4B3132944}" type="presParOf" srcId="{6DAD8D8D-5E6C-4CC9-9C30-2AACC3A11440}" destId="{7E0F2D0B-44A4-40A7-BF82-1596D4463CA5}" srcOrd="1" destOrd="0" presId="urn:microsoft.com/office/officeart/2005/8/layout/vList2"/>
    <dgm:cxn modelId="{FBD5EFEB-4CB4-4953-90CD-1AAE492A4D1C}" type="presParOf" srcId="{6DAD8D8D-5E6C-4CC9-9C30-2AACC3A11440}" destId="{72E61C7D-F343-4DBE-ACF5-B61DF56E685B}" srcOrd="2" destOrd="0" presId="urn:microsoft.com/office/officeart/2005/8/layout/vList2"/>
    <dgm:cxn modelId="{6A337A6F-7BA3-48C7-83C8-36F3737FE9A0}" type="presParOf" srcId="{6DAD8D8D-5E6C-4CC9-9C30-2AACC3A11440}" destId="{EE39700B-5E28-4498-B6BD-AC09854060DF}" srcOrd="3" destOrd="0" presId="urn:microsoft.com/office/officeart/2005/8/layout/vList2"/>
    <dgm:cxn modelId="{B66A27A9-925D-4DAC-B6F0-A7C06A33F0EF}" type="presParOf" srcId="{6DAD8D8D-5E6C-4CC9-9C30-2AACC3A11440}" destId="{E667C5CF-6E81-49A3-9F09-33C453B33223}" srcOrd="4" destOrd="0" presId="urn:microsoft.com/office/officeart/2005/8/layout/vList2"/>
    <dgm:cxn modelId="{06013D87-C5C5-4199-B281-2E528D2BF560}" type="presParOf" srcId="{6DAD8D8D-5E6C-4CC9-9C30-2AACC3A11440}" destId="{F962118D-B5F7-4F50-A174-35B4AD4AEBF9}" srcOrd="5" destOrd="0" presId="urn:microsoft.com/office/officeart/2005/8/layout/vList2"/>
    <dgm:cxn modelId="{E96EC124-EA08-437C-B0AD-FCE832D056C3}" type="presParOf" srcId="{6DAD8D8D-5E6C-4CC9-9C30-2AACC3A11440}" destId="{DE2DD6A3-EACD-4E13-A82B-393A02A6D5AE}" srcOrd="6" destOrd="0" presId="urn:microsoft.com/office/officeart/2005/8/layout/vList2"/>
    <dgm:cxn modelId="{F3B02AD8-BC9D-4B64-93EF-49E3F3419F21}" type="presParOf" srcId="{6DAD8D8D-5E6C-4CC9-9C30-2AACC3A11440}" destId="{A5953D68-1DF4-4D10-91BE-2F0BD5F550B4}" srcOrd="7" destOrd="0" presId="urn:microsoft.com/office/officeart/2005/8/layout/vList2"/>
    <dgm:cxn modelId="{15333669-4A63-40CC-B60C-87132E681F2D}" type="presParOf" srcId="{6DAD8D8D-5E6C-4CC9-9C30-2AACC3A11440}" destId="{EFFF24E3-7CB9-435A-A26A-0A1FF4A4E460}" srcOrd="8" destOrd="0" presId="urn:microsoft.com/office/officeart/2005/8/layout/vList2"/>
    <dgm:cxn modelId="{42B8DD5A-F340-4669-9FC6-22DA0D3ECB5B}" type="presParOf" srcId="{6DAD8D8D-5E6C-4CC9-9C30-2AACC3A11440}" destId="{23223968-C0BE-42E9-85A4-38A204DEF03B}"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9AF49E4-85AE-4EF8-999A-563BC707588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8E437A1-E10E-46B7-92F6-73CB78BE3591}">
      <dgm:prSet/>
      <dgm:spPr/>
      <dgm:t>
        <a:bodyPr/>
        <a:lstStyle/>
        <a:p>
          <a:r>
            <a:rPr lang="en-US"/>
            <a:t>The demand for loanable funds is generally </a:t>
          </a:r>
          <a:r>
            <a:rPr lang="en-US" b="1"/>
            <a:t>negatively related to the real interest rate</a:t>
          </a:r>
          <a:r>
            <a:rPr lang="en-US"/>
            <a:t>.</a:t>
          </a:r>
        </a:p>
      </dgm:t>
    </dgm:pt>
    <dgm:pt modelId="{88AACBF4-735B-4B64-841B-CC47425FA6B9}" type="parTrans" cxnId="{FDA57967-9C0D-4F1E-A72B-5200B075A61E}">
      <dgm:prSet/>
      <dgm:spPr/>
      <dgm:t>
        <a:bodyPr/>
        <a:lstStyle/>
        <a:p>
          <a:endParaRPr lang="en-US"/>
        </a:p>
      </dgm:t>
    </dgm:pt>
    <dgm:pt modelId="{E6D5CC0E-29DE-4CB9-B351-96F14477FA6D}" type="sibTrans" cxnId="{FDA57967-9C0D-4F1E-A72B-5200B075A61E}">
      <dgm:prSet/>
      <dgm:spPr/>
      <dgm:t>
        <a:bodyPr/>
        <a:lstStyle/>
        <a:p>
          <a:endParaRPr lang="en-US"/>
        </a:p>
      </dgm:t>
    </dgm:pt>
    <dgm:pt modelId="{7350FD32-CF17-4159-A1B2-24A92EB0894D}">
      <dgm:prSet/>
      <dgm:spPr/>
      <dgm:t>
        <a:bodyPr/>
        <a:lstStyle/>
        <a:p>
          <a:r>
            <a:rPr lang="en-US" b="1"/>
            <a:t>When real interest rate falls,</a:t>
          </a:r>
          <a:endParaRPr lang="en-US"/>
        </a:p>
      </dgm:t>
    </dgm:pt>
    <dgm:pt modelId="{0A9CB260-08A9-459C-B137-B11F0CEF1289}" type="parTrans" cxnId="{91D1D74C-D8EA-4FEF-9D6D-5640753EB761}">
      <dgm:prSet/>
      <dgm:spPr/>
      <dgm:t>
        <a:bodyPr/>
        <a:lstStyle/>
        <a:p>
          <a:endParaRPr lang="en-US"/>
        </a:p>
      </dgm:t>
    </dgm:pt>
    <dgm:pt modelId="{65D5B9D1-BFA2-4E9E-8A46-E02D946BB71D}" type="sibTrans" cxnId="{91D1D74C-D8EA-4FEF-9D6D-5640753EB761}">
      <dgm:prSet/>
      <dgm:spPr/>
      <dgm:t>
        <a:bodyPr/>
        <a:lstStyle/>
        <a:p>
          <a:endParaRPr lang="en-US"/>
        </a:p>
      </dgm:t>
    </dgm:pt>
    <dgm:pt modelId="{F6FE6B70-9DDF-46A7-80B2-CB150A5ABC7A}">
      <dgm:prSet/>
      <dgm:spPr/>
      <dgm:t>
        <a:bodyPr/>
        <a:lstStyle/>
        <a:p>
          <a:r>
            <a:rPr lang="en-US"/>
            <a:t>Borrowing becomes cheaper.</a:t>
          </a:r>
        </a:p>
      </dgm:t>
    </dgm:pt>
    <dgm:pt modelId="{024CF93B-22FF-41BF-A473-8A07054E92D1}" type="parTrans" cxnId="{0AA5C3A0-DCB4-4690-BD14-F22054158729}">
      <dgm:prSet/>
      <dgm:spPr/>
      <dgm:t>
        <a:bodyPr/>
        <a:lstStyle/>
        <a:p>
          <a:endParaRPr lang="en-US"/>
        </a:p>
      </dgm:t>
    </dgm:pt>
    <dgm:pt modelId="{E4E92B00-EB84-4E62-AEFE-91F68D903623}" type="sibTrans" cxnId="{0AA5C3A0-DCB4-4690-BD14-F22054158729}">
      <dgm:prSet/>
      <dgm:spPr/>
      <dgm:t>
        <a:bodyPr/>
        <a:lstStyle/>
        <a:p>
          <a:endParaRPr lang="en-US"/>
        </a:p>
      </dgm:t>
    </dgm:pt>
    <dgm:pt modelId="{77454D2D-8006-4CD5-B494-41DC1C9F17E1}">
      <dgm:prSet/>
      <dgm:spPr/>
      <dgm:t>
        <a:bodyPr/>
        <a:lstStyle/>
        <a:p>
          <a:r>
            <a:rPr lang="en-US"/>
            <a:t>Therefore:</a:t>
          </a:r>
        </a:p>
      </dgm:t>
    </dgm:pt>
    <dgm:pt modelId="{352E3687-9F92-4AF2-B30E-E3CD2E433E22}" type="parTrans" cxnId="{A81E3B0F-0A80-4F57-AB50-727AB3850266}">
      <dgm:prSet/>
      <dgm:spPr/>
      <dgm:t>
        <a:bodyPr/>
        <a:lstStyle/>
        <a:p>
          <a:endParaRPr lang="en-US"/>
        </a:p>
      </dgm:t>
    </dgm:pt>
    <dgm:pt modelId="{F1A1D373-007A-4060-BFF6-0F3F8A3BFEA2}" type="sibTrans" cxnId="{A81E3B0F-0A80-4F57-AB50-727AB3850266}">
      <dgm:prSet/>
      <dgm:spPr/>
      <dgm:t>
        <a:bodyPr/>
        <a:lstStyle/>
        <a:p>
          <a:endParaRPr lang="en-US"/>
        </a:p>
      </dgm:t>
    </dgm:pt>
    <dgm:pt modelId="{A7558468-9393-4744-A564-A25181B01623}">
      <dgm:prSet/>
      <dgm:spPr/>
      <dgm:t>
        <a:bodyPr/>
        <a:lstStyle/>
        <a:p>
          <a:r>
            <a:rPr lang="en-US" b="1"/>
            <a:t>Borrowing ↑ → Investment ↑ → Quantity of loanable funds demanded ↑</a:t>
          </a:r>
          <a:endParaRPr lang="en-US"/>
        </a:p>
      </dgm:t>
    </dgm:pt>
    <dgm:pt modelId="{2285C5DE-CE98-45F7-B91C-6D60E8D67FAE}" type="parTrans" cxnId="{861D011E-F2EB-4157-8C05-205DD7715DD9}">
      <dgm:prSet/>
      <dgm:spPr/>
      <dgm:t>
        <a:bodyPr/>
        <a:lstStyle/>
        <a:p>
          <a:endParaRPr lang="en-US"/>
        </a:p>
      </dgm:t>
    </dgm:pt>
    <dgm:pt modelId="{951435C3-0D63-4C3A-8547-DFEDDC2D2766}" type="sibTrans" cxnId="{861D011E-F2EB-4157-8C05-205DD7715DD9}">
      <dgm:prSet/>
      <dgm:spPr/>
      <dgm:t>
        <a:bodyPr/>
        <a:lstStyle/>
        <a:p>
          <a:endParaRPr lang="en-US"/>
        </a:p>
      </dgm:t>
    </dgm:pt>
    <dgm:pt modelId="{44072F58-5DD5-4CC7-B61C-21C4F0A4A33B}">
      <dgm:prSet/>
      <dgm:spPr/>
      <dgm:t>
        <a:bodyPr/>
        <a:lstStyle/>
        <a:p>
          <a:r>
            <a:rPr lang="en-US" b="1"/>
            <a:t>When real interest rate rises,</a:t>
          </a:r>
          <a:endParaRPr lang="en-US"/>
        </a:p>
      </dgm:t>
    </dgm:pt>
    <dgm:pt modelId="{97CCD37A-B3E9-43C2-802A-931919F77EB5}" type="parTrans" cxnId="{5D8AB90D-F527-46B8-9602-36139C6E58CB}">
      <dgm:prSet/>
      <dgm:spPr/>
      <dgm:t>
        <a:bodyPr/>
        <a:lstStyle/>
        <a:p>
          <a:endParaRPr lang="en-US"/>
        </a:p>
      </dgm:t>
    </dgm:pt>
    <dgm:pt modelId="{A6FF831D-F973-4F86-9023-6DA2F2E22BE6}" type="sibTrans" cxnId="{5D8AB90D-F527-46B8-9602-36139C6E58CB}">
      <dgm:prSet/>
      <dgm:spPr/>
      <dgm:t>
        <a:bodyPr/>
        <a:lstStyle/>
        <a:p>
          <a:endParaRPr lang="en-US"/>
        </a:p>
      </dgm:t>
    </dgm:pt>
    <dgm:pt modelId="{C9371A8F-A22C-4B5C-BD3F-9B144B0239F3}">
      <dgm:prSet/>
      <dgm:spPr/>
      <dgm:t>
        <a:bodyPr/>
        <a:lstStyle/>
        <a:p>
          <a:r>
            <a:rPr lang="en-US"/>
            <a:t>Borrowing becomes more expensive.</a:t>
          </a:r>
        </a:p>
      </dgm:t>
    </dgm:pt>
    <dgm:pt modelId="{AC3D4DA5-B64E-4758-9DC5-CADA41B86E11}" type="parTrans" cxnId="{CD1DCD3C-04BB-43AF-A601-901954AE5A91}">
      <dgm:prSet/>
      <dgm:spPr/>
      <dgm:t>
        <a:bodyPr/>
        <a:lstStyle/>
        <a:p>
          <a:endParaRPr lang="en-US"/>
        </a:p>
      </dgm:t>
    </dgm:pt>
    <dgm:pt modelId="{D451FA0E-1BAC-46EF-BE04-5D5A41854893}" type="sibTrans" cxnId="{CD1DCD3C-04BB-43AF-A601-901954AE5A91}">
      <dgm:prSet/>
      <dgm:spPr/>
      <dgm:t>
        <a:bodyPr/>
        <a:lstStyle/>
        <a:p>
          <a:endParaRPr lang="en-US"/>
        </a:p>
      </dgm:t>
    </dgm:pt>
    <dgm:pt modelId="{050A5065-F8F3-44C0-BC17-F9863A4A9CED}">
      <dgm:prSet/>
      <dgm:spPr/>
      <dgm:t>
        <a:bodyPr/>
        <a:lstStyle/>
        <a:p>
          <a:r>
            <a:rPr lang="en-US"/>
            <a:t>Therefore:</a:t>
          </a:r>
        </a:p>
      </dgm:t>
    </dgm:pt>
    <dgm:pt modelId="{1E305F74-AA7E-4378-9312-8AC0F898B99F}" type="parTrans" cxnId="{3F05EACA-E30B-4DC7-906D-380CD4AA7152}">
      <dgm:prSet/>
      <dgm:spPr/>
      <dgm:t>
        <a:bodyPr/>
        <a:lstStyle/>
        <a:p>
          <a:endParaRPr lang="en-US"/>
        </a:p>
      </dgm:t>
    </dgm:pt>
    <dgm:pt modelId="{0E6C2C06-671C-49E1-91D1-930A6335A17B}" type="sibTrans" cxnId="{3F05EACA-E30B-4DC7-906D-380CD4AA7152}">
      <dgm:prSet/>
      <dgm:spPr/>
      <dgm:t>
        <a:bodyPr/>
        <a:lstStyle/>
        <a:p>
          <a:endParaRPr lang="en-US"/>
        </a:p>
      </dgm:t>
    </dgm:pt>
    <dgm:pt modelId="{910EEF2E-5B64-42B4-8174-59D448FBD167}">
      <dgm:prSet/>
      <dgm:spPr/>
      <dgm:t>
        <a:bodyPr/>
        <a:lstStyle/>
        <a:p>
          <a:r>
            <a:rPr lang="en-US" b="1"/>
            <a:t>Borrowing ↓ → Investment ↓ → Quantity of loanable funds demanded ↓</a:t>
          </a:r>
          <a:endParaRPr lang="en-US"/>
        </a:p>
      </dgm:t>
    </dgm:pt>
    <dgm:pt modelId="{99DB2CEA-09C3-4E9E-8E79-1799E2116D92}" type="parTrans" cxnId="{19B967FC-6126-4B96-A13D-FF6803474607}">
      <dgm:prSet/>
      <dgm:spPr/>
      <dgm:t>
        <a:bodyPr/>
        <a:lstStyle/>
        <a:p>
          <a:endParaRPr lang="en-US"/>
        </a:p>
      </dgm:t>
    </dgm:pt>
    <dgm:pt modelId="{0851D1F5-BE65-42EE-83FE-5EBE170BFB69}" type="sibTrans" cxnId="{19B967FC-6126-4B96-A13D-FF6803474607}">
      <dgm:prSet/>
      <dgm:spPr/>
      <dgm:t>
        <a:bodyPr/>
        <a:lstStyle/>
        <a:p>
          <a:endParaRPr lang="en-US"/>
        </a:p>
      </dgm:t>
    </dgm:pt>
    <dgm:pt modelId="{DD4E9867-B173-492C-B0C6-C64742A33770}" type="pres">
      <dgm:prSet presAssocID="{B9AF49E4-85AE-4EF8-999A-563BC7075880}" presName="linear" presStyleCnt="0">
        <dgm:presLayoutVars>
          <dgm:animLvl val="lvl"/>
          <dgm:resizeHandles val="exact"/>
        </dgm:presLayoutVars>
      </dgm:prSet>
      <dgm:spPr/>
    </dgm:pt>
    <dgm:pt modelId="{AFB78ADA-705B-4997-8B1C-02428365A0D9}" type="pres">
      <dgm:prSet presAssocID="{98E437A1-E10E-46B7-92F6-73CB78BE3591}" presName="parentText" presStyleLbl="node1" presStyleIdx="0" presStyleCnt="3">
        <dgm:presLayoutVars>
          <dgm:chMax val="0"/>
          <dgm:bulletEnabled val="1"/>
        </dgm:presLayoutVars>
      </dgm:prSet>
      <dgm:spPr/>
    </dgm:pt>
    <dgm:pt modelId="{AB11F980-1CD9-461A-8E75-02E931EF8E41}" type="pres">
      <dgm:prSet presAssocID="{E6D5CC0E-29DE-4CB9-B351-96F14477FA6D}" presName="spacer" presStyleCnt="0"/>
      <dgm:spPr/>
    </dgm:pt>
    <dgm:pt modelId="{D4613AF7-16B8-4B2F-BA56-7D6CFA06DB14}" type="pres">
      <dgm:prSet presAssocID="{7350FD32-CF17-4159-A1B2-24A92EB0894D}" presName="parentText" presStyleLbl="node1" presStyleIdx="1" presStyleCnt="3">
        <dgm:presLayoutVars>
          <dgm:chMax val="0"/>
          <dgm:bulletEnabled val="1"/>
        </dgm:presLayoutVars>
      </dgm:prSet>
      <dgm:spPr/>
    </dgm:pt>
    <dgm:pt modelId="{2AF20808-59EE-4A80-9F6B-7514B757226C}" type="pres">
      <dgm:prSet presAssocID="{7350FD32-CF17-4159-A1B2-24A92EB0894D}" presName="childText" presStyleLbl="revTx" presStyleIdx="0" presStyleCnt="2">
        <dgm:presLayoutVars>
          <dgm:bulletEnabled val="1"/>
        </dgm:presLayoutVars>
      </dgm:prSet>
      <dgm:spPr/>
    </dgm:pt>
    <dgm:pt modelId="{BCF22AAD-D0F5-4B57-9901-7B304C912224}" type="pres">
      <dgm:prSet presAssocID="{44072F58-5DD5-4CC7-B61C-21C4F0A4A33B}" presName="parentText" presStyleLbl="node1" presStyleIdx="2" presStyleCnt="3">
        <dgm:presLayoutVars>
          <dgm:chMax val="0"/>
          <dgm:bulletEnabled val="1"/>
        </dgm:presLayoutVars>
      </dgm:prSet>
      <dgm:spPr/>
    </dgm:pt>
    <dgm:pt modelId="{98446EBA-DAD8-4ED0-8DEE-BFD67052E57F}" type="pres">
      <dgm:prSet presAssocID="{44072F58-5DD5-4CC7-B61C-21C4F0A4A33B}" presName="childText" presStyleLbl="revTx" presStyleIdx="1" presStyleCnt="2">
        <dgm:presLayoutVars>
          <dgm:bulletEnabled val="1"/>
        </dgm:presLayoutVars>
      </dgm:prSet>
      <dgm:spPr/>
    </dgm:pt>
  </dgm:ptLst>
  <dgm:cxnLst>
    <dgm:cxn modelId="{5D8AB90D-F527-46B8-9602-36139C6E58CB}" srcId="{B9AF49E4-85AE-4EF8-999A-563BC7075880}" destId="{44072F58-5DD5-4CC7-B61C-21C4F0A4A33B}" srcOrd="2" destOrd="0" parTransId="{97CCD37A-B3E9-43C2-802A-931919F77EB5}" sibTransId="{A6FF831D-F973-4F86-9023-6DA2F2E22BE6}"/>
    <dgm:cxn modelId="{A81E3B0F-0A80-4F57-AB50-727AB3850266}" srcId="{7350FD32-CF17-4159-A1B2-24A92EB0894D}" destId="{77454D2D-8006-4CD5-B494-41DC1C9F17E1}" srcOrd="1" destOrd="0" parTransId="{352E3687-9F92-4AF2-B30E-E3CD2E433E22}" sibTransId="{F1A1D373-007A-4060-BFF6-0F3F8A3BFEA2}"/>
    <dgm:cxn modelId="{861D011E-F2EB-4157-8C05-205DD7715DD9}" srcId="{7350FD32-CF17-4159-A1B2-24A92EB0894D}" destId="{A7558468-9393-4744-A564-A25181B01623}" srcOrd="2" destOrd="0" parTransId="{2285C5DE-CE98-45F7-B91C-6D60E8D67FAE}" sibTransId="{951435C3-0D63-4C3A-8547-DFEDDC2D2766}"/>
    <dgm:cxn modelId="{CD1DCD3C-04BB-43AF-A601-901954AE5A91}" srcId="{44072F58-5DD5-4CC7-B61C-21C4F0A4A33B}" destId="{C9371A8F-A22C-4B5C-BD3F-9B144B0239F3}" srcOrd="0" destOrd="0" parTransId="{AC3D4DA5-B64E-4758-9DC5-CADA41B86E11}" sibTransId="{D451FA0E-1BAC-46EF-BE04-5D5A41854893}"/>
    <dgm:cxn modelId="{FBB4A13E-7A08-4C11-B55F-6821F824D783}" type="presOf" srcId="{910EEF2E-5B64-42B4-8174-59D448FBD167}" destId="{98446EBA-DAD8-4ED0-8DEE-BFD67052E57F}" srcOrd="0" destOrd="2" presId="urn:microsoft.com/office/officeart/2005/8/layout/vList2"/>
    <dgm:cxn modelId="{4A610366-894F-4BFC-AE89-A41BFFBC3EC1}" type="presOf" srcId="{7350FD32-CF17-4159-A1B2-24A92EB0894D}" destId="{D4613AF7-16B8-4B2F-BA56-7D6CFA06DB14}" srcOrd="0" destOrd="0" presId="urn:microsoft.com/office/officeart/2005/8/layout/vList2"/>
    <dgm:cxn modelId="{FDA57967-9C0D-4F1E-A72B-5200B075A61E}" srcId="{B9AF49E4-85AE-4EF8-999A-563BC7075880}" destId="{98E437A1-E10E-46B7-92F6-73CB78BE3591}" srcOrd="0" destOrd="0" parTransId="{88AACBF4-735B-4B64-841B-CC47425FA6B9}" sibTransId="{E6D5CC0E-29DE-4CB9-B351-96F14477FA6D}"/>
    <dgm:cxn modelId="{91D1D74C-D8EA-4FEF-9D6D-5640753EB761}" srcId="{B9AF49E4-85AE-4EF8-999A-563BC7075880}" destId="{7350FD32-CF17-4159-A1B2-24A92EB0894D}" srcOrd="1" destOrd="0" parTransId="{0A9CB260-08A9-459C-B137-B11F0CEF1289}" sibTransId="{65D5B9D1-BFA2-4E9E-8A46-E02D946BB71D}"/>
    <dgm:cxn modelId="{BE2EA577-2D61-4262-90EB-38AC9F3E556B}" type="presOf" srcId="{C9371A8F-A22C-4B5C-BD3F-9B144B0239F3}" destId="{98446EBA-DAD8-4ED0-8DEE-BFD67052E57F}" srcOrd="0" destOrd="0" presId="urn:microsoft.com/office/officeart/2005/8/layout/vList2"/>
    <dgm:cxn modelId="{6BD2D186-A81C-4692-8F39-9B55B736EDD9}" type="presOf" srcId="{F6FE6B70-9DDF-46A7-80B2-CB150A5ABC7A}" destId="{2AF20808-59EE-4A80-9F6B-7514B757226C}" srcOrd="0" destOrd="0" presId="urn:microsoft.com/office/officeart/2005/8/layout/vList2"/>
    <dgm:cxn modelId="{0AA5C3A0-DCB4-4690-BD14-F22054158729}" srcId="{7350FD32-CF17-4159-A1B2-24A92EB0894D}" destId="{F6FE6B70-9DDF-46A7-80B2-CB150A5ABC7A}" srcOrd="0" destOrd="0" parTransId="{024CF93B-22FF-41BF-A473-8A07054E92D1}" sibTransId="{E4E92B00-EB84-4E62-AEFE-91F68D903623}"/>
    <dgm:cxn modelId="{059074AA-7A45-4C61-BCEC-D8E55F8F7DD1}" type="presOf" srcId="{A7558468-9393-4744-A564-A25181B01623}" destId="{2AF20808-59EE-4A80-9F6B-7514B757226C}" srcOrd="0" destOrd="2" presId="urn:microsoft.com/office/officeart/2005/8/layout/vList2"/>
    <dgm:cxn modelId="{976D4DC1-6B2F-4C60-9E64-2DE6CC11154A}" type="presOf" srcId="{98E437A1-E10E-46B7-92F6-73CB78BE3591}" destId="{AFB78ADA-705B-4997-8B1C-02428365A0D9}" srcOrd="0" destOrd="0" presId="urn:microsoft.com/office/officeart/2005/8/layout/vList2"/>
    <dgm:cxn modelId="{A457CFC8-CB33-4573-8ABE-97EBC5436863}" type="presOf" srcId="{44072F58-5DD5-4CC7-B61C-21C4F0A4A33B}" destId="{BCF22AAD-D0F5-4B57-9901-7B304C912224}" srcOrd="0" destOrd="0" presId="urn:microsoft.com/office/officeart/2005/8/layout/vList2"/>
    <dgm:cxn modelId="{3F05EACA-E30B-4DC7-906D-380CD4AA7152}" srcId="{44072F58-5DD5-4CC7-B61C-21C4F0A4A33B}" destId="{050A5065-F8F3-44C0-BC17-F9863A4A9CED}" srcOrd="1" destOrd="0" parTransId="{1E305F74-AA7E-4378-9312-8AC0F898B99F}" sibTransId="{0E6C2C06-671C-49E1-91D1-930A6335A17B}"/>
    <dgm:cxn modelId="{E01CE7CF-3B16-4D76-939E-E11BCF21B17C}" type="presOf" srcId="{B9AF49E4-85AE-4EF8-999A-563BC7075880}" destId="{DD4E9867-B173-492C-B0C6-C64742A33770}" srcOrd="0" destOrd="0" presId="urn:microsoft.com/office/officeart/2005/8/layout/vList2"/>
    <dgm:cxn modelId="{61D2A3DA-83DB-462F-BD2E-28D6F4DE874B}" type="presOf" srcId="{050A5065-F8F3-44C0-BC17-F9863A4A9CED}" destId="{98446EBA-DAD8-4ED0-8DEE-BFD67052E57F}" srcOrd="0" destOrd="1" presId="urn:microsoft.com/office/officeart/2005/8/layout/vList2"/>
    <dgm:cxn modelId="{70F645F2-5635-4AE8-A919-69C7C34DBC81}" type="presOf" srcId="{77454D2D-8006-4CD5-B494-41DC1C9F17E1}" destId="{2AF20808-59EE-4A80-9F6B-7514B757226C}" srcOrd="0" destOrd="1" presId="urn:microsoft.com/office/officeart/2005/8/layout/vList2"/>
    <dgm:cxn modelId="{19B967FC-6126-4B96-A13D-FF6803474607}" srcId="{44072F58-5DD5-4CC7-B61C-21C4F0A4A33B}" destId="{910EEF2E-5B64-42B4-8174-59D448FBD167}" srcOrd="2" destOrd="0" parTransId="{99DB2CEA-09C3-4E9E-8E79-1799E2116D92}" sibTransId="{0851D1F5-BE65-42EE-83FE-5EBE170BFB69}"/>
    <dgm:cxn modelId="{816B608D-B222-42C3-91FE-8A7382750145}" type="presParOf" srcId="{DD4E9867-B173-492C-B0C6-C64742A33770}" destId="{AFB78ADA-705B-4997-8B1C-02428365A0D9}" srcOrd="0" destOrd="0" presId="urn:microsoft.com/office/officeart/2005/8/layout/vList2"/>
    <dgm:cxn modelId="{4F61123C-ADC8-43F3-952F-02ADD6335766}" type="presParOf" srcId="{DD4E9867-B173-492C-B0C6-C64742A33770}" destId="{AB11F980-1CD9-461A-8E75-02E931EF8E41}" srcOrd="1" destOrd="0" presId="urn:microsoft.com/office/officeart/2005/8/layout/vList2"/>
    <dgm:cxn modelId="{B2AA50EC-8322-40F5-A801-B4EBF50F048F}" type="presParOf" srcId="{DD4E9867-B173-492C-B0C6-C64742A33770}" destId="{D4613AF7-16B8-4B2F-BA56-7D6CFA06DB14}" srcOrd="2" destOrd="0" presId="urn:microsoft.com/office/officeart/2005/8/layout/vList2"/>
    <dgm:cxn modelId="{5E2DDD7A-01CE-4CCC-ADD0-5F65108DF9B4}" type="presParOf" srcId="{DD4E9867-B173-492C-B0C6-C64742A33770}" destId="{2AF20808-59EE-4A80-9F6B-7514B757226C}" srcOrd="3" destOrd="0" presId="urn:microsoft.com/office/officeart/2005/8/layout/vList2"/>
    <dgm:cxn modelId="{D8989A9C-C97E-4171-BA3F-19AFE2E954FB}" type="presParOf" srcId="{DD4E9867-B173-492C-B0C6-C64742A33770}" destId="{BCF22AAD-D0F5-4B57-9901-7B304C912224}" srcOrd="4" destOrd="0" presId="urn:microsoft.com/office/officeart/2005/8/layout/vList2"/>
    <dgm:cxn modelId="{24D36421-F2A8-41DF-80A5-8FE04B29ED88}" type="presParOf" srcId="{DD4E9867-B173-492C-B0C6-C64742A33770}" destId="{98446EBA-DAD8-4ED0-8DEE-BFD67052E57F}"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D523DCC-7AFA-4FBE-B9E1-72595E3B7AA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E8015DF0-12FC-47FD-A813-93E2A369E0FA}">
      <dgm:prSet/>
      <dgm:spPr/>
      <dgm:t>
        <a:bodyPr/>
        <a:lstStyle/>
        <a:p>
          <a:r>
            <a:rPr lang="en-US"/>
            <a:t>The </a:t>
          </a:r>
          <a:r>
            <a:rPr lang="en-US" b="1"/>
            <a:t>supply of loanable funds</a:t>
          </a:r>
          <a:r>
            <a:rPr lang="en-US"/>
            <a:t> comes primarily from </a:t>
          </a:r>
          <a:r>
            <a:rPr lang="en-US" b="1"/>
            <a:t>saving</a:t>
          </a:r>
          <a:r>
            <a:rPr lang="en-US"/>
            <a:t>.</a:t>
          </a:r>
        </a:p>
      </dgm:t>
    </dgm:pt>
    <dgm:pt modelId="{2C64F235-3CFD-4491-9836-297E5C1D8AF8}" type="parTrans" cxnId="{DB2A8055-8CB7-411F-8885-5C3FD248FB90}">
      <dgm:prSet/>
      <dgm:spPr/>
      <dgm:t>
        <a:bodyPr/>
        <a:lstStyle/>
        <a:p>
          <a:endParaRPr lang="en-US"/>
        </a:p>
      </dgm:t>
    </dgm:pt>
    <dgm:pt modelId="{85500FB7-FE20-4DE5-9CDC-FFEA3CF2EA36}" type="sibTrans" cxnId="{DB2A8055-8CB7-411F-8885-5C3FD248FB90}">
      <dgm:prSet/>
      <dgm:spPr/>
      <dgm:t>
        <a:bodyPr/>
        <a:lstStyle/>
        <a:p>
          <a:endParaRPr lang="en-US"/>
        </a:p>
      </dgm:t>
    </dgm:pt>
    <dgm:pt modelId="{D525AB50-DD54-49C4-A08E-B0657F5D7DB8}">
      <dgm:prSet/>
      <dgm:spPr/>
      <dgm:t>
        <a:bodyPr/>
        <a:lstStyle/>
        <a:p>
          <a:r>
            <a:rPr lang="en-US"/>
            <a:t>Sources include:</a:t>
          </a:r>
        </a:p>
      </dgm:t>
    </dgm:pt>
    <dgm:pt modelId="{DD0EC47D-003C-45A8-A720-3AF36B1C1866}" type="parTrans" cxnId="{B6D402D6-C223-4548-A721-CF93ACE10BEF}">
      <dgm:prSet/>
      <dgm:spPr/>
      <dgm:t>
        <a:bodyPr/>
        <a:lstStyle/>
        <a:p>
          <a:endParaRPr lang="en-US"/>
        </a:p>
      </dgm:t>
    </dgm:pt>
    <dgm:pt modelId="{EB1EB9FE-FD40-4EF6-B8EC-C3854FAD78C8}" type="sibTrans" cxnId="{B6D402D6-C223-4548-A721-CF93ACE10BEF}">
      <dgm:prSet/>
      <dgm:spPr/>
      <dgm:t>
        <a:bodyPr/>
        <a:lstStyle/>
        <a:p>
          <a:endParaRPr lang="en-US"/>
        </a:p>
      </dgm:t>
    </dgm:pt>
    <dgm:pt modelId="{61CE78BE-DFD7-4E80-ACEA-C48B06DD8C54}">
      <dgm:prSet/>
      <dgm:spPr/>
      <dgm:t>
        <a:bodyPr/>
        <a:lstStyle/>
        <a:p>
          <a:r>
            <a:rPr lang="en-US" b="1"/>
            <a:t>Households</a:t>
          </a:r>
          <a:endParaRPr lang="en-US"/>
        </a:p>
      </dgm:t>
    </dgm:pt>
    <dgm:pt modelId="{B9F7C5F7-2A58-42E0-8666-F76B659911E8}" type="parTrans" cxnId="{BC269F70-2046-4E2D-9944-8C69F28CF867}">
      <dgm:prSet/>
      <dgm:spPr/>
      <dgm:t>
        <a:bodyPr/>
        <a:lstStyle/>
        <a:p>
          <a:endParaRPr lang="en-US"/>
        </a:p>
      </dgm:t>
    </dgm:pt>
    <dgm:pt modelId="{D18D2958-7700-4AB8-BF65-B2252AC5D5F6}" type="sibTrans" cxnId="{BC269F70-2046-4E2D-9944-8C69F28CF867}">
      <dgm:prSet/>
      <dgm:spPr/>
      <dgm:t>
        <a:bodyPr/>
        <a:lstStyle/>
        <a:p>
          <a:endParaRPr lang="en-US"/>
        </a:p>
      </dgm:t>
    </dgm:pt>
    <dgm:pt modelId="{FE33ADDA-0CE0-4C87-9711-CA89AFF7BCC6}">
      <dgm:prSet/>
      <dgm:spPr/>
      <dgm:t>
        <a:bodyPr/>
        <a:lstStyle/>
        <a:p>
          <a:r>
            <a:rPr lang="en-US"/>
            <a:t>Households save part of their income.</a:t>
          </a:r>
        </a:p>
      </dgm:t>
    </dgm:pt>
    <dgm:pt modelId="{5799ACC4-3FDF-497F-B422-C35707D847E4}" type="parTrans" cxnId="{6872DF9F-2C1D-4F1B-A86D-9DD291055219}">
      <dgm:prSet/>
      <dgm:spPr/>
      <dgm:t>
        <a:bodyPr/>
        <a:lstStyle/>
        <a:p>
          <a:endParaRPr lang="en-US"/>
        </a:p>
      </dgm:t>
    </dgm:pt>
    <dgm:pt modelId="{60840231-BEFA-4051-B12F-3F91847DAC8E}" type="sibTrans" cxnId="{6872DF9F-2C1D-4F1B-A86D-9DD291055219}">
      <dgm:prSet/>
      <dgm:spPr/>
      <dgm:t>
        <a:bodyPr/>
        <a:lstStyle/>
        <a:p>
          <a:endParaRPr lang="en-US"/>
        </a:p>
      </dgm:t>
    </dgm:pt>
    <dgm:pt modelId="{DE7E4606-404E-406C-8632-B74C8D2B674B}">
      <dgm:prSet/>
      <dgm:spPr/>
      <dgm:t>
        <a:bodyPr/>
        <a:lstStyle/>
        <a:p>
          <a:r>
            <a:rPr lang="en-US" b="1"/>
            <a:t>Firms</a:t>
          </a:r>
          <a:endParaRPr lang="en-US"/>
        </a:p>
      </dgm:t>
    </dgm:pt>
    <dgm:pt modelId="{0A5CF6EE-480F-43B4-9C4C-FDC3DCC08D66}" type="parTrans" cxnId="{2FF9D7CF-4572-46A0-9D14-12262379C83E}">
      <dgm:prSet/>
      <dgm:spPr/>
      <dgm:t>
        <a:bodyPr/>
        <a:lstStyle/>
        <a:p>
          <a:endParaRPr lang="en-US"/>
        </a:p>
      </dgm:t>
    </dgm:pt>
    <dgm:pt modelId="{ADFD7551-51CA-46D8-813F-2EAF06DFAF36}" type="sibTrans" cxnId="{2FF9D7CF-4572-46A0-9D14-12262379C83E}">
      <dgm:prSet/>
      <dgm:spPr/>
      <dgm:t>
        <a:bodyPr/>
        <a:lstStyle/>
        <a:p>
          <a:endParaRPr lang="en-US"/>
        </a:p>
      </dgm:t>
    </dgm:pt>
    <dgm:pt modelId="{26042171-FFCC-473C-A16D-F1B8EBE90ED0}">
      <dgm:prSet/>
      <dgm:spPr/>
      <dgm:t>
        <a:bodyPr/>
        <a:lstStyle/>
        <a:p>
          <a:r>
            <a:rPr lang="en-US"/>
            <a:t>Businesses may retain earnings and accumulate financial resources.</a:t>
          </a:r>
        </a:p>
      </dgm:t>
    </dgm:pt>
    <dgm:pt modelId="{69632EDA-C267-415C-9337-D797DCE14CEE}" type="parTrans" cxnId="{8734C3B9-1D78-4B38-BD42-1D174468B94D}">
      <dgm:prSet/>
      <dgm:spPr/>
      <dgm:t>
        <a:bodyPr/>
        <a:lstStyle/>
        <a:p>
          <a:endParaRPr lang="en-US"/>
        </a:p>
      </dgm:t>
    </dgm:pt>
    <dgm:pt modelId="{80DE90B5-595A-41C8-8186-A84BEAD09BD9}" type="sibTrans" cxnId="{8734C3B9-1D78-4B38-BD42-1D174468B94D}">
      <dgm:prSet/>
      <dgm:spPr/>
      <dgm:t>
        <a:bodyPr/>
        <a:lstStyle/>
        <a:p>
          <a:endParaRPr lang="en-US"/>
        </a:p>
      </dgm:t>
    </dgm:pt>
    <dgm:pt modelId="{DA4D7DB2-F484-42E2-8B50-036EEE7CB73D}">
      <dgm:prSet/>
      <dgm:spPr/>
      <dgm:t>
        <a:bodyPr/>
        <a:lstStyle/>
        <a:p>
          <a:r>
            <a:rPr lang="en-US" b="1"/>
            <a:t>Governments</a:t>
          </a:r>
          <a:endParaRPr lang="en-US"/>
        </a:p>
      </dgm:t>
    </dgm:pt>
    <dgm:pt modelId="{525A18CF-98B9-4EFC-89B1-223551BD8497}" type="parTrans" cxnId="{06ACB78A-AE54-4841-A754-F00EB80AA9F2}">
      <dgm:prSet/>
      <dgm:spPr/>
      <dgm:t>
        <a:bodyPr/>
        <a:lstStyle/>
        <a:p>
          <a:endParaRPr lang="en-US"/>
        </a:p>
      </dgm:t>
    </dgm:pt>
    <dgm:pt modelId="{6491F8A2-A4C3-4B4E-9CBB-79CC41AA0AD1}" type="sibTrans" cxnId="{06ACB78A-AE54-4841-A754-F00EB80AA9F2}">
      <dgm:prSet/>
      <dgm:spPr/>
      <dgm:t>
        <a:bodyPr/>
        <a:lstStyle/>
        <a:p>
          <a:endParaRPr lang="en-US"/>
        </a:p>
      </dgm:t>
    </dgm:pt>
    <dgm:pt modelId="{4E8A061B-DB80-4920-9931-B3C07EBB7CFD}">
      <dgm:prSet/>
      <dgm:spPr/>
      <dgm:t>
        <a:bodyPr/>
        <a:lstStyle/>
        <a:p>
          <a:r>
            <a:rPr lang="en-US"/>
            <a:t>A government budget surplus can provide funds.</a:t>
          </a:r>
        </a:p>
      </dgm:t>
    </dgm:pt>
    <dgm:pt modelId="{2AB30CC6-E7CC-42D9-9E0B-D380E214DDC8}" type="parTrans" cxnId="{EAD58EA3-93C4-4684-A421-BC51293515C5}">
      <dgm:prSet/>
      <dgm:spPr/>
      <dgm:t>
        <a:bodyPr/>
        <a:lstStyle/>
        <a:p>
          <a:endParaRPr lang="en-US"/>
        </a:p>
      </dgm:t>
    </dgm:pt>
    <dgm:pt modelId="{498E6FDB-AF14-44B7-9EC6-726CF4538558}" type="sibTrans" cxnId="{EAD58EA3-93C4-4684-A421-BC51293515C5}">
      <dgm:prSet/>
      <dgm:spPr/>
      <dgm:t>
        <a:bodyPr/>
        <a:lstStyle/>
        <a:p>
          <a:endParaRPr lang="en-US"/>
        </a:p>
      </dgm:t>
    </dgm:pt>
    <dgm:pt modelId="{82A4EBA2-4DDC-4358-8F8A-3B8E6CD1DF19}">
      <dgm:prSet/>
      <dgm:spPr/>
      <dgm:t>
        <a:bodyPr/>
        <a:lstStyle/>
        <a:p>
          <a:r>
            <a:rPr lang="en-US" b="1"/>
            <a:t>Foreign sector</a:t>
          </a:r>
          <a:endParaRPr lang="en-US"/>
        </a:p>
      </dgm:t>
    </dgm:pt>
    <dgm:pt modelId="{17966675-5FFB-44B0-8E64-A3479213037F}" type="parTrans" cxnId="{69199E10-E69C-4A33-808D-309E48282502}">
      <dgm:prSet/>
      <dgm:spPr/>
      <dgm:t>
        <a:bodyPr/>
        <a:lstStyle/>
        <a:p>
          <a:endParaRPr lang="en-US"/>
        </a:p>
      </dgm:t>
    </dgm:pt>
    <dgm:pt modelId="{4AB84AFE-8C01-4074-AD89-F7D32B23F669}" type="sibTrans" cxnId="{69199E10-E69C-4A33-808D-309E48282502}">
      <dgm:prSet/>
      <dgm:spPr/>
      <dgm:t>
        <a:bodyPr/>
        <a:lstStyle/>
        <a:p>
          <a:endParaRPr lang="en-US"/>
        </a:p>
      </dgm:t>
    </dgm:pt>
    <dgm:pt modelId="{9ECD4D03-AB70-4337-BD10-1BDB0C67F67B}">
      <dgm:prSet/>
      <dgm:spPr/>
      <dgm:t>
        <a:bodyPr/>
        <a:lstStyle/>
        <a:p>
          <a:r>
            <a:rPr lang="en-US"/>
            <a:t>Foreign saving can provide funds to a domestic economy.</a:t>
          </a:r>
        </a:p>
      </dgm:t>
    </dgm:pt>
    <dgm:pt modelId="{90549054-80A9-4736-928C-1697D46B5C11}" type="parTrans" cxnId="{8E4CCDD7-99F5-41B7-AEDA-DB2DB4AE43D2}">
      <dgm:prSet/>
      <dgm:spPr/>
      <dgm:t>
        <a:bodyPr/>
        <a:lstStyle/>
        <a:p>
          <a:endParaRPr lang="en-US"/>
        </a:p>
      </dgm:t>
    </dgm:pt>
    <dgm:pt modelId="{ECB845C0-693B-4C0B-837F-32AEB0D361FD}" type="sibTrans" cxnId="{8E4CCDD7-99F5-41B7-AEDA-DB2DB4AE43D2}">
      <dgm:prSet/>
      <dgm:spPr/>
      <dgm:t>
        <a:bodyPr/>
        <a:lstStyle/>
        <a:p>
          <a:endParaRPr lang="en-US"/>
        </a:p>
      </dgm:t>
    </dgm:pt>
    <dgm:pt modelId="{61451B09-A9C0-43ED-8AB0-B6614E0B4B7B}" type="pres">
      <dgm:prSet presAssocID="{AD523DCC-7AFA-4FBE-B9E1-72595E3B7AAB}" presName="linear" presStyleCnt="0">
        <dgm:presLayoutVars>
          <dgm:animLvl val="lvl"/>
          <dgm:resizeHandles val="exact"/>
        </dgm:presLayoutVars>
      </dgm:prSet>
      <dgm:spPr/>
    </dgm:pt>
    <dgm:pt modelId="{402DD385-7FD4-49FC-B3C6-1C072F749450}" type="pres">
      <dgm:prSet presAssocID="{E8015DF0-12FC-47FD-A813-93E2A369E0FA}" presName="parentText" presStyleLbl="node1" presStyleIdx="0" presStyleCnt="2">
        <dgm:presLayoutVars>
          <dgm:chMax val="0"/>
          <dgm:bulletEnabled val="1"/>
        </dgm:presLayoutVars>
      </dgm:prSet>
      <dgm:spPr/>
    </dgm:pt>
    <dgm:pt modelId="{639FF406-3E30-48A1-9F3A-6A7F8628986E}" type="pres">
      <dgm:prSet presAssocID="{85500FB7-FE20-4DE5-9CDC-FFEA3CF2EA36}" presName="spacer" presStyleCnt="0"/>
      <dgm:spPr/>
    </dgm:pt>
    <dgm:pt modelId="{F6F10838-8095-4BA0-A8A4-8E2291EF1566}" type="pres">
      <dgm:prSet presAssocID="{D525AB50-DD54-49C4-A08E-B0657F5D7DB8}" presName="parentText" presStyleLbl="node1" presStyleIdx="1" presStyleCnt="2">
        <dgm:presLayoutVars>
          <dgm:chMax val="0"/>
          <dgm:bulletEnabled val="1"/>
        </dgm:presLayoutVars>
      </dgm:prSet>
      <dgm:spPr/>
    </dgm:pt>
    <dgm:pt modelId="{65EE8B61-7273-4B42-91F2-F286476731B6}" type="pres">
      <dgm:prSet presAssocID="{D525AB50-DD54-49C4-A08E-B0657F5D7DB8}" presName="childText" presStyleLbl="revTx" presStyleIdx="0" presStyleCnt="1">
        <dgm:presLayoutVars>
          <dgm:bulletEnabled val="1"/>
        </dgm:presLayoutVars>
      </dgm:prSet>
      <dgm:spPr/>
    </dgm:pt>
  </dgm:ptLst>
  <dgm:cxnLst>
    <dgm:cxn modelId="{DD86610C-6332-46C7-BDFB-D19953787E9D}" type="presOf" srcId="{4E8A061B-DB80-4920-9931-B3C07EBB7CFD}" destId="{65EE8B61-7273-4B42-91F2-F286476731B6}" srcOrd="0" destOrd="5" presId="urn:microsoft.com/office/officeart/2005/8/layout/vList2"/>
    <dgm:cxn modelId="{69199E10-E69C-4A33-808D-309E48282502}" srcId="{D525AB50-DD54-49C4-A08E-B0657F5D7DB8}" destId="{82A4EBA2-4DDC-4358-8F8A-3B8E6CD1DF19}" srcOrd="3" destOrd="0" parTransId="{17966675-5FFB-44B0-8E64-A3479213037F}" sibTransId="{4AB84AFE-8C01-4074-AD89-F7D32B23F669}"/>
    <dgm:cxn modelId="{9CC8FA15-19B8-4911-9D7D-003C90611059}" type="presOf" srcId="{D525AB50-DD54-49C4-A08E-B0657F5D7DB8}" destId="{F6F10838-8095-4BA0-A8A4-8E2291EF1566}" srcOrd="0" destOrd="0" presId="urn:microsoft.com/office/officeart/2005/8/layout/vList2"/>
    <dgm:cxn modelId="{A8D4312F-4D33-4220-AA13-84D4BBE2FB1B}" type="presOf" srcId="{FE33ADDA-0CE0-4C87-9711-CA89AFF7BCC6}" destId="{65EE8B61-7273-4B42-91F2-F286476731B6}" srcOrd="0" destOrd="1" presId="urn:microsoft.com/office/officeart/2005/8/layout/vList2"/>
    <dgm:cxn modelId="{6633EF33-C927-4BB3-8FBA-3BEFA6F3C890}" type="presOf" srcId="{E8015DF0-12FC-47FD-A813-93E2A369E0FA}" destId="{402DD385-7FD4-49FC-B3C6-1C072F749450}" srcOrd="0" destOrd="0" presId="urn:microsoft.com/office/officeart/2005/8/layout/vList2"/>
    <dgm:cxn modelId="{75283B47-5A34-44FB-BEA3-9EE0B82BFEF2}" type="presOf" srcId="{DA4D7DB2-F484-42E2-8B50-036EEE7CB73D}" destId="{65EE8B61-7273-4B42-91F2-F286476731B6}" srcOrd="0" destOrd="4" presId="urn:microsoft.com/office/officeart/2005/8/layout/vList2"/>
    <dgm:cxn modelId="{D13E224D-0F5D-43C5-B999-6E1008BD92D9}" type="presOf" srcId="{9ECD4D03-AB70-4337-BD10-1BDB0C67F67B}" destId="{65EE8B61-7273-4B42-91F2-F286476731B6}" srcOrd="0" destOrd="7" presId="urn:microsoft.com/office/officeart/2005/8/layout/vList2"/>
    <dgm:cxn modelId="{BC269F70-2046-4E2D-9944-8C69F28CF867}" srcId="{D525AB50-DD54-49C4-A08E-B0657F5D7DB8}" destId="{61CE78BE-DFD7-4E80-ACEA-C48B06DD8C54}" srcOrd="0" destOrd="0" parTransId="{B9F7C5F7-2A58-42E0-8666-F76B659911E8}" sibTransId="{D18D2958-7700-4AB8-BF65-B2252AC5D5F6}"/>
    <dgm:cxn modelId="{DB2A8055-8CB7-411F-8885-5C3FD248FB90}" srcId="{AD523DCC-7AFA-4FBE-B9E1-72595E3B7AAB}" destId="{E8015DF0-12FC-47FD-A813-93E2A369E0FA}" srcOrd="0" destOrd="0" parTransId="{2C64F235-3CFD-4491-9836-297E5C1D8AF8}" sibTransId="{85500FB7-FE20-4DE5-9CDC-FFEA3CF2EA36}"/>
    <dgm:cxn modelId="{F3334A59-B807-43F0-A1A6-23C308484C7F}" type="presOf" srcId="{82A4EBA2-4DDC-4358-8F8A-3B8E6CD1DF19}" destId="{65EE8B61-7273-4B42-91F2-F286476731B6}" srcOrd="0" destOrd="6" presId="urn:microsoft.com/office/officeart/2005/8/layout/vList2"/>
    <dgm:cxn modelId="{080B4B79-E2BF-476D-B9D5-3B4075750DB6}" type="presOf" srcId="{26042171-FFCC-473C-A16D-F1B8EBE90ED0}" destId="{65EE8B61-7273-4B42-91F2-F286476731B6}" srcOrd="0" destOrd="3" presId="urn:microsoft.com/office/officeart/2005/8/layout/vList2"/>
    <dgm:cxn modelId="{06ACB78A-AE54-4841-A754-F00EB80AA9F2}" srcId="{D525AB50-DD54-49C4-A08E-B0657F5D7DB8}" destId="{DA4D7DB2-F484-42E2-8B50-036EEE7CB73D}" srcOrd="2" destOrd="0" parTransId="{525A18CF-98B9-4EFC-89B1-223551BD8497}" sibTransId="{6491F8A2-A4C3-4B4E-9CBB-79CC41AA0AD1}"/>
    <dgm:cxn modelId="{B5AD0A9D-EAA2-4EE9-AC1A-CA49AC2450EA}" type="presOf" srcId="{AD523DCC-7AFA-4FBE-B9E1-72595E3B7AAB}" destId="{61451B09-A9C0-43ED-8AB0-B6614E0B4B7B}" srcOrd="0" destOrd="0" presId="urn:microsoft.com/office/officeart/2005/8/layout/vList2"/>
    <dgm:cxn modelId="{6872DF9F-2C1D-4F1B-A86D-9DD291055219}" srcId="{61CE78BE-DFD7-4E80-ACEA-C48B06DD8C54}" destId="{FE33ADDA-0CE0-4C87-9711-CA89AFF7BCC6}" srcOrd="0" destOrd="0" parTransId="{5799ACC4-3FDF-497F-B422-C35707D847E4}" sibTransId="{60840231-BEFA-4051-B12F-3F91847DAC8E}"/>
    <dgm:cxn modelId="{EAD58EA3-93C4-4684-A421-BC51293515C5}" srcId="{DA4D7DB2-F484-42E2-8B50-036EEE7CB73D}" destId="{4E8A061B-DB80-4920-9931-B3C07EBB7CFD}" srcOrd="0" destOrd="0" parTransId="{2AB30CC6-E7CC-42D9-9E0B-D380E214DDC8}" sibTransId="{498E6FDB-AF14-44B7-9EC6-726CF4538558}"/>
    <dgm:cxn modelId="{150C21AB-28A4-4AD3-8561-9DE4AC51BEFA}" type="presOf" srcId="{DE7E4606-404E-406C-8632-B74C8D2B674B}" destId="{65EE8B61-7273-4B42-91F2-F286476731B6}" srcOrd="0" destOrd="2" presId="urn:microsoft.com/office/officeart/2005/8/layout/vList2"/>
    <dgm:cxn modelId="{8734C3B9-1D78-4B38-BD42-1D174468B94D}" srcId="{DE7E4606-404E-406C-8632-B74C8D2B674B}" destId="{26042171-FFCC-473C-A16D-F1B8EBE90ED0}" srcOrd="0" destOrd="0" parTransId="{69632EDA-C267-415C-9337-D797DCE14CEE}" sibTransId="{80DE90B5-595A-41C8-8186-A84BEAD09BD9}"/>
    <dgm:cxn modelId="{E0DD60C9-52F7-4C99-B99C-EAB24BED0410}" type="presOf" srcId="{61CE78BE-DFD7-4E80-ACEA-C48B06DD8C54}" destId="{65EE8B61-7273-4B42-91F2-F286476731B6}" srcOrd="0" destOrd="0" presId="urn:microsoft.com/office/officeart/2005/8/layout/vList2"/>
    <dgm:cxn modelId="{2FF9D7CF-4572-46A0-9D14-12262379C83E}" srcId="{D525AB50-DD54-49C4-A08E-B0657F5D7DB8}" destId="{DE7E4606-404E-406C-8632-B74C8D2B674B}" srcOrd="1" destOrd="0" parTransId="{0A5CF6EE-480F-43B4-9C4C-FDC3DCC08D66}" sibTransId="{ADFD7551-51CA-46D8-813F-2EAF06DFAF36}"/>
    <dgm:cxn modelId="{B6D402D6-C223-4548-A721-CF93ACE10BEF}" srcId="{AD523DCC-7AFA-4FBE-B9E1-72595E3B7AAB}" destId="{D525AB50-DD54-49C4-A08E-B0657F5D7DB8}" srcOrd="1" destOrd="0" parTransId="{DD0EC47D-003C-45A8-A720-3AF36B1C1866}" sibTransId="{EB1EB9FE-FD40-4EF6-B8EC-C3854FAD78C8}"/>
    <dgm:cxn modelId="{8E4CCDD7-99F5-41B7-AEDA-DB2DB4AE43D2}" srcId="{82A4EBA2-4DDC-4358-8F8A-3B8E6CD1DF19}" destId="{9ECD4D03-AB70-4337-BD10-1BDB0C67F67B}" srcOrd="0" destOrd="0" parTransId="{90549054-80A9-4736-928C-1697D46B5C11}" sibTransId="{ECB845C0-693B-4C0B-837F-32AEB0D361FD}"/>
    <dgm:cxn modelId="{20F1D2CD-922B-4FFD-8584-18FC040EC8ED}" type="presParOf" srcId="{61451B09-A9C0-43ED-8AB0-B6614E0B4B7B}" destId="{402DD385-7FD4-49FC-B3C6-1C072F749450}" srcOrd="0" destOrd="0" presId="urn:microsoft.com/office/officeart/2005/8/layout/vList2"/>
    <dgm:cxn modelId="{F6888AC3-EC90-4739-B86F-CEF7A09286D2}" type="presParOf" srcId="{61451B09-A9C0-43ED-8AB0-B6614E0B4B7B}" destId="{639FF406-3E30-48A1-9F3A-6A7F8628986E}" srcOrd="1" destOrd="0" presId="urn:microsoft.com/office/officeart/2005/8/layout/vList2"/>
    <dgm:cxn modelId="{44D72E04-7E2F-4FE0-90D0-A8411B203845}" type="presParOf" srcId="{61451B09-A9C0-43ED-8AB0-B6614E0B4B7B}" destId="{F6F10838-8095-4BA0-A8A4-8E2291EF1566}" srcOrd="2" destOrd="0" presId="urn:microsoft.com/office/officeart/2005/8/layout/vList2"/>
    <dgm:cxn modelId="{5E5FF712-9C49-4FBD-8EA1-81AE339CBC72}" type="presParOf" srcId="{61451B09-A9C0-43ED-8AB0-B6614E0B4B7B}" destId="{65EE8B61-7273-4B42-91F2-F286476731B6}"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A18DF10-E34C-4AF2-AE81-BE3C2FBBFD8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19EDD3E-1B2E-41FE-8A7F-41FBEB7B6F77}">
      <dgm:prSet/>
      <dgm:spPr/>
      <dgm:t>
        <a:bodyPr/>
        <a:lstStyle/>
        <a:p>
          <a:r>
            <a:rPr lang="en-US"/>
            <a:t>The supply of loanable funds is generally </a:t>
          </a:r>
          <a:r>
            <a:rPr lang="en-US" b="1"/>
            <a:t>positively related to the real interest rate</a:t>
          </a:r>
          <a:r>
            <a:rPr lang="en-US"/>
            <a:t>.</a:t>
          </a:r>
        </a:p>
      </dgm:t>
    </dgm:pt>
    <dgm:pt modelId="{BF63EE9D-A9A9-4C60-B964-74AE73573EC8}" type="parTrans" cxnId="{5D5E93D8-6E71-43C6-9624-EB62BF4FFF43}">
      <dgm:prSet/>
      <dgm:spPr/>
      <dgm:t>
        <a:bodyPr/>
        <a:lstStyle/>
        <a:p>
          <a:endParaRPr lang="en-US"/>
        </a:p>
      </dgm:t>
    </dgm:pt>
    <dgm:pt modelId="{6800BD09-EBD4-4A3C-8E5C-A34383B36F44}" type="sibTrans" cxnId="{5D5E93D8-6E71-43C6-9624-EB62BF4FFF43}">
      <dgm:prSet/>
      <dgm:spPr/>
      <dgm:t>
        <a:bodyPr/>
        <a:lstStyle/>
        <a:p>
          <a:endParaRPr lang="en-US"/>
        </a:p>
      </dgm:t>
    </dgm:pt>
    <dgm:pt modelId="{A62C9965-06CA-46BA-A491-1BDA4FE9439F}">
      <dgm:prSet/>
      <dgm:spPr/>
      <dgm:t>
        <a:bodyPr/>
        <a:lstStyle/>
        <a:p>
          <a:r>
            <a:rPr lang="en-US"/>
            <a:t>When the real interest rate increases:</a:t>
          </a:r>
        </a:p>
      </dgm:t>
    </dgm:pt>
    <dgm:pt modelId="{E50D7B4A-0D1C-4585-9467-6C423D3236B9}" type="parTrans" cxnId="{F04A82C9-2720-4B91-9ADE-A41284D1B357}">
      <dgm:prSet/>
      <dgm:spPr/>
      <dgm:t>
        <a:bodyPr/>
        <a:lstStyle/>
        <a:p>
          <a:endParaRPr lang="en-US"/>
        </a:p>
      </dgm:t>
    </dgm:pt>
    <dgm:pt modelId="{E6564A4E-90A4-4DE9-A1F7-4BB228693D90}" type="sibTrans" cxnId="{F04A82C9-2720-4B91-9ADE-A41284D1B357}">
      <dgm:prSet/>
      <dgm:spPr/>
      <dgm:t>
        <a:bodyPr/>
        <a:lstStyle/>
        <a:p>
          <a:endParaRPr lang="en-US"/>
        </a:p>
      </dgm:t>
    </dgm:pt>
    <dgm:pt modelId="{AAEEBBA3-BF73-4F72-A476-51C063E66F55}">
      <dgm:prSet/>
      <dgm:spPr/>
      <dgm:t>
        <a:bodyPr/>
        <a:lstStyle/>
        <a:p>
          <a:r>
            <a:rPr lang="en-US"/>
            <a:t>saving becomes more attractive, </a:t>
          </a:r>
        </a:p>
      </dgm:t>
    </dgm:pt>
    <dgm:pt modelId="{02BE16BB-5CBE-4E93-925B-D7A8729017EC}" type="parTrans" cxnId="{E1C6B05E-B668-4307-8700-2F90226C8AF9}">
      <dgm:prSet/>
      <dgm:spPr/>
      <dgm:t>
        <a:bodyPr/>
        <a:lstStyle/>
        <a:p>
          <a:endParaRPr lang="en-US"/>
        </a:p>
      </dgm:t>
    </dgm:pt>
    <dgm:pt modelId="{0DA1F670-D0F2-4C20-B0E4-66D905978868}" type="sibTrans" cxnId="{E1C6B05E-B668-4307-8700-2F90226C8AF9}">
      <dgm:prSet/>
      <dgm:spPr/>
      <dgm:t>
        <a:bodyPr/>
        <a:lstStyle/>
        <a:p>
          <a:endParaRPr lang="en-US"/>
        </a:p>
      </dgm:t>
    </dgm:pt>
    <dgm:pt modelId="{9398B3BC-73E0-45AC-A3F2-6FAA24BD4997}">
      <dgm:prSet/>
      <dgm:spPr/>
      <dgm:t>
        <a:bodyPr/>
        <a:lstStyle/>
        <a:p>
          <a:r>
            <a:rPr lang="en-US"/>
            <a:t>the reward for postponing consumption increases, </a:t>
          </a:r>
        </a:p>
      </dgm:t>
    </dgm:pt>
    <dgm:pt modelId="{97C23D2D-C7AD-450C-AEE8-36B421BABB11}" type="parTrans" cxnId="{EBD44621-3832-4342-82AC-BC90608E47EF}">
      <dgm:prSet/>
      <dgm:spPr/>
      <dgm:t>
        <a:bodyPr/>
        <a:lstStyle/>
        <a:p>
          <a:endParaRPr lang="en-US"/>
        </a:p>
      </dgm:t>
    </dgm:pt>
    <dgm:pt modelId="{1C4AFE85-3144-4FBD-81E6-48E37B6CC2FA}" type="sibTrans" cxnId="{EBD44621-3832-4342-82AC-BC90608E47EF}">
      <dgm:prSet/>
      <dgm:spPr/>
      <dgm:t>
        <a:bodyPr/>
        <a:lstStyle/>
        <a:p>
          <a:endParaRPr lang="en-US"/>
        </a:p>
      </dgm:t>
    </dgm:pt>
    <dgm:pt modelId="{31DF4D2A-F216-4690-A47C-80EA60713ACB}">
      <dgm:prSet/>
      <dgm:spPr/>
      <dgm:t>
        <a:bodyPr/>
        <a:lstStyle/>
        <a:p>
          <a:r>
            <a:rPr lang="en-US"/>
            <a:t>households may save more. </a:t>
          </a:r>
        </a:p>
      </dgm:t>
    </dgm:pt>
    <dgm:pt modelId="{003D9DA4-8E8A-4B45-A2C4-139EDABDEDDF}" type="parTrans" cxnId="{E94F8D3E-06C9-4F60-876E-FA65416F1B75}">
      <dgm:prSet/>
      <dgm:spPr/>
      <dgm:t>
        <a:bodyPr/>
        <a:lstStyle/>
        <a:p>
          <a:endParaRPr lang="en-US"/>
        </a:p>
      </dgm:t>
    </dgm:pt>
    <dgm:pt modelId="{CB52D619-639C-4E18-A5B7-A9DF6B3D876F}" type="sibTrans" cxnId="{E94F8D3E-06C9-4F60-876E-FA65416F1B75}">
      <dgm:prSet/>
      <dgm:spPr/>
      <dgm:t>
        <a:bodyPr/>
        <a:lstStyle/>
        <a:p>
          <a:endParaRPr lang="en-US"/>
        </a:p>
      </dgm:t>
    </dgm:pt>
    <dgm:pt modelId="{CD60C870-8B00-453A-BE11-4F1F41277911}">
      <dgm:prSet/>
      <dgm:spPr/>
      <dgm:t>
        <a:bodyPr/>
        <a:lstStyle/>
        <a:p>
          <a:r>
            <a:rPr lang="en-US"/>
            <a:t>Therefore:</a:t>
          </a:r>
        </a:p>
      </dgm:t>
    </dgm:pt>
    <dgm:pt modelId="{92F06CBF-1AC9-4997-B504-36952A35CA39}" type="parTrans" cxnId="{1AE9BD82-D189-43B6-96A9-AEEDCB3AA3AD}">
      <dgm:prSet/>
      <dgm:spPr/>
      <dgm:t>
        <a:bodyPr/>
        <a:lstStyle/>
        <a:p>
          <a:endParaRPr lang="en-US"/>
        </a:p>
      </dgm:t>
    </dgm:pt>
    <dgm:pt modelId="{13F74C3E-E482-402C-BBB1-8785ECD5EDCA}" type="sibTrans" cxnId="{1AE9BD82-D189-43B6-96A9-AEEDCB3AA3AD}">
      <dgm:prSet/>
      <dgm:spPr/>
      <dgm:t>
        <a:bodyPr/>
        <a:lstStyle/>
        <a:p>
          <a:endParaRPr lang="en-US"/>
        </a:p>
      </dgm:t>
    </dgm:pt>
    <dgm:pt modelId="{3F2C4BCF-2F15-4E64-82A3-70BD7F3C0FB6}">
      <dgm:prSet/>
      <dgm:spPr/>
      <dgm:t>
        <a:bodyPr/>
        <a:lstStyle/>
        <a:p>
          <a:r>
            <a:rPr lang="en-US"/>
            <a:t>r↑⇒QS​↑ </a:t>
          </a:r>
        </a:p>
      </dgm:t>
    </dgm:pt>
    <dgm:pt modelId="{901A2B9B-F214-4115-8F23-6ED4254AEE05}" type="parTrans" cxnId="{EFD37397-5DC4-4F75-8727-589270720FBE}">
      <dgm:prSet/>
      <dgm:spPr/>
      <dgm:t>
        <a:bodyPr/>
        <a:lstStyle/>
        <a:p>
          <a:endParaRPr lang="en-US"/>
        </a:p>
      </dgm:t>
    </dgm:pt>
    <dgm:pt modelId="{46DB1F77-7558-46C5-A4B0-73C7C2C6884F}" type="sibTrans" cxnId="{EFD37397-5DC4-4F75-8727-589270720FBE}">
      <dgm:prSet/>
      <dgm:spPr/>
      <dgm:t>
        <a:bodyPr/>
        <a:lstStyle/>
        <a:p>
          <a:endParaRPr lang="en-US"/>
        </a:p>
      </dgm:t>
    </dgm:pt>
    <dgm:pt modelId="{456D65AC-42FF-43B4-8B0A-32E47D4081CC}">
      <dgm:prSet/>
      <dgm:spPr/>
      <dgm:t>
        <a:bodyPr/>
        <a:lstStyle/>
        <a:p>
          <a:r>
            <a:rPr lang="en-US"/>
            <a:t>When the real interest rate falls:</a:t>
          </a:r>
        </a:p>
      </dgm:t>
    </dgm:pt>
    <dgm:pt modelId="{1C83985F-B042-4458-8C69-83B3314F10C5}" type="parTrans" cxnId="{4F5F7842-48ED-4BE7-BAC3-07B05F5DEA62}">
      <dgm:prSet/>
      <dgm:spPr/>
      <dgm:t>
        <a:bodyPr/>
        <a:lstStyle/>
        <a:p>
          <a:endParaRPr lang="en-US"/>
        </a:p>
      </dgm:t>
    </dgm:pt>
    <dgm:pt modelId="{DDE86181-4E10-4382-BB16-FB28A6DFD86E}" type="sibTrans" cxnId="{4F5F7842-48ED-4BE7-BAC3-07B05F5DEA62}">
      <dgm:prSet/>
      <dgm:spPr/>
      <dgm:t>
        <a:bodyPr/>
        <a:lstStyle/>
        <a:p>
          <a:endParaRPr lang="en-US"/>
        </a:p>
      </dgm:t>
    </dgm:pt>
    <dgm:pt modelId="{3D574B0E-5EA4-459D-A4EA-9CA4DA7246A4}">
      <dgm:prSet/>
      <dgm:spPr/>
      <dgm:t>
        <a:bodyPr/>
        <a:lstStyle/>
        <a:p>
          <a:r>
            <a:rPr lang="en-US"/>
            <a:t>r↓⇒QS​↓</a:t>
          </a:r>
        </a:p>
      </dgm:t>
    </dgm:pt>
    <dgm:pt modelId="{E9E305F7-C1A2-47D9-8358-46F89DFA598B}" type="parTrans" cxnId="{E99B16F9-EF7C-45B8-9F9E-823A168C6EA1}">
      <dgm:prSet/>
      <dgm:spPr/>
      <dgm:t>
        <a:bodyPr/>
        <a:lstStyle/>
        <a:p>
          <a:endParaRPr lang="en-US"/>
        </a:p>
      </dgm:t>
    </dgm:pt>
    <dgm:pt modelId="{9D6BAE5A-31FD-4B73-98A7-ABE70FB32FE8}" type="sibTrans" cxnId="{E99B16F9-EF7C-45B8-9F9E-823A168C6EA1}">
      <dgm:prSet/>
      <dgm:spPr/>
      <dgm:t>
        <a:bodyPr/>
        <a:lstStyle/>
        <a:p>
          <a:endParaRPr lang="en-US"/>
        </a:p>
      </dgm:t>
    </dgm:pt>
    <dgm:pt modelId="{252DD9DD-363A-4AF9-B31D-EABE6216890D}" type="pres">
      <dgm:prSet presAssocID="{8A18DF10-E34C-4AF2-AE81-BE3C2FBBFD88}" presName="linear" presStyleCnt="0">
        <dgm:presLayoutVars>
          <dgm:animLvl val="lvl"/>
          <dgm:resizeHandles val="exact"/>
        </dgm:presLayoutVars>
      </dgm:prSet>
      <dgm:spPr/>
    </dgm:pt>
    <dgm:pt modelId="{989F7DD3-C15C-4766-8AFC-56DB20DB4AC9}" type="pres">
      <dgm:prSet presAssocID="{019EDD3E-1B2E-41FE-8A7F-41FBEB7B6F77}" presName="parentText" presStyleLbl="node1" presStyleIdx="0" presStyleCnt="3">
        <dgm:presLayoutVars>
          <dgm:chMax val="0"/>
          <dgm:bulletEnabled val="1"/>
        </dgm:presLayoutVars>
      </dgm:prSet>
      <dgm:spPr/>
    </dgm:pt>
    <dgm:pt modelId="{6069F17A-2C72-476E-86EF-4C8A2F65A25F}" type="pres">
      <dgm:prSet presAssocID="{6800BD09-EBD4-4A3C-8E5C-A34383B36F44}" presName="spacer" presStyleCnt="0"/>
      <dgm:spPr/>
    </dgm:pt>
    <dgm:pt modelId="{4E605BA3-F5BA-4725-8DB5-E931BD058D7D}" type="pres">
      <dgm:prSet presAssocID="{A62C9965-06CA-46BA-A491-1BDA4FE9439F}" presName="parentText" presStyleLbl="node1" presStyleIdx="1" presStyleCnt="3">
        <dgm:presLayoutVars>
          <dgm:chMax val="0"/>
          <dgm:bulletEnabled val="1"/>
        </dgm:presLayoutVars>
      </dgm:prSet>
      <dgm:spPr/>
    </dgm:pt>
    <dgm:pt modelId="{8DA6BCE9-8B2F-45F7-8696-15317856B192}" type="pres">
      <dgm:prSet presAssocID="{A62C9965-06CA-46BA-A491-1BDA4FE9439F}" presName="childText" presStyleLbl="revTx" presStyleIdx="0" presStyleCnt="2">
        <dgm:presLayoutVars>
          <dgm:bulletEnabled val="1"/>
        </dgm:presLayoutVars>
      </dgm:prSet>
      <dgm:spPr/>
    </dgm:pt>
    <dgm:pt modelId="{B438F636-AAC9-4695-97E4-B8CC16DB40FE}" type="pres">
      <dgm:prSet presAssocID="{456D65AC-42FF-43B4-8B0A-32E47D4081CC}" presName="parentText" presStyleLbl="node1" presStyleIdx="2" presStyleCnt="3">
        <dgm:presLayoutVars>
          <dgm:chMax val="0"/>
          <dgm:bulletEnabled val="1"/>
        </dgm:presLayoutVars>
      </dgm:prSet>
      <dgm:spPr/>
    </dgm:pt>
    <dgm:pt modelId="{ACEE3DEC-2E0E-4D0F-BB68-04C7FEE3E92E}" type="pres">
      <dgm:prSet presAssocID="{456D65AC-42FF-43B4-8B0A-32E47D4081CC}" presName="childText" presStyleLbl="revTx" presStyleIdx="1" presStyleCnt="2">
        <dgm:presLayoutVars>
          <dgm:bulletEnabled val="1"/>
        </dgm:presLayoutVars>
      </dgm:prSet>
      <dgm:spPr/>
    </dgm:pt>
  </dgm:ptLst>
  <dgm:cxnLst>
    <dgm:cxn modelId="{B4A48A08-85CD-47D7-A070-ECA7AF136057}" type="presOf" srcId="{9398B3BC-73E0-45AC-A3F2-6FAA24BD4997}" destId="{8DA6BCE9-8B2F-45F7-8696-15317856B192}" srcOrd="0" destOrd="1" presId="urn:microsoft.com/office/officeart/2005/8/layout/vList2"/>
    <dgm:cxn modelId="{884B1914-E382-4858-951B-F48F273B352A}" type="presOf" srcId="{456D65AC-42FF-43B4-8B0A-32E47D4081CC}" destId="{B438F636-AAC9-4695-97E4-B8CC16DB40FE}" srcOrd="0" destOrd="0" presId="urn:microsoft.com/office/officeart/2005/8/layout/vList2"/>
    <dgm:cxn modelId="{2FEF611B-A5AA-4153-A23D-B399BBA37F3B}" type="presOf" srcId="{A62C9965-06CA-46BA-A491-1BDA4FE9439F}" destId="{4E605BA3-F5BA-4725-8DB5-E931BD058D7D}" srcOrd="0" destOrd="0" presId="urn:microsoft.com/office/officeart/2005/8/layout/vList2"/>
    <dgm:cxn modelId="{EBD44621-3832-4342-82AC-BC90608E47EF}" srcId="{A62C9965-06CA-46BA-A491-1BDA4FE9439F}" destId="{9398B3BC-73E0-45AC-A3F2-6FAA24BD4997}" srcOrd="1" destOrd="0" parTransId="{97C23D2D-C7AD-450C-AEE8-36B421BABB11}" sibTransId="{1C4AFE85-3144-4FBD-81E6-48E37B6CC2FA}"/>
    <dgm:cxn modelId="{4116763A-2E92-4207-BC5B-C7F25AEA653C}" type="presOf" srcId="{3D574B0E-5EA4-459D-A4EA-9CA4DA7246A4}" destId="{ACEE3DEC-2E0E-4D0F-BB68-04C7FEE3E92E}" srcOrd="0" destOrd="0" presId="urn:microsoft.com/office/officeart/2005/8/layout/vList2"/>
    <dgm:cxn modelId="{E94F8D3E-06C9-4F60-876E-FA65416F1B75}" srcId="{A62C9965-06CA-46BA-A491-1BDA4FE9439F}" destId="{31DF4D2A-F216-4690-A47C-80EA60713ACB}" srcOrd="2" destOrd="0" parTransId="{003D9DA4-8E8A-4B45-A2C4-139EDABDEDDF}" sibTransId="{CB52D619-639C-4E18-A5B7-A9DF6B3D876F}"/>
    <dgm:cxn modelId="{E1C6B05E-B668-4307-8700-2F90226C8AF9}" srcId="{A62C9965-06CA-46BA-A491-1BDA4FE9439F}" destId="{AAEEBBA3-BF73-4F72-A476-51C063E66F55}" srcOrd="0" destOrd="0" parTransId="{02BE16BB-5CBE-4E93-925B-D7A8729017EC}" sibTransId="{0DA1F670-D0F2-4C20-B0E4-66D905978868}"/>
    <dgm:cxn modelId="{4F5F7842-48ED-4BE7-BAC3-07B05F5DEA62}" srcId="{8A18DF10-E34C-4AF2-AE81-BE3C2FBBFD88}" destId="{456D65AC-42FF-43B4-8B0A-32E47D4081CC}" srcOrd="2" destOrd="0" parTransId="{1C83985F-B042-4458-8C69-83B3314F10C5}" sibTransId="{DDE86181-4E10-4382-BB16-FB28A6DFD86E}"/>
    <dgm:cxn modelId="{D61AE162-39B4-4221-9687-C0E6E8F81986}" type="presOf" srcId="{019EDD3E-1B2E-41FE-8A7F-41FBEB7B6F77}" destId="{989F7DD3-C15C-4766-8AFC-56DB20DB4AC9}" srcOrd="0" destOrd="0" presId="urn:microsoft.com/office/officeart/2005/8/layout/vList2"/>
    <dgm:cxn modelId="{D809964E-A722-42A1-998C-37A21840C8FF}" type="presOf" srcId="{31DF4D2A-F216-4690-A47C-80EA60713ACB}" destId="{8DA6BCE9-8B2F-45F7-8696-15317856B192}" srcOrd="0" destOrd="2" presId="urn:microsoft.com/office/officeart/2005/8/layout/vList2"/>
    <dgm:cxn modelId="{1AE9BD82-D189-43B6-96A9-AEEDCB3AA3AD}" srcId="{A62C9965-06CA-46BA-A491-1BDA4FE9439F}" destId="{CD60C870-8B00-453A-BE11-4F1F41277911}" srcOrd="3" destOrd="0" parTransId="{92F06CBF-1AC9-4997-B504-36952A35CA39}" sibTransId="{13F74C3E-E482-402C-BBB1-8785ECD5EDCA}"/>
    <dgm:cxn modelId="{EFD37397-5DC4-4F75-8727-589270720FBE}" srcId="{A62C9965-06CA-46BA-A491-1BDA4FE9439F}" destId="{3F2C4BCF-2F15-4E64-82A3-70BD7F3C0FB6}" srcOrd="4" destOrd="0" parTransId="{901A2B9B-F214-4115-8F23-6ED4254AEE05}" sibTransId="{46DB1F77-7558-46C5-A4B0-73C7C2C6884F}"/>
    <dgm:cxn modelId="{F6BFB6A4-6216-4DBF-8B62-47BD8FC39E8A}" type="presOf" srcId="{3F2C4BCF-2F15-4E64-82A3-70BD7F3C0FB6}" destId="{8DA6BCE9-8B2F-45F7-8696-15317856B192}" srcOrd="0" destOrd="4" presId="urn:microsoft.com/office/officeart/2005/8/layout/vList2"/>
    <dgm:cxn modelId="{427947B7-5DCA-41EC-989D-9B9791C93C43}" type="presOf" srcId="{CD60C870-8B00-453A-BE11-4F1F41277911}" destId="{8DA6BCE9-8B2F-45F7-8696-15317856B192}" srcOrd="0" destOrd="3" presId="urn:microsoft.com/office/officeart/2005/8/layout/vList2"/>
    <dgm:cxn modelId="{7EBAC0C5-3583-4DA4-B033-143EC8463EBA}" type="presOf" srcId="{AAEEBBA3-BF73-4F72-A476-51C063E66F55}" destId="{8DA6BCE9-8B2F-45F7-8696-15317856B192}" srcOrd="0" destOrd="0" presId="urn:microsoft.com/office/officeart/2005/8/layout/vList2"/>
    <dgm:cxn modelId="{F04A82C9-2720-4B91-9ADE-A41284D1B357}" srcId="{8A18DF10-E34C-4AF2-AE81-BE3C2FBBFD88}" destId="{A62C9965-06CA-46BA-A491-1BDA4FE9439F}" srcOrd="1" destOrd="0" parTransId="{E50D7B4A-0D1C-4585-9467-6C423D3236B9}" sibTransId="{E6564A4E-90A4-4DE9-A1F7-4BB228693D90}"/>
    <dgm:cxn modelId="{52B486C9-2D63-48D5-AC62-EB49A2701660}" type="presOf" srcId="{8A18DF10-E34C-4AF2-AE81-BE3C2FBBFD88}" destId="{252DD9DD-363A-4AF9-B31D-EABE6216890D}" srcOrd="0" destOrd="0" presId="urn:microsoft.com/office/officeart/2005/8/layout/vList2"/>
    <dgm:cxn modelId="{5D5E93D8-6E71-43C6-9624-EB62BF4FFF43}" srcId="{8A18DF10-E34C-4AF2-AE81-BE3C2FBBFD88}" destId="{019EDD3E-1B2E-41FE-8A7F-41FBEB7B6F77}" srcOrd="0" destOrd="0" parTransId="{BF63EE9D-A9A9-4C60-B964-74AE73573EC8}" sibTransId="{6800BD09-EBD4-4A3C-8E5C-A34383B36F44}"/>
    <dgm:cxn modelId="{E99B16F9-EF7C-45B8-9F9E-823A168C6EA1}" srcId="{456D65AC-42FF-43B4-8B0A-32E47D4081CC}" destId="{3D574B0E-5EA4-459D-A4EA-9CA4DA7246A4}" srcOrd="0" destOrd="0" parTransId="{E9E305F7-C1A2-47D9-8358-46F89DFA598B}" sibTransId="{9D6BAE5A-31FD-4B73-98A7-ABE70FB32FE8}"/>
    <dgm:cxn modelId="{E46DA24F-B8DD-4D40-9617-872B2DEACD25}" type="presParOf" srcId="{252DD9DD-363A-4AF9-B31D-EABE6216890D}" destId="{989F7DD3-C15C-4766-8AFC-56DB20DB4AC9}" srcOrd="0" destOrd="0" presId="urn:microsoft.com/office/officeart/2005/8/layout/vList2"/>
    <dgm:cxn modelId="{9AD16C24-D0D5-4F6A-B517-97E55A12EA3A}" type="presParOf" srcId="{252DD9DD-363A-4AF9-B31D-EABE6216890D}" destId="{6069F17A-2C72-476E-86EF-4C8A2F65A25F}" srcOrd="1" destOrd="0" presId="urn:microsoft.com/office/officeart/2005/8/layout/vList2"/>
    <dgm:cxn modelId="{FF77BB00-332F-4420-A2D3-298C05872B1D}" type="presParOf" srcId="{252DD9DD-363A-4AF9-B31D-EABE6216890D}" destId="{4E605BA3-F5BA-4725-8DB5-E931BD058D7D}" srcOrd="2" destOrd="0" presId="urn:microsoft.com/office/officeart/2005/8/layout/vList2"/>
    <dgm:cxn modelId="{EB29525C-391D-457D-8226-9A1F4C1C435A}" type="presParOf" srcId="{252DD9DD-363A-4AF9-B31D-EABE6216890D}" destId="{8DA6BCE9-8B2F-45F7-8696-15317856B192}" srcOrd="3" destOrd="0" presId="urn:microsoft.com/office/officeart/2005/8/layout/vList2"/>
    <dgm:cxn modelId="{C1820BAB-640D-4F96-A0A5-F9B1951C2E2E}" type="presParOf" srcId="{252DD9DD-363A-4AF9-B31D-EABE6216890D}" destId="{B438F636-AAC9-4695-97E4-B8CC16DB40FE}" srcOrd="4" destOrd="0" presId="urn:microsoft.com/office/officeart/2005/8/layout/vList2"/>
    <dgm:cxn modelId="{43D71CE9-9AEB-4AC2-BB7B-886782C1B8F2}" type="presParOf" srcId="{252DD9DD-363A-4AF9-B31D-EABE6216890D}" destId="{ACEE3DEC-2E0E-4D0F-BB68-04C7FEE3E92E}"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916091C-5B67-4A95-9FF5-8EA272A896AC}"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8BE476CF-BA18-4796-9885-888F6F66937C}">
      <dgm:prSet/>
      <dgm:spPr/>
      <dgm:t>
        <a:bodyPr/>
        <a:lstStyle/>
        <a:p>
          <a:r>
            <a:rPr lang="en-US"/>
            <a:t>Disposable Income </a:t>
          </a:r>
        </a:p>
      </dgm:t>
    </dgm:pt>
    <dgm:pt modelId="{5921B9D7-6A03-49AF-AAD3-8C26598A8161}" type="parTrans" cxnId="{7C81EC7E-1E9D-4385-B8AE-7926C09FCB94}">
      <dgm:prSet/>
      <dgm:spPr/>
      <dgm:t>
        <a:bodyPr/>
        <a:lstStyle/>
        <a:p>
          <a:endParaRPr lang="en-US"/>
        </a:p>
      </dgm:t>
    </dgm:pt>
    <dgm:pt modelId="{0F560581-CECE-4196-9D90-AEFB9EA39CDF}" type="sibTrans" cxnId="{7C81EC7E-1E9D-4385-B8AE-7926C09FCB94}">
      <dgm:prSet/>
      <dgm:spPr/>
      <dgm:t>
        <a:bodyPr/>
        <a:lstStyle/>
        <a:p>
          <a:endParaRPr lang="en-US"/>
        </a:p>
      </dgm:t>
    </dgm:pt>
    <dgm:pt modelId="{3382AC23-68E7-4E15-8031-D19C62BFFBF2}">
      <dgm:prSet/>
      <dgm:spPr/>
      <dgm:t>
        <a:bodyPr/>
        <a:lstStyle/>
        <a:p>
          <a:r>
            <a:rPr lang="en-US"/>
            <a:t>Income – Net Taxes</a:t>
          </a:r>
        </a:p>
      </dgm:t>
    </dgm:pt>
    <dgm:pt modelId="{EEE5DA44-2A84-485D-89D4-DEC64A0EF049}" type="parTrans" cxnId="{20D1956D-23E4-41B1-8A28-9A59C47A8AC5}">
      <dgm:prSet/>
      <dgm:spPr/>
      <dgm:t>
        <a:bodyPr/>
        <a:lstStyle/>
        <a:p>
          <a:endParaRPr lang="en-US"/>
        </a:p>
      </dgm:t>
    </dgm:pt>
    <dgm:pt modelId="{8AEB4B82-2F1C-4BB2-B3E6-00C442C409CB}" type="sibTrans" cxnId="{20D1956D-23E4-41B1-8A28-9A59C47A8AC5}">
      <dgm:prSet/>
      <dgm:spPr/>
      <dgm:t>
        <a:bodyPr/>
        <a:lstStyle/>
        <a:p>
          <a:endParaRPr lang="en-US"/>
        </a:p>
      </dgm:t>
    </dgm:pt>
    <dgm:pt modelId="{65858E39-F016-4948-A54A-285598AF4985}">
      <dgm:prSet/>
      <dgm:spPr/>
      <dgm:t>
        <a:bodyPr/>
        <a:lstStyle/>
        <a:p>
          <a:r>
            <a:rPr lang="en-US"/>
            <a:t>Expected Future Income </a:t>
          </a:r>
        </a:p>
      </dgm:t>
    </dgm:pt>
    <dgm:pt modelId="{6F281EC9-0902-4254-ACA0-C017F601B2BA}" type="parTrans" cxnId="{D8397DF6-0B74-4BF5-B211-137E0B3E5E50}">
      <dgm:prSet/>
      <dgm:spPr/>
      <dgm:t>
        <a:bodyPr/>
        <a:lstStyle/>
        <a:p>
          <a:endParaRPr lang="en-US"/>
        </a:p>
      </dgm:t>
    </dgm:pt>
    <dgm:pt modelId="{6F46421A-41A3-47D7-96AB-41C8B76D0D5A}" type="sibTrans" cxnId="{D8397DF6-0B74-4BF5-B211-137E0B3E5E50}">
      <dgm:prSet/>
      <dgm:spPr/>
      <dgm:t>
        <a:bodyPr/>
        <a:lstStyle/>
        <a:p>
          <a:endParaRPr lang="en-US"/>
        </a:p>
      </dgm:t>
    </dgm:pt>
    <dgm:pt modelId="{50DC1D14-CF3F-44DE-9D10-8279BDA980C7}">
      <dgm:prSet/>
      <dgm:spPr/>
      <dgm:t>
        <a:bodyPr/>
        <a:lstStyle/>
        <a:p>
          <a:r>
            <a:rPr lang="en-US"/>
            <a:t>Wealth</a:t>
          </a:r>
        </a:p>
      </dgm:t>
    </dgm:pt>
    <dgm:pt modelId="{40DFE93B-EE7B-4610-BC16-8319FDFCB37A}" type="parTrans" cxnId="{D8A138CB-32CB-43D7-BFD4-3C3052C2ABF0}">
      <dgm:prSet/>
      <dgm:spPr/>
      <dgm:t>
        <a:bodyPr/>
        <a:lstStyle/>
        <a:p>
          <a:endParaRPr lang="en-US"/>
        </a:p>
      </dgm:t>
    </dgm:pt>
    <dgm:pt modelId="{07AA56DC-C778-40C0-BDCA-84D906334F57}" type="sibTrans" cxnId="{D8A138CB-32CB-43D7-BFD4-3C3052C2ABF0}">
      <dgm:prSet/>
      <dgm:spPr/>
      <dgm:t>
        <a:bodyPr/>
        <a:lstStyle/>
        <a:p>
          <a:endParaRPr lang="en-US"/>
        </a:p>
      </dgm:t>
    </dgm:pt>
    <dgm:pt modelId="{980B7C1B-DE4F-4EAC-A601-F9D4FAE22E40}">
      <dgm:prSet/>
      <dgm:spPr/>
      <dgm:t>
        <a:bodyPr/>
        <a:lstStyle/>
        <a:p>
          <a:r>
            <a:rPr lang="en-US"/>
            <a:t>Default Risk</a:t>
          </a:r>
        </a:p>
      </dgm:t>
    </dgm:pt>
    <dgm:pt modelId="{5BCFB598-53E0-4161-8EDF-A0C6B5719BF2}" type="parTrans" cxnId="{A2792851-771D-4EBB-8C61-BB2FC30BF6DC}">
      <dgm:prSet/>
      <dgm:spPr/>
      <dgm:t>
        <a:bodyPr/>
        <a:lstStyle/>
        <a:p>
          <a:endParaRPr lang="en-US"/>
        </a:p>
      </dgm:t>
    </dgm:pt>
    <dgm:pt modelId="{2D687CEA-4504-4977-B588-74560932AB83}" type="sibTrans" cxnId="{A2792851-771D-4EBB-8C61-BB2FC30BF6DC}">
      <dgm:prSet/>
      <dgm:spPr/>
      <dgm:t>
        <a:bodyPr/>
        <a:lstStyle/>
        <a:p>
          <a:endParaRPr lang="en-US"/>
        </a:p>
      </dgm:t>
    </dgm:pt>
    <dgm:pt modelId="{1E429CFA-AE31-46EE-B3B3-3EE8D76EC5D4}" type="pres">
      <dgm:prSet presAssocID="{B916091C-5B67-4A95-9FF5-8EA272A896AC}" presName="outerComposite" presStyleCnt="0">
        <dgm:presLayoutVars>
          <dgm:chMax val="5"/>
          <dgm:dir/>
          <dgm:resizeHandles val="exact"/>
        </dgm:presLayoutVars>
      </dgm:prSet>
      <dgm:spPr/>
    </dgm:pt>
    <dgm:pt modelId="{F47CC4E5-BDF4-407A-8EF7-8793638BB35B}" type="pres">
      <dgm:prSet presAssocID="{B916091C-5B67-4A95-9FF5-8EA272A896AC}" presName="dummyMaxCanvas" presStyleCnt="0">
        <dgm:presLayoutVars/>
      </dgm:prSet>
      <dgm:spPr/>
    </dgm:pt>
    <dgm:pt modelId="{8E51DA77-8EC5-4470-BDA0-A84CD0DA3FED}" type="pres">
      <dgm:prSet presAssocID="{B916091C-5B67-4A95-9FF5-8EA272A896AC}" presName="FourNodes_1" presStyleLbl="node1" presStyleIdx="0" presStyleCnt="4">
        <dgm:presLayoutVars>
          <dgm:bulletEnabled val="1"/>
        </dgm:presLayoutVars>
      </dgm:prSet>
      <dgm:spPr/>
    </dgm:pt>
    <dgm:pt modelId="{3CF7DDA8-722E-440A-B85C-D7509EF3CB88}" type="pres">
      <dgm:prSet presAssocID="{B916091C-5B67-4A95-9FF5-8EA272A896AC}" presName="FourNodes_2" presStyleLbl="node1" presStyleIdx="1" presStyleCnt="4">
        <dgm:presLayoutVars>
          <dgm:bulletEnabled val="1"/>
        </dgm:presLayoutVars>
      </dgm:prSet>
      <dgm:spPr/>
    </dgm:pt>
    <dgm:pt modelId="{F19D651D-5743-4199-88DA-AE4A277F63F4}" type="pres">
      <dgm:prSet presAssocID="{B916091C-5B67-4A95-9FF5-8EA272A896AC}" presName="FourNodes_3" presStyleLbl="node1" presStyleIdx="2" presStyleCnt="4">
        <dgm:presLayoutVars>
          <dgm:bulletEnabled val="1"/>
        </dgm:presLayoutVars>
      </dgm:prSet>
      <dgm:spPr/>
    </dgm:pt>
    <dgm:pt modelId="{69598F13-0A29-43E8-866C-A62D6F3E8CE7}" type="pres">
      <dgm:prSet presAssocID="{B916091C-5B67-4A95-9FF5-8EA272A896AC}" presName="FourNodes_4" presStyleLbl="node1" presStyleIdx="3" presStyleCnt="4">
        <dgm:presLayoutVars>
          <dgm:bulletEnabled val="1"/>
        </dgm:presLayoutVars>
      </dgm:prSet>
      <dgm:spPr/>
    </dgm:pt>
    <dgm:pt modelId="{B5D764F5-4B69-4CE2-9D52-5FC06AF4BC67}" type="pres">
      <dgm:prSet presAssocID="{B916091C-5B67-4A95-9FF5-8EA272A896AC}" presName="FourConn_1-2" presStyleLbl="fgAccFollowNode1" presStyleIdx="0" presStyleCnt="3">
        <dgm:presLayoutVars>
          <dgm:bulletEnabled val="1"/>
        </dgm:presLayoutVars>
      </dgm:prSet>
      <dgm:spPr/>
    </dgm:pt>
    <dgm:pt modelId="{72F61951-9D02-4566-B29E-6421E7BE1B7C}" type="pres">
      <dgm:prSet presAssocID="{B916091C-5B67-4A95-9FF5-8EA272A896AC}" presName="FourConn_2-3" presStyleLbl="fgAccFollowNode1" presStyleIdx="1" presStyleCnt="3">
        <dgm:presLayoutVars>
          <dgm:bulletEnabled val="1"/>
        </dgm:presLayoutVars>
      </dgm:prSet>
      <dgm:spPr/>
    </dgm:pt>
    <dgm:pt modelId="{E6D5EE8A-5F95-4161-8165-CF03D4092121}" type="pres">
      <dgm:prSet presAssocID="{B916091C-5B67-4A95-9FF5-8EA272A896AC}" presName="FourConn_3-4" presStyleLbl="fgAccFollowNode1" presStyleIdx="2" presStyleCnt="3">
        <dgm:presLayoutVars>
          <dgm:bulletEnabled val="1"/>
        </dgm:presLayoutVars>
      </dgm:prSet>
      <dgm:spPr/>
    </dgm:pt>
    <dgm:pt modelId="{4717CDEF-5896-4451-8BD7-07A1F124A940}" type="pres">
      <dgm:prSet presAssocID="{B916091C-5B67-4A95-9FF5-8EA272A896AC}" presName="FourNodes_1_text" presStyleLbl="node1" presStyleIdx="3" presStyleCnt="4">
        <dgm:presLayoutVars>
          <dgm:bulletEnabled val="1"/>
        </dgm:presLayoutVars>
      </dgm:prSet>
      <dgm:spPr/>
    </dgm:pt>
    <dgm:pt modelId="{0F58FC5A-F757-4DEB-BA56-6D66615B231E}" type="pres">
      <dgm:prSet presAssocID="{B916091C-5B67-4A95-9FF5-8EA272A896AC}" presName="FourNodes_2_text" presStyleLbl="node1" presStyleIdx="3" presStyleCnt="4">
        <dgm:presLayoutVars>
          <dgm:bulletEnabled val="1"/>
        </dgm:presLayoutVars>
      </dgm:prSet>
      <dgm:spPr/>
    </dgm:pt>
    <dgm:pt modelId="{0E59E5EA-BD74-4A39-AABA-59E464572293}" type="pres">
      <dgm:prSet presAssocID="{B916091C-5B67-4A95-9FF5-8EA272A896AC}" presName="FourNodes_3_text" presStyleLbl="node1" presStyleIdx="3" presStyleCnt="4">
        <dgm:presLayoutVars>
          <dgm:bulletEnabled val="1"/>
        </dgm:presLayoutVars>
      </dgm:prSet>
      <dgm:spPr/>
    </dgm:pt>
    <dgm:pt modelId="{4F0F6010-0CBC-4E8F-A067-07AD7CBA78EC}" type="pres">
      <dgm:prSet presAssocID="{B916091C-5B67-4A95-9FF5-8EA272A896AC}" presName="FourNodes_4_text" presStyleLbl="node1" presStyleIdx="3" presStyleCnt="4">
        <dgm:presLayoutVars>
          <dgm:bulletEnabled val="1"/>
        </dgm:presLayoutVars>
      </dgm:prSet>
      <dgm:spPr/>
    </dgm:pt>
  </dgm:ptLst>
  <dgm:cxnLst>
    <dgm:cxn modelId="{A5D7630A-713E-4712-9D69-672DBF051EA2}" type="presOf" srcId="{980B7C1B-DE4F-4EAC-A601-F9D4FAE22E40}" destId="{69598F13-0A29-43E8-866C-A62D6F3E8CE7}" srcOrd="0" destOrd="0" presId="urn:microsoft.com/office/officeart/2005/8/layout/vProcess5"/>
    <dgm:cxn modelId="{BAC2FD11-F0F1-4B0F-B515-36D0C25775D3}" type="presOf" srcId="{8BE476CF-BA18-4796-9885-888F6F66937C}" destId="{8E51DA77-8EC5-4470-BDA0-A84CD0DA3FED}" srcOrd="0" destOrd="0" presId="urn:microsoft.com/office/officeart/2005/8/layout/vProcess5"/>
    <dgm:cxn modelId="{D6C6F213-F872-48C3-AC35-72E7E4CF35ED}" type="presOf" srcId="{3382AC23-68E7-4E15-8031-D19C62BFFBF2}" destId="{8E51DA77-8EC5-4470-BDA0-A84CD0DA3FED}" srcOrd="0" destOrd="1" presId="urn:microsoft.com/office/officeart/2005/8/layout/vProcess5"/>
    <dgm:cxn modelId="{5BE10314-0A0A-4057-84EA-836B84502022}" type="presOf" srcId="{6F46421A-41A3-47D7-96AB-41C8B76D0D5A}" destId="{72F61951-9D02-4566-B29E-6421E7BE1B7C}" srcOrd="0" destOrd="0" presId="urn:microsoft.com/office/officeart/2005/8/layout/vProcess5"/>
    <dgm:cxn modelId="{F3686217-2B59-4121-BC26-D7CBABD72E04}" type="presOf" srcId="{65858E39-F016-4948-A54A-285598AF4985}" destId="{0F58FC5A-F757-4DEB-BA56-6D66615B231E}" srcOrd="1" destOrd="0" presId="urn:microsoft.com/office/officeart/2005/8/layout/vProcess5"/>
    <dgm:cxn modelId="{621F103A-2DD2-4F54-9680-3343BC75EEFD}" type="presOf" srcId="{07AA56DC-C778-40C0-BDCA-84D906334F57}" destId="{E6D5EE8A-5F95-4161-8165-CF03D4092121}" srcOrd="0" destOrd="0" presId="urn:microsoft.com/office/officeart/2005/8/layout/vProcess5"/>
    <dgm:cxn modelId="{59626162-E969-4050-A63C-775C3A76F371}" type="presOf" srcId="{3382AC23-68E7-4E15-8031-D19C62BFFBF2}" destId="{4717CDEF-5896-4451-8BD7-07A1F124A940}" srcOrd="1" destOrd="1" presId="urn:microsoft.com/office/officeart/2005/8/layout/vProcess5"/>
    <dgm:cxn modelId="{DE69B745-70C4-4FC1-858B-1DED6ECEA7F6}" type="presOf" srcId="{50DC1D14-CF3F-44DE-9D10-8279BDA980C7}" destId="{0E59E5EA-BD74-4A39-AABA-59E464572293}" srcOrd="1" destOrd="0" presId="urn:microsoft.com/office/officeart/2005/8/layout/vProcess5"/>
    <dgm:cxn modelId="{20D1956D-23E4-41B1-8A28-9A59C47A8AC5}" srcId="{8BE476CF-BA18-4796-9885-888F6F66937C}" destId="{3382AC23-68E7-4E15-8031-D19C62BFFBF2}" srcOrd="0" destOrd="0" parTransId="{EEE5DA44-2A84-485D-89D4-DEC64A0EF049}" sibTransId="{8AEB4B82-2F1C-4BB2-B3E6-00C442C409CB}"/>
    <dgm:cxn modelId="{A2792851-771D-4EBB-8C61-BB2FC30BF6DC}" srcId="{B916091C-5B67-4A95-9FF5-8EA272A896AC}" destId="{980B7C1B-DE4F-4EAC-A601-F9D4FAE22E40}" srcOrd="3" destOrd="0" parTransId="{5BCFB598-53E0-4161-8EDF-A0C6B5719BF2}" sibTransId="{2D687CEA-4504-4977-B588-74560932AB83}"/>
    <dgm:cxn modelId="{F06B3E73-3598-4B39-B762-C113C1F244BF}" type="presOf" srcId="{8BE476CF-BA18-4796-9885-888F6F66937C}" destId="{4717CDEF-5896-4451-8BD7-07A1F124A940}" srcOrd="1" destOrd="0" presId="urn:microsoft.com/office/officeart/2005/8/layout/vProcess5"/>
    <dgm:cxn modelId="{8457D778-3645-4D23-88BD-1A2C124FA49E}" type="presOf" srcId="{0F560581-CECE-4196-9D90-AEFB9EA39CDF}" destId="{B5D764F5-4B69-4CE2-9D52-5FC06AF4BC67}" srcOrd="0" destOrd="0" presId="urn:microsoft.com/office/officeart/2005/8/layout/vProcess5"/>
    <dgm:cxn modelId="{7C81EC7E-1E9D-4385-B8AE-7926C09FCB94}" srcId="{B916091C-5B67-4A95-9FF5-8EA272A896AC}" destId="{8BE476CF-BA18-4796-9885-888F6F66937C}" srcOrd="0" destOrd="0" parTransId="{5921B9D7-6A03-49AF-AAD3-8C26598A8161}" sibTransId="{0F560581-CECE-4196-9D90-AEFB9EA39CDF}"/>
    <dgm:cxn modelId="{379D2E97-C350-493D-96F0-DFC520298990}" type="presOf" srcId="{65858E39-F016-4948-A54A-285598AF4985}" destId="{3CF7DDA8-722E-440A-B85C-D7509EF3CB88}" srcOrd="0" destOrd="0" presId="urn:microsoft.com/office/officeart/2005/8/layout/vProcess5"/>
    <dgm:cxn modelId="{16CB1DB8-4A3F-4309-951A-03C9728FF1AC}" type="presOf" srcId="{B916091C-5B67-4A95-9FF5-8EA272A896AC}" destId="{1E429CFA-AE31-46EE-B3B3-3EE8D76EC5D4}" srcOrd="0" destOrd="0" presId="urn:microsoft.com/office/officeart/2005/8/layout/vProcess5"/>
    <dgm:cxn modelId="{6E3E30B8-85E3-4A02-8BE5-85ECF6BA13C4}" type="presOf" srcId="{50DC1D14-CF3F-44DE-9D10-8279BDA980C7}" destId="{F19D651D-5743-4199-88DA-AE4A277F63F4}" srcOrd="0" destOrd="0" presId="urn:microsoft.com/office/officeart/2005/8/layout/vProcess5"/>
    <dgm:cxn modelId="{86B1AFB9-DC86-4D30-92CF-CF084BB5E48F}" type="presOf" srcId="{980B7C1B-DE4F-4EAC-A601-F9D4FAE22E40}" destId="{4F0F6010-0CBC-4E8F-A067-07AD7CBA78EC}" srcOrd="1" destOrd="0" presId="urn:microsoft.com/office/officeart/2005/8/layout/vProcess5"/>
    <dgm:cxn modelId="{D8A138CB-32CB-43D7-BFD4-3C3052C2ABF0}" srcId="{B916091C-5B67-4A95-9FF5-8EA272A896AC}" destId="{50DC1D14-CF3F-44DE-9D10-8279BDA980C7}" srcOrd="2" destOrd="0" parTransId="{40DFE93B-EE7B-4610-BC16-8319FDFCB37A}" sibTransId="{07AA56DC-C778-40C0-BDCA-84D906334F57}"/>
    <dgm:cxn modelId="{D8397DF6-0B74-4BF5-B211-137E0B3E5E50}" srcId="{B916091C-5B67-4A95-9FF5-8EA272A896AC}" destId="{65858E39-F016-4948-A54A-285598AF4985}" srcOrd="1" destOrd="0" parTransId="{6F281EC9-0902-4254-ACA0-C017F601B2BA}" sibTransId="{6F46421A-41A3-47D7-96AB-41C8B76D0D5A}"/>
    <dgm:cxn modelId="{AFB0A2B4-77F4-455D-8CC0-F25E53A611F5}" type="presParOf" srcId="{1E429CFA-AE31-46EE-B3B3-3EE8D76EC5D4}" destId="{F47CC4E5-BDF4-407A-8EF7-8793638BB35B}" srcOrd="0" destOrd="0" presId="urn:microsoft.com/office/officeart/2005/8/layout/vProcess5"/>
    <dgm:cxn modelId="{24E83C57-3263-484F-BCB2-25F0C5E3DCA1}" type="presParOf" srcId="{1E429CFA-AE31-46EE-B3B3-3EE8D76EC5D4}" destId="{8E51DA77-8EC5-4470-BDA0-A84CD0DA3FED}" srcOrd="1" destOrd="0" presId="urn:microsoft.com/office/officeart/2005/8/layout/vProcess5"/>
    <dgm:cxn modelId="{BD18D6BB-10EC-4BC0-BB00-1CBE550F5635}" type="presParOf" srcId="{1E429CFA-AE31-46EE-B3B3-3EE8D76EC5D4}" destId="{3CF7DDA8-722E-440A-B85C-D7509EF3CB88}" srcOrd="2" destOrd="0" presId="urn:microsoft.com/office/officeart/2005/8/layout/vProcess5"/>
    <dgm:cxn modelId="{D6DCC55D-067C-42FE-AB22-91250ACF3BE7}" type="presParOf" srcId="{1E429CFA-AE31-46EE-B3B3-3EE8D76EC5D4}" destId="{F19D651D-5743-4199-88DA-AE4A277F63F4}" srcOrd="3" destOrd="0" presId="urn:microsoft.com/office/officeart/2005/8/layout/vProcess5"/>
    <dgm:cxn modelId="{C0042DA3-AA20-4982-80F6-1A976CB91115}" type="presParOf" srcId="{1E429CFA-AE31-46EE-B3B3-3EE8D76EC5D4}" destId="{69598F13-0A29-43E8-866C-A62D6F3E8CE7}" srcOrd="4" destOrd="0" presId="urn:microsoft.com/office/officeart/2005/8/layout/vProcess5"/>
    <dgm:cxn modelId="{90D47D9F-9429-43F9-BEA4-D27CCF6C3C87}" type="presParOf" srcId="{1E429CFA-AE31-46EE-B3B3-3EE8D76EC5D4}" destId="{B5D764F5-4B69-4CE2-9D52-5FC06AF4BC67}" srcOrd="5" destOrd="0" presId="urn:microsoft.com/office/officeart/2005/8/layout/vProcess5"/>
    <dgm:cxn modelId="{A3A4D361-93DB-4D3E-8A5D-71195251E8A9}" type="presParOf" srcId="{1E429CFA-AE31-46EE-B3B3-3EE8D76EC5D4}" destId="{72F61951-9D02-4566-B29E-6421E7BE1B7C}" srcOrd="6" destOrd="0" presId="urn:microsoft.com/office/officeart/2005/8/layout/vProcess5"/>
    <dgm:cxn modelId="{C11C3EE7-0B4A-42BF-AB1D-75DFD60F704E}" type="presParOf" srcId="{1E429CFA-AE31-46EE-B3B3-3EE8D76EC5D4}" destId="{E6D5EE8A-5F95-4161-8165-CF03D4092121}" srcOrd="7" destOrd="0" presId="urn:microsoft.com/office/officeart/2005/8/layout/vProcess5"/>
    <dgm:cxn modelId="{793B89DA-239B-40CE-ADC0-766083164F17}" type="presParOf" srcId="{1E429CFA-AE31-46EE-B3B3-3EE8D76EC5D4}" destId="{4717CDEF-5896-4451-8BD7-07A1F124A940}" srcOrd="8" destOrd="0" presId="urn:microsoft.com/office/officeart/2005/8/layout/vProcess5"/>
    <dgm:cxn modelId="{D9FF614E-9567-4625-A717-6A6C16E7F013}" type="presParOf" srcId="{1E429CFA-AE31-46EE-B3B3-3EE8D76EC5D4}" destId="{0F58FC5A-F757-4DEB-BA56-6D66615B231E}" srcOrd="9" destOrd="0" presId="urn:microsoft.com/office/officeart/2005/8/layout/vProcess5"/>
    <dgm:cxn modelId="{12E2934E-73AB-4E50-B04A-E02AC97AE7CC}" type="presParOf" srcId="{1E429CFA-AE31-46EE-B3B3-3EE8D76EC5D4}" destId="{0E59E5EA-BD74-4A39-AABA-59E464572293}" srcOrd="10" destOrd="0" presId="urn:microsoft.com/office/officeart/2005/8/layout/vProcess5"/>
    <dgm:cxn modelId="{53AB4718-6554-4A63-9011-EA0CC1FABB54}" type="presParOf" srcId="{1E429CFA-AE31-46EE-B3B3-3EE8D76EC5D4}" destId="{4F0F6010-0CBC-4E8F-A067-07AD7CBA78EC}"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3F2C1-B952-4698-A973-672461724160}">
      <dsp:nvSpPr>
        <dsp:cNvPr id="0" name=""/>
        <dsp:cNvSpPr/>
      </dsp:nvSpPr>
      <dsp:spPr>
        <a:xfrm>
          <a:off x="947201"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ADA1F4-0AC2-48DB-B577-2999DEF6363D}">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Financial Institutions and Financial Markets</a:t>
          </a:r>
        </a:p>
      </dsp:txBody>
      <dsp:txXfrm>
        <a:off x="59990" y="2654049"/>
        <a:ext cx="3226223" cy="720000"/>
      </dsp:txXfrm>
    </dsp:sp>
    <dsp:sp modelId="{59D2A7C3-82F6-4D71-A9A7-BD2B9C4D1AAD}">
      <dsp:nvSpPr>
        <dsp:cNvPr id="0" name=""/>
        <dsp:cNvSpPr/>
      </dsp:nvSpPr>
      <dsp:spPr>
        <a:xfrm>
          <a:off x="4738014"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5F6526-7E72-4CA0-A3AE-2D48209C6FB2}">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Loanable Funds market </a:t>
          </a:r>
        </a:p>
      </dsp:txBody>
      <dsp:txXfrm>
        <a:off x="3850802" y="2654049"/>
        <a:ext cx="3226223" cy="720000"/>
      </dsp:txXfrm>
    </dsp:sp>
    <dsp:sp modelId="{227BA2B9-D141-493C-8C28-5CFF0F2DF941}">
      <dsp:nvSpPr>
        <dsp:cNvPr id="0" name=""/>
        <dsp:cNvSpPr/>
      </dsp:nvSpPr>
      <dsp:spPr>
        <a:xfrm>
          <a:off x="8528826"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C7C44E-B42F-4242-8E7A-CADDC22B1CC3}">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Government in the Loanable Funds Market</a:t>
          </a:r>
        </a:p>
      </dsp:txBody>
      <dsp:txXfrm>
        <a:off x="7641615" y="2654049"/>
        <a:ext cx="3226223"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59066F-580B-4AB7-85A5-748F1535B57C}">
      <dsp:nvSpPr>
        <dsp:cNvPr id="0" name=""/>
        <dsp:cNvSpPr/>
      </dsp:nvSpPr>
      <dsp:spPr>
        <a:xfrm>
          <a:off x="718664" y="4539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2136B1-7164-45A7-A598-A0744811DDF1}">
      <dsp:nvSpPr>
        <dsp:cNvPr id="0" name=""/>
        <dsp:cNvSpPr/>
      </dsp:nvSpPr>
      <dsp:spPr>
        <a:xfrm>
          <a:off x="1135476" y="8707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A93580-83F4-429B-891D-E477996FB685}">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44650">
            <a:lnSpc>
              <a:spcPct val="90000"/>
            </a:lnSpc>
            <a:spcBef>
              <a:spcPct val="0"/>
            </a:spcBef>
            <a:spcAft>
              <a:spcPct val="35000"/>
            </a:spcAft>
            <a:buNone/>
            <a:defRPr cap="all"/>
          </a:pPr>
          <a:r>
            <a:rPr lang="en-US" sz="3700" kern="1200"/>
            <a:t>Loan Market</a:t>
          </a:r>
        </a:p>
      </dsp:txBody>
      <dsp:txXfrm>
        <a:off x="93445" y="3018902"/>
        <a:ext cx="3206250" cy="720000"/>
      </dsp:txXfrm>
    </dsp:sp>
    <dsp:sp modelId="{AC650A20-03CF-4C50-9DF5-156FF8A0A9DE}">
      <dsp:nvSpPr>
        <dsp:cNvPr id="0" name=""/>
        <dsp:cNvSpPr/>
      </dsp:nvSpPr>
      <dsp:spPr>
        <a:xfrm>
          <a:off x="4486008" y="4539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8D4BEB-50B7-4CDE-8DD3-87D3A5B44C84}">
      <dsp:nvSpPr>
        <dsp:cNvPr id="0" name=""/>
        <dsp:cNvSpPr/>
      </dsp:nvSpPr>
      <dsp:spPr>
        <a:xfrm>
          <a:off x="4902820" y="8707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F4DE5D-4EEA-45DB-AC95-BF810B117A79}">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44650">
            <a:lnSpc>
              <a:spcPct val="90000"/>
            </a:lnSpc>
            <a:spcBef>
              <a:spcPct val="0"/>
            </a:spcBef>
            <a:spcAft>
              <a:spcPct val="35000"/>
            </a:spcAft>
            <a:buNone/>
            <a:defRPr cap="all"/>
          </a:pPr>
          <a:r>
            <a:rPr lang="en-US" sz="3700" kern="1200"/>
            <a:t>Bond Market</a:t>
          </a:r>
        </a:p>
      </dsp:txBody>
      <dsp:txXfrm>
        <a:off x="3860789" y="3018902"/>
        <a:ext cx="3206250" cy="720000"/>
      </dsp:txXfrm>
    </dsp:sp>
    <dsp:sp modelId="{28CFF7CC-72AC-4036-91BA-31AC201052CC}">
      <dsp:nvSpPr>
        <dsp:cNvPr id="0" name=""/>
        <dsp:cNvSpPr/>
      </dsp:nvSpPr>
      <dsp:spPr>
        <a:xfrm>
          <a:off x="8253352" y="4539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C81132-E1C2-468B-AEEC-006902A7BFE8}">
      <dsp:nvSpPr>
        <dsp:cNvPr id="0" name=""/>
        <dsp:cNvSpPr/>
      </dsp:nvSpPr>
      <dsp:spPr>
        <a:xfrm>
          <a:off x="8670164" y="8707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DFA8D2-737A-4402-AA8C-B6E4BA6D2C83}">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44650">
            <a:lnSpc>
              <a:spcPct val="90000"/>
            </a:lnSpc>
            <a:spcBef>
              <a:spcPct val="0"/>
            </a:spcBef>
            <a:spcAft>
              <a:spcPct val="35000"/>
            </a:spcAft>
            <a:buNone/>
            <a:defRPr cap="all"/>
          </a:pPr>
          <a:r>
            <a:rPr lang="en-US" sz="3700" kern="1200"/>
            <a:t>Stock Market</a:t>
          </a:r>
        </a:p>
      </dsp:txBody>
      <dsp:txXfrm>
        <a:off x="7628133" y="3018902"/>
        <a:ext cx="32062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F110A3-06E2-4BEC-80E8-03C91EBF6016}">
      <dsp:nvSpPr>
        <dsp:cNvPr id="0" name=""/>
        <dsp:cNvSpPr/>
      </dsp:nvSpPr>
      <dsp:spPr>
        <a:xfrm>
          <a:off x="0" y="358028"/>
          <a:ext cx="10515600" cy="453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3274F148-1352-41F8-ADB4-3667ADA62471}">
      <dsp:nvSpPr>
        <dsp:cNvPr id="0" name=""/>
        <dsp:cNvSpPr/>
      </dsp:nvSpPr>
      <dsp:spPr>
        <a:xfrm>
          <a:off x="525780" y="92348"/>
          <a:ext cx="7360920" cy="5313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kern="1200"/>
            <a:t>Borrowers obtain loans from banks.</a:t>
          </a:r>
        </a:p>
      </dsp:txBody>
      <dsp:txXfrm>
        <a:off x="551719" y="118287"/>
        <a:ext cx="7309042" cy="479482"/>
      </dsp:txXfrm>
    </dsp:sp>
    <dsp:sp modelId="{0D499CCF-40C4-4D94-8E3A-0366BC33FE23}">
      <dsp:nvSpPr>
        <dsp:cNvPr id="0" name=""/>
        <dsp:cNvSpPr/>
      </dsp:nvSpPr>
      <dsp:spPr>
        <a:xfrm>
          <a:off x="0" y="1174508"/>
          <a:ext cx="10515600" cy="1360800"/>
        </a:xfrm>
        <a:prstGeom prst="rect">
          <a:avLst/>
        </a:prstGeom>
        <a:solidFill>
          <a:schemeClr val="lt1">
            <a:alpha val="90000"/>
            <a:hueOff val="0"/>
            <a:satOff val="0"/>
            <a:lumOff val="0"/>
            <a:alphaOff val="0"/>
          </a:schemeClr>
        </a:solidFill>
        <a:ln w="12700" cap="flat" cmpd="sng" algn="ctr">
          <a:solidFill>
            <a:schemeClr val="accent2">
              <a:hueOff val="3221807"/>
              <a:satOff val="-9246"/>
              <a:lumOff val="-14805"/>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16127" tIns="374904"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Home loan </a:t>
          </a:r>
        </a:p>
        <a:p>
          <a:pPr marL="171450" lvl="1" indent="-171450" algn="l" defTabSz="800100">
            <a:lnSpc>
              <a:spcPct val="90000"/>
            </a:lnSpc>
            <a:spcBef>
              <a:spcPct val="0"/>
            </a:spcBef>
            <a:spcAft>
              <a:spcPct val="15000"/>
            </a:spcAft>
            <a:buChar char="•"/>
          </a:pPr>
          <a:r>
            <a:rPr lang="en-US" sz="1800" kern="1200"/>
            <a:t>Business loan </a:t>
          </a:r>
        </a:p>
        <a:p>
          <a:pPr marL="171450" lvl="1" indent="-171450" algn="l" defTabSz="800100">
            <a:lnSpc>
              <a:spcPct val="90000"/>
            </a:lnSpc>
            <a:spcBef>
              <a:spcPct val="0"/>
            </a:spcBef>
            <a:spcAft>
              <a:spcPct val="15000"/>
            </a:spcAft>
            <a:buChar char="•"/>
          </a:pPr>
          <a:r>
            <a:rPr lang="en-US" sz="1800" kern="1200"/>
            <a:t>Agricultural loan </a:t>
          </a:r>
        </a:p>
      </dsp:txBody>
      <dsp:txXfrm>
        <a:off x="0" y="1174508"/>
        <a:ext cx="10515600" cy="1360800"/>
      </dsp:txXfrm>
    </dsp:sp>
    <dsp:sp modelId="{576143CB-3B21-409E-B19A-04D86E78FBB9}">
      <dsp:nvSpPr>
        <dsp:cNvPr id="0" name=""/>
        <dsp:cNvSpPr/>
      </dsp:nvSpPr>
      <dsp:spPr>
        <a:xfrm>
          <a:off x="525780" y="908828"/>
          <a:ext cx="7360920" cy="531360"/>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kern="1200"/>
            <a:t>Examples</a:t>
          </a:r>
        </a:p>
      </dsp:txBody>
      <dsp:txXfrm>
        <a:off x="551719" y="934767"/>
        <a:ext cx="7309042" cy="479482"/>
      </dsp:txXfrm>
    </dsp:sp>
    <dsp:sp modelId="{0A5F3EA8-3CFF-4704-99F1-2D3B288555A0}">
      <dsp:nvSpPr>
        <dsp:cNvPr id="0" name=""/>
        <dsp:cNvSpPr/>
      </dsp:nvSpPr>
      <dsp:spPr>
        <a:xfrm>
          <a:off x="0" y="2898189"/>
          <a:ext cx="10515600" cy="1360800"/>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16127" tIns="374904"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Fixed repayment </a:t>
          </a:r>
        </a:p>
        <a:p>
          <a:pPr marL="171450" lvl="1" indent="-171450" algn="l" defTabSz="800100">
            <a:lnSpc>
              <a:spcPct val="90000"/>
            </a:lnSpc>
            <a:spcBef>
              <a:spcPct val="0"/>
            </a:spcBef>
            <a:spcAft>
              <a:spcPct val="15000"/>
            </a:spcAft>
            <a:buChar char="•"/>
          </a:pPr>
          <a:r>
            <a:rPr lang="en-US" sz="1800" kern="1200"/>
            <a:t>Interest payments </a:t>
          </a:r>
        </a:p>
        <a:p>
          <a:pPr marL="171450" lvl="1" indent="-171450" algn="l" defTabSz="800100">
            <a:lnSpc>
              <a:spcPct val="90000"/>
            </a:lnSpc>
            <a:spcBef>
              <a:spcPct val="0"/>
            </a:spcBef>
            <a:spcAft>
              <a:spcPct val="15000"/>
            </a:spcAft>
            <a:buChar char="•"/>
          </a:pPr>
          <a:r>
            <a:rPr lang="en-US" sz="1800" kern="1200"/>
            <a:t>Bank is intermediary</a:t>
          </a:r>
        </a:p>
      </dsp:txBody>
      <dsp:txXfrm>
        <a:off x="0" y="2898189"/>
        <a:ext cx="10515600" cy="1360800"/>
      </dsp:txXfrm>
    </dsp:sp>
    <dsp:sp modelId="{1EE9083F-8DA3-4FCB-B5D1-4D1D017F943C}">
      <dsp:nvSpPr>
        <dsp:cNvPr id="0" name=""/>
        <dsp:cNvSpPr/>
      </dsp:nvSpPr>
      <dsp:spPr>
        <a:xfrm>
          <a:off x="525780" y="2632508"/>
          <a:ext cx="7360920" cy="53136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kern="1200"/>
            <a:t>Characteristics</a:t>
          </a:r>
        </a:p>
      </dsp:txBody>
      <dsp:txXfrm>
        <a:off x="551719" y="2658447"/>
        <a:ext cx="7309042" cy="4794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56A130-8A56-494C-91D8-1C5C5D7ECB92}">
      <dsp:nvSpPr>
        <dsp:cNvPr id="0" name=""/>
        <dsp:cNvSpPr/>
      </dsp:nvSpPr>
      <dsp:spPr>
        <a:xfrm>
          <a:off x="0" y="47137"/>
          <a:ext cx="10515600" cy="3931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Commercial Banks</a:t>
          </a:r>
        </a:p>
      </dsp:txBody>
      <dsp:txXfrm>
        <a:off x="19191" y="66328"/>
        <a:ext cx="10477218" cy="354738"/>
      </dsp:txXfrm>
    </dsp:sp>
    <dsp:sp modelId="{AD10F775-0369-4C9D-98AC-C82DC5F02002}">
      <dsp:nvSpPr>
        <dsp:cNvPr id="0" name=""/>
        <dsp:cNvSpPr/>
      </dsp:nvSpPr>
      <dsp:spPr>
        <a:xfrm>
          <a:off x="0" y="440257"/>
          <a:ext cx="10515600"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Islami Bank </a:t>
          </a:r>
        </a:p>
        <a:p>
          <a:pPr marL="114300" lvl="1" indent="-114300" algn="l" defTabSz="533400">
            <a:lnSpc>
              <a:spcPct val="90000"/>
            </a:lnSpc>
            <a:spcBef>
              <a:spcPct val="0"/>
            </a:spcBef>
            <a:spcAft>
              <a:spcPct val="20000"/>
            </a:spcAft>
            <a:buChar char="•"/>
          </a:pPr>
          <a:r>
            <a:rPr lang="en-US" sz="1200" kern="1200"/>
            <a:t>BRAC Bank </a:t>
          </a:r>
        </a:p>
        <a:p>
          <a:pPr marL="114300" lvl="1" indent="-114300" algn="l" defTabSz="533400">
            <a:lnSpc>
              <a:spcPct val="90000"/>
            </a:lnSpc>
            <a:spcBef>
              <a:spcPct val="0"/>
            </a:spcBef>
            <a:spcAft>
              <a:spcPct val="20000"/>
            </a:spcAft>
            <a:buChar char="•"/>
          </a:pPr>
          <a:r>
            <a:rPr lang="en-US" sz="1200" kern="1200"/>
            <a:t>Dutch-Bangla Bank </a:t>
          </a:r>
        </a:p>
      </dsp:txBody>
      <dsp:txXfrm>
        <a:off x="0" y="440257"/>
        <a:ext cx="10515600" cy="629280"/>
      </dsp:txXfrm>
    </dsp:sp>
    <dsp:sp modelId="{27F68770-F609-4F3A-83E7-D424D46F2156}">
      <dsp:nvSpPr>
        <dsp:cNvPr id="0" name=""/>
        <dsp:cNvSpPr/>
      </dsp:nvSpPr>
      <dsp:spPr>
        <a:xfrm>
          <a:off x="0" y="1069537"/>
          <a:ext cx="10515600" cy="3931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Investment Banks</a:t>
          </a:r>
        </a:p>
      </dsp:txBody>
      <dsp:txXfrm>
        <a:off x="19191" y="1088728"/>
        <a:ext cx="10477218" cy="354738"/>
      </dsp:txXfrm>
    </dsp:sp>
    <dsp:sp modelId="{E79A3D29-A5C4-44BA-9984-5E422059BD24}">
      <dsp:nvSpPr>
        <dsp:cNvPr id="0" name=""/>
        <dsp:cNvSpPr/>
      </dsp:nvSpPr>
      <dsp:spPr>
        <a:xfrm>
          <a:off x="0" y="1462657"/>
          <a:ext cx="105156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Issue securities </a:t>
          </a:r>
        </a:p>
        <a:p>
          <a:pPr marL="114300" lvl="1" indent="-114300" algn="l" defTabSz="533400">
            <a:lnSpc>
              <a:spcPct val="90000"/>
            </a:lnSpc>
            <a:spcBef>
              <a:spcPct val="0"/>
            </a:spcBef>
            <a:spcAft>
              <a:spcPct val="20000"/>
            </a:spcAft>
            <a:buChar char="•"/>
          </a:pPr>
          <a:r>
            <a:rPr lang="en-US" sz="1200" kern="1200"/>
            <a:t>Underwriting </a:t>
          </a:r>
        </a:p>
      </dsp:txBody>
      <dsp:txXfrm>
        <a:off x="0" y="1462657"/>
        <a:ext cx="10515600" cy="414000"/>
      </dsp:txXfrm>
    </dsp:sp>
    <dsp:sp modelId="{9B900545-0386-4628-B36F-2E6D9F171A3F}">
      <dsp:nvSpPr>
        <dsp:cNvPr id="0" name=""/>
        <dsp:cNvSpPr/>
      </dsp:nvSpPr>
      <dsp:spPr>
        <a:xfrm>
          <a:off x="0" y="1876657"/>
          <a:ext cx="10515600" cy="3931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Insurance Companies</a:t>
          </a:r>
        </a:p>
      </dsp:txBody>
      <dsp:txXfrm>
        <a:off x="19191" y="1895848"/>
        <a:ext cx="10477218" cy="354738"/>
      </dsp:txXfrm>
    </dsp:sp>
    <dsp:sp modelId="{05477EAB-ACA9-465E-A44A-7C9797228656}">
      <dsp:nvSpPr>
        <dsp:cNvPr id="0" name=""/>
        <dsp:cNvSpPr/>
      </dsp:nvSpPr>
      <dsp:spPr>
        <a:xfrm>
          <a:off x="0" y="2269777"/>
          <a:ext cx="105156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Collect premiums </a:t>
          </a:r>
        </a:p>
        <a:p>
          <a:pPr marL="114300" lvl="1" indent="-114300" algn="l" defTabSz="533400">
            <a:lnSpc>
              <a:spcPct val="90000"/>
            </a:lnSpc>
            <a:spcBef>
              <a:spcPct val="0"/>
            </a:spcBef>
            <a:spcAft>
              <a:spcPct val="20000"/>
            </a:spcAft>
            <a:buChar char="•"/>
          </a:pPr>
          <a:r>
            <a:rPr lang="en-US" sz="1200" kern="1200"/>
            <a:t>Invest funds </a:t>
          </a:r>
        </a:p>
      </dsp:txBody>
      <dsp:txXfrm>
        <a:off x="0" y="2269777"/>
        <a:ext cx="10515600" cy="414000"/>
      </dsp:txXfrm>
    </dsp:sp>
    <dsp:sp modelId="{BA81C895-4EC9-42D6-AF93-7DB3182D5705}">
      <dsp:nvSpPr>
        <dsp:cNvPr id="0" name=""/>
        <dsp:cNvSpPr/>
      </dsp:nvSpPr>
      <dsp:spPr>
        <a:xfrm>
          <a:off x="0" y="2683777"/>
          <a:ext cx="10515600" cy="3931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Mutual Funds</a:t>
          </a:r>
        </a:p>
      </dsp:txBody>
      <dsp:txXfrm>
        <a:off x="19191" y="2702968"/>
        <a:ext cx="10477218" cy="354738"/>
      </dsp:txXfrm>
    </dsp:sp>
    <dsp:sp modelId="{7CE824DF-FAF9-49AB-A0E2-5E26D699864E}">
      <dsp:nvSpPr>
        <dsp:cNvPr id="0" name=""/>
        <dsp:cNvSpPr/>
      </dsp:nvSpPr>
      <dsp:spPr>
        <a:xfrm>
          <a:off x="0" y="3076897"/>
          <a:ext cx="10515600" cy="264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Pool investors' money </a:t>
          </a:r>
        </a:p>
      </dsp:txBody>
      <dsp:txXfrm>
        <a:off x="0" y="3076897"/>
        <a:ext cx="10515600" cy="264960"/>
      </dsp:txXfrm>
    </dsp:sp>
    <dsp:sp modelId="{564B5E8C-6892-4FEA-BA36-4EDCFB9B9AE8}">
      <dsp:nvSpPr>
        <dsp:cNvPr id="0" name=""/>
        <dsp:cNvSpPr/>
      </dsp:nvSpPr>
      <dsp:spPr>
        <a:xfrm>
          <a:off x="0" y="3341857"/>
          <a:ext cx="10515600" cy="3931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Mortgage Companies </a:t>
          </a:r>
        </a:p>
      </dsp:txBody>
      <dsp:txXfrm>
        <a:off x="19191" y="3361048"/>
        <a:ext cx="10477218" cy="354738"/>
      </dsp:txXfrm>
    </dsp:sp>
    <dsp:sp modelId="{0CBFCFA0-1817-4FDB-97EA-E01E8EFB2681}">
      <dsp:nvSpPr>
        <dsp:cNvPr id="0" name=""/>
        <dsp:cNvSpPr/>
      </dsp:nvSpPr>
      <dsp:spPr>
        <a:xfrm>
          <a:off x="0" y="3781057"/>
          <a:ext cx="10515600" cy="3931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Pension Funds</a:t>
          </a:r>
        </a:p>
      </dsp:txBody>
      <dsp:txXfrm>
        <a:off x="19191" y="3800248"/>
        <a:ext cx="10477218" cy="354738"/>
      </dsp:txXfrm>
    </dsp:sp>
    <dsp:sp modelId="{B8D1CAD2-C42B-4910-AFDE-3BBD981D1694}">
      <dsp:nvSpPr>
        <dsp:cNvPr id="0" name=""/>
        <dsp:cNvSpPr/>
      </dsp:nvSpPr>
      <dsp:spPr>
        <a:xfrm>
          <a:off x="0" y="4174177"/>
          <a:ext cx="10515600" cy="264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Invest retirement savings</a:t>
          </a:r>
        </a:p>
      </dsp:txBody>
      <dsp:txXfrm>
        <a:off x="0" y="4174177"/>
        <a:ext cx="10515600" cy="2649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4D6203-95D4-4DB8-A51B-CD9D1EE9C057}">
      <dsp:nvSpPr>
        <dsp:cNvPr id="0" name=""/>
        <dsp:cNvSpPr/>
      </dsp:nvSpPr>
      <dsp:spPr>
        <a:xfrm>
          <a:off x="0" y="898"/>
          <a:ext cx="6002110" cy="558967"/>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Consider a company that wants to construct a new factory.</a:t>
          </a:r>
        </a:p>
      </dsp:txBody>
      <dsp:txXfrm>
        <a:off x="27287" y="28185"/>
        <a:ext cx="5947536" cy="504393"/>
      </dsp:txXfrm>
    </dsp:sp>
    <dsp:sp modelId="{72E61C7D-F343-4DBE-ACF5-B61DF56E685B}">
      <dsp:nvSpPr>
        <dsp:cNvPr id="0" name=""/>
        <dsp:cNvSpPr/>
      </dsp:nvSpPr>
      <dsp:spPr>
        <a:xfrm>
          <a:off x="0" y="600185"/>
          <a:ext cx="6002110" cy="558967"/>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The factory may require </a:t>
          </a:r>
          <a:r>
            <a:rPr lang="en-US" sz="1400" b="1" kern="1200"/>
            <a:t>Tk. 500 million</a:t>
          </a:r>
          <a:r>
            <a:rPr lang="en-US" sz="1400" kern="1200"/>
            <a:t>, but the company may not have Tk. 500 million in cash.</a:t>
          </a:r>
        </a:p>
      </dsp:txBody>
      <dsp:txXfrm>
        <a:off x="27287" y="627472"/>
        <a:ext cx="5947536" cy="504393"/>
      </dsp:txXfrm>
    </dsp:sp>
    <dsp:sp modelId="{E667C5CF-6E81-49A3-9F09-33C453B33223}">
      <dsp:nvSpPr>
        <dsp:cNvPr id="0" name=""/>
        <dsp:cNvSpPr/>
      </dsp:nvSpPr>
      <dsp:spPr>
        <a:xfrm>
          <a:off x="0" y="1199473"/>
          <a:ext cx="6002110" cy="558967"/>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It can therefore:</a:t>
          </a:r>
        </a:p>
      </dsp:txBody>
      <dsp:txXfrm>
        <a:off x="27287" y="1226760"/>
        <a:ext cx="5947536" cy="504393"/>
      </dsp:txXfrm>
    </dsp:sp>
    <dsp:sp modelId="{F962118D-B5F7-4F50-A174-35B4AD4AEBF9}">
      <dsp:nvSpPr>
        <dsp:cNvPr id="0" name=""/>
        <dsp:cNvSpPr/>
      </dsp:nvSpPr>
      <dsp:spPr>
        <a:xfrm>
          <a:off x="0" y="1758440"/>
          <a:ext cx="6002110"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67"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kern="1200"/>
            <a:t>borrow from a bank, </a:t>
          </a:r>
        </a:p>
        <a:p>
          <a:pPr marL="57150" lvl="1" indent="-57150" algn="l" defTabSz="488950">
            <a:lnSpc>
              <a:spcPct val="90000"/>
            </a:lnSpc>
            <a:spcBef>
              <a:spcPct val="0"/>
            </a:spcBef>
            <a:spcAft>
              <a:spcPct val="20000"/>
            </a:spcAft>
            <a:buChar char="•"/>
          </a:pPr>
          <a:r>
            <a:rPr lang="en-US" sz="1100" kern="1200"/>
            <a:t>issue bonds, </a:t>
          </a:r>
        </a:p>
        <a:p>
          <a:pPr marL="57150" lvl="1" indent="-57150" algn="l" defTabSz="488950">
            <a:lnSpc>
              <a:spcPct val="90000"/>
            </a:lnSpc>
            <a:spcBef>
              <a:spcPct val="0"/>
            </a:spcBef>
            <a:spcAft>
              <a:spcPct val="20000"/>
            </a:spcAft>
            <a:buChar char="•"/>
          </a:pPr>
          <a:r>
            <a:rPr lang="en-US" sz="1100" kern="1200"/>
            <a:t>obtain other forms of financing. </a:t>
          </a:r>
        </a:p>
      </dsp:txBody>
      <dsp:txXfrm>
        <a:off x="0" y="1758440"/>
        <a:ext cx="6002110" cy="579600"/>
      </dsp:txXfrm>
    </dsp:sp>
    <dsp:sp modelId="{DE2DD6A3-EACD-4E13-A82B-393A02A6D5AE}">
      <dsp:nvSpPr>
        <dsp:cNvPr id="0" name=""/>
        <dsp:cNvSpPr/>
      </dsp:nvSpPr>
      <dsp:spPr>
        <a:xfrm>
          <a:off x="0" y="2338040"/>
          <a:ext cx="6002110" cy="558967"/>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At the same time, households may have savings that they do not currently need for consumption.</a:t>
          </a:r>
        </a:p>
      </dsp:txBody>
      <dsp:txXfrm>
        <a:off x="27287" y="2365327"/>
        <a:ext cx="5947536" cy="504393"/>
      </dsp:txXfrm>
    </dsp:sp>
    <dsp:sp modelId="{EFFF24E3-7CB9-435A-A26A-0A1FF4A4E460}">
      <dsp:nvSpPr>
        <dsp:cNvPr id="0" name=""/>
        <dsp:cNvSpPr/>
      </dsp:nvSpPr>
      <dsp:spPr>
        <a:xfrm>
          <a:off x="0" y="2937328"/>
          <a:ext cx="6002110" cy="558967"/>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Flow of funds</a:t>
          </a:r>
          <a:endParaRPr lang="en-US" sz="1400" kern="1200"/>
        </a:p>
      </dsp:txBody>
      <dsp:txXfrm>
        <a:off x="27287" y="2964615"/>
        <a:ext cx="5947536" cy="504393"/>
      </dsp:txXfrm>
    </dsp:sp>
    <dsp:sp modelId="{23223968-C0BE-42E9-85A4-38A204DEF03B}">
      <dsp:nvSpPr>
        <dsp:cNvPr id="0" name=""/>
        <dsp:cNvSpPr/>
      </dsp:nvSpPr>
      <dsp:spPr>
        <a:xfrm>
          <a:off x="0" y="3496295"/>
          <a:ext cx="6002110" cy="231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67"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kern="1200"/>
            <a:t>Household saving → Financial intermediaries/capital markets → Business investment</a:t>
          </a:r>
        </a:p>
      </dsp:txBody>
      <dsp:txXfrm>
        <a:off x="0" y="3496295"/>
        <a:ext cx="6002110" cy="2318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B78ADA-705B-4997-8B1C-02428365A0D9}">
      <dsp:nvSpPr>
        <dsp:cNvPr id="0" name=""/>
        <dsp:cNvSpPr/>
      </dsp:nvSpPr>
      <dsp:spPr>
        <a:xfrm>
          <a:off x="0" y="48275"/>
          <a:ext cx="6364224" cy="95471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demand for loanable funds is generally </a:t>
          </a:r>
          <a:r>
            <a:rPr lang="en-US" sz="2400" b="1" kern="1200"/>
            <a:t>negatively related to the real interest rate</a:t>
          </a:r>
          <a:r>
            <a:rPr lang="en-US" sz="2400" kern="1200"/>
            <a:t>.</a:t>
          </a:r>
        </a:p>
      </dsp:txBody>
      <dsp:txXfrm>
        <a:off x="46606" y="94881"/>
        <a:ext cx="6271012" cy="861507"/>
      </dsp:txXfrm>
    </dsp:sp>
    <dsp:sp modelId="{D4613AF7-16B8-4B2F-BA56-7D6CFA06DB14}">
      <dsp:nvSpPr>
        <dsp:cNvPr id="0" name=""/>
        <dsp:cNvSpPr/>
      </dsp:nvSpPr>
      <dsp:spPr>
        <a:xfrm>
          <a:off x="0" y="1072115"/>
          <a:ext cx="6364224" cy="954719"/>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When real interest rate falls,</a:t>
          </a:r>
          <a:endParaRPr lang="en-US" sz="2400" kern="1200"/>
        </a:p>
      </dsp:txBody>
      <dsp:txXfrm>
        <a:off x="46606" y="1118721"/>
        <a:ext cx="6271012" cy="861507"/>
      </dsp:txXfrm>
    </dsp:sp>
    <dsp:sp modelId="{2AF20808-59EE-4A80-9F6B-7514B757226C}">
      <dsp:nvSpPr>
        <dsp:cNvPr id="0" name=""/>
        <dsp:cNvSpPr/>
      </dsp:nvSpPr>
      <dsp:spPr>
        <a:xfrm>
          <a:off x="0" y="2026835"/>
          <a:ext cx="6364224" cy="124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Borrowing becomes cheaper.</a:t>
          </a:r>
        </a:p>
        <a:p>
          <a:pPr marL="171450" lvl="1" indent="-171450" algn="l" defTabSz="844550">
            <a:lnSpc>
              <a:spcPct val="90000"/>
            </a:lnSpc>
            <a:spcBef>
              <a:spcPct val="0"/>
            </a:spcBef>
            <a:spcAft>
              <a:spcPct val="20000"/>
            </a:spcAft>
            <a:buChar char="•"/>
          </a:pPr>
          <a:r>
            <a:rPr lang="en-US" sz="1900" kern="1200"/>
            <a:t>Therefore:</a:t>
          </a:r>
        </a:p>
        <a:p>
          <a:pPr marL="171450" lvl="1" indent="-171450" algn="l" defTabSz="844550">
            <a:lnSpc>
              <a:spcPct val="90000"/>
            </a:lnSpc>
            <a:spcBef>
              <a:spcPct val="0"/>
            </a:spcBef>
            <a:spcAft>
              <a:spcPct val="20000"/>
            </a:spcAft>
            <a:buChar char="•"/>
          </a:pPr>
          <a:r>
            <a:rPr lang="en-US" sz="1900" b="1" kern="1200"/>
            <a:t>Borrowing ↑ → Investment ↑ → Quantity of loanable funds demanded ↑</a:t>
          </a:r>
          <a:endParaRPr lang="en-US" sz="1900" kern="1200"/>
        </a:p>
      </dsp:txBody>
      <dsp:txXfrm>
        <a:off x="0" y="2026835"/>
        <a:ext cx="6364224" cy="1242000"/>
      </dsp:txXfrm>
    </dsp:sp>
    <dsp:sp modelId="{BCF22AAD-D0F5-4B57-9901-7B304C912224}">
      <dsp:nvSpPr>
        <dsp:cNvPr id="0" name=""/>
        <dsp:cNvSpPr/>
      </dsp:nvSpPr>
      <dsp:spPr>
        <a:xfrm>
          <a:off x="0" y="3268836"/>
          <a:ext cx="6364224" cy="954719"/>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When real interest rate rises,</a:t>
          </a:r>
          <a:endParaRPr lang="en-US" sz="2400" kern="1200"/>
        </a:p>
      </dsp:txBody>
      <dsp:txXfrm>
        <a:off x="46606" y="3315442"/>
        <a:ext cx="6271012" cy="861507"/>
      </dsp:txXfrm>
    </dsp:sp>
    <dsp:sp modelId="{98446EBA-DAD8-4ED0-8DEE-BFD67052E57F}">
      <dsp:nvSpPr>
        <dsp:cNvPr id="0" name=""/>
        <dsp:cNvSpPr/>
      </dsp:nvSpPr>
      <dsp:spPr>
        <a:xfrm>
          <a:off x="0" y="4223556"/>
          <a:ext cx="6364224" cy="124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Borrowing becomes more expensive.</a:t>
          </a:r>
        </a:p>
        <a:p>
          <a:pPr marL="171450" lvl="1" indent="-171450" algn="l" defTabSz="844550">
            <a:lnSpc>
              <a:spcPct val="90000"/>
            </a:lnSpc>
            <a:spcBef>
              <a:spcPct val="0"/>
            </a:spcBef>
            <a:spcAft>
              <a:spcPct val="20000"/>
            </a:spcAft>
            <a:buChar char="•"/>
          </a:pPr>
          <a:r>
            <a:rPr lang="en-US" sz="1900" kern="1200"/>
            <a:t>Therefore:</a:t>
          </a:r>
        </a:p>
        <a:p>
          <a:pPr marL="171450" lvl="1" indent="-171450" algn="l" defTabSz="844550">
            <a:lnSpc>
              <a:spcPct val="90000"/>
            </a:lnSpc>
            <a:spcBef>
              <a:spcPct val="0"/>
            </a:spcBef>
            <a:spcAft>
              <a:spcPct val="20000"/>
            </a:spcAft>
            <a:buChar char="•"/>
          </a:pPr>
          <a:r>
            <a:rPr lang="en-US" sz="1900" b="1" kern="1200"/>
            <a:t>Borrowing ↓ → Investment ↓ → Quantity of loanable funds demanded ↓</a:t>
          </a:r>
          <a:endParaRPr lang="en-US" sz="1900" kern="1200"/>
        </a:p>
      </dsp:txBody>
      <dsp:txXfrm>
        <a:off x="0" y="4223556"/>
        <a:ext cx="6364224" cy="1242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2DD385-7FD4-49FC-B3C6-1C072F749450}">
      <dsp:nvSpPr>
        <dsp:cNvPr id="0" name=""/>
        <dsp:cNvSpPr/>
      </dsp:nvSpPr>
      <dsp:spPr>
        <a:xfrm>
          <a:off x="0" y="153796"/>
          <a:ext cx="6002110" cy="71604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a:t>
          </a:r>
          <a:r>
            <a:rPr lang="en-US" sz="1800" b="1" kern="1200"/>
            <a:t>supply of loanable funds</a:t>
          </a:r>
          <a:r>
            <a:rPr lang="en-US" sz="1800" kern="1200"/>
            <a:t> comes primarily from </a:t>
          </a:r>
          <a:r>
            <a:rPr lang="en-US" sz="1800" b="1" kern="1200"/>
            <a:t>saving</a:t>
          </a:r>
          <a:r>
            <a:rPr lang="en-US" sz="1800" kern="1200"/>
            <a:t>.</a:t>
          </a:r>
        </a:p>
      </dsp:txBody>
      <dsp:txXfrm>
        <a:off x="34954" y="188750"/>
        <a:ext cx="5932202" cy="646132"/>
      </dsp:txXfrm>
    </dsp:sp>
    <dsp:sp modelId="{F6F10838-8095-4BA0-A8A4-8E2291EF1566}">
      <dsp:nvSpPr>
        <dsp:cNvPr id="0" name=""/>
        <dsp:cNvSpPr/>
      </dsp:nvSpPr>
      <dsp:spPr>
        <a:xfrm>
          <a:off x="0" y="921676"/>
          <a:ext cx="6002110" cy="71604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Sources include:</a:t>
          </a:r>
        </a:p>
      </dsp:txBody>
      <dsp:txXfrm>
        <a:off x="34954" y="956630"/>
        <a:ext cx="5932202" cy="646132"/>
      </dsp:txXfrm>
    </dsp:sp>
    <dsp:sp modelId="{65EE8B61-7273-4B42-91F2-F286476731B6}">
      <dsp:nvSpPr>
        <dsp:cNvPr id="0" name=""/>
        <dsp:cNvSpPr/>
      </dsp:nvSpPr>
      <dsp:spPr>
        <a:xfrm>
          <a:off x="0" y="1637716"/>
          <a:ext cx="6002110" cy="1937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6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b="1" kern="1200"/>
            <a:t>Households</a:t>
          </a:r>
          <a:endParaRPr lang="en-US" sz="1400" kern="1200"/>
        </a:p>
        <a:p>
          <a:pPr marL="228600" lvl="2" indent="-114300" algn="l" defTabSz="622300">
            <a:lnSpc>
              <a:spcPct val="90000"/>
            </a:lnSpc>
            <a:spcBef>
              <a:spcPct val="0"/>
            </a:spcBef>
            <a:spcAft>
              <a:spcPct val="20000"/>
            </a:spcAft>
            <a:buChar char="•"/>
          </a:pPr>
          <a:r>
            <a:rPr lang="en-US" sz="1400" kern="1200"/>
            <a:t>Households save part of their income.</a:t>
          </a:r>
        </a:p>
        <a:p>
          <a:pPr marL="114300" lvl="1" indent="-114300" algn="l" defTabSz="622300">
            <a:lnSpc>
              <a:spcPct val="90000"/>
            </a:lnSpc>
            <a:spcBef>
              <a:spcPct val="0"/>
            </a:spcBef>
            <a:spcAft>
              <a:spcPct val="20000"/>
            </a:spcAft>
            <a:buChar char="•"/>
          </a:pPr>
          <a:r>
            <a:rPr lang="en-US" sz="1400" b="1" kern="1200"/>
            <a:t>Firms</a:t>
          </a:r>
          <a:endParaRPr lang="en-US" sz="1400" kern="1200"/>
        </a:p>
        <a:p>
          <a:pPr marL="228600" lvl="2" indent="-114300" algn="l" defTabSz="622300">
            <a:lnSpc>
              <a:spcPct val="90000"/>
            </a:lnSpc>
            <a:spcBef>
              <a:spcPct val="0"/>
            </a:spcBef>
            <a:spcAft>
              <a:spcPct val="20000"/>
            </a:spcAft>
            <a:buChar char="•"/>
          </a:pPr>
          <a:r>
            <a:rPr lang="en-US" sz="1400" kern="1200"/>
            <a:t>Businesses may retain earnings and accumulate financial resources.</a:t>
          </a:r>
        </a:p>
        <a:p>
          <a:pPr marL="114300" lvl="1" indent="-114300" algn="l" defTabSz="622300">
            <a:lnSpc>
              <a:spcPct val="90000"/>
            </a:lnSpc>
            <a:spcBef>
              <a:spcPct val="0"/>
            </a:spcBef>
            <a:spcAft>
              <a:spcPct val="20000"/>
            </a:spcAft>
            <a:buChar char="•"/>
          </a:pPr>
          <a:r>
            <a:rPr lang="en-US" sz="1400" b="1" kern="1200"/>
            <a:t>Governments</a:t>
          </a:r>
          <a:endParaRPr lang="en-US" sz="1400" kern="1200"/>
        </a:p>
        <a:p>
          <a:pPr marL="228600" lvl="2" indent="-114300" algn="l" defTabSz="622300">
            <a:lnSpc>
              <a:spcPct val="90000"/>
            </a:lnSpc>
            <a:spcBef>
              <a:spcPct val="0"/>
            </a:spcBef>
            <a:spcAft>
              <a:spcPct val="20000"/>
            </a:spcAft>
            <a:buChar char="•"/>
          </a:pPr>
          <a:r>
            <a:rPr lang="en-US" sz="1400" kern="1200"/>
            <a:t>A government budget surplus can provide funds.</a:t>
          </a:r>
        </a:p>
        <a:p>
          <a:pPr marL="114300" lvl="1" indent="-114300" algn="l" defTabSz="622300">
            <a:lnSpc>
              <a:spcPct val="90000"/>
            </a:lnSpc>
            <a:spcBef>
              <a:spcPct val="0"/>
            </a:spcBef>
            <a:spcAft>
              <a:spcPct val="20000"/>
            </a:spcAft>
            <a:buChar char="•"/>
          </a:pPr>
          <a:r>
            <a:rPr lang="en-US" sz="1400" b="1" kern="1200"/>
            <a:t>Foreign sector</a:t>
          </a:r>
          <a:endParaRPr lang="en-US" sz="1400" kern="1200"/>
        </a:p>
        <a:p>
          <a:pPr marL="228600" lvl="2" indent="-114300" algn="l" defTabSz="622300">
            <a:lnSpc>
              <a:spcPct val="90000"/>
            </a:lnSpc>
            <a:spcBef>
              <a:spcPct val="0"/>
            </a:spcBef>
            <a:spcAft>
              <a:spcPct val="20000"/>
            </a:spcAft>
            <a:buChar char="•"/>
          </a:pPr>
          <a:r>
            <a:rPr lang="en-US" sz="1400" kern="1200"/>
            <a:t>Foreign saving can provide funds to a domestic economy.</a:t>
          </a:r>
        </a:p>
      </dsp:txBody>
      <dsp:txXfrm>
        <a:off x="0" y="1637716"/>
        <a:ext cx="6002110" cy="19375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9F7DD3-C15C-4766-8AFC-56DB20DB4AC9}">
      <dsp:nvSpPr>
        <dsp:cNvPr id="0" name=""/>
        <dsp:cNvSpPr/>
      </dsp:nvSpPr>
      <dsp:spPr>
        <a:xfrm>
          <a:off x="0" y="706"/>
          <a:ext cx="6002110" cy="71604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supply of loanable funds is generally </a:t>
          </a:r>
          <a:r>
            <a:rPr lang="en-US" sz="1800" b="1" kern="1200"/>
            <a:t>positively related to the real interest rate</a:t>
          </a:r>
          <a:r>
            <a:rPr lang="en-US" sz="1800" kern="1200"/>
            <a:t>.</a:t>
          </a:r>
        </a:p>
      </dsp:txBody>
      <dsp:txXfrm>
        <a:off x="34954" y="35660"/>
        <a:ext cx="5932202" cy="646132"/>
      </dsp:txXfrm>
    </dsp:sp>
    <dsp:sp modelId="{4E605BA3-F5BA-4725-8DB5-E931BD058D7D}">
      <dsp:nvSpPr>
        <dsp:cNvPr id="0" name=""/>
        <dsp:cNvSpPr/>
      </dsp:nvSpPr>
      <dsp:spPr>
        <a:xfrm>
          <a:off x="0" y="768586"/>
          <a:ext cx="6002110" cy="71604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When the real interest rate increases:</a:t>
          </a:r>
        </a:p>
      </dsp:txBody>
      <dsp:txXfrm>
        <a:off x="34954" y="803540"/>
        <a:ext cx="5932202" cy="646132"/>
      </dsp:txXfrm>
    </dsp:sp>
    <dsp:sp modelId="{8DA6BCE9-8B2F-45F7-8696-15317856B192}">
      <dsp:nvSpPr>
        <dsp:cNvPr id="0" name=""/>
        <dsp:cNvSpPr/>
      </dsp:nvSpPr>
      <dsp:spPr>
        <a:xfrm>
          <a:off x="0" y="1484626"/>
          <a:ext cx="6002110" cy="12295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6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saving becomes more attractive, </a:t>
          </a:r>
        </a:p>
        <a:p>
          <a:pPr marL="114300" lvl="1" indent="-114300" algn="l" defTabSz="622300">
            <a:lnSpc>
              <a:spcPct val="90000"/>
            </a:lnSpc>
            <a:spcBef>
              <a:spcPct val="0"/>
            </a:spcBef>
            <a:spcAft>
              <a:spcPct val="20000"/>
            </a:spcAft>
            <a:buChar char="•"/>
          </a:pPr>
          <a:r>
            <a:rPr lang="en-US" sz="1400" kern="1200"/>
            <a:t>the reward for postponing consumption increases, </a:t>
          </a:r>
        </a:p>
        <a:p>
          <a:pPr marL="114300" lvl="1" indent="-114300" algn="l" defTabSz="622300">
            <a:lnSpc>
              <a:spcPct val="90000"/>
            </a:lnSpc>
            <a:spcBef>
              <a:spcPct val="0"/>
            </a:spcBef>
            <a:spcAft>
              <a:spcPct val="20000"/>
            </a:spcAft>
            <a:buChar char="•"/>
          </a:pPr>
          <a:r>
            <a:rPr lang="en-US" sz="1400" kern="1200"/>
            <a:t>households may save more. </a:t>
          </a:r>
        </a:p>
        <a:p>
          <a:pPr marL="114300" lvl="1" indent="-114300" algn="l" defTabSz="622300">
            <a:lnSpc>
              <a:spcPct val="90000"/>
            </a:lnSpc>
            <a:spcBef>
              <a:spcPct val="0"/>
            </a:spcBef>
            <a:spcAft>
              <a:spcPct val="20000"/>
            </a:spcAft>
            <a:buChar char="•"/>
          </a:pPr>
          <a:r>
            <a:rPr lang="en-US" sz="1400" kern="1200"/>
            <a:t>Therefore:</a:t>
          </a:r>
        </a:p>
        <a:p>
          <a:pPr marL="114300" lvl="1" indent="-114300" algn="l" defTabSz="622300">
            <a:lnSpc>
              <a:spcPct val="90000"/>
            </a:lnSpc>
            <a:spcBef>
              <a:spcPct val="0"/>
            </a:spcBef>
            <a:spcAft>
              <a:spcPct val="20000"/>
            </a:spcAft>
            <a:buChar char="•"/>
          </a:pPr>
          <a:r>
            <a:rPr lang="en-US" sz="1400" kern="1200"/>
            <a:t>r↑⇒QS​↑ </a:t>
          </a:r>
        </a:p>
      </dsp:txBody>
      <dsp:txXfrm>
        <a:off x="0" y="1484626"/>
        <a:ext cx="6002110" cy="1229580"/>
      </dsp:txXfrm>
    </dsp:sp>
    <dsp:sp modelId="{B438F636-AAC9-4695-97E4-B8CC16DB40FE}">
      <dsp:nvSpPr>
        <dsp:cNvPr id="0" name=""/>
        <dsp:cNvSpPr/>
      </dsp:nvSpPr>
      <dsp:spPr>
        <a:xfrm>
          <a:off x="0" y="2714207"/>
          <a:ext cx="6002110" cy="71604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When the real interest rate falls:</a:t>
          </a:r>
        </a:p>
      </dsp:txBody>
      <dsp:txXfrm>
        <a:off x="34954" y="2749161"/>
        <a:ext cx="5932202" cy="646132"/>
      </dsp:txXfrm>
    </dsp:sp>
    <dsp:sp modelId="{ACEE3DEC-2E0E-4D0F-BB68-04C7FEE3E92E}">
      <dsp:nvSpPr>
        <dsp:cNvPr id="0" name=""/>
        <dsp:cNvSpPr/>
      </dsp:nvSpPr>
      <dsp:spPr>
        <a:xfrm>
          <a:off x="0" y="3430246"/>
          <a:ext cx="600211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6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r↓⇒QS​↓</a:t>
          </a:r>
        </a:p>
      </dsp:txBody>
      <dsp:txXfrm>
        <a:off x="0" y="3430246"/>
        <a:ext cx="6002110" cy="29808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51DA77-8EC5-4470-BDA0-A84CD0DA3FED}">
      <dsp:nvSpPr>
        <dsp:cNvPr id="0" name=""/>
        <dsp:cNvSpPr/>
      </dsp:nvSpPr>
      <dsp:spPr>
        <a:xfrm>
          <a:off x="0" y="0"/>
          <a:ext cx="8412480" cy="957294"/>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Disposable Income </a:t>
          </a:r>
        </a:p>
        <a:p>
          <a:pPr marL="171450" lvl="1" indent="-171450" algn="l" defTabSz="800100">
            <a:lnSpc>
              <a:spcPct val="90000"/>
            </a:lnSpc>
            <a:spcBef>
              <a:spcPct val="0"/>
            </a:spcBef>
            <a:spcAft>
              <a:spcPct val="15000"/>
            </a:spcAft>
            <a:buChar char="•"/>
          </a:pPr>
          <a:r>
            <a:rPr lang="en-US" sz="1800" kern="1200"/>
            <a:t>Income – Net Taxes</a:t>
          </a:r>
        </a:p>
      </dsp:txBody>
      <dsp:txXfrm>
        <a:off x="28038" y="28038"/>
        <a:ext cx="7298593" cy="901218"/>
      </dsp:txXfrm>
    </dsp:sp>
    <dsp:sp modelId="{3CF7DDA8-722E-440A-B85C-D7509EF3CB88}">
      <dsp:nvSpPr>
        <dsp:cNvPr id="0" name=""/>
        <dsp:cNvSpPr/>
      </dsp:nvSpPr>
      <dsp:spPr>
        <a:xfrm>
          <a:off x="704545" y="1131347"/>
          <a:ext cx="8412480" cy="957294"/>
        </a:xfrm>
        <a:prstGeom prst="roundRect">
          <a:avLst>
            <a:gd name="adj" fmla="val 10000"/>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Expected Future Income </a:t>
          </a:r>
        </a:p>
      </dsp:txBody>
      <dsp:txXfrm>
        <a:off x="732583" y="1159385"/>
        <a:ext cx="7029617" cy="901218"/>
      </dsp:txXfrm>
    </dsp:sp>
    <dsp:sp modelId="{F19D651D-5743-4199-88DA-AE4A277F63F4}">
      <dsp:nvSpPr>
        <dsp:cNvPr id="0" name=""/>
        <dsp:cNvSpPr/>
      </dsp:nvSpPr>
      <dsp:spPr>
        <a:xfrm>
          <a:off x="1398574" y="2262695"/>
          <a:ext cx="8412480" cy="957294"/>
        </a:xfrm>
        <a:prstGeom prst="roundRect">
          <a:avLst>
            <a:gd name="adj" fmla="val 10000"/>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Wealth</a:t>
          </a:r>
        </a:p>
      </dsp:txBody>
      <dsp:txXfrm>
        <a:off x="1426612" y="2290733"/>
        <a:ext cx="7040133" cy="901218"/>
      </dsp:txXfrm>
    </dsp:sp>
    <dsp:sp modelId="{69598F13-0A29-43E8-866C-A62D6F3E8CE7}">
      <dsp:nvSpPr>
        <dsp:cNvPr id="0" name=""/>
        <dsp:cNvSpPr/>
      </dsp:nvSpPr>
      <dsp:spPr>
        <a:xfrm>
          <a:off x="2103119" y="3394043"/>
          <a:ext cx="8412480" cy="957294"/>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Default Risk</a:t>
          </a:r>
        </a:p>
      </dsp:txBody>
      <dsp:txXfrm>
        <a:off x="2131157" y="3422081"/>
        <a:ext cx="7029617" cy="901218"/>
      </dsp:txXfrm>
    </dsp:sp>
    <dsp:sp modelId="{B5D764F5-4B69-4CE2-9D52-5FC06AF4BC67}">
      <dsp:nvSpPr>
        <dsp:cNvPr id="0" name=""/>
        <dsp:cNvSpPr/>
      </dsp:nvSpPr>
      <dsp:spPr>
        <a:xfrm>
          <a:off x="7790238" y="733200"/>
          <a:ext cx="622241" cy="622241"/>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7930242" y="733200"/>
        <a:ext cx="342233" cy="468236"/>
      </dsp:txXfrm>
    </dsp:sp>
    <dsp:sp modelId="{72F61951-9D02-4566-B29E-6421E7BE1B7C}">
      <dsp:nvSpPr>
        <dsp:cNvPr id="0" name=""/>
        <dsp:cNvSpPr/>
      </dsp:nvSpPr>
      <dsp:spPr>
        <a:xfrm>
          <a:off x="8494783" y="1864548"/>
          <a:ext cx="622241" cy="622241"/>
        </a:xfrm>
        <a:prstGeom prst="downArrow">
          <a:avLst>
            <a:gd name="adj1" fmla="val 55000"/>
            <a:gd name="adj2" fmla="val 45000"/>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8634787" y="1864548"/>
        <a:ext cx="342233" cy="468236"/>
      </dsp:txXfrm>
    </dsp:sp>
    <dsp:sp modelId="{E6D5EE8A-5F95-4161-8165-CF03D4092121}">
      <dsp:nvSpPr>
        <dsp:cNvPr id="0" name=""/>
        <dsp:cNvSpPr/>
      </dsp:nvSpPr>
      <dsp:spPr>
        <a:xfrm>
          <a:off x="9188813" y="2995896"/>
          <a:ext cx="622241" cy="622241"/>
        </a:xfrm>
        <a:prstGeom prst="downArrow">
          <a:avLst>
            <a:gd name="adj1" fmla="val 55000"/>
            <a:gd name="adj2" fmla="val 45000"/>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9328817" y="2995896"/>
        <a:ext cx="342233" cy="46823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775C1D-7BD3-4099-9235-4E10706E3583}"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68BEA6-A3B5-45D9-8534-08BBF49F4F65}" type="slidenum">
              <a:rPr lang="en-US" smtClean="0"/>
              <a:t>‹#›</a:t>
            </a:fld>
            <a:endParaRPr lang="en-US"/>
          </a:p>
        </p:txBody>
      </p:sp>
    </p:spTree>
    <p:extLst>
      <p:ext uri="{BB962C8B-B14F-4D97-AF65-F5344CB8AC3E}">
        <p14:creationId xmlns:p14="http://schemas.microsoft.com/office/powerpoint/2010/main" val="1825845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68BEA6-A3B5-45D9-8534-08BBF49F4F65}" type="slidenum">
              <a:rPr lang="en-US" smtClean="0"/>
              <a:t>29</a:t>
            </a:fld>
            <a:endParaRPr lang="en-US"/>
          </a:p>
        </p:txBody>
      </p:sp>
    </p:spTree>
    <p:extLst>
      <p:ext uri="{BB962C8B-B14F-4D97-AF65-F5344CB8AC3E}">
        <p14:creationId xmlns:p14="http://schemas.microsoft.com/office/powerpoint/2010/main" val="129869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3C4E9-D934-4FC4-9F98-B194DA08A7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4D02F8-ABB5-B1C6-6E09-1184EE1EBD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528F71-9E08-CA2D-E7CA-FCC647D09231}"/>
              </a:ext>
            </a:extLst>
          </p:cNvPr>
          <p:cNvSpPr>
            <a:spLocks noGrp="1"/>
          </p:cNvSpPr>
          <p:nvPr>
            <p:ph type="dt" sz="half" idx="10"/>
          </p:nvPr>
        </p:nvSpPr>
        <p:spPr/>
        <p:txBody>
          <a:bodyPr/>
          <a:lstStyle/>
          <a:p>
            <a:fld id="{F2503EBA-E91C-4D71-9289-3FA78160C5D1}" type="datetimeFigureOut">
              <a:rPr lang="en-US" smtClean="0"/>
              <a:t>8/17/2026</a:t>
            </a:fld>
            <a:endParaRPr lang="en-US"/>
          </a:p>
        </p:txBody>
      </p:sp>
      <p:sp>
        <p:nvSpPr>
          <p:cNvPr id="5" name="Footer Placeholder 4">
            <a:extLst>
              <a:ext uri="{FF2B5EF4-FFF2-40B4-BE49-F238E27FC236}">
                <a16:creationId xmlns:a16="http://schemas.microsoft.com/office/drawing/2014/main" id="{73D3FF2F-0755-E6A6-049A-1C7FC91A1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8E8842-D390-20EC-8198-337BD33FA6C5}"/>
              </a:ext>
            </a:extLst>
          </p:cNvPr>
          <p:cNvSpPr>
            <a:spLocks noGrp="1"/>
          </p:cNvSpPr>
          <p:nvPr>
            <p:ph type="sldNum" sz="quarter" idx="12"/>
          </p:nvPr>
        </p:nvSpPr>
        <p:spPr/>
        <p:txBody>
          <a:bodyPr/>
          <a:lstStyle/>
          <a:p>
            <a:fld id="{1DA8AD8C-E000-4240-8D21-9F522B9028C5}" type="slidenum">
              <a:rPr lang="en-US" smtClean="0"/>
              <a:t>‹#›</a:t>
            </a:fld>
            <a:endParaRPr lang="en-US"/>
          </a:p>
        </p:txBody>
      </p:sp>
    </p:spTree>
    <p:extLst>
      <p:ext uri="{BB962C8B-B14F-4D97-AF65-F5344CB8AC3E}">
        <p14:creationId xmlns:p14="http://schemas.microsoft.com/office/powerpoint/2010/main" val="1774866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A7C11-3B3F-6B67-EBB9-3FA97E0E6F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C61384-2613-8281-2DCF-04AA4D655B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04C4EF-B4B2-5E78-8B6C-3068EBC6E6A7}"/>
              </a:ext>
            </a:extLst>
          </p:cNvPr>
          <p:cNvSpPr>
            <a:spLocks noGrp="1"/>
          </p:cNvSpPr>
          <p:nvPr>
            <p:ph type="dt" sz="half" idx="10"/>
          </p:nvPr>
        </p:nvSpPr>
        <p:spPr/>
        <p:txBody>
          <a:bodyPr/>
          <a:lstStyle/>
          <a:p>
            <a:fld id="{F2503EBA-E91C-4D71-9289-3FA78160C5D1}" type="datetimeFigureOut">
              <a:rPr lang="en-US" smtClean="0"/>
              <a:t>8/17/2026</a:t>
            </a:fld>
            <a:endParaRPr lang="en-US"/>
          </a:p>
        </p:txBody>
      </p:sp>
      <p:sp>
        <p:nvSpPr>
          <p:cNvPr id="5" name="Footer Placeholder 4">
            <a:extLst>
              <a:ext uri="{FF2B5EF4-FFF2-40B4-BE49-F238E27FC236}">
                <a16:creationId xmlns:a16="http://schemas.microsoft.com/office/drawing/2014/main" id="{66CDB6E3-355B-64A7-7E70-FF72255545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855278-B9E7-14DB-611B-F37AC01E4EB1}"/>
              </a:ext>
            </a:extLst>
          </p:cNvPr>
          <p:cNvSpPr>
            <a:spLocks noGrp="1"/>
          </p:cNvSpPr>
          <p:nvPr>
            <p:ph type="sldNum" sz="quarter" idx="12"/>
          </p:nvPr>
        </p:nvSpPr>
        <p:spPr/>
        <p:txBody>
          <a:bodyPr/>
          <a:lstStyle/>
          <a:p>
            <a:fld id="{1DA8AD8C-E000-4240-8D21-9F522B9028C5}" type="slidenum">
              <a:rPr lang="en-US" smtClean="0"/>
              <a:t>‹#›</a:t>
            </a:fld>
            <a:endParaRPr lang="en-US"/>
          </a:p>
        </p:txBody>
      </p:sp>
    </p:spTree>
    <p:extLst>
      <p:ext uri="{BB962C8B-B14F-4D97-AF65-F5344CB8AC3E}">
        <p14:creationId xmlns:p14="http://schemas.microsoft.com/office/powerpoint/2010/main" val="3425673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C8767-C0EA-E439-0724-C0DFC656D7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5D52C2-4D1C-2C16-EDFB-730DCA560B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286CEF-0DF9-9135-0345-F79E764D97C5}"/>
              </a:ext>
            </a:extLst>
          </p:cNvPr>
          <p:cNvSpPr>
            <a:spLocks noGrp="1"/>
          </p:cNvSpPr>
          <p:nvPr>
            <p:ph type="dt" sz="half" idx="10"/>
          </p:nvPr>
        </p:nvSpPr>
        <p:spPr/>
        <p:txBody>
          <a:bodyPr/>
          <a:lstStyle/>
          <a:p>
            <a:fld id="{F2503EBA-E91C-4D71-9289-3FA78160C5D1}" type="datetimeFigureOut">
              <a:rPr lang="en-US" smtClean="0"/>
              <a:t>8/17/2026</a:t>
            </a:fld>
            <a:endParaRPr lang="en-US"/>
          </a:p>
        </p:txBody>
      </p:sp>
      <p:sp>
        <p:nvSpPr>
          <p:cNvPr id="5" name="Footer Placeholder 4">
            <a:extLst>
              <a:ext uri="{FF2B5EF4-FFF2-40B4-BE49-F238E27FC236}">
                <a16:creationId xmlns:a16="http://schemas.microsoft.com/office/drawing/2014/main" id="{BFF11DD6-677E-0D67-9084-D769048E1D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CE4E83-487F-3F44-6076-9723586352FE}"/>
              </a:ext>
            </a:extLst>
          </p:cNvPr>
          <p:cNvSpPr>
            <a:spLocks noGrp="1"/>
          </p:cNvSpPr>
          <p:nvPr>
            <p:ph type="sldNum" sz="quarter" idx="12"/>
          </p:nvPr>
        </p:nvSpPr>
        <p:spPr/>
        <p:txBody>
          <a:bodyPr/>
          <a:lstStyle/>
          <a:p>
            <a:fld id="{1DA8AD8C-E000-4240-8D21-9F522B9028C5}" type="slidenum">
              <a:rPr lang="en-US" smtClean="0"/>
              <a:t>‹#›</a:t>
            </a:fld>
            <a:endParaRPr lang="en-US"/>
          </a:p>
        </p:txBody>
      </p:sp>
    </p:spTree>
    <p:extLst>
      <p:ext uri="{BB962C8B-B14F-4D97-AF65-F5344CB8AC3E}">
        <p14:creationId xmlns:p14="http://schemas.microsoft.com/office/powerpoint/2010/main" val="4051008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CB56B-0767-4910-DA7F-70C247730D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3ACB81-4A2E-2625-E0D1-8602E1CE04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FC4385-1BE6-3B60-6E51-CE1DC8C0B3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402EAD-83B5-6866-77B0-7B923C2BE79B}"/>
              </a:ext>
            </a:extLst>
          </p:cNvPr>
          <p:cNvSpPr>
            <a:spLocks noGrp="1"/>
          </p:cNvSpPr>
          <p:nvPr>
            <p:ph type="dt" sz="half" idx="10"/>
          </p:nvPr>
        </p:nvSpPr>
        <p:spPr/>
        <p:txBody>
          <a:bodyPr/>
          <a:lstStyle/>
          <a:p>
            <a:fld id="{F2503EBA-E91C-4D71-9289-3FA78160C5D1}" type="datetimeFigureOut">
              <a:rPr lang="en-US" smtClean="0"/>
              <a:t>8/17/2026</a:t>
            </a:fld>
            <a:endParaRPr lang="en-US"/>
          </a:p>
        </p:txBody>
      </p:sp>
      <p:sp>
        <p:nvSpPr>
          <p:cNvPr id="6" name="Footer Placeholder 5">
            <a:extLst>
              <a:ext uri="{FF2B5EF4-FFF2-40B4-BE49-F238E27FC236}">
                <a16:creationId xmlns:a16="http://schemas.microsoft.com/office/drawing/2014/main" id="{81FEA927-948D-4985-16D9-B636ACA6FE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BE754D-25C8-FEF6-C140-750A9EE5454B}"/>
              </a:ext>
            </a:extLst>
          </p:cNvPr>
          <p:cNvSpPr>
            <a:spLocks noGrp="1"/>
          </p:cNvSpPr>
          <p:nvPr>
            <p:ph type="sldNum" sz="quarter" idx="12"/>
          </p:nvPr>
        </p:nvSpPr>
        <p:spPr/>
        <p:txBody>
          <a:bodyPr/>
          <a:lstStyle/>
          <a:p>
            <a:fld id="{1DA8AD8C-E000-4240-8D21-9F522B9028C5}" type="slidenum">
              <a:rPr lang="en-US" smtClean="0"/>
              <a:t>‹#›</a:t>
            </a:fld>
            <a:endParaRPr lang="en-US"/>
          </a:p>
        </p:txBody>
      </p:sp>
    </p:spTree>
    <p:extLst>
      <p:ext uri="{BB962C8B-B14F-4D97-AF65-F5344CB8AC3E}">
        <p14:creationId xmlns:p14="http://schemas.microsoft.com/office/powerpoint/2010/main" val="288480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5B625-90A2-0F15-21BD-4EE5FDC627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61ADB1-D2BD-816D-4717-98EB5A09CB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E475E6-AD15-1199-9430-C56ADE1138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C11311-9A68-E561-36B5-1D6A284E5B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61669D-9FBD-995E-0CB8-B50C673BD8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64C35F-BBC5-037F-54A0-10C39CDDBBF3}"/>
              </a:ext>
            </a:extLst>
          </p:cNvPr>
          <p:cNvSpPr>
            <a:spLocks noGrp="1"/>
          </p:cNvSpPr>
          <p:nvPr>
            <p:ph type="dt" sz="half" idx="10"/>
          </p:nvPr>
        </p:nvSpPr>
        <p:spPr/>
        <p:txBody>
          <a:bodyPr/>
          <a:lstStyle/>
          <a:p>
            <a:fld id="{F2503EBA-E91C-4D71-9289-3FA78160C5D1}" type="datetimeFigureOut">
              <a:rPr lang="en-US" smtClean="0"/>
              <a:t>8/17/2026</a:t>
            </a:fld>
            <a:endParaRPr lang="en-US"/>
          </a:p>
        </p:txBody>
      </p:sp>
      <p:sp>
        <p:nvSpPr>
          <p:cNvPr id="8" name="Footer Placeholder 7">
            <a:extLst>
              <a:ext uri="{FF2B5EF4-FFF2-40B4-BE49-F238E27FC236}">
                <a16:creationId xmlns:a16="http://schemas.microsoft.com/office/drawing/2014/main" id="{6CEA950C-064A-5AC2-886F-09D0299030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82B941-5EC4-4131-838E-B3B64CBF1661}"/>
              </a:ext>
            </a:extLst>
          </p:cNvPr>
          <p:cNvSpPr>
            <a:spLocks noGrp="1"/>
          </p:cNvSpPr>
          <p:nvPr>
            <p:ph type="sldNum" sz="quarter" idx="12"/>
          </p:nvPr>
        </p:nvSpPr>
        <p:spPr/>
        <p:txBody>
          <a:bodyPr/>
          <a:lstStyle/>
          <a:p>
            <a:fld id="{1DA8AD8C-E000-4240-8D21-9F522B9028C5}" type="slidenum">
              <a:rPr lang="en-US" smtClean="0"/>
              <a:t>‹#›</a:t>
            </a:fld>
            <a:endParaRPr lang="en-US"/>
          </a:p>
        </p:txBody>
      </p:sp>
    </p:spTree>
    <p:extLst>
      <p:ext uri="{BB962C8B-B14F-4D97-AF65-F5344CB8AC3E}">
        <p14:creationId xmlns:p14="http://schemas.microsoft.com/office/powerpoint/2010/main" val="386790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DF401-3832-D622-DBBE-812A13E872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D5E81C-E404-A48A-B73A-A3E6992051A6}"/>
              </a:ext>
            </a:extLst>
          </p:cNvPr>
          <p:cNvSpPr>
            <a:spLocks noGrp="1"/>
          </p:cNvSpPr>
          <p:nvPr>
            <p:ph type="dt" sz="half" idx="10"/>
          </p:nvPr>
        </p:nvSpPr>
        <p:spPr/>
        <p:txBody>
          <a:bodyPr/>
          <a:lstStyle/>
          <a:p>
            <a:fld id="{F2503EBA-E91C-4D71-9289-3FA78160C5D1}" type="datetimeFigureOut">
              <a:rPr lang="en-US" smtClean="0"/>
              <a:t>8/17/2026</a:t>
            </a:fld>
            <a:endParaRPr lang="en-US"/>
          </a:p>
        </p:txBody>
      </p:sp>
      <p:sp>
        <p:nvSpPr>
          <p:cNvPr id="4" name="Footer Placeholder 3">
            <a:extLst>
              <a:ext uri="{FF2B5EF4-FFF2-40B4-BE49-F238E27FC236}">
                <a16:creationId xmlns:a16="http://schemas.microsoft.com/office/drawing/2014/main" id="{240068EC-8F52-529D-651A-0293BD2FED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C292C0-1350-DAA9-AD75-B91935AE6B13}"/>
              </a:ext>
            </a:extLst>
          </p:cNvPr>
          <p:cNvSpPr>
            <a:spLocks noGrp="1"/>
          </p:cNvSpPr>
          <p:nvPr>
            <p:ph type="sldNum" sz="quarter" idx="12"/>
          </p:nvPr>
        </p:nvSpPr>
        <p:spPr/>
        <p:txBody>
          <a:bodyPr/>
          <a:lstStyle/>
          <a:p>
            <a:fld id="{1DA8AD8C-E000-4240-8D21-9F522B9028C5}" type="slidenum">
              <a:rPr lang="en-US" smtClean="0"/>
              <a:t>‹#›</a:t>
            </a:fld>
            <a:endParaRPr lang="en-US"/>
          </a:p>
        </p:txBody>
      </p:sp>
    </p:spTree>
    <p:extLst>
      <p:ext uri="{BB962C8B-B14F-4D97-AF65-F5344CB8AC3E}">
        <p14:creationId xmlns:p14="http://schemas.microsoft.com/office/powerpoint/2010/main" val="2838316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F41D24-E723-7F8F-369D-1FDF2FA20C67}"/>
              </a:ext>
            </a:extLst>
          </p:cNvPr>
          <p:cNvSpPr>
            <a:spLocks noGrp="1"/>
          </p:cNvSpPr>
          <p:nvPr>
            <p:ph type="dt" sz="half" idx="10"/>
          </p:nvPr>
        </p:nvSpPr>
        <p:spPr/>
        <p:txBody>
          <a:bodyPr/>
          <a:lstStyle/>
          <a:p>
            <a:fld id="{F2503EBA-E91C-4D71-9289-3FA78160C5D1}" type="datetimeFigureOut">
              <a:rPr lang="en-US" smtClean="0"/>
              <a:t>8/17/2026</a:t>
            </a:fld>
            <a:endParaRPr lang="en-US"/>
          </a:p>
        </p:txBody>
      </p:sp>
      <p:sp>
        <p:nvSpPr>
          <p:cNvPr id="3" name="Footer Placeholder 2">
            <a:extLst>
              <a:ext uri="{FF2B5EF4-FFF2-40B4-BE49-F238E27FC236}">
                <a16:creationId xmlns:a16="http://schemas.microsoft.com/office/drawing/2014/main" id="{25E9F79F-0913-2C0B-33EE-D4B38650E9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A4BE69-D900-8026-FA1E-DDCD4B366187}"/>
              </a:ext>
            </a:extLst>
          </p:cNvPr>
          <p:cNvSpPr>
            <a:spLocks noGrp="1"/>
          </p:cNvSpPr>
          <p:nvPr>
            <p:ph type="sldNum" sz="quarter" idx="12"/>
          </p:nvPr>
        </p:nvSpPr>
        <p:spPr/>
        <p:txBody>
          <a:bodyPr/>
          <a:lstStyle/>
          <a:p>
            <a:fld id="{1DA8AD8C-E000-4240-8D21-9F522B9028C5}" type="slidenum">
              <a:rPr lang="en-US" smtClean="0"/>
              <a:t>‹#›</a:t>
            </a:fld>
            <a:endParaRPr lang="en-US"/>
          </a:p>
        </p:txBody>
      </p:sp>
    </p:spTree>
    <p:extLst>
      <p:ext uri="{BB962C8B-B14F-4D97-AF65-F5344CB8AC3E}">
        <p14:creationId xmlns:p14="http://schemas.microsoft.com/office/powerpoint/2010/main" val="1188060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DBAF1-AA46-107D-0EFA-F1F0114C91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E66897-6C63-13BD-1D04-A35173BD26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2DC04A-35C9-6F96-E7A1-34D6BB4E47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947B7B-7D76-0C81-EC52-8547E8E19A1C}"/>
              </a:ext>
            </a:extLst>
          </p:cNvPr>
          <p:cNvSpPr>
            <a:spLocks noGrp="1"/>
          </p:cNvSpPr>
          <p:nvPr>
            <p:ph type="dt" sz="half" idx="10"/>
          </p:nvPr>
        </p:nvSpPr>
        <p:spPr/>
        <p:txBody>
          <a:bodyPr/>
          <a:lstStyle/>
          <a:p>
            <a:fld id="{F2503EBA-E91C-4D71-9289-3FA78160C5D1}" type="datetimeFigureOut">
              <a:rPr lang="en-US" smtClean="0"/>
              <a:t>8/17/2026</a:t>
            </a:fld>
            <a:endParaRPr lang="en-US"/>
          </a:p>
        </p:txBody>
      </p:sp>
      <p:sp>
        <p:nvSpPr>
          <p:cNvPr id="6" name="Footer Placeholder 5">
            <a:extLst>
              <a:ext uri="{FF2B5EF4-FFF2-40B4-BE49-F238E27FC236}">
                <a16:creationId xmlns:a16="http://schemas.microsoft.com/office/drawing/2014/main" id="{6ADE8977-A888-AB3E-B44D-7D83272339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F5DD03-1621-B642-AA4A-53EB5EF87EF8}"/>
              </a:ext>
            </a:extLst>
          </p:cNvPr>
          <p:cNvSpPr>
            <a:spLocks noGrp="1"/>
          </p:cNvSpPr>
          <p:nvPr>
            <p:ph type="sldNum" sz="quarter" idx="12"/>
          </p:nvPr>
        </p:nvSpPr>
        <p:spPr/>
        <p:txBody>
          <a:bodyPr/>
          <a:lstStyle/>
          <a:p>
            <a:fld id="{1DA8AD8C-E000-4240-8D21-9F522B9028C5}" type="slidenum">
              <a:rPr lang="en-US" smtClean="0"/>
              <a:t>‹#›</a:t>
            </a:fld>
            <a:endParaRPr lang="en-US"/>
          </a:p>
        </p:txBody>
      </p:sp>
    </p:spTree>
    <p:extLst>
      <p:ext uri="{BB962C8B-B14F-4D97-AF65-F5344CB8AC3E}">
        <p14:creationId xmlns:p14="http://schemas.microsoft.com/office/powerpoint/2010/main" val="2309234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17CD6-0E34-2492-E77A-B730DB6291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D25AEF-1DF9-007D-50C4-A84C64D635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7AF39B-CB8F-32A7-27F5-BA05B24FED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07609A-6230-BD53-4A43-578F72F18642}"/>
              </a:ext>
            </a:extLst>
          </p:cNvPr>
          <p:cNvSpPr>
            <a:spLocks noGrp="1"/>
          </p:cNvSpPr>
          <p:nvPr>
            <p:ph type="dt" sz="half" idx="10"/>
          </p:nvPr>
        </p:nvSpPr>
        <p:spPr/>
        <p:txBody>
          <a:bodyPr/>
          <a:lstStyle/>
          <a:p>
            <a:fld id="{F2503EBA-E91C-4D71-9289-3FA78160C5D1}" type="datetimeFigureOut">
              <a:rPr lang="en-US" smtClean="0"/>
              <a:t>8/17/2026</a:t>
            </a:fld>
            <a:endParaRPr lang="en-US"/>
          </a:p>
        </p:txBody>
      </p:sp>
      <p:sp>
        <p:nvSpPr>
          <p:cNvPr id="6" name="Footer Placeholder 5">
            <a:extLst>
              <a:ext uri="{FF2B5EF4-FFF2-40B4-BE49-F238E27FC236}">
                <a16:creationId xmlns:a16="http://schemas.microsoft.com/office/drawing/2014/main" id="{7701D29A-053A-5220-C96B-BDA51A734A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F6695B-8C7B-76FC-AE57-07ECC1E627FE}"/>
              </a:ext>
            </a:extLst>
          </p:cNvPr>
          <p:cNvSpPr>
            <a:spLocks noGrp="1"/>
          </p:cNvSpPr>
          <p:nvPr>
            <p:ph type="sldNum" sz="quarter" idx="12"/>
          </p:nvPr>
        </p:nvSpPr>
        <p:spPr/>
        <p:txBody>
          <a:bodyPr/>
          <a:lstStyle/>
          <a:p>
            <a:fld id="{1DA8AD8C-E000-4240-8D21-9F522B9028C5}" type="slidenum">
              <a:rPr lang="en-US" smtClean="0"/>
              <a:t>‹#›</a:t>
            </a:fld>
            <a:endParaRPr lang="en-US"/>
          </a:p>
        </p:txBody>
      </p:sp>
    </p:spTree>
    <p:extLst>
      <p:ext uri="{BB962C8B-B14F-4D97-AF65-F5344CB8AC3E}">
        <p14:creationId xmlns:p14="http://schemas.microsoft.com/office/powerpoint/2010/main" val="193500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88476-D955-D477-46C4-92D5763491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9CCDDF-E508-1E33-01DE-071A8AB50F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5A57D8-6566-ADD3-E0F6-D8AC62DC3574}"/>
              </a:ext>
            </a:extLst>
          </p:cNvPr>
          <p:cNvSpPr>
            <a:spLocks noGrp="1"/>
          </p:cNvSpPr>
          <p:nvPr>
            <p:ph type="dt" sz="half" idx="10"/>
          </p:nvPr>
        </p:nvSpPr>
        <p:spPr/>
        <p:txBody>
          <a:bodyPr/>
          <a:lstStyle/>
          <a:p>
            <a:fld id="{F2503EBA-E91C-4D71-9289-3FA78160C5D1}" type="datetimeFigureOut">
              <a:rPr lang="en-US" smtClean="0"/>
              <a:t>8/17/2026</a:t>
            </a:fld>
            <a:endParaRPr lang="en-US"/>
          </a:p>
        </p:txBody>
      </p:sp>
      <p:sp>
        <p:nvSpPr>
          <p:cNvPr id="5" name="Footer Placeholder 4">
            <a:extLst>
              <a:ext uri="{FF2B5EF4-FFF2-40B4-BE49-F238E27FC236}">
                <a16:creationId xmlns:a16="http://schemas.microsoft.com/office/drawing/2014/main" id="{33378533-F344-F505-5917-1A6D4657F5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BFC0D1-24B0-5D58-8DC5-B51BEA182A5E}"/>
              </a:ext>
            </a:extLst>
          </p:cNvPr>
          <p:cNvSpPr>
            <a:spLocks noGrp="1"/>
          </p:cNvSpPr>
          <p:nvPr>
            <p:ph type="sldNum" sz="quarter" idx="12"/>
          </p:nvPr>
        </p:nvSpPr>
        <p:spPr/>
        <p:txBody>
          <a:bodyPr/>
          <a:lstStyle/>
          <a:p>
            <a:fld id="{1DA8AD8C-E000-4240-8D21-9F522B9028C5}" type="slidenum">
              <a:rPr lang="en-US" smtClean="0"/>
              <a:t>‹#›</a:t>
            </a:fld>
            <a:endParaRPr lang="en-US"/>
          </a:p>
        </p:txBody>
      </p:sp>
    </p:spTree>
    <p:extLst>
      <p:ext uri="{BB962C8B-B14F-4D97-AF65-F5344CB8AC3E}">
        <p14:creationId xmlns:p14="http://schemas.microsoft.com/office/powerpoint/2010/main" val="1220900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3BA80-0136-F411-351E-D56CE73E78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587D7A-D043-69B8-50F9-DA033FCEC7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BDE0B5-B38A-B366-FF10-A8B1983179C3}"/>
              </a:ext>
            </a:extLst>
          </p:cNvPr>
          <p:cNvSpPr>
            <a:spLocks noGrp="1"/>
          </p:cNvSpPr>
          <p:nvPr>
            <p:ph type="dt" sz="half" idx="10"/>
          </p:nvPr>
        </p:nvSpPr>
        <p:spPr/>
        <p:txBody>
          <a:bodyPr/>
          <a:lstStyle/>
          <a:p>
            <a:fld id="{F2503EBA-E91C-4D71-9289-3FA78160C5D1}" type="datetimeFigureOut">
              <a:rPr lang="en-US" smtClean="0"/>
              <a:t>8/17/2026</a:t>
            </a:fld>
            <a:endParaRPr lang="en-US"/>
          </a:p>
        </p:txBody>
      </p:sp>
      <p:sp>
        <p:nvSpPr>
          <p:cNvPr id="5" name="Footer Placeholder 4">
            <a:extLst>
              <a:ext uri="{FF2B5EF4-FFF2-40B4-BE49-F238E27FC236}">
                <a16:creationId xmlns:a16="http://schemas.microsoft.com/office/drawing/2014/main" id="{CDACBD98-2170-D3FD-288F-1C55F229C1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987FB1-E94A-90DC-84AA-CF7A5F0F153B}"/>
              </a:ext>
            </a:extLst>
          </p:cNvPr>
          <p:cNvSpPr>
            <a:spLocks noGrp="1"/>
          </p:cNvSpPr>
          <p:nvPr>
            <p:ph type="sldNum" sz="quarter" idx="12"/>
          </p:nvPr>
        </p:nvSpPr>
        <p:spPr/>
        <p:txBody>
          <a:bodyPr/>
          <a:lstStyle/>
          <a:p>
            <a:fld id="{1DA8AD8C-E000-4240-8D21-9F522B9028C5}" type="slidenum">
              <a:rPr lang="en-US" smtClean="0"/>
              <a:t>‹#›</a:t>
            </a:fld>
            <a:endParaRPr lang="en-US"/>
          </a:p>
        </p:txBody>
      </p:sp>
    </p:spTree>
    <p:extLst>
      <p:ext uri="{BB962C8B-B14F-4D97-AF65-F5344CB8AC3E}">
        <p14:creationId xmlns:p14="http://schemas.microsoft.com/office/powerpoint/2010/main" val="3346351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6204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713886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475804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98862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30776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005958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859157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04516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0887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419248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5351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0FDC15-06F8-5898-023A-B5DD01BBE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FB19EC-9522-AAA4-F469-830DAB040C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A515F2-9329-0131-47A4-01397EDD92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503EBA-E91C-4D71-9289-3FA78160C5D1}" type="datetimeFigureOut">
              <a:rPr lang="en-US" smtClean="0"/>
              <a:t>8/17/2026</a:t>
            </a:fld>
            <a:endParaRPr lang="en-US"/>
          </a:p>
        </p:txBody>
      </p:sp>
      <p:sp>
        <p:nvSpPr>
          <p:cNvPr id="5" name="Footer Placeholder 4">
            <a:extLst>
              <a:ext uri="{FF2B5EF4-FFF2-40B4-BE49-F238E27FC236}">
                <a16:creationId xmlns:a16="http://schemas.microsoft.com/office/drawing/2014/main" id="{1AAC8745-9459-6B18-658A-8D4F291CBC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A8179C-B5DC-F718-5C73-BF5332911A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A8AD8C-E000-4240-8D21-9F522B9028C5}" type="slidenum">
              <a:rPr lang="en-US" smtClean="0"/>
              <a:t>‹#›</a:t>
            </a:fld>
            <a:endParaRPr lang="en-US"/>
          </a:p>
        </p:txBody>
      </p:sp>
    </p:spTree>
    <p:extLst>
      <p:ext uri="{BB962C8B-B14F-4D97-AF65-F5344CB8AC3E}">
        <p14:creationId xmlns:p14="http://schemas.microsoft.com/office/powerpoint/2010/main" val="31750047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8/17/2026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227384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3C8855C7-D920-9469-BA61-249FBBA80CAA}"/>
              </a:ext>
            </a:extLst>
          </p:cNvPr>
          <p:cNvSpPr>
            <a:spLocks noGrp="1"/>
          </p:cNvSpPr>
          <p:nvPr>
            <p:ph type="ctrTitle"/>
          </p:nvPr>
        </p:nvSpPr>
        <p:spPr>
          <a:xfrm>
            <a:off x="1386865" y="818984"/>
            <a:ext cx="6596245" cy="3268520"/>
          </a:xfrm>
        </p:spPr>
        <p:txBody>
          <a:bodyPr>
            <a:normAutofit/>
          </a:bodyPr>
          <a:lstStyle/>
          <a:p>
            <a:pPr algn="r"/>
            <a:r>
              <a:rPr lang="en-US" sz="4800" dirty="0">
                <a:solidFill>
                  <a:srgbClr val="FFFFFF"/>
                </a:solidFill>
              </a:rPr>
              <a:t>Finance, Savings and Investment </a:t>
            </a:r>
          </a:p>
        </p:txBody>
      </p:sp>
      <p:sp>
        <p:nvSpPr>
          <p:cNvPr id="20" name="Rectangle 19">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4">
            <a:extLst>
              <a:ext uri="{FF2B5EF4-FFF2-40B4-BE49-F238E27FC236}">
                <a16:creationId xmlns:a16="http://schemas.microsoft.com/office/drawing/2014/main" id="{80FAF73E-C17D-5035-CA14-746176A73357}"/>
              </a:ext>
            </a:extLst>
          </p:cNvPr>
          <p:cNvSpPr>
            <a:spLocks noGrp="1"/>
          </p:cNvSpPr>
          <p:nvPr>
            <p:ph type="subTitle" idx="1"/>
          </p:nvPr>
        </p:nvSpPr>
        <p:spPr>
          <a:xfrm>
            <a:off x="1931874" y="4797188"/>
            <a:ext cx="6051236" cy="1241828"/>
          </a:xfrm>
        </p:spPr>
        <p:txBody>
          <a:bodyPr>
            <a:normAutofit/>
          </a:bodyPr>
          <a:lstStyle/>
          <a:p>
            <a:pPr algn="r">
              <a:spcBef>
                <a:spcPts val="0"/>
              </a:spcBef>
              <a:spcAft>
                <a:spcPts val="600"/>
              </a:spcAft>
            </a:pPr>
            <a:r>
              <a:rPr lang="en-US" sz="1500">
                <a:solidFill>
                  <a:srgbClr val="FFFFFF"/>
                </a:solidFill>
              </a:rPr>
              <a:t>Syed A. Mamun, PhD, FCMA</a:t>
            </a:r>
          </a:p>
          <a:p>
            <a:pPr algn="r">
              <a:spcBef>
                <a:spcPts val="0"/>
              </a:spcBef>
              <a:spcAft>
                <a:spcPts val="600"/>
              </a:spcAft>
            </a:pPr>
            <a:r>
              <a:rPr lang="en-US" sz="1500">
                <a:solidFill>
                  <a:srgbClr val="FFFFFF"/>
                </a:solidFill>
              </a:rPr>
              <a:t>Professor of Finance</a:t>
            </a:r>
          </a:p>
          <a:p>
            <a:pPr algn="r">
              <a:spcBef>
                <a:spcPts val="0"/>
              </a:spcBef>
              <a:spcAft>
                <a:spcPts val="600"/>
              </a:spcAft>
            </a:pPr>
            <a:r>
              <a:rPr lang="en-US" sz="1500">
                <a:solidFill>
                  <a:srgbClr val="FFFFFF"/>
                </a:solidFill>
              </a:rPr>
              <a:t>Department of ESS</a:t>
            </a:r>
          </a:p>
          <a:p>
            <a:pPr algn="r">
              <a:spcBef>
                <a:spcPts val="0"/>
              </a:spcBef>
              <a:spcAft>
                <a:spcPts val="600"/>
              </a:spcAft>
            </a:pPr>
            <a:r>
              <a:rPr lang="en-US" sz="1500">
                <a:solidFill>
                  <a:srgbClr val="FFFFFF"/>
                </a:solidFill>
              </a:rPr>
              <a:t>BRAC University</a:t>
            </a:r>
          </a:p>
        </p:txBody>
      </p:sp>
      <p:sp>
        <p:nvSpPr>
          <p:cNvPr id="28" name="Rectangle 27">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025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C4D75FD-73E2-E996-64A2-9138FC015668}"/>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Scope of the Lesson</a:t>
            </a:r>
          </a:p>
        </p:txBody>
      </p:sp>
      <p:graphicFrame>
        <p:nvGraphicFramePr>
          <p:cNvPr id="5" name="Content Placeholder 2">
            <a:extLst>
              <a:ext uri="{FF2B5EF4-FFF2-40B4-BE49-F238E27FC236}">
                <a16:creationId xmlns:a16="http://schemas.microsoft.com/office/drawing/2014/main" id="{27C41BB2-7036-0620-71B6-1F28A5407F25}"/>
              </a:ext>
            </a:extLst>
          </p:cNvPr>
          <p:cNvGraphicFramePr>
            <a:graphicFrameLocks noGrp="1"/>
          </p:cNvGraphicFramePr>
          <p:nvPr>
            <p:ph idx="1"/>
            <p:extLst>
              <p:ext uri="{D42A27DB-BD31-4B8C-83A1-F6EECF244321}">
                <p14:modId xmlns:p14="http://schemas.microsoft.com/office/powerpoint/2010/main" val="336733927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4059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Office building overlayed with stock market graphs">
            <a:extLst>
              <a:ext uri="{FF2B5EF4-FFF2-40B4-BE49-F238E27FC236}">
                <a16:creationId xmlns:a16="http://schemas.microsoft.com/office/drawing/2014/main" id="{CD7F6E20-CD03-5BC5-182E-622185CA1C68}"/>
              </a:ext>
            </a:extLst>
          </p:cNvPr>
          <p:cNvPicPr>
            <a:picLocks noChangeAspect="1"/>
          </p:cNvPicPr>
          <p:nvPr/>
        </p:nvPicPr>
        <p:blipFill>
          <a:blip r:embed="rId2"/>
          <a:srcRect l="10048"/>
          <a:stretch>
            <a:fillRect/>
          </a:stretch>
        </p:blipFill>
        <p:spPr>
          <a:xfrm>
            <a:off x="2915455" y="10"/>
            <a:ext cx="9276545" cy="6857990"/>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p:spPr>
      </p:pic>
      <p:sp>
        <p:nvSpPr>
          <p:cNvPr id="4" name="Title 3">
            <a:extLst>
              <a:ext uri="{FF2B5EF4-FFF2-40B4-BE49-F238E27FC236}">
                <a16:creationId xmlns:a16="http://schemas.microsoft.com/office/drawing/2014/main" id="{1DB28A9C-49B3-7BF1-B05E-27175B3303B6}"/>
              </a:ext>
            </a:extLst>
          </p:cNvPr>
          <p:cNvSpPr>
            <a:spLocks noGrp="1"/>
          </p:cNvSpPr>
          <p:nvPr>
            <p:ph type="title"/>
          </p:nvPr>
        </p:nvSpPr>
        <p:spPr>
          <a:xfrm>
            <a:off x="661916" y="2852381"/>
            <a:ext cx="3161940" cy="2640247"/>
          </a:xfrm>
        </p:spPr>
        <p:txBody>
          <a:bodyPr vert="horz" lIns="91440" tIns="45720" rIns="91440" bIns="45720" rtlCol="0" anchor="b">
            <a:normAutofit/>
          </a:bodyPr>
          <a:lstStyle/>
          <a:p>
            <a:r>
              <a:rPr lang="en-US" sz="3600">
                <a:solidFill>
                  <a:schemeClr val="tx1">
                    <a:lumMod val="85000"/>
                    <a:lumOff val="15000"/>
                  </a:schemeClr>
                </a:solidFill>
              </a:rPr>
              <a:t>Financial Institutions and Financial Markets</a:t>
            </a:r>
            <a:br>
              <a:rPr lang="en-US" sz="3600">
                <a:solidFill>
                  <a:schemeClr val="tx1">
                    <a:lumMod val="85000"/>
                    <a:lumOff val="15000"/>
                  </a:schemeClr>
                </a:solidFill>
              </a:rPr>
            </a:br>
            <a:endParaRPr lang="en-US" sz="3600">
              <a:solidFill>
                <a:schemeClr val="tx1">
                  <a:lumMod val="85000"/>
                  <a:lumOff val="15000"/>
                </a:schemeClr>
              </a:solidFill>
            </a:endParaRPr>
          </a:p>
        </p:txBody>
      </p:sp>
    </p:spTree>
    <p:extLst>
      <p:ext uri="{BB962C8B-B14F-4D97-AF65-F5344CB8AC3E}">
        <p14:creationId xmlns:p14="http://schemas.microsoft.com/office/powerpoint/2010/main" val="1224692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261E75-B426-552A-245D-7F4E82BF64D4}"/>
              </a:ext>
            </a:extLst>
          </p:cNvPr>
          <p:cNvSpPr>
            <a:spLocks noGrp="1"/>
          </p:cNvSpPr>
          <p:nvPr>
            <p:ph type="title"/>
          </p:nvPr>
        </p:nvSpPr>
        <p:spPr>
          <a:xfrm>
            <a:off x="761803" y="350196"/>
            <a:ext cx="4646904" cy="1624520"/>
          </a:xfrm>
        </p:spPr>
        <p:txBody>
          <a:bodyPr anchor="ctr">
            <a:normAutofit/>
          </a:bodyPr>
          <a:lstStyle/>
          <a:p>
            <a:r>
              <a:rPr lang="en-US" sz="4000"/>
              <a:t>What is Finance?</a:t>
            </a:r>
          </a:p>
        </p:txBody>
      </p:sp>
      <p:sp>
        <p:nvSpPr>
          <p:cNvPr id="3" name="Content Placeholder 2">
            <a:extLst>
              <a:ext uri="{FF2B5EF4-FFF2-40B4-BE49-F238E27FC236}">
                <a16:creationId xmlns:a16="http://schemas.microsoft.com/office/drawing/2014/main" id="{B9B729C3-170C-52D3-9135-66D60F267C4D}"/>
              </a:ext>
            </a:extLst>
          </p:cNvPr>
          <p:cNvSpPr>
            <a:spLocks noGrp="1"/>
          </p:cNvSpPr>
          <p:nvPr>
            <p:ph idx="1"/>
          </p:nvPr>
        </p:nvSpPr>
        <p:spPr>
          <a:xfrm>
            <a:off x="761802" y="2743200"/>
            <a:ext cx="4646905" cy="3613149"/>
          </a:xfrm>
        </p:spPr>
        <p:txBody>
          <a:bodyPr anchor="ctr">
            <a:normAutofit/>
          </a:bodyPr>
          <a:lstStyle/>
          <a:p>
            <a:r>
              <a:rPr lang="en-US" sz="2000"/>
              <a:t>Finance studies how households, firms and governments obtain funds and use those funds efficiently.</a:t>
            </a:r>
          </a:p>
          <a:p>
            <a:r>
              <a:rPr lang="en-US" sz="2000"/>
              <a:t>Finance answers three important questions:</a:t>
            </a:r>
          </a:p>
          <a:p>
            <a:pPr lvl="1"/>
            <a:r>
              <a:rPr lang="en-US" sz="2000"/>
              <a:t>Where does money come from? </a:t>
            </a:r>
          </a:p>
          <a:p>
            <a:pPr lvl="1"/>
            <a:r>
              <a:rPr lang="en-US" sz="2000"/>
              <a:t>Where does money go? </a:t>
            </a:r>
          </a:p>
          <a:p>
            <a:pPr lvl="1"/>
            <a:r>
              <a:rPr lang="en-US" sz="2000"/>
              <a:t>How are financial risks managed? </a:t>
            </a:r>
          </a:p>
          <a:p>
            <a:endParaRPr lang="en-US" sz="2000"/>
          </a:p>
        </p:txBody>
      </p:sp>
      <p:pic>
        <p:nvPicPr>
          <p:cNvPr id="5" name="Picture 4">
            <a:extLst>
              <a:ext uri="{FF2B5EF4-FFF2-40B4-BE49-F238E27FC236}">
                <a16:creationId xmlns:a16="http://schemas.microsoft.com/office/drawing/2014/main" id="{3069BB1C-DF69-5969-6EE8-3F365B156FBD}"/>
              </a:ext>
            </a:extLst>
          </p:cNvPr>
          <p:cNvPicPr>
            <a:picLocks noChangeAspect="1"/>
          </p:cNvPicPr>
          <p:nvPr/>
        </p:nvPicPr>
        <p:blipFill>
          <a:blip r:embed="rId2"/>
          <a:srcRect l="37409" r="12535"/>
          <a:stretch>
            <a:fillRect/>
          </a:stretch>
        </p:blipFill>
        <p:spPr>
          <a:xfrm>
            <a:off x="6096000" y="1"/>
            <a:ext cx="6102825" cy="6858000"/>
          </a:xfrm>
          <a:prstGeom prst="rect">
            <a:avLst/>
          </a:prstGeom>
        </p:spPr>
      </p:pic>
    </p:spTree>
    <p:extLst>
      <p:ext uri="{BB962C8B-B14F-4D97-AF65-F5344CB8AC3E}">
        <p14:creationId xmlns:p14="http://schemas.microsoft.com/office/powerpoint/2010/main" val="816151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0CFDBF-DEE2-B681-939D-5F3F5F83828C}"/>
              </a:ext>
            </a:extLst>
          </p:cNvPr>
          <p:cNvSpPr>
            <a:spLocks noGrp="1"/>
          </p:cNvSpPr>
          <p:nvPr>
            <p:ph type="title"/>
          </p:nvPr>
        </p:nvSpPr>
        <p:spPr>
          <a:xfrm>
            <a:off x="841248" y="256032"/>
            <a:ext cx="10506456" cy="1014984"/>
          </a:xfrm>
        </p:spPr>
        <p:txBody>
          <a:bodyPr anchor="b">
            <a:normAutofit/>
          </a:bodyPr>
          <a:lstStyle/>
          <a:p>
            <a:r>
              <a:rPr lang="en-US" dirty="0"/>
              <a:t>Finance vs Money</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CF427180-E972-4C88-4A0A-50A6D64CCBFB}"/>
              </a:ext>
            </a:extLst>
          </p:cNvPr>
          <p:cNvGraphicFramePr>
            <a:graphicFrameLocks noGrp="1"/>
          </p:cNvGraphicFramePr>
          <p:nvPr>
            <p:ph idx="1"/>
            <p:extLst>
              <p:ext uri="{D42A27DB-BD31-4B8C-83A1-F6EECF244321}">
                <p14:modId xmlns:p14="http://schemas.microsoft.com/office/powerpoint/2010/main" val="1890617359"/>
              </p:ext>
            </p:extLst>
          </p:nvPr>
        </p:nvGraphicFramePr>
        <p:xfrm>
          <a:off x="1797168" y="2219078"/>
          <a:ext cx="8597664" cy="3771900"/>
        </p:xfrm>
        <a:graphic>
          <a:graphicData uri="http://schemas.openxmlformats.org/drawingml/2006/table">
            <a:tbl>
              <a:tblPr firstRow="1" bandRow="1"/>
              <a:tblGrid>
                <a:gridCol w="4639351">
                  <a:extLst>
                    <a:ext uri="{9D8B030D-6E8A-4147-A177-3AD203B41FA5}">
                      <a16:colId xmlns:a16="http://schemas.microsoft.com/office/drawing/2014/main" val="1206957168"/>
                    </a:ext>
                  </a:extLst>
                </a:gridCol>
                <a:gridCol w="3958313">
                  <a:extLst>
                    <a:ext uri="{9D8B030D-6E8A-4147-A177-3AD203B41FA5}">
                      <a16:colId xmlns:a16="http://schemas.microsoft.com/office/drawing/2014/main" val="3989433138"/>
                    </a:ext>
                  </a:extLst>
                </a:gridCol>
              </a:tblGrid>
              <a:tr h="553212">
                <a:tc>
                  <a:txBody>
                    <a:bodyPr/>
                    <a:lstStyle/>
                    <a:p>
                      <a:pPr algn="ctr">
                        <a:buNone/>
                      </a:pPr>
                      <a:r>
                        <a:rPr lang="en-US" sz="2500" b="1"/>
                        <a:t>Finance</a:t>
                      </a:r>
                    </a:p>
                  </a:txBody>
                  <a:tcPr marL="125730" marR="125730" marT="62865" marB="62865" anchor="ctr">
                    <a:lnL>
                      <a:noFill/>
                    </a:lnL>
                    <a:lnR>
                      <a:noFill/>
                    </a:lnR>
                    <a:lnT>
                      <a:noFill/>
                    </a:lnT>
                    <a:lnB>
                      <a:noFill/>
                    </a:lnB>
                    <a:noFill/>
                  </a:tcPr>
                </a:tc>
                <a:tc>
                  <a:txBody>
                    <a:bodyPr/>
                    <a:lstStyle/>
                    <a:p>
                      <a:pPr algn="ctr">
                        <a:buNone/>
                      </a:pPr>
                      <a:r>
                        <a:rPr lang="en-US" sz="2500" b="1"/>
                        <a:t>Money</a:t>
                      </a:r>
                    </a:p>
                  </a:txBody>
                  <a:tcPr marL="125730" marR="125730" marT="62865" marB="62865" anchor="ctr">
                    <a:lnL>
                      <a:noFill/>
                    </a:lnL>
                    <a:lnR>
                      <a:noFill/>
                    </a:lnR>
                    <a:lnT>
                      <a:noFill/>
                    </a:lnT>
                    <a:lnB>
                      <a:noFill/>
                    </a:lnB>
                    <a:noFill/>
                  </a:tcPr>
                </a:tc>
                <a:extLst>
                  <a:ext uri="{0D108BD9-81ED-4DB2-BD59-A6C34878D82A}">
                    <a16:rowId xmlns:a16="http://schemas.microsoft.com/office/drawing/2014/main" val="2175338998"/>
                  </a:ext>
                </a:extLst>
              </a:tr>
              <a:tr h="1181862">
                <a:tc>
                  <a:txBody>
                    <a:bodyPr/>
                    <a:lstStyle/>
                    <a:p>
                      <a:pPr>
                        <a:buNone/>
                      </a:pPr>
                      <a:r>
                        <a:rPr lang="en-US" sz="3300"/>
                        <a:t>Allocation of financial resources</a:t>
                      </a:r>
                    </a:p>
                  </a:txBody>
                  <a:tcPr marL="125730" marR="125730" marT="62865" marB="62865" anchor="ctr">
                    <a:lnL>
                      <a:noFill/>
                    </a:lnL>
                    <a:lnR>
                      <a:noFill/>
                    </a:lnR>
                    <a:lnT>
                      <a:noFill/>
                    </a:lnT>
                    <a:lnB>
                      <a:noFill/>
                    </a:lnB>
                    <a:noFill/>
                  </a:tcPr>
                </a:tc>
                <a:tc>
                  <a:txBody>
                    <a:bodyPr/>
                    <a:lstStyle/>
                    <a:p>
                      <a:pPr>
                        <a:buNone/>
                      </a:pPr>
                      <a:r>
                        <a:rPr lang="en-US" sz="3300"/>
                        <a:t>Medium of exchange</a:t>
                      </a:r>
                    </a:p>
                  </a:txBody>
                  <a:tcPr marL="125730" marR="125730" marT="62865" marB="62865" anchor="ctr">
                    <a:lnL>
                      <a:noFill/>
                    </a:lnL>
                    <a:lnR>
                      <a:noFill/>
                    </a:lnR>
                    <a:lnT>
                      <a:noFill/>
                    </a:lnT>
                    <a:lnB>
                      <a:noFill/>
                    </a:lnB>
                    <a:noFill/>
                  </a:tcPr>
                </a:tc>
                <a:extLst>
                  <a:ext uri="{0D108BD9-81ED-4DB2-BD59-A6C34878D82A}">
                    <a16:rowId xmlns:a16="http://schemas.microsoft.com/office/drawing/2014/main" val="3101534641"/>
                  </a:ext>
                </a:extLst>
              </a:tr>
              <a:tr h="678942">
                <a:tc>
                  <a:txBody>
                    <a:bodyPr/>
                    <a:lstStyle/>
                    <a:p>
                      <a:pPr>
                        <a:buNone/>
                      </a:pPr>
                      <a:r>
                        <a:rPr lang="en-US" sz="3300"/>
                        <a:t>Investment decisions</a:t>
                      </a:r>
                    </a:p>
                  </a:txBody>
                  <a:tcPr marL="125730" marR="125730" marT="62865" marB="62865" anchor="ctr">
                    <a:lnL>
                      <a:noFill/>
                    </a:lnL>
                    <a:lnR>
                      <a:noFill/>
                    </a:lnR>
                    <a:lnT>
                      <a:noFill/>
                    </a:lnT>
                    <a:lnB>
                      <a:noFill/>
                    </a:lnB>
                    <a:noFill/>
                  </a:tcPr>
                </a:tc>
                <a:tc>
                  <a:txBody>
                    <a:bodyPr/>
                    <a:lstStyle/>
                    <a:p>
                      <a:pPr>
                        <a:buNone/>
                      </a:pPr>
                      <a:r>
                        <a:rPr lang="en-US" sz="3300"/>
                        <a:t>Used to buy goods</a:t>
                      </a:r>
                    </a:p>
                  </a:txBody>
                  <a:tcPr marL="125730" marR="125730" marT="62865" marB="62865" anchor="ctr">
                    <a:lnL>
                      <a:noFill/>
                    </a:lnL>
                    <a:lnR>
                      <a:noFill/>
                    </a:lnR>
                    <a:lnT>
                      <a:noFill/>
                    </a:lnT>
                    <a:lnB>
                      <a:noFill/>
                    </a:lnB>
                    <a:noFill/>
                  </a:tcPr>
                </a:tc>
                <a:extLst>
                  <a:ext uri="{0D108BD9-81ED-4DB2-BD59-A6C34878D82A}">
                    <a16:rowId xmlns:a16="http://schemas.microsoft.com/office/drawing/2014/main" val="860059675"/>
                  </a:ext>
                </a:extLst>
              </a:tr>
              <a:tr h="678942">
                <a:tc>
                  <a:txBody>
                    <a:bodyPr/>
                    <a:lstStyle/>
                    <a:p>
                      <a:pPr>
                        <a:buNone/>
                      </a:pPr>
                      <a:r>
                        <a:rPr lang="en-US" sz="3300"/>
                        <a:t>Borrowing and lending</a:t>
                      </a:r>
                    </a:p>
                  </a:txBody>
                  <a:tcPr marL="125730" marR="125730" marT="62865" marB="62865" anchor="ctr">
                    <a:lnL>
                      <a:noFill/>
                    </a:lnL>
                    <a:lnR>
                      <a:noFill/>
                    </a:lnR>
                    <a:lnT>
                      <a:noFill/>
                    </a:lnT>
                    <a:lnB>
                      <a:noFill/>
                    </a:lnB>
                    <a:noFill/>
                  </a:tcPr>
                </a:tc>
                <a:tc>
                  <a:txBody>
                    <a:bodyPr/>
                    <a:lstStyle/>
                    <a:p>
                      <a:pPr>
                        <a:buNone/>
                      </a:pPr>
                      <a:r>
                        <a:rPr lang="en-US" sz="3300"/>
                        <a:t>Means of payment</a:t>
                      </a:r>
                    </a:p>
                  </a:txBody>
                  <a:tcPr marL="125730" marR="125730" marT="62865" marB="62865" anchor="ctr">
                    <a:lnL>
                      <a:noFill/>
                    </a:lnL>
                    <a:lnR>
                      <a:noFill/>
                    </a:lnR>
                    <a:lnT>
                      <a:noFill/>
                    </a:lnT>
                    <a:lnB>
                      <a:noFill/>
                    </a:lnB>
                    <a:noFill/>
                  </a:tcPr>
                </a:tc>
                <a:extLst>
                  <a:ext uri="{0D108BD9-81ED-4DB2-BD59-A6C34878D82A}">
                    <a16:rowId xmlns:a16="http://schemas.microsoft.com/office/drawing/2014/main" val="3220900615"/>
                  </a:ext>
                </a:extLst>
              </a:tr>
              <a:tr h="678942">
                <a:tc>
                  <a:txBody>
                    <a:bodyPr/>
                    <a:lstStyle/>
                    <a:p>
                      <a:pPr>
                        <a:buNone/>
                      </a:pPr>
                      <a:r>
                        <a:rPr lang="en-US" sz="3300"/>
                        <a:t>Risk management</a:t>
                      </a:r>
                    </a:p>
                  </a:txBody>
                  <a:tcPr marL="125730" marR="125730" marT="62865" marB="62865" anchor="ctr">
                    <a:lnL>
                      <a:noFill/>
                    </a:lnL>
                    <a:lnR>
                      <a:noFill/>
                    </a:lnR>
                    <a:lnT>
                      <a:noFill/>
                    </a:lnT>
                    <a:lnB>
                      <a:noFill/>
                    </a:lnB>
                    <a:noFill/>
                  </a:tcPr>
                </a:tc>
                <a:tc>
                  <a:txBody>
                    <a:bodyPr/>
                    <a:lstStyle/>
                    <a:p>
                      <a:pPr>
                        <a:buNone/>
                      </a:pPr>
                      <a:r>
                        <a:rPr lang="en-US" sz="3300"/>
                        <a:t>Store of value</a:t>
                      </a:r>
                    </a:p>
                  </a:txBody>
                  <a:tcPr marL="125730" marR="125730" marT="62865" marB="62865" anchor="ctr">
                    <a:lnL>
                      <a:noFill/>
                    </a:lnL>
                    <a:lnR>
                      <a:noFill/>
                    </a:lnR>
                    <a:lnT>
                      <a:noFill/>
                    </a:lnT>
                    <a:lnB>
                      <a:noFill/>
                    </a:lnB>
                    <a:noFill/>
                  </a:tcPr>
                </a:tc>
                <a:extLst>
                  <a:ext uri="{0D108BD9-81ED-4DB2-BD59-A6C34878D82A}">
                    <a16:rowId xmlns:a16="http://schemas.microsoft.com/office/drawing/2014/main" val="3636004363"/>
                  </a:ext>
                </a:extLst>
              </a:tr>
            </a:tbl>
          </a:graphicData>
        </a:graphic>
      </p:graphicFrame>
    </p:spTree>
    <p:extLst>
      <p:ext uri="{BB962C8B-B14F-4D97-AF65-F5344CB8AC3E}">
        <p14:creationId xmlns:p14="http://schemas.microsoft.com/office/powerpoint/2010/main" val="467839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1C9CB1-ADD4-F728-E031-EAD279A5DBDA}"/>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4600" kern="1200">
                <a:solidFill>
                  <a:schemeClr val="tx1"/>
                </a:solidFill>
                <a:latin typeface="+mj-lt"/>
                <a:ea typeface="+mj-ea"/>
                <a:cs typeface="+mj-cs"/>
              </a:rPr>
              <a:t>Physical Capital vs Financial Capital</a:t>
            </a:r>
          </a:p>
        </p:txBody>
      </p:sp>
      <p:sp>
        <p:nvSpPr>
          <p:cNvPr id="2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9A03631-CA52-0442-014F-1AD5D5260B54}"/>
              </a:ext>
            </a:extLst>
          </p:cNvPr>
          <p:cNvSpPr txBox="1"/>
          <p:nvPr/>
        </p:nvSpPr>
        <p:spPr>
          <a:xfrm>
            <a:off x="630936" y="2660904"/>
            <a:ext cx="4818888" cy="3547872"/>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2200"/>
              <a:t>Physical capital produces goods.</a:t>
            </a:r>
          </a:p>
          <a:p>
            <a:pPr marL="285750" indent="-228600">
              <a:lnSpc>
                <a:spcPct val="90000"/>
              </a:lnSpc>
              <a:spcAft>
                <a:spcPts val="600"/>
              </a:spcAft>
              <a:buFont typeface="Arial" panose="020B0604020202020204" pitchFamily="34" charset="0"/>
              <a:buChar char="•"/>
            </a:pPr>
            <a:r>
              <a:rPr lang="en-US" sz="2200"/>
              <a:t>Financial capital provides funds to purchase physical capital.</a:t>
            </a:r>
          </a:p>
        </p:txBody>
      </p:sp>
      <p:graphicFrame>
        <p:nvGraphicFramePr>
          <p:cNvPr id="4" name="Content Placeholder 3">
            <a:extLst>
              <a:ext uri="{FF2B5EF4-FFF2-40B4-BE49-F238E27FC236}">
                <a16:creationId xmlns:a16="http://schemas.microsoft.com/office/drawing/2014/main" id="{7A10B811-2B27-4C26-85CB-DCBBD62E9FE0}"/>
              </a:ext>
            </a:extLst>
          </p:cNvPr>
          <p:cNvGraphicFramePr>
            <a:graphicFrameLocks noGrp="1"/>
          </p:cNvGraphicFramePr>
          <p:nvPr>
            <p:ph idx="1"/>
            <p:extLst>
              <p:ext uri="{D42A27DB-BD31-4B8C-83A1-F6EECF244321}">
                <p14:modId xmlns:p14="http://schemas.microsoft.com/office/powerpoint/2010/main" val="883975809"/>
              </p:ext>
            </p:extLst>
          </p:nvPr>
        </p:nvGraphicFramePr>
        <p:xfrm>
          <a:off x="6099048" y="1476269"/>
          <a:ext cx="5458969" cy="3905465"/>
        </p:xfrm>
        <a:graphic>
          <a:graphicData uri="http://schemas.openxmlformats.org/drawingml/2006/table">
            <a:tbl>
              <a:tblPr firstRow="1" bandRow="1">
                <a:tableStyleId>{8799B23B-EC83-4686-B30A-512413B5E67A}</a:tableStyleId>
              </a:tblPr>
              <a:tblGrid>
                <a:gridCol w="2404029">
                  <a:extLst>
                    <a:ext uri="{9D8B030D-6E8A-4147-A177-3AD203B41FA5}">
                      <a16:colId xmlns:a16="http://schemas.microsoft.com/office/drawing/2014/main" val="1526436953"/>
                    </a:ext>
                  </a:extLst>
                </a:gridCol>
                <a:gridCol w="3054940">
                  <a:extLst>
                    <a:ext uri="{9D8B030D-6E8A-4147-A177-3AD203B41FA5}">
                      <a16:colId xmlns:a16="http://schemas.microsoft.com/office/drawing/2014/main" val="571837705"/>
                    </a:ext>
                  </a:extLst>
                </a:gridCol>
              </a:tblGrid>
              <a:tr h="1156017">
                <a:tc>
                  <a:txBody>
                    <a:bodyPr/>
                    <a:lstStyle/>
                    <a:p>
                      <a:pPr algn="ctr">
                        <a:buNone/>
                      </a:pPr>
                      <a:r>
                        <a:rPr lang="en-US" sz="3100" b="1"/>
                        <a:t>Physical Capital</a:t>
                      </a:r>
                    </a:p>
                  </a:txBody>
                  <a:tcPr marL="156218" marR="156218" marT="78109" marB="78109" anchor="ctr"/>
                </a:tc>
                <a:tc>
                  <a:txBody>
                    <a:bodyPr/>
                    <a:lstStyle/>
                    <a:p>
                      <a:pPr algn="ctr">
                        <a:buNone/>
                      </a:pPr>
                      <a:r>
                        <a:rPr lang="en-US" sz="3100" b="1"/>
                        <a:t>Financial Capital</a:t>
                      </a:r>
                    </a:p>
                  </a:txBody>
                  <a:tcPr marL="156218" marR="156218" marT="78109" marB="78109" anchor="ctr"/>
                </a:tc>
                <a:extLst>
                  <a:ext uri="{0D108BD9-81ED-4DB2-BD59-A6C34878D82A}">
                    <a16:rowId xmlns:a16="http://schemas.microsoft.com/office/drawing/2014/main" val="1253311741"/>
                  </a:ext>
                </a:extLst>
              </a:tr>
              <a:tr h="687362">
                <a:tc>
                  <a:txBody>
                    <a:bodyPr/>
                    <a:lstStyle/>
                    <a:p>
                      <a:pPr>
                        <a:buNone/>
                      </a:pPr>
                      <a:r>
                        <a:rPr lang="en-US" sz="3100"/>
                        <a:t>Machines</a:t>
                      </a:r>
                    </a:p>
                  </a:txBody>
                  <a:tcPr marL="156218" marR="156218" marT="78109" marB="78109" anchor="ctr"/>
                </a:tc>
                <a:tc>
                  <a:txBody>
                    <a:bodyPr/>
                    <a:lstStyle/>
                    <a:p>
                      <a:pPr>
                        <a:buNone/>
                      </a:pPr>
                      <a:r>
                        <a:rPr lang="en-US" sz="3100"/>
                        <a:t>Stocks</a:t>
                      </a:r>
                    </a:p>
                  </a:txBody>
                  <a:tcPr marL="156218" marR="156218" marT="78109" marB="78109" anchor="ctr"/>
                </a:tc>
                <a:extLst>
                  <a:ext uri="{0D108BD9-81ED-4DB2-BD59-A6C34878D82A}">
                    <a16:rowId xmlns:a16="http://schemas.microsoft.com/office/drawing/2014/main" val="4025701695"/>
                  </a:ext>
                </a:extLst>
              </a:tr>
              <a:tr h="687362">
                <a:tc>
                  <a:txBody>
                    <a:bodyPr/>
                    <a:lstStyle/>
                    <a:p>
                      <a:pPr>
                        <a:buNone/>
                      </a:pPr>
                      <a:r>
                        <a:rPr lang="en-US" sz="3100"/>
                        <a:t>Buildings</a:t>
                      </a:r>
                    </a:p>
                  </a:txBody>
                  <a:tcPr marL="156218" marR="156218" marT="78109" marB="78109" anchor="ctr"/>
                </a:tc>
                <a:tc>
                  <a:txBody>
                    <a:bodyPr/>
                    <a:lstStyle/>
                    <a:p>
                      <a:pPr>
                        <a:buNone/>
                      </a:pPr>
                      <a:r>
                        <a:rPr lang="en-US" sz="3100"/>
                        <a:t>Bonds</a:t>
                      </a:r>
                    </a:p>
                  </a:txBody>
                  <a:tcPr marL="156218" marR="156218" marT="78109" marB="78109" anchor="ctr"/>
                </a:tc>
                <a:extLst>
                  <a:ext uri="{0D108BD9-81ED-4DB2-BD59-A6C34878D82A}">
                    <a16:rowId xmlns:a16="http://schemas.microsoft.com/office/drawing/2014/main" val="2137356317"/>
                  </a:ext>
                </a:extLst>
              </a:tr>
              <a:tr h="687362">
                <a:tc>
                  <a:txBody>
                    <a:bodyPr/>
                    <a:lstStyle/>
                    <a:p>
                      <a:pPr>
                        <a:buNone/>
                      </a:pPr>
                      <a:r>
                        <a:rPr lang="en-US" sz="3100"/>
                        <a:t>Equipment</a:t>
                      </a:r>
                    </a:p>
                  </a:txBody>
                  <a:tcPr marL="156218" marR="156218" marT="78109" marB="78109" anchor="ctr"/>
                </a:tc>
                <a:tc>
                  <a:txBody>
                    <a:bodyPr/>
                    <a:lstStyle/>
                    <a:p>
                      <a:pPr>
                        <a:buNone/>
                      </a:pPr>
                      <a:r>
                        <a:rPr lang="en-US" sz="3100"/>
                        <a:t>Bank Deposits</a:t>
                      </a:r>
                    </a:p>
                  </a:txBody>
                  <a:tcPr marL="156218" marR="156218" marT="78109" marB="78109" anchor="ctr"/>
                </a:tc>
                <a:extLst>
                  <a:ext uri="{0D108BD9-81ED-4DB2-BD59-A6C34878D82A}">
                    <a16:rowId xmlns:a16="http://schemas.microsoft.com/office/drawing/2014/main" val="2889726185"/>
                  </a:ext>
                </a:extLst>
              </a:tr>
              <a:tr h="687362">
                <a:tc>
                  <a:txBody>
                    <a:bodyPr/>
                    <a:lstStyle/>
                    <a:p>
                      <a:pPr>
                        <a:buNone/>
                      </a:pPr>
                      <a:r>
                        <a:rPr lang="en-US" sz="3100"/>
                        <a:t>Factories</a:t>
                      </a:r>
                    </a:p>
                  </a:txBody>
                  <a:tcPr marL="156218" marR="156218" marT="78109" marB="78109" anchor="ctr"/>
                </a:tc>
                <a:tc>
                  <a:txBody>
                    <a:bodyPr/>
                    <a:lstStyle/>
                    <a:p>
                      <a:pPr>
                        <a:buNone/>
                      </a:pPr>
                      <a:r>
                        <a:rPr lang="en-US" sz="3100"/>
                        <a:t>Loans</a:t>
                      </a:r>
                    </a:p>
                  </a:txBody>
                  <a:tcPr marL="156218" marR="156218" marT="78109" marB="78109" anchor="ctr"/>
                </a:tc>
                <a:extLst>
                  <a:ext uri="{0D108BD9-81ED-4DB2-BD59-A6C34878D82A}">
                    <a16:rowId xmlns:a16="http://schemas.microsoft.com/office/drawing/2014/main" val="1661891839"/>
                  </a:ext>
                </a:extLst>
              </a:tr>
            </a:tbl>
          </a:graphicData>
        </a:graphic>
      </p:graphicFrame>
    </p:spTree>
    <p:extLst>
      <p:ext uri="{BB962C8B-B14F-4D97-AF65-F5344CB8AC3E}">
        <p14:creationId xmlns:p14="http://schemas.microsoft.com/office/powerpoint/2010/main" val="272442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24CE13F-FA58-7C3F-C423-81B053B387D5}"/>
              </a:ext>
            </a:extLst>
          </p:cNvPr>
          <p:cNvSpPr>
            <a:spLocks noGrp="1"/>
          </p:cNvSpPr>
          <p:nvPr>
            <p:ph type="title"/>
          </p:nvPr>
        </p:nvSpPr>
        <p:spPr>
          <a:xfrm>
            <a:off x="1115568" y="548640"/>
            <a:ext cx="10168128" cy="1179576"/>
          </a:xfrm>
        </p:spPr>
        <p:txBody>
          <a:bodyPr>
            <a:normAutofit/>
          </a:bodyPr>
          <a:lstStyle/>
          <a:p>
            <a:r>
              <a:rPr lang="en-US" sz="4000"/>
              <a:t>Capital and Investment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92CD39D-A139-5756-9F12-352CCCDEF709}"/>
              </a:ext>
            </a:extLst>
          </p:cNvPr>
          <p:cNvSpPr>
            <a:spLocks noGrp="1"/>
          </p:cNvSpPr>
          <p:nvPr>
            <p:ph idx="1"/>
          </p:nvPr>
        </p:nvSpPr>
        <p:spPr>
          <a:xfrm>
            <a:off x="1115568" y="2481943"/>
            <a:ext cx="10168128" cy="3695020"/>
          </a:xfrm>
        </p:spPr>
        <p:txBody>
          <a:bodyPr>
            <a:normAutofit/>
          </a:bodyPr>
          <a:lstStyle/>
          <a:p>
            <a:r>
              <a:rPr lang="en-US" sz="2200"/>
              <a:t>Capital Amount changes due to </a:t>
            </a:r>
          </a:p>
          <a:p>
            <a:pPr lvl="1"/>
            <a:r>
              <a:rPr lang="en-US" sz="2200"/>
              <a:t>Investment </a:t>
            </a:r>
          </a:p>
          <a:p>
            <a:pPr lvl="1"/>
            <a:r>
              <a:rPr lang="en-US" sz="2200"/>
              <a:t>Depreciation </a:t>
            </a:r>
          </a:p>
          <a:p>
            <a:r>
              <a:rPr lang="en-US" sz="2200"/>
              <a:t>Gross Investment- total amount spend on new capital </a:t>
            </a:r>
          </a:p>
          <a:p>
            <a:r>
              <a:rPr lang="en-US" sz="2200"/>
              <a:t>Net Investment = Gross investment – Depreciation </a:t>
            </a:r>
          </a:p>
        </p:txBody>
      </p:sp>
    </p:spTree>
    <p:extLst>
      <p:ext uri="{BB962C8B-B14F-4D97-AF65-F5344CB8AC3E}">
        <p14:creationId xmlns:p14="http://schemas.microsoft.com/office/powerpoint/2010/main" val="3839551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01085D-A3AC-FF5F-59FA-5BC79904AB88}"/>
              </a:ext>
            </a:extLst>
          </p:cNvPr>
          <p:cNvSpPr>
            <a:spLocks noGrp="1"/>
          </p:cNvSpPr>
          <p:nvPr>
            <p:ph type="title"/>
          </p:nvPr>
        </p:nvSpPr>
        <p:spPr>
          <a:xfrm>
            <a:off x="1115568" y="548640"/>
            <a:ext cx="10168128" cy="1179576"/>
          </a:xfrm>
        </p:spPr>
        <p:txBody>
          <a:bodyPr>
            <a:normAutofit/>
          </a:bodyPr>
          <a:lstStyle/>
          <a:p>
            <a:r>
              <a:rPr lang="en-US" sz="4000"/>
              <a:t>Gross vs Net Investment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EB58CD-9B03-E749-445D-C3C0FAE25D78}"/>
                  </a:ext>
                </a:extLst>
              </p:cNvPr>
              <p:cNvSpPr>
                <a:spLocks noGrp="1"/>
              </p:cNvSpPr>
              <p:nvPr>
                <p:ph idx="1"/>
              </p:nvPr>
            </p:nvSpPr>
            <p:spPr>
              <a:xfrm>
                <a:off x="1115568" y="2481943"/>
                <a:ext cx="10168128" cy="3695020"/>
              </a:xfrm>
            </p:spPr>
            <p:txBody>
              <a:bodyPr>
                <a:normAutofit/>
              </a:bodyPr>
              <a:lstStyle/>
              <a:p>
                <a:r>
                  <a:rPr lang="en-US" sz="2200"/>
                  <a:t>Gross Investment</a:t>
                </a:r>
              </a:p>
              <a:p>
                <a:pPr lvl="1"/>
                <a:r>
                  <a:rPr lang="en-US" sz="2200"/>
                  <a:t>Total investment.</a:t>
                </a:r>
              </a:p>
              <a:p>
                <a:r>
                  <a:rPr lang="en-US" sz="2200"/>
                  <a:t>Net Investment</a:t>
                </a:r>
              </a:p>
              <a:p>
                <a:pPr lvl="1"/>
                <a14:m>
                  <m:oMath xmlns:m="http://schemas.openxmlformats.org/officeDocument/2006/math">
                    <m:r>
                      <a:rPr lang="en-US" sz="2200" i="1">
                        <a:latin typeface="Cambria Math" panose="02040503050406030204" pitchFamily="18" charset="0"/>
                      </a:rPr>
                      <m:t>𝑁𝑒𝑡</m:t>
                    </m:r>
                    <m:r>
                      <m:rPr>
                        <m:nor/>
                      </m:rPr>
                      <a:rPr lang="en-US" sz="2200" i="0"/>
                      <m:t> </m:t>
                    </m:r>
                    <m:r>
                      <a:rPr lang="en-US" sz="2200" i="1">
                        <a:latin typeface="Cambria Math" panose="02040503050406030204" pitchFamily="18" charset="0"/>
                      </a:rPr>
                      <m:t>𝐼𝑛𝑣𝑒𝑠𝑡𝑚𝑒𝑛𝑡</m:t>
                    </m:r>
                    <m:r>
                      <a:rPr lang="en-US" sz="2200">
                        <a:latin typeface="Cambria Math" panose="02040503050406030204" pitchFamily="18" charset="0"/>
                      </a:rPr>
                      <m:t>=</m:t>
                    </m:r>
                    <m:r>
                      <a:rPr lang="en-US" sz="2200" i="1">
                        <a:latin typeface="Cambria Math" panose="02040503050406030204" pitchFamily="18" charset="0"/>
                      </a:rPr>
                      <m:t>𝐺𝑟𝑜𝑠𝑠</m:t>
                    </m:r>
                    <m:r>
                      <m:rPr>
                        <m:nor/>
                      </m:rPr>
                      <a:rPr lang="en-US" sz="2200" i="0"/>
                      <m:t> </m:t>
                    </m:r>
                    <m:r>
                      <a:rPr lang="en-US" sz="2200" i="1">
                        <a:latin typeface="Cambria Math" panose="02040503050406030204" pitchFamily="18" charset="0"/>
                      </a:rPr>
                      <m:t>𝐼𝑛𝑣𝑒𝑠𝑡𝑚𝑒𝑛𝑡</m:t>
                    </m:r>
                    <m:r>
                      <a:rPr lang="en-US" sz="2200">
                        <a:latin typeface="Cambria Math" panose="02040503050406030204" pitchFamily="18" charset="0"/>
                      </a:rPr>
                      <m:t>−</m:t>
                    </m:r>
                    <m:r>
                      <a:rPr lang="en-US" sz="2200" i="1">
                        <a:latin typeface="Cambria Math" panose="02040503050406030204" pitchFamily="18" charset="0"/>
                      </a:rPr>
                      <m:t>𝐷𝑒𝑝𝑟𝑒𝑐𝑖𝑎𝑡𝑖𝑜𝑛</m:t>
                    </m:r>
                  </m:oMath>
                </a14:m>
                <a:endParaRPr lang="en-US" sz="2200" b="0"/>
              </a:p>
              <a:p>
                <a:r>
                  <a:rPr lang="en-US" sz="2200"/>
                  <a:t>Example</a:t>
                </a:r>
              </a:p>
              <a:p>
                <a:r>
                  <a:rPr lang="en-US" sz="2200"/>
                  <a:t>Gross Investment = Tk. 600 million</a:t>
                </a:r>
              </a:p>
              <a:p>
                <a:r>
                  <a:rPr lang="en-US" sz="2200"/>
                  <a:t>Depreciation = Tk.150 million</a:t>
                </a:r>
              </a:p>
              <a:p>
                <a:r>
                  <a:rPr lang="en-US" sz="2200"/>
                  <a:t>Net Investment = Tk.450 million</a:t>
                </a:r>
              </a:p>
              <a:p>
                <a:endParaRPr lang="en-US" sz="2200"/>
              </a:p>
            </p:txBody>
          </p:sp>
        </mc:Choice>
        <mc:Fallback xmlns="">
          <p:sp>
            <p:nvSpPr>
              <p:cNvPr id="3" name="Content Placeholder 2">
                <a:extLst>
                  <a:ext uri="{FF2B5EF4-FFF2-40B4-BE49-F238E27FC236}">
                    <a16:creationId xmlns:a16="http://schemas.microsoft.com/office/drawing/2014/main" id="{00EB58CD-9B03-E749-445D-C3C0FAE25D78}"/>
                  </a:ext>
                </a:extLst>
              </p:cNvPr>
              <p:cNvSpPr>
                <a:spLocks noGrp="1" noRot="1" noChangeAspect="1" noMove="1" noResize="1" noEditPoints="1" noAdjustHandles="1" noChangeArrowheads="1" noChangeShapeType="1" noTextEdit="1"/>
              </p:cNvSpPr>
              <p:nvPr>
                <p:ph idx="1"/>
              </p:nvPr>
            </p:nvSpPr>
            <p:spPr>
              <a:xfrm>
                <a:off x="1115568" y="2481943"/>
                <a:ext cx="10168128" cy="3695020"/>
              </a:xfrm>
              <a:blipFill>
                <a:blip r:embed="rId2"/>
                <a:stretch>
                  <a:fillRect l="-659" t="-1980"/>
                </a:stretch>
              </a:blipFill>
            </p:spPr>
            <p:txBody>
              <a:bodyPr/>
              <a:lstStyle/>
              <a:p>
                <a:r>
                  <a:rPr lang="en-US">
                    <a:noFill/>
                  </a:rPr>
                  <a:t> </a:t>
                </a:r>
              </a:p>
            </p:txBody>
          </p:sp>
        </mc:Fallback>
      </mc:AlternateContent>
    </p:spTree>
    <p:extLst>
      <p:ext uri="{BB962C8B-B14F-4D97-AF65-F5344CB8AC3E}">
        <p14:creationId xmlns:p14="http://schemas.microsoft.com/office/powerpoint/2010/main" val="1921292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578C39-43D7-D7BE-39FB-732ADE5D3597}"/>
              </a:ext>
            </a:extLst>
          </p:cNvPr>
          <p:cNvSpPr>
            <a:spLocks noGrp="1"/>
          </p:cNvSpPr>
          <p:nvPr>
            <p:ph type="title"/>
          </p:nvPr>
        </p:nvSpPr>
        <p:spPr>
          <a:xfrm>
            <a:off x="1115568" y="548640"/>
            <a:ext cx="10168128" cy="1179576"/>
          </a:xfrm>
        </p:spPr>
        <p:txBody>
          <a:bodyPr>
            <a:normAutofit/>
          </a:bodyPr>
          <a:lstStyle/>
          <a:p>
            <a:r>
              <a:rPr lang="en-US" sz="4000"/>
              <a:t>Wealth and savings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EABAA89-0BD1-C534-39CA-68D82323BDD5}"/>
              </a:ext>
            </a:extLst>
          </p:cNvPr>
          <p:cNvSpPr>
            <a:spLocks noGrp="1"/>
          </p:cNvSpPr>
          <p:nvPr>
            <p:ph idx="1"/>
          </p:nvPr>
        </p:nvSpPr>
        <p:spPr>
          <a:xfrm>
            <a:off x="1115568" y="2481943"/>
            <a:ext cx="10168128" cy="3695020"/>
          </a:xfrm>
        </p:spPr>
        <p:txBody>
          <a:bodyPr>
            <a:normAutofit/>
          </a:bodyPr>
          <a:lstStyle/>
          <a:p>
            <a:r>
              <a:rPr lang="en-US" sz="2200"/>
              <a:t>Wealth is the value of all the things that people own</a:t>
            </a:r>
          </a:p>
          <a:p>
            <a:r>
              <a:rPr lang="en-US" sz="2200"/>
              <a:t>Savings is the amount of income after </a:t>
            </a:r>
            <a:r>
              <a:rPr lang="en-US" sz="2200" b="1"/>
              <a:t>consumption and tax</a:t>
            </a:r>
          </a:p>
          <a:p>
            <a:pPr lvl="1"/>
            <a:r>
              <a:rPr lang="en-US" sz="2200" b="1"/>
              <a:t>Savings = Income – Consumption - Tax</a:t>
            </a:r>
          </a:p>
          <a:p>
            <a:r>
              <a:rPr lang="en-US" sz="2200"/>
              <a:t>Wealth</a:t>
            </a:r>
          </a:p>
          <a:p>
            <a:pPr lvl="1"/>
            <a:r>
              <a:rPr lang="en-US" sz="2200"/>
              <a:t> increases with Savings and Capital gain, and </a:t>
            </a:r>
          </a:p>
          <a:p>
            <a:pPr lvl="1"/>
            <a:r>
              <a:rPr lang="en-US" sz="2200"/>
              <a:t>decreases with capital loss </a:t>
            </a:r>
          </a:p>
        </p:txBody>
      </p:sp>
    </p:spTree>
    <p:extLst>
      <p:ext uri="{BB962C8B-B14F-4D97-AF65-F5344CB8AC3E}">
        <p14:creationId xmlns:p14="http://schemas.microsoft.com/office/powerpoint/2010/main" val="1465655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D552AEF-B33F-8BC2-032C-C0B33DF4CEB1}"/>
              </a:ext>
            </a:extLst>
          </p:cNvPr>
          <p:cNvSpPr>
            <a:spLocks noGrp="1"/>
          </p:cNvSpPr>
          <p:nvPr>
            <p:ph type="title"/>
          </p:nvPr>
        </p:nvSpPr>
        <p:spPr>
          <a:xfrm>
            <a:off x="1115568" y="548640"/>
            <a:ext cx="10168128" cy="1179576"/>
          </a:xfrm>
        </p:spPr>
        <p:txBody>
          <a:bodyPr>
            <a:normAutofit/>
          </a:bodyPr>
          <a:lstStyle/>
          <a:p>
            <a:r>
              <a:rPr lang="en-US" sz="4000"/>
              <a:t>Saving and Investment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2B67C5-9801-F52E-F2AC-297CA38DBA50}"/>
                  </a:ext>
                </a:extLst>
              </p:cNvPr>
              <p:cNvSpPr>
                <a:spLocks noGrp="1"/>
              </p:cNvSpPr>
              <p:nvPr>
                <p:ph idx="1"/>
              </p:nvPr>
            </p:nvSpPr>
            <p:spPr>
              <a:xfrm>
                <a:off x="1115568" y="2481943"/>
                <a:ext cx="10168128" cy="3695020"/>
              </a:xfrm>
            </p:spPr>
            <p:txBody>
              <a:bodyPr>
                <a:normAutofit/>
              </a:bodyPr>
              <a:lstStyle/>
              <a:p>
                <a:r>
                  <a:rPr lang="en-US" sz="1700"/>
                  <a:t>Saving</a:t>
                </a:r>
              </a:p>
              <a:p>
                <a:r>
                  <a:rPr lang="en-US" sz="1700"/>
                  <a:t>Income not spent on consumption.</a:t>
                </a:r>
              </a:p>
              <a:p>
                <a:pPr lvl="1"/>
                <a14:m>
                  <m:oMath xmlns:m="http://schemas.openxmlformats.org/officeDocument/2006/math">
                    <m:r>
                      <a:rPr lang="en-US" sz="1700" i="1">
                        <a:latin typeface="Cambria Math" panose="02040503050406030204" pitchFamily="18" charset="0"/>
                      </a:rPr>
                      <m:t>𝑆𝑎𝑣𝑖𝑛𝑔</m:t>
                    </m:r>
                    <m:r>
                      <a:rPr lang="en-US" sz="1700">
                        <a:latin typeface="Cambria Math" panose="02040503050406030204" pitchFamily="18" charset="0"/>
                      </a:rPr>
                      <m:t>=</m:t>
                    </m:r>
                    <m:r>
                      <a:rPr lang="en-US" sz="1700" i="1">
                        <a:latin typeface="Cambria Math" panose="02040503050406030204" pitchFamily="18" charset="0"/>
                      </a:rPr>
                      <m:t>𝐼𝑛𝑐𝑜𝑚𝑒</m:t>
                    </m:r>
                    <m:r>
                      <a:rPr lang="en-US" sz="1700">
                        <a:latin typeface="Cambria Math" panose="02040503050406030204" pitchFamily="18" charset="0"/>
                      </a:rPr>
                      <m:t>−</m:t>
                    </m:r>
                    <m:r>
                      <a:rPr lang="en-US" sz="1700" i="1">
                        <a:latin typeface="Cambria Math" panose="02040503050406030204" pitchFamily="18" charset="0"/>
                      </a:rPr>
                      <m:t>𝐶𝑜𝑛𝑠𝑢𝑚𝑝𝑡𝑖𝑜𝑛</m:t>
                    </m:r>
                  </m:oMath>
                </a14:m>
                <a:endParaRPr lang="en-US" sz="1700"/>
              </a:p>
              <a:p>
                <a:r>
                  <a:rPr lang="en-US" sz="1700"/>
                  <a:t>Investment</a:t>
                </a:r>
              </a:p>
              <a:p>
                <a:r>
                  <a:rPr lang="en-US" sz="1700"/>
                  <a:t>Purchase of new capital goods.</a:t>
                </a:r>
              </a:p>
              <a:p>
                <a:r>
                  <a:rPr lang="en-US" sz="1700"/>
                  <a:t>Examples</a:t>
                </a:r>
              </a:p>
              <a:p>
                <a:pPr lvl="1"/>
                <a:r>
                  <a:rPr lang="en-US" sz="1700"/>
                  <a:t>New factory </a:t>
                </a:r>
              </a:p>
              <a:p>
                <a:pPr lvl="1"/>
                <a:r>
                  <a:rPr lang="en-US" sz="1700"/>
                  <a:t>Machinery </a:t>
                </a:r>
              </a:p>
              <a:p>
                <a:pPr lvl="1"/>
                <a:r>
                  <a:rPr lang="en-US" sz="1700"/>
                  <a:t>Technology </a:t>
                </a:r>
              </a:p>
              <a:p>
                <a:pPr lvl="1"/>
                <a:r>
                  <a:rPr lang="en-US" sz="1700"/>
                  <a:t>Warehouse </a:t>
                </a:r>
              </a:p>
              <a:p>
                <a:r>
                  <a:rPr lang="en-US" sz="1700"/>
                  <a:t>Investment does NOT include purchasing existing shares.</a:t>
                </a:r>
              </a:p>
              <a:p>
                <a:endParaRPr lang="en-US" sz="1700"/>
              </a:p>
            </p:txBody>
          </p:sp>
        </mc:Choice>
        <mc:Fallback xmlns="">
          <p:sp>
            <p:nvSpPr>
              <p:cNvPr id="3" name="Content Placeholder 2">
                <a:extLst>
                  <a:ext uri="{FF2B5EF4-FFF2-40B4-BE49-F238E27FC236}">
                    <a16:creationId xmlns:a16="http://schemas.microsoft.com/office/drawing/2014/main" id="{ED2B67C5-9801-F52E-F2AC-297CA38DBA50}"/>
                  </a:ext>
                </a:extLst>
              </p:cNvPr>
              <p:cNvSpPr>
                <a:spLocks noGrp="1" noRot="1" noChangeAspect="1" noMove="1" noResize="1" noEditPoints="1" noAdjustHandles="1" noChangeArrowheads="1" noChangeShapeType="1" noTextEdit="1"/>
              </p:cNvSpPr>
              <p:nvPr>
                <p:ph idx="1"/>
              </p:nvPr>
            </p:nvSpPr>
            <p:spPr>
              <a:xfrm>
                <a:off x="1115568" y="2481943"/>
                <a:ext cx="10168128" cy="3695020"/>
              </a:xfrm>
              <a:blipFill>
                <a:blip r:embed="rId2"/>
                <a:stretch>
                  <a:fillRect l="-300" t="-990"/>
                </a:stretch>
              </a:blipFill>
            </p:spPr>
            <p:txBody>
              <a:bodyPr/>
              <a:lstStyle/>
              <a:p>
                <a:r>
                  <a:rPr lang="en-US">
                    <a:noFill/>
                  </a:rPr>
                  <a:t> </a:t>
                </a:r>
              </a:p>
            </p:txBody>
          </p:sp>
        </mc:Fallback>
      </mc:AlternateContent>
    </p:spTree>
    <p:extLst>
      <p:ext uri="{BB962C8B-B14F-4D97-AF65-F5344CB8AC3E}">
        <p14:creationId xmlns:p14="http://schemas.microsoft.com/office/powerpoint/2010/main" val="3513665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12190412" cy="639762"/>
          </a:xfrm>
        </p:spPr>
        <p:style>
          <a:lnRef idx="0">
            <a:schemeClr val="accent1"/>
          </a:lnRef>
          <a:fillRef idx="3">
            <a:schemeClr val="accent1"/>
          </a:fillRef>
          <a:effectRef idx="3">
            <a:schemeClr val="accent1"/>
          </a:effectRef>
          <a:fontRef idx="minor">
            <a:schemeClr val="lt1"/>
          </a:fontRef>
        </p:style>
        <p:txBody>
          <a:bodyPr>
            <a:normAutofit fontScale="90000"/>
          </a:bodyPr>
          <a:lstStyle/>
          <a:p>
            <a:r>
              <a:rPr lang="en-US" sz="3600" dirty="0"/>
              <a:t>Financial System of Bangladesh</a:t>
            </a:r>
          </a:p>
        </p:txBody>
      </p:sp>
      <p:sp>
        <p:nvSpPr>
          <p:cNvPr id="4" name="Rectangle 3"/>
          <p:cNvSpPr/>
          <p:nvPr/>
        </p:nvSpPr>
        <p:spPr>
          <a:xfrm>
            <a:off x="2133600" y="3200400"/>
            <a:ext cx="1447800" cy="1447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prstClr val="black"/>
                </a:solidFill>
                <a:latin typeface="Calibri"/>
              </a:rPr>
              <a:t>Surplus Side:</a:t>
            </a:r>
          </a:p>
          <a:p>
            <a:r>
              <a:rPr lang="en-US" sz="1400" dirty="0">
                <a:solidFill>
                  <a:prstClr val="black"/>
                </a:solidFill>
                <a:latin typeface="Calibri"/>
              </a:rPr>
              <a:t>Households</a:t>
            </a:r>
          </a:p>
          <a:p>
            <a:r>
              <a:rPr lang="en-US" sz="1400" dirty="0">
                <a:solidFill>
                  <a:prstClr val="black"/>
                </a:solidFill>
                <a:latin typeface="Calibri"/>
              </a:rPr>
              <a:t>Business Firms</a:t>
            </a:r>
          </a:p>
          <a:p>
            <a:r>
              <a:rPr lang="en-US" sz="1400" dirty="0">
                <a:solidFill>
                  <a:prstClr val="black"/>
                </a:solidFill>
                <a:latin typeface="Calibri"/>
              </a:rPr>
              <a:t>Institutions</a:t>
            </a:r>
          </a:p>
          <a:p>
            <a:r>
              <a:rPr lang="en-US" sz="1400" dirty="0">
                <a:solidFill>
                  <a:prstClr val="black"/>
                </a:solidFill>
                <a:latin typeface="Calibri"/>
              </a:rPr>
              <a:t>Government</a:t>
            </a:r>
            <a:r>
              <a:rPr lang="en-US" dirty="0">
                <a:solidFill>
                  <a:prstClr val="black"/>
                </a:solidFill>
                <a:latin typeface="Calibri"/>
              </a:rPr>
              <a:t> </a:t>
            </a:r>
          </a:p>
        </p:txBody>
      </p:sp>
      <p:sp>
        <p:nvSpPr>
          <p:cNvPr id="5" name="Rectangle 4"/>
          <p:cNvSpPr/>
          <p:nvPr/>
        </p:nvSpPr>
        <p:spPr>
          <a:xfrm>
            <a:off x="8610600" y="3429000"/>
            <a:ext cx="1524000" cy="1295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dirty="0">
              <a:solidFill>
                <a:prstClr val="black"/>
              </a:solidFill>
              <a:latin typeface="Calibri"/>
            </a:endParaRPr>
          </a:p>
          <a:p>
            <a:pPr algn="ctr"/>
            <a:r>
              <a:rPr lang="en-US" b="1" dirty="0">
                <a:solidFill>
                  <a:prstClr val="black"/>
                </a:solidFill>
                <a:latin typeface="Calibri"/>
              </a:rPr>
              <a:t>Deficit Side:</a:t>
            </a:r>
          </a:p>
          <a:p>
            <a:r>
              <a:rPr lang="en-US" sz="1400" dirty="0">
                <a:solidFill>
                  <a:prstClr val="black"/>
                </a:solidFill>
                <a:latin typeface="Calibri"/>
              </a:rPr>
              <a:t>Business Firms</a:t>
            </a:r>
          </a:p>
          <a:p>
            <a:r>
              <a:rPr lang="en-US" sz="1400" dirty="0">
                <a:solidFill>
                  <a:prstClr val="black"/>
                </a:solidFill>
                <a:latin typeface="Calibri"/>
              </a:rPr>
              <a:t>Institutions</a:t>
            </a:r>
          </a:p>
          <a:p>
            <a:r>
              <a:rPr lang="en-US" sz="1400" dirty="0">
                <a:solidFill>
                  <a:prstClr val="black"/>
                </a:solidFill>
                <a:latin typeface="Calibri"/>
              </a:rPr>
              <a:t>Households</a:t>
            </a:r>
          </a:p>
          <a:p>
            <a:r>
              <a:rPr lang="en-US" sz="1400" dirty="0">
                <a:solidFill>
                  <a:prstClr val="black"/>
                </a:solidFill>
                <a:latin typeface="Calibri"/>
              </a:rPr>
              <a:t>Government</a:t>
            </a:r>
          </a:p>
          <a:p>
            <a:pPr algn="ctr"/>
            <a:endParaRPr lang="en-US" dirty="0">
              <a:solidFill>
                <a:prstClr val="black"/>
              </a:solidFill>
              <a:latin typeface="Calibri"/>
            </a:endParaRPr>
          </a:p>
        </p:txBody>
      </p:sp>
      <p:sp>
        <p:nvSpPr>
          <p:cNvPr id="6" name="Rectangle 5"/>
          <p:cNvSpPr/>
          <p:nvPr/>
        </p:nvSpPr>
        <p:spPr>
          <a:xfrm>
            <a:off x="5410200" y="1752600"/>
            <a:ext cx="1828800" cy="38100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prstClr val="black"/>
                </a:solidFill>
                <a:latin typeface="Calibri"/>
              </a:rPr>
              <a:t>Banks &amp; FIs</a:t>
            </a:r>
          </a:p>
        </p:txBody>
      </p:sp>
      <p:sp>
        <p:nvSpPr>
          <p:cNvPr id="8" name="Rectangle 7"/>
          <p:cNvSpPr/>
          <p:nvPr/>
        </p:nvSpPr>
        <p:spPr>
          <a:xfrm>
            <a:off x="5410200" y="2209800"/>
            <a:ext cx="1828800" cy="30480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prstClr val="black"/>
                </a:solidFill>
                <a:latin typeface="Calibri"/>
              </a:rPr>
              <a:t>IC, MCFIs &amp; MFIs</a:t>
            </a:r>
          </a:p>
        </p:txBody>
      </p:sp>
      <p:sp>
        <p:nvSpPr>
          <p:cNvPr id="9" name="Rectangle 8"/>
          <p:cNvSpPr/>
          <p:nvPr/>
        </p:nvSpPr>
        <p:spPr>
          <a:xfrm>
            <a:off x="5257800" y="3505200"/>
            <a:ext cx="1828800" cy="38100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prstClr val="black"/>
                </a:solidFill>
                <a:latin typeface="Calibri"/>
              </a:rPr>
              <a:t>Bond Market</a:t>
            </a:r>
          </a:p>
        </p:txBody>
      </p:sp>
      <p:sp>
        <p:nvSpPr>
          <p:cNvPr id="10" name="Rectangle 9"/>
          <p:cNvSpPr/>
          <p:nvPr/>
        </p:nvSpPr>
        <p:spPr>
          <a:xfrm>
            <a:off x="5257800" y="3962400"/>
            <a:ext cx="1828800" cy="30480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prstClr val="black"/>
                </a:solidFill>
                <a:latin typeface="Calibri"/>
              </a:rPr>
              <a:t>Stock Market</a:t>
            </a:r>
          </a:p>
        </p:txBody>
      </p:sp>
      <p:sp>
        <p:nvSpPr>
          <p:cNvPr id="11" name="Rectangle 10"/>
          <p:cNvSpPr/>
          <p:nvPr/>
        </p:nvSpPr>
        <p:spPr>
          <a:xfrm>
            <a:off x="5257800" y="4419600"/>
            <a:ext cx="1828800" cy="30480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prstClr val="black"/>
                </a:solidFill>
                <a:latin typeface="Calibri"/>
              </a:rPr>
              <a:t>FX Market</a:t>
            </a:r>
          </a:p>
        </p:txBody>
      </p:sp>
      <p:cxnSp>
        <p:nvCxnSpPr>
          <p:cNvPr id="13" name="Straight Connector 12"/>
          <p:cNvCxnSpPr/>
          <p:nvPr/>
        </p:nvCxnSpPr>
        <p:spPr>
          <a:xfrm rot="5400000" flipH="1" flipV="1">
            <a:off x="2324894" y="2628106"/>
            <a:ext cx="990600" cy="1588"/>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Straight Arrow Connector 14"/>
          <p:cNvCxnSpPr/>
          <p:nvPr/>
        </p:nvCxnSpPr>
        <p:spPr>
          <a:xfrm>
            <a:off x="2819400" y="2133600"/>
            <a:ext cx="23622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8" name="Straight Connector 17"/>
          <p:cNvCxnSpPr/>
          <p:nvPr/>
        </p:nvCxnSpPr>
        <p:spPr>
          <a:xfrm>
            <a:off x="7391400" y="2133600"/>
            <a:ext cx="1981200" cy="1588"/>
          </a:xfrm>
          <a:prstGeom prst="line">
            <a:avLst/>
          </a:prstGeom>
        </p:spPr>
        <p:style>
          <a:lnRef idx="3">
            <a:schemeClr val="accent2"/>
          </a:lnRef>
          <a:fillRef idx="0">
            <a:schemeClr val="accent2"/>
          </a:fillRef>
          <a:effectRef idx="2">
            <a:schemeClr val="accent2"/>
          </a:effectRef>
          <a:fontRef idx="minor">
            <a:schemeClr val="tx1"/>
          </a:fontRef>
        </p:style>
      </p:cxnSp>
      <p:cxnSp>
        <p:nvCxnSpPr>
          <p:cNvPr id="20" name="Straight Arrow Connector 19"/>
          <p:cNvCxnSpPr/>
          <p:nvPr/>
        </p:nvCxnSpPr>
        <p:spPr>
          <a:xfrm rot="5400000">
            <a:off x="8763794" y="2742406"/>
            <a:ext cx="12192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4" name="Straight Arrow Connector 23"/>
          <p:cNvCxnSpPr/>
          <p:nvPr/>
        </p:nvCxnSpPr>
        <p:spPr>
          <a:xfrm>
            <a:off x="3657600" y="3886200"/>
            <a:ext cx="13716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7" name="Straight Arrow Connector 26"/>
          <p:cNvCxnSpPr/>
          <p:nvPr/>
        </p:nvCxnSpPr>
        <p:spPr>
          <a:xfrm>
            <a:off x="7315200" y="4038600"/>
            <a:ext cx="1143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8" name="Left-Right Arrow 27"/>
          <p:cNvSpPr/>
          <p:nvPr/>
        </p:nvSpPr>
        <p:spPr>
          <a:xfrm>
            <a:off x="2590800" y="5334000"/>
            <a:ext cx="7162800" cy="685800"/>
          </a:xfrm>
          <a:prstGeom prst="lef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dirty="0">
                <a:solidFill>
                  <a:prstClr val="black"/>
                </a:solidFill>
                <a:latin typeface="Calibri"/>
              </a:rPr>
              <a:t>Regulators: Bangladesh Bank, BSEC, IDRA, MRA and </a:t>
            </a:r>
            <a:r>
              <a:rPr lang="en-US" sz="1600" dirty="0" err="1">
                <a:solidFill>
                  <a:prstClr val="black"/>
                </a:solidFill>
                <a:latin typeface="Calibri"/>
              </a:rPr>
              <a:t>MoF</a:t>
            </a:r>
            <a:endParaRPr lang="en-US" sz="1600" dirty="0">
              <a:solidFill>
                <a:prstClr val="black"/>
              </a:solidFill>
              <a:latin typeface="Calibri"/>
            </a:endParaRPr>
          </a:p>
        </p:txBody>
      </p:sp>
      <p:cxnSp>
        <p:nvCxnSpPr>
          <p:cNvPr id="33" name="Straight Arrow Connector 32"/>
          <p:cNvCxnSpPr/>
          <p:nvPr/>
        </p:nvCxnSpPr>
        <p:spPr>
          <a:xfrm rot="5400000">
            <a:off x="5868194" y="2894806"/>
            <a:ext cx="6096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9" name="Rectangle 18"/>
          <p:cNvSpPr/>
          <p:nvPr/>
        </p:nvSpPr>
        <p:spPr>
          <a:xfrm>
            <a:off x="5257800" y="4800600"/>
            <a:ext cx="1828800" cy="304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solidFill>
                  <a:prstClr val="black"/>
                </a:solidFill>
                <a:latin typeface="Calibri"/>
              </a:rPr>
              <a:t>Derivative Market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D1D843B-BCD8-7434-AB31-0CE077E2C2F7}"/>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Financial Markets</a:t>
            </a:r>
          </a:p>
        </p:txBody>
      </p:sp>
      <p:graphicFrame>
        <p:nvGraphicFramePr>
          <p:cNvPr id="5" name="Content Placeholder 2">
            <a:extLst>
              <a:ext uri="{FF2B5EF4-FFF2-40B4-BE49-F238E27FC236}">
                <a16:creationId xmlns:a16="http://schemas.microsoft.com/office/drawing/2014/main" id="{75FFC3B4-6D0D-6647-F4A1-6C81C754790E}"/>
              </a:ext>
            </a:extLst>
          </p:cNvPr>
          <p:cNvGraphicFramePr>
            <a:graphicFrameLocks noGrp="1"/>
          </p:cNvGraphicFramePr>
          <p:nvPr>
            <p:ph idx="1"/>
            <p:extLst>
              <p:ext uri="{D42A27DB-BD31-4B8C-83A1-F6EECF244321}">
                <p14:modId xmlns:p14="http://schemas.microsoft.com/office/powerpoint/2010/main" val="62197696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8499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E8A46FD-21F2-B192-1E12-27C0E0142DFB}"/>
              </a:ext>
            </a:extLst>
          </p:cNvPr>
          <p:cNvPicPr>
            <a:picLocks noChangeAspect="1"/>
          </p:cNvPicPr>
          <p:nvPr/>
        </p:nvPicPr>
        <p:blipFill>
          <a:blip r:embed="rId2">
            <a:duotone>
              <a:schemeClr val="bg2">
                <a:shade val="45000"/>
                <a:satMod val="135000"/>
              </a:schemeClr>
              <a:prstClr val="white"/>
            </a:duotone>
          </a:blip>
          <a:srcRect t="14205" b="1525"/>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1B0976-89B9-3C98-F317-FC4058875AEE}"/>
              </a:ext>
            </a:extLst>
          </p:cNvPr>
          <p:cNvSpPr>
            <a:spLocks noGrp="1"/>
          </p:cNvSpPr>
          <p:nvPr>
            <p:ph type="title"/>
          </p:nvPr>
        </p:nvSpPr>
        <p:spPr>
          <a:xfrm>
            <a:off x="838200" y="365125"/>
            <a:ext cx="10515600" cy="1325563"/>
          </a:xfrm>
        </p:spPr>
        <p:txBody>
          <a:bodyPr>
            <a:normAutofit/>
          </a:bodyPr>
          <a:lstStyle/>
          <a:p>
            <a:r>
              <a:rPr lang="en-US" dirty="0"/>
              <a:t>Loan Market</a:t>
            </a:r>
          </a:p>
        </p:txBody>
      </p:sp>
      <p:graphicFrame>
        <p:nvGraphicFramePr>
          <p:cNvPr id="5" name="Content Placeholder 2">
            <a:extLst>
              <a:ext uri="{FF2B5EF4-FFF2-40B4-BE49-F238E27FC236}">
                <a16:creationId xmlns:a16="http://schemas.microsoft.com/office/drawing/2014/main" id="{CA30F963-BBCD-EDB1-00EF-8994875FA7EB}"/>
              </a:ext>
            </a:extLst>
          </p:cNvPr>
          <p:cNvGraphicFramePr>
            <a:graphicFrameLocks noGrp="1"/>
          </p:cNvGraphicFramePr>
          <p:nvPr>
            <p:ph idx="1"/>
            <p:extLst>
              <p:ext uri="{D42A27DB-BD31-4B8C-83A1-F6EECF244321}">
                <p14:modId xmlns:p14="http://schemas.microsoft.com/office/powerpoint/2010/main" val="382524228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4713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567A9-A165-34BE-27E5-F3D4390C8F74}"/>
              </a:ext>
            </a:extLst>
          </p:cNvPr>
          <p:cNvSpPr>
            <a:spLocks noGrp="1"/>
          </p:cNvSpPr>
          <p:nvPr>
            <p:ph type="title"/>
          </p:nvPr>
        </p:nvSpPr>
        <p:spPr>
          <a:xfrm>
            <a:off x="836679" y="723898"/>
            <a:ext cx="6002110" cy="1495425"/>
          </a:xfrm>
        </p:spPr>
        <p:txBody>
          <a:bodyPr>
            <a:normAutofit/>
          </a:bodyPr>
          <a:lstStyle/>
          <a:p>
            <a:r>
              <a:rPr lang="en-US" sz="4000"/>
              <a:t>Bond Market</a:t>
            </a:r>
          </a:p>
        </p:txBody>
      </p:sp>
      <p:sp>
        <p:nvSpPr>
          <p:cNvPr id="3" name="Content Placeholder 2">
            <a:extLst>
              <a:ext uri="{FF2B5EF4-FFF2-40B4-BE49-F238E27FC236}">
                <a16:creationId xmlns:a16="http://schemas.microsoft.com/office/drawing/2014/main" id="{56092F82-6F86-4E4D-D081-FEA6051FF2FC}"/>
              </a:ext>
            </a:extLst>
          </p:cNvPr>
          <p:cNvSpPr>
            <a:spLocks noGrp="1"/>
          </p:cNvSpPr>
          <p:nvPr>
            <p:ph idx="1"/>
          </p:nvPr>
        </p:nvSpPr>
        <p:spPr>
          <a:xfrm>
            <a:off x="836680" y="2405067"/>
            <a:ext cx="6002110" cy="3729034"/>
          </a:xfrm>
        </p:spPr>
        <p:txBody>
          <a:bodyPr>
            <a:normAutofit/>
          </a:bodyPr>
          <a:lstStyle/>
          <a:p>
            <a:r>
              <a:rPr lang="en-US" sz="2000"/>
              <a:t>A promise to repay money with interest.</a:t>
            </a:r>
          </a:p>
          <a:p>
            <a:r>
              <a:rPr lang="en-US" sz="2000"/>
              <a:t>Borrowers</a:t>
            </a:r>
          </a:p>
          <a:p>
            <a:pPr lvl="1"/>
            <a:r>
              <a:rPr lang="en-US" sz="2000"/>
              <a:t>Government </a:t>
            </a:r>
          </a:p>
          <a:p>
            <a:pPr lvl="1"/>
            <a:r>
              <a:rPr lang="en-US" sz="2000"/>
              <a:t>Corporations </a:t>
            </a:r>
          </a:p>
          <a:p>
            <a:r>
              <a:rPr lang="en-US" sz="2000"/>
              <a:t>Investors earn</a:t>
            </a:r>
          </a:p>
          <a:p>
            <a:pPr lvl="1"/>
            <a:r>
              <a:rPr lang="en-US" sz="2000"/>
              <a:t>Interest </a:t>
            </a:r>
          </a:p>
          <a:p>
            <a:pPr lvl="1"/>
            <a:r>
              <a:rPr lang="en-US" sz="2000"/>
              <a:t>Principal repayment </a:t>
            </a:r>
          </a:p>
          <a:p>
            <a:r>
              <a:rPr lang="en-US" sz="2000"/>
              <a:t>Example</a:t>
            </a:r>
          </a:p>
          <a:p>
            <a:pPr lvl="1"/>
            <a:r>
              <a:rPr lang="en-US" sz="2000"/>
              <a:t>Bangladesh Treasury Bond</a:t>
            </a:r>
          </a:p>
          <a:p>
            <a:pPr lvl="1"/>
            <a:r>
              <a:rPr lang="en-US" sz="2000"/>
              <a:t>10-year 10% corporate bond issues by X Ltd.</a:t>
            </a:r>
          </a:p>
          <a:p>
            <a:endParaRPr lang="en-US" sz="2000"/>
          </a:p>
        </p:txBody>
      </p:sp>
      <p:pic>
        <p:nvPicPr>
          <p:cNvPr id="19" name="Picture 18" descr="Calculator, pen, compass, money and a paper with graphs printed on it">
            <a:extLst>
              <a:ext uri="{FF2B5EF4-FFF2-40B4-BE49-F238E27FC236}">
                <a16:creationId xmlns:a16="http://schemas.microsoft.com/office/drawing/2014/main" id="{ED86935E-4B3C-7BDB-FDC8-C6834FB0FCEE}"/>
              </a:ext>
            </a:extLst>
          </p:cNvPr>
          <p:cNvPicPr>
            <a:picLocks noChangeAspect="1"/>
          </p:cNvPicPr>
          <p:nvPr/>
        </p:nvPicPr>
        <p:blipFill>
          <a:blip r:embed="rId2"/>
          <a:srcRect l="30180" r="25957" b="-1"/>
          <a:stretch>
            <a:fillRect/>
          </a:stretch>
        </p:blipFill>
        <p:spPr>
          <a:xfrm>
            <a:off x="7199440" y="10"/>
            <a:ext cx="4992560" cy="6857990"/>
          </a:xfrm>
          <a:prstGeom prst="rect">
            <a:avLst/>
          </a:prstGeom>
          <a:effectLst/>
        </p:spPr>
      </p:pic>
    </p:spTree>
    <p:extLst>
      <p:ext uri="{BB962C8B-B14F-4D97-AF65-F5344CB8AC3E}">
        <p14:creationId xmlns:p14="http://schemas.microsoft.com/office/powerpoint/2010/main" val="2675128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473B72-9781-EB9A-FBC5-C46AAD2EF972}"/>
              </a:ext>
            </a:extLst>
          </p:cNvPr>
          <p:cNvSpPr>
            <a:spLocks noGrp="1"/>
          </p:cNvSpPr>
          <p:nvPr>
            <p:ph type="title"/>
          </p:nvPr>
        </p:nvSpPr>
        <p:spPr>
          <a:xfrm>
            <a:off x="836679" y="723898"/>
            <a:ext cx="6002110" cy="1495425"/>
          </a:xfrm>
        </p:spPr>
        <p:txBody>
          <a:bodyPr>
            <a:normAutofit/>
          </a:bodyPr>
          <a:lstStyle/>
          <a:p>
            <a:r>
              <a:rPr lang="en-US" sz="4000"/>
              <a:t>Stock Market</a:t>
            </a:r>
          </a:p>
        </p:txBody>
      </p:sp>
      <p:sp>
        <p:nvSpPr>
          <p:cNvPr id="3" name="Content Placeholder 2">
            <a:extLst>
              <a:ext uri="{FF2B5EF4-FFF2-40B4-BE49-F238E27FC236}">
                <a16:creationId xmlns:a16="http://schemas.microsoft.com/office/drawing/2014/main" id="{60045A58-CAB7-3EC8-0DD9-73CF419224D4}"/>
              </a:ext>
            </a:extLst>
          </p:cNvPr>
          <p:cNvSpPr>
            <a:spLocks noGrp="1"/>
          </p:cNvSpPr>
          <p:nvPr>
            <p:ph idx="1"/>
          </p:nvPr>
        </p:nvSpPr>
        <p:spPr>
          <a:xfrm>
            <a:off x="836680" y="2405067"/>
            <a:ext cx="6002110" cy="3729034"/>
          </a:xfrm>
        </p:spPr>
        <p:txBody>
          <a:bodyPr>
            <a:normAutofit/>
          </a:bodyPr>
          <a:lstStyle/>
          <a:p>
            <a:r>
              <a:rPr lang="en-US" sz="2000"/>
              <a:t>Companies sell ownership.</a:t>
            </a:r>
          </a:p>
          <a:p>
            <a:r>
              <a:rPr lang="en-US" sz="2000"/>
              <a:t>Investors become shareholders.</a:t>
            </a:r>
          </a:p>
          <a:p>
            <a:r>
              <a:rPr lang="en-US" sz="2000"/>
              <a:t>Returns</a:t>
            </a:r>
          </a:p>
          <a:p>
            <a:pPr lvl="1"/>
            <a:r>
              <a:rPr lang="en-US" sz="2000"/>
              <a:t>Dividend </a:t>
            </a:r>
          </a:p>
          <a:p>
            <a:pPr lvl="1"/>
            <a:r>
              <a:rPr lang="en-US" sz="2000"/>
              <a:t>Capital gain </a:t>
            </a:r>
          </a:p>
          <a:p>
            <a:r>
              <a:rPr lang="en-US" sz="2000"/>
              <a:t>Examples</a:t>
            </a:r>
          </a:p>
          <a:p>
            <a:pPr lvl="1"/>
            <a:r>
              <a:rPr lang="en-US" sz="2000"/>
              <a:t>Dhaka Stock Exchange (DSE)</a:t>
            </a:r>
          </a:p>
          <a:p>
            <a:pPr lvl="1"/>
            <a:r>
              <a:rPr lang="en-US" sz="2000"/>
              <a:t>Chittagong Stock Exchange (CSE)</a:t>
            </a:r>
          </a:p>
          <a:p>
            <a:endParaRPr lang="en-US" sz="2000"/>
          </a:p>
        </p:txBody>
      </p:sp>
      <p:pic>
        <p:nvPicPr>
          <p:cNvPr id="21" name="Picture 20" descr="Orange and blue numbers and graphs">
            <a:extLst>
              <a:ext uri="{FF2B5EF4-FFF2-40B4-BE49-F238E27FC236}">
                <a16:creationId xmlns:a16="http://schemas.microsoft.com/office/drawing/2014/main" id="{0D57572E-D380-613F-1B25-5FD91385FE39}"/>
              </a:ext>
            </a:extLst>
          </p:cNvPr>
          <p:cNvPicPr>
            <a:picLocks noChangeAspect="1"/>
          </p:cNvPicPr>
          <p:nvPr/>
        </p:nvPicPr>
        <p:blipFill>
          <a:blip r:embed="rId2"/>
          <a:srcRect l="22978" r="32433" b="1"/>
          <a:stretch>
            <a:fillRect/>
          </a:stretch>
        </p:blipFill>
        <p:spPr>
          <a:xfrm>
            <a:off x="7199440" y="10"/>
            <a:ext cx="4992560" cy="6857990"/>
          </a:xfrm>
          <a:prstGeom prst="rect">
            <a:avLst/>
          </a:prstGeom>
          <a:effectLst/>
        </p:spPr>
      </p:pic>
    </p:spTree>
    <p:extLst>
      <p:ext uri="{BB962C8B-B14F-4D97-AF65-F5344CB8AC3E}">
        <p14:creationId xmlns:p14="http://schemas.microsoft.com/office/powerpoint/2010/main" val="3792254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9E9B8-DF4F-7467-42F1-C46D79EC5BC9}"/>
              </a:ext>
            </a:extLst>
          </p:cNvPr>
          <p:cNvSpPr>
            <a:spLocks noGrp="1"/>
          </p:cNvSpPr>
          <p:nvPr>
            <p:ph type="title"/>
          </p:nvPr>
        </p:nvSpPr>
        <p:spPr/>
        <p:txBody>
          <a:bodyPr/>
          <a:lstStyle/>
          <a:p>
            <a:r>
              <a:rPr lang="en-US" dirty="0"/>
              <a:t>Financial Institutions</a:t>
            </a:r>
          </a:p>
        </p:txBody>
      </p:sp>
      <p:graphicFrame>
        <p:nvGraphicFramePr>
          <p:cNvPr id="5" name="Content Placeholder 2">
            <a:extLst>
              <a:ext uri="{FF2B5EF4-FFF2-40B4-BE49-F238E27FC236}">
                <a16:creationId xmlns:a16="http://schemas.microsoft.com/office/drawing/2014/main" id="{A927A3DD-7D22-3915-7D44-A0ABA587E2BB}"/>
              </a:ext>
            </a:extLst>
          </p:cNvPr>
          <p:cNvGraphicFramePr>
            <a:graphicFrameLocks noGrp="1"/>
          </p:cNvGraphicFramePr>
          <p:nvPr>
            <p:ph idx="1"/>
          </p:nvPr>
        </p:nvGraphicFramePr>
        <p:xfrm>
          <a:off x="838200" y="1690688"/>
          <a:ext cx="10515600" cy="4486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1376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5BB97E8-D725-A325-0A08-84AEE58FA20C}"/>
              </a:ext>
            </a:extLst>
          </p:cNvPr>
          <p:cNvSpPr>
            <a:spLocks noGrp="1"/>
          </p:cNvSpPr>
          <p:nvPr>
            <p:ph type="title"/>
          </p:nvPr>
        </p:nvSpPr>
        <p:spPr>
          <a:xfrm>
            <a:off x="1115568" y="548640"/>
            <a:ext cx="10168128" cy="1179576"/>
          </a:xfrm>
        </p:spPr>
        <p:txBody>
          <a:bodyPr>
            <a:normAutofit/>
          </a:bodyPr>
          <a:lstStyle/>
          <a:p>
            <a:r>
              <a:rPr lang="en-US" sz="4000"/>
              <a:t>Insolvency and Illiquidity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8835706-E0EF-DF48-429E-EF701E1D4852}"/>
              </a:ext>
            </a:extLst>
          </p:cNvPr>
          <p:cNvSpPr>
            <a:spLocks noGrp="1"/>
          </p:cNvSpPr>
          <p:nvPr>
            <p:ph idx="1"/>
          </p:nvPr>
        </p:nvSpPr>
        <p:spPr>
          <a:xfrm>
            <a:off x="1115568" y="2481943"/>
            <a:ext cx="10168128" cy="3695020"/>
          </a:xfrm>
        </p:spPr>
        <p:txBody>
          <a:bodyPr>
            <a:normAutofit/>
          </a:bodyPr>
          <a:lstStyle/>
          <a:p>
            <a:r>
              <a:rPr lang="en-US" sz="2000" dirty="0"/>
              <a:t>Net worth of a financial institution </a:t>
            </a:r>
          </a:p>
          <a:p>
            <a:pPr lvl="1"/>
            <a:r>
              <a:rPr lang="en-US" sz="2000" dirty="0"/>
              <a:t>Difference between market of total assets (what it has lent) and the market value of its liabilities ( what is has borrowed)</a:t>
            </a:r>
          </a:p>
          <a:p>
            <a:pPr lvl="1"/>
            <a:r>
              <a:rPr lang="en-US" sz="2000" dirty="0"/>
              <a:t>If net worth is positive, the institutions is called solvent </a:t>
            </a:r>
          </a:p>
          <a:p>
            <a:pPr lvl="1"/>
            <a:r>
              <a:rPr lang="en-US" sz="2000" dirty="0"/>
              <a:t>If net worth is negative, it is called insolvent </a:t>
            </a:r>
          </a:p>
          <a:p>
            <a:r>
              <a:rPr lang="en-US" sz="2000" dirty="0"/>
              <a:t>A financial institution is illiquid if it has made long-term loans with short-term deposit or borrowed fund and is faced with the sudden demand to fund from depositors or lenders. </a:t>
            </a:r>
          </a:p>
          <a:p>
            <a:pPr lvl="1"/>
            <a:r>
              <a:rPr lang="en-US" sz="2000" dirty="0"/>
              <a:t>A solvent financial institution can be illiquid as well. </a:t>
            </a:r>
          </a:p>
          <a:p>
            <a:r>
              <a:rPr lang="en-US" sz="2000" dirty="0"/>
              <a:t>Financial Institutions are responsible to minimize insolvency and illiquid risks </a:t>
            </a:r>
          </a:p>
          <a:p>
            <a:r>
              <a:rPr lang="en-US" sz="2000" dirty="0"/>
              <a:t>Regulators monitors these risks </a:t>
            </a:r>
          </a:p>
        </p:txBody>
      </p:sp>
    </p:spTree>
    <p:extLst>
      <p:ext uri="{BB962C8B-B14F-4D97-AF65-F5344CB8AC3E}">
        <p14:creationId xmlns:p14="http://schemas.microsoft.com/office/powerpoint/2010/main" val="596140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8BB489-D157-D469-3EDF-E882191DB5B4}"/>
              </a:ext>
            </a:extLst>
          </p:cNvPr>
          <p:cNvSpPr>
            <a:spLocks noGrp="1"/>
          </p:cNvSpPr>
          <p:nvPr>
            <p:ph type="title"/>
          </p:nvPr>
        </p:nvSpPr>
        <p:spPr>
          <a:xfrm>
            <a:off x="1043631" y="809898"/>
            <a:ext cx="9942716" cy="1554480"/>
          </a:xfrm>
        </p:spPr>
        <p:txBody>
          <a:bodyPr anchor="ctr">
            <a:normAutofit/>
          </a:bodyPr>
          <a:lstStyle/>
          <a:p>
            <a:r>
              <a:rPr lang="en-US" sz="4800"/>
              <a:t>Central Bank</a:t>
            </a:r>
          </a:p>
        </p:txBody>
      </p:sp>
      <p:sp>
        <p:nvSpPr>
          <p:cNvPr id="3" name="Content Placeholder 2">
            <a:extLst>
              <a:ext uri="{FF2B5EF4-FFF2-40B4-BE49-F238E27FC236}">
                <a16:creationId xmlns:a16="http://schemas.microsoft.com/office/drawing/2014/main" id="{7CC47E98-78A0-F899-CB24-BB1AC5704954}"/>
              </a:ext>
            </a:extLst>
          </p:cNvPr>
          <p:cNvSpPr>
            <a:spLocks noGrp="1"/>
          </p:cNvSpPr>
          <p:nvPr>
            <p:ph idx="1"/>
          </p:nvPr>
        </p:nvSpPr>
        <p:spPr>
          <a:xfrm>
            <a:off x="1045028" y="3017522"/>
            <a:ext cx="9941319" cy="3124658"/>
          </a:xfrm>
        </p:spPr>
        <p:txBody>
          <a:bodyPr anchor="ctr">
            <a:normAutofit/>
          </a:bodyPr>
          <a:lstStyle/>
          <a:p>
            <a:r>
              <a:rPr lang="en-US" sz="1300"/>
              <a:t>A central bank is the main financial regulatory authority of a country.</a:t>
            </a:r>
          </a:p>
          <a:p>
            <a:r>
              <a:rPr lang="en-US" sz="1300"/>
              <a:t>Key functions of Central Bank</a:t>
            </a:r>
          </a:p>
          <a:p>
            <a:pPr lvl="1"/>
            <a:r>
              <a:rPr lang="en-US" sz="1300" b="1"/>
              <a:t>Issuing Currency:</a:t>
            </a:r>
            <a:r>
              <a:rPr lang="en-US" sz="1300"/>
              <a:t> Holds the exclusive legal right to print and distribute bank notes and coins. </a:t>
            </a:r>
          </a:p>
          <a:p>
            <a:pPr lvl="1"/>
            <a:r>
              <a:rPr lang="en-US" sz="1300" b="1"/>
              <a:t>Monetary Policy:</a:t>
            </a:r>
            <a:r>
              <a:rPr lang="en-US" sz="1300"/>
              <a:t> Controls interest rates and the money supply to keep prices stable and manage inflation. </a:t>
            </a:r>
          </a:p>
          <a:p>
            <a:pPr lvl="1"/>
            <a:r>
              <a:rPr lang="en-US" sz="1300" b="1"/>
              <a:t>Banker to the Government:</a:t>
            </a:r>
            <a:r>
              <a:rPr lang="en-US" sz="1300"/>
              <a:t> Manages government accounts, processes state payments, and helps handle public debt and bonds. </a:t>
            </a:r>
          </a:p>
          <a:p>
            <a:pPr lvl="1"/>
            <a:r>
              <a:rPr lang="en-US" sz="1300" b="1"/>
              <a:t>Banker's Bank:</a:t>
            </a:r>
            <a:r>
              <a:rPr lang="en-US" sz="1300"/>
              <a:t> Holds required financial reserves for commercial banks and handles interbank transfers and check clearing. </a:t>
            </a:r>
          </a:p>
          <a:p>
            <a:pPr lvl="1"/>
            <a:r>
              <a:rPr lang="en-US" sz="1300" b="1"/>
              <a:t>Lender of Last Resort:</a:t>
            </a:r>
            <a:r>
              <a:rPr lang="en-US" sz="1300"/>
              <a:t> Provides emergency cash loans to sound commercial banks facing sudden liquidity shortages to prevent a banking collapse. </a:t>
            </a:r>
          </a:p>
          <a:p>
            <a:pPr lvl="1"/>
            <a:r>
              <a:rPr lang="en-US" sz="1300" b="1"/>
              <a:t>Foreign Exchange Manager:</a:t>
            </a:r>
            <a:r>
              <a:rPr lang="en-US" sz="1300"/>
              <a:t> Maintains and regulates the nation's gold and foreign currency reserves to support exchange rate stability. </a:t>
            </a:r>
          </a:p>
          <a:p>
            <a:pPr lvl="1"/>
            <a:r>
              <a:rPr lang="en-US" sz="1300" b="1"/>
              <a:t>Supervision and Regulation:</a:t>
            </a:r>
            <a:r>
              <a:rPr lang="en-US" sz="1300"/>
              <a:t> Inspects commercial banks and financial markets to ensure the entire banking system stays safe and transparent. </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8126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574A57-CA84-D1FC-7E3C-6F8C9161F129}"/>
              </a:ext>
            </a:extLst>
          </p:cNvPr>
          <p:cNvSpPr>
            <a:spLocks noGrp="1"/>
          </p:cNvSpPr>
          <p:nvPr>
            <p:ph type="title"/>
          </p:nvPr>
        </p:nvSpPr>
        <p:spPr>
          <a:xfrm>
            <a:off x="1043631" y="809898"/>
            <a:ext cx="9942716" cy="1554480"/>
          </a:xfrm>
        </p:spPr>
        <p:txBody>
          <a:bodyPr anchor="ctr">
            <a:normAutofit/>
          </a:bodyPr>
          <a:lstStyle/>
          <a:p>
            <a:r>
              <a:rPr lang="en-US" sz="4800"/>
              <a:t>Interest Rate and Financial Asset Prices </a:t>
            </a:r>
          </a:p>
        </p:txBody>
      </p:sp>
      <p:sp>
        <p:nvSpPr>
          <p:cNvPr id="3" name="Content Placeholder 2">
            <a:extLst>
              <a:ext uri="{FF2B5EF4-FFF2-40B4-BE49-F238E27FC236}">
                <a16:creationId xmlns:a16="http://schemas.microsoft.com/office/drawing/2014/main" id="{B2649E45-8F37-F2FE-BD3E-2BA07962687F}"/>
              </a:ext>
            </a:extLst>
          </p:cNvPr>
          <p:cNvSpPr>
            <a:spLocks noGrp="1"/>
          </p:cNvSpPr>
          <p:nvPr>
            <p:ph idx="1"/>
          </p:nvPr>
        </p:nvSpPr>
        <p:spPr>
          <a:xfrm>
            <a:off x="1045028" y="3017522"/>
            <a:ext cx="9941319" cy="3124658"/>
          </a:xfrm>
        </p:spPr>
        <p:txBody>
          <a:bodyPr anchor="ctr">
            <a:normAutofit/>
          </a:bodyPr>
          <a:lstStyle/>
          <a:p>
            <a:r>
              <a:rPr lang="en-US" sz="1900"/>
              <a:t>Financial Assets</a:t>
            </a:r>
          </a:p>
          <a:p>
            <a:pPr lvl="1"/>
            <a:r>
              <a:rPr lang="en-US" sz="1900"/>
              <a:t>Stock </a:t>
            </a:r>
          </a:p>
          <a:p>
            <a:pPr lvl="1"/>
            <a:r>
              <a:rPr lang="en-US" sz="1900"/>
              <a:t>Bonds </a:t>
            </a:r>
          </a:p>
          <a:p>
            <a:pPr lvl="1"/>
            <a:r>
              <a:rPr lang="en-US" sz="1900"/>
              <a:t>Short-term securities </a:t>
            </a:r>
          </a:p>
          <a:p>
            <a:pPr lvl="1"/>
            <a:r>
              <a:rPr lang="en-US" sz="1900"/>
              <a:t>Loans</a:t>
            </a:r>
          </a:p>
          <a:p>
            <a:r>
              <a:rPr lang="en-US" sz="1900"/>
              <a:t>Interest rate is the percentage of interests amount on the price of the financial asset.</a:t>
            </a:r>
          </a:p>
          <a:p>
            <a:r>
              <a:rPr lang="en-US" sz="1900"/>
              <a:t>Therefore,</a:t>
            </a:r>
          </a:p>
          <a:p>
            <a:pPr lvl="1"/>
            <a:r>
              <a:rPr lang="en-US" sz="1900"/>
              <a:t>When assets prices rises, interest rate falls when other things remaining the same</a:t>
            </a:r>
          </a:p>
          <a:p>
            <a:pPr lvl="1"/>
            <a:r>
              <a:rPr lang="en-US" sz="1900"/>
              <a:t>When assets price falls, the interest rate rises.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3015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9A8106-0244-EA94-715B-6605B6E23CCB}"/>
              </a:ext>
            </a:extLst>
          </p:cNvPr>
          <p:cNvSpPr>
            <a:spLocks noGrp="1"/>
          </p:cNvSpPr>
          <p:nvPr>
            <p:ph type="title"/>
          </p:nvPr>
        </p:nvSpPr>
        <p:spPr>
          <a:xfrm>
            <a:off x="1043631" y="809898"/>
            <a:ext cx="9942716" cy="1554480"/>
          </a:xfrm>
        </p:spPr>
        <p:txBody>
          <a:bodyPr anchor="ctr">
            <a:normAutofit/>
          </a:bodyPr>
          <a:lstStyle/>
          <a:p>
            <a:r>
              <a:rPr lang="en-US" sz="4800"/>
              <a:t>Loanable Funds Market</a:t>
            </a:r>
          </a:p>
        </p:txBody>
      </p:sp>
      <p:sp>
        <p:nvSpPr>
          <p:cNvPr id="3" name="Content Placeholder 2">
            <a:extLst>
              <a:ext uri="{FF2B5EF4-FFF2-40B4-BE49-F238E27FC236}">
                <a16:creationId xmlns:a16="http://schemas.microsoft.com/office/drawing/2014/main" id="{436F20F9-ACC7-A263-97C7-972B304AFC4E}"/>
              </a:ext>
            </a:extLst>
          </p:cNvPr>
          <p:cNvSpPr>
            <a:spLocks noGrp="1"/>
          </p:cNvSpPr>
          <p:nvPr>
            <p:ph idx="1"/>
          </p:nvPr>
        </p:nvSpPr>
        <p:spPr>
          <a:xfrm>
            <a:off x="1045028" y="3017522"/>
            <a:ext cx="9941319" cy="3124658"/>
          </a:xfrm>
        </p:spPr>
        <p:txBody>
          <a:bodyPr anchor="ctr">
            <a:normAutofit fontScale="92500" lnSpcReduction="10000"/>
          </a:bodyPr>
          <a:lstStyle/>
          <a:p>
            <a:r>
              <a:rPr lang="en-US" sz="2400" dirty="0"/>
              <a:t>The </a:t>
            </a:r>
            <a:r>
              <a:rPr lang="en-US" sz="2400" b="1" dirty="0"/>
              <a:t>loanable funds market</a:t>
            </a:r>
            <a:r>
              <a:rPr lang="en-US" sz="2400" dirty="0"/>
              <a:t> is the market in which </a:t>
            </a:r>
            <a:r>
              <a:rPr lang="en-US" sz="2400" b="1" dirty="0"/>
              <a:t>savers supply funds to borrowers who want to finance investment and other expenditures</a:t>
            </a:r>
            <a:r>
              <a:rPr lang="en-US" sz="2400" dirty="0"/>
              <a:t>.</a:t>
            </a:r>
          </a:p>
          <a:p>
            <a:r>
              <a:rPr lang="en-US" sz="2400" dirty="0"/>
              <a:t>People and institutions with surplus funds lend → people and institutions needing funds borrow.</a:t>
            </a:r>
          </a:p>
          <a:p>
            <a:r>
              <a:rPr lang="en-US" sz="2400" dirty="0"/>
              <a:t>Sources of Loanable fund</a:t>
            </a:r>
          </a:p>
          <a:p>
            <a:pPr lvl="1"/>
            <a:r>
              <a:rPr lang="en-US" sz="2000" dirty="0"/>
              <a:t>Household or organizational savings (S)</a:t>
            </a:r>
          </a:p>
          <a:p>
            <a:pPr lvl="1"/>
            <a:r>
              <a:rPr lang="en-US" sz="2000" dirty="0"/>
              <a:t>Government Budget Surplus (T – G)</a:t>
            </a:r>
          </a:p>
          <a:p>
            <a:pPr lvl="1"/>
            <a:r>
              <a:rPr lang="en-US" sz="2000" dirty="0"/>
              <a:t>Borrowing from foreign sources ( M- X)</a:t>
            </a:r>
          </a:p>
          <a:p>
            <a:r>
              <a:rPr lang="en-US" sz="2400" dirty="0"/>
              <a:t>The price paid for using loanable funds is the </a:t>
            </a:r>
            <a:r>
              <a:rPr lang="en-US" sz="2400" b="1" dirty="0"/>
              <a:t>real interest rate</a:t>
            </a:r>
            <a:r>
              <a:rPr lang="en-US" sz="2400" dirty="0"/>
              <a:t>.</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6914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1F49EE-6AAF-B973-874C-0FA09383A1BD}"/>
              </a:ext>
            </a:extLst>
          </p:cNvPr>
          <p:cNvSpPr>
            <a:spLocks noGrp="1"/>
          </p:cNvSpPr>
          <p:nvPr>
            <p:ph type="title"/>
          </p:nvPr>
        </p:nvSpPr>
        <p:spPr>
          <a:xfrm>
            <a:off x="836679" y="723898"/>
            <a:ext cx="6002110" cy="1495425"/>
          </a:xfrm>
        </p:spPr>
        <p:txBody>
          <a:bodyPr>
            <a:normAutofit/>
          </a:bodyPr>
          <a:lstStyle/>
          <a:p>
            <a:r>
              <a:rPr lang="en-US" sz="4000"/>
              <a:t>Why Do We Need a Loanable Funds Market?</a:t>
            </a:r>
          </a:p>
        </p:txBody>
      </p:sp>
      <p:pic>
        <p:nvPicPr>
          <p:cNvPr id="6" name="Picture 5">
            <a:extLst>
              <a:ext uri="{FF2B5EF4-FFF2-40B4-BE49-F238E27FC236}">
                <a16:creationId xmlns:a16="http://schemas.microsoft.com/office/drawing/2014/main" id="{C9976C93-9687-D222-320D-E5ECD38BDBD3}"/>
              </a:ext>
            </a:extLst>
          </p:cNvPr>
          <p:cNvPicPr>
            <a:picLocks noChangeAspect="1"/>
          </p:cNvPicPr>
          <p:nvPr/>
        </p:nvPicPr>
        <p:blipFill>
          <a:blip r:embed="rId2"/>
          <a:srcRect l="35630" r="15776" b="-1"/>
          <a:stretch>
            <a:fillRect/>
          </a:stretch>
        </p:blipFill>
        <p:spPr>
          <a:xfrm>
            <a:off x="7199440" y="10"/>
            <a:ext cx="4992560" cy="6857990"/>
          </a:xfrm>
          <a:prstGeom prst="rect">
            <a:avLst/>
          </a:prstGeom>
          <a:effectLst/>
        </p:spPr>
      </p:pic>
      <p:graphicFrame>
        <p:nvGraphicFramePr>
          <p:cNvPr id="5" name="Content Placeholder 2">
            <a:extLst>
              <a:ext uri="{FF2B5EF4-FFF2-40B4-BE49-F238E27FC236}">
                <a16:creationId xmlns:a16="http://schemas.microsoft.com/office/drawing/2014/main" id="{826745C9-22A2-BEF0-7F97-ADE65DD154CE}"/>
              </a:ext>
            </a:extLst>
          </p:cNvPr>
          <p:cNvGraphicFramePr>
            <a:graphicFrameLocks noGrp="1"/>
          </p:cNvGraphicFramePr>
          <p:nvPr>
            <p:ph idx="1"/>
            <p:extLst>
              <p:ext uri="{D42A27DB-BD31-4B8C-83A1-F6EECF244321}">
                <p14:modId xmlns:p14="http://schemas.microsoft.com/office/powerpoint/2010/main" val="614126569"/>
              </p:ext>
            </p:extLst>
          </p:nvPr>
        </p:nvGraphicFramePr>
        <p:xfrm>
          <a:off x="836680" y="2405067"/>
          <a:ext cx="6002110" cy="37290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38750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10A1B-2C82-AF27-F0C8-4BFC5D1440ED}"/>
              </a:ext>
            </a:extLst>
          </p:cNvPr>
          <p:cNvSpPr>
            <a:spLocks noGrp="1"/>
          </p:cNvSpPr>
          <p:nvPr>
            <p:ph type="title"/>
          </p:nvPr>
        </p:nvSpPr>
        <p:spPr>
          <a:xfrm>
            <a:off x="481014" y="647700"/>
            <a:ext cx="2835554" cy="5557838"/>
          </a:xfrm>
        </p:spPr>
        <p:txBody>
          <a:bodyPr anchor="ctr">
            <a:normAutofit/>
          </a:bodyPr>
          <a:lstStyle/>
          <a:p>
            <a:r>
              <a:rPr lang="en-US" sz="3600" dirty="0"/>
              <a:t>The Real Interest Rate</a:t>
            </a:r>
          </a:p>
        </p:txBody>
      </p:sp>
      <p:sp>
        <p:nvSpPr>
          <p:cNvPr id="3" name="Content Placeholder 2">
            <a:extLst>
              <a:ext uri="{FF2B5EF4-FFF2-40B4-BE49-F238E27FC236}">
                <a16:creationId xmlns:a16="http://schemas.microsoft.com/office/drawing/2014/main" id="{DDD17148-0C07-29E4-2677-C0AB37CEC085}"/>
              </a:ext>
            </a:extLst>
          </p:cNvPr>
          <p:cNvSpPr>
            <a:spLocks noGrp="1"/>
          </p:cNvSpPr>
          <p:nvPr>
            <p:ph idx="1"/>
          </p:nvPr>
        </p:nvSpPr>
        <p:spPr>
          <a:xfrm>
            <a:off x="3638302" y="647700"/>
            <a:ext cx="3618162" cy="5557838"/>
          </a:xfrm>
        </p:spPr>
        <p:txBody>
          <a:bodyPr anchor="ctr">
            <a:normAutofit/>
          </a:bodyPr>
          <a:lstStyle/>
          <a:p>
            <a:r>
              <a:rPr lang="en-US" sz="1800"/>
              <a:t>The </a:t>
            </a:r>
            <a:r>
              <a:rPr lang="en-US" sz="1800" b="1"/>
              <a:t>real interest rate</a:t>
            </a:r>
            <a:r>
              <a:rPr lang="en-US" sz="1800"/>
              <a:t> is the interest rate adjusted for inflation.</a:t>
            </a:r>
          </a:p>
          <a:p>
            <a:r>
              <a:rPr lang="en-US" sz="1800"/>
              <a:t>Approximately:</a:t>
            </a:r>
          </a:p>
          <a:p>
            <a:r>
              <a:rPr lang="en-US" sz="1800"/>
              <a:t>R ≈i−π </a:t>
            </a:r>
          </a:p>
          <a:p>
            <a:pPr lvl="1"/>
            <a:r>
              <a:rPr lang="en-US" sz="1800"/>
              <a:t>where:</a:t>
            </a:r>
          </a:p>
          <a:p>
            <a:pPr lvl="2"/>
            <a:r>
              <a:rPr lang="en-US" sz="1800"/>
              <a:t>r = real interest rate </a:t>
            </a:r>
          </a:p>
          <a:p>
            <a:pPr lvl="2"/>
            <a:r>
              <a:rPr lang="en-US" sz="1800"/>
              <a:t>i = nominal interest rate </a:t>
            </a:r>
          </a:p>
          <a:p>
            <a:pPr lvl="2"/>
            <a:r>
              <a:rPr lang="en-US" sz="1800"/>
              <a:t>π = inflation rate </a:t>
            </a:r>
          </a:p>
          <a:p>
            <a:r>
              <a:rPr lang="en-US" sz="1800" b="1"/>
              <a:t>Example</a:t>
            </a:r>
          </a:p>
          <a:p>
            <a:r>
              <a:rPr lang="en-US" sz="1800"/>
              <a:t>If Nominal interest rate = 12% and Inflation = 7% </a:t>
            </a:r>
          </a:p>
          <a:p>
            <a:r>
              <a:rPr lang="en-US" sz="1800"/>
              <a:t>Then, r≈12%−7%=5% </a:t>
            </a:r>
          </a:p>
          <a:p>
            <a:r>
              <a:rPr lang="en-US" sz="1800"/>
              <a:t>The real interest rate is important because borrowers and savers care about the </a:t>
            </a:r>
            <a:r>
              <a:rPr lang="en-US" sz="1800" b="1"/>
              <a:t>purchasing power</a:t>
            </a:r>
            <a:r>
              <a:rPr lang="en-US" sz="1800"/>
              <a:t> of funds.</a:t>
            </a:r>
          </a:p>
          <a:p>
            <a:endParaRPr lang="en-US" sz="1800"/>
          </a:p>
        </p:txBody>
      </p:sp>
      <p:pic>
        <p:nvPicPr>
          <p:cNvPr id="5" name="Picture 4" descr="White percentage symbol on red background">
            <a:extLst>
              <a:ext uri="{FF2B5EF4-FFF2-40B4-BE49-F238E27FC236}">
                <a16:creationId xmlns:a16="http://schemas.microsoft.com/office/drawing/2014/main" id="{AFA5191F-01AF-5EAE-A98B-A6151B2FF622}"/>
              </a:ext>
            </a:extLst>
          </p:cNvPr>
          <p:cNvPicPr>
            <a:picLocks noChangeAspect="1"/>
          </p:cNvPicPr>
          <p:nvPr/>
        </p:nvPicPr>
        <p:blipFill>
          <a:blip r:embed="rId2"/>
          <a:srcRect l="44748" r="8904" b="-2"/>
          <a:stretch>
            <a:fillRect/>
          </a:stretch>
        </p:blipFill>
        <p:spPr>
          <a:xfrm>
            <a:off x="7431299" y="1"/>
            <a:ext cx="4760702" cy="6856413"/>
          </a:xfrm>
          <a:custGeom>
            <a:avLst/>
            <a:gdLst/>
            <a:ahLst/>
            <a:cxnLst/>
            <a:rect l="l" t="t" r="r" b="b"/>
            <a:pathLst>
              <a:path w="4760702" h="6856413">
                <a:moveTo>
                  <a:pt x="0" y="0"/>
                </a:moveTo>
                <a:lnTo>
                  <a:pt x="4760702" y="0"/>
                </a:lnTo>
                <a:lnTo>
                  <a:pt x="4760702" y="6856413"/>
                </a:lnTo>
                <a:lnTo>
                  <a:pt x="168269" y="6856413"/>
                </a:lnTo>
                <a:lnTo>
                  <a:pt x="228520" y="6494592"/>
                </a:lnTo>
                <a:cubicBezTo>
                  <a:pt x="521784" y="4449343"/>
                  <a:pt x="126947" y="2404092"/>
                  <a:pt x="14408" y="358842"/>
                </a:cubicBezTo>
                <a:close/>
              </a:path>
            </a:pathLst>
          </a:custGeom>
        </p:spPr>
      </p:pic>
    </p:spTree>
    <p:extLst>
      <p:ext uri="{BB962C8B-B14F-4D97-AF65-F5344CB8AC3E}">
        <p14:creationId xmlns:p14="http://schemas.microsoft.com/office/powerpoint/2010/main" val="1279276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D0F69E-868F-CF7C-8A8C-5759397D874B}"/>
              </a:ext>
            </a:extLst>
          </p:cNvPr>
          <p:cNvSpPr>
            <a:spLocks noGrp="1"/>
          </p:cNvSpPr>
          <p:nvPr>
            <p:ph type="title"/>
          </p:nvPr>
        </p:nvSpPr>
        <p:spPr>
          <a:xfrm>
            <a:off x="804672" y="802955"/>
            <a:ext cx="4977976" cy="1454051"/>
          </a:xfrm>
        </p:spPr>
        <p:txBody>
          <a:bodyPr>
            <a:normAutofit/>
          </a:bodyPr>
          <a:lstStyle/>
          <a:p>
            <a:r>
              <a:rPr lang="en-US" sz="3600">
                <a:solidFill>
                  <a:schemeClr val="tx2"/>
                </a:solidFill>
              </a:rPr>
              <a:t>Demand for Loanable Funds</a:t>
            </a:r>
          </a:p>
        </p:txBody>
      </p:sp>
      <p:sp>
        <p:nvSpPr>
          <p:cNvPr id="3" name="Content Placeholder 2">
            <a:extLst>
              <a:ext uri="{FF2B5EF4-FFF2-40B4-BE49-F238E27FC236}">
                <a16:creationId xmlns:a16="http://schemas.microsoft.com/office/drawing/2014/main" id="{C2AD7613-568D-51AC-08F1-5477134DC83D}"/>
              </a:ext>
            </a:extLst>
          </p:cNvPr>
          <p:cNvSpPr>
            <a:spLocks noGrp="1"/>
          </p:cNvSpPr>
          <p:nvPr>
            <p:ph idx="1"/>
          </p:nvPr>
        </p:nvSpPr>
        <p:spPr>
          <a:xfrm>
            <a:off x="804672" y="2421682"/>
            <a:ext cx="4977578" cy="3639289"/>
          </a:xfrm>
        </p:spPr>
        <p:txBody>
          <a:bodyPr anchor="ctr">
            <a:normAutofit/>
          </a:bodyPr>
          <a:lstStyle/>
          <a:p>
            <a:r>
              <a:rPr lang="en-US" sz="1500">
                <a:solidFill>
                  <a:schemeClr val="tx2"/>
                </a:solidFill>
              </a:rPr>
              <a:t>The </a:t>
            </a:r>
            <a:r>
              <a:rPr lang="en-US" sz="1500" b="1">
                <a:solidFill>
                  <a:schemeClr val="tx2"/>
                </a:solidFill>
              </a:rPr>
              <a:t>demand for loanable funds</a:t>
            </a:r>
            <a:r>
              <a:rPr lang="en-US" sz="1500">
                <a:solidFill>
                  <a:schemeClr val="tx2"/>
                </a:solidFill>
              </a:rPr>
              <a:t> comes mainly from borrowers.</a:t>
            </a:r>
          </a:p>
          <a:p>
            <a:r>
              <a:rPr lang="en-US" sz="1500">
                <a:solidFill>
                  <a:schemeClr val="tx2"/>
                </a:solidFill>
              </a:rPr>
              <a:t>The most important component is </a:t>
            </a:r>
            <a:r>
              <a:rPr lang="en-US" sz="1500" b="1">
                <a:solidFill>
                  <a:schemeClr val="tx2"/>
                </a:solidFill>
              </a:rPr>
              <a:t>investment demand by firms</a:t>
            </a:r>
            <a:r>
              <a:rPr lang="en-US" sz="1500">
                <a:solidFill>
                  <a:schemeClr val="tx2"/>
                </a:solidFill>
              </a:rPr>
              <a:t>.</a:t>
            </a:r>
          </a:p>
          <a:p>
            <a:r>
              <a:rPr lang="en-US" sz="1500">
                <a:solidFill>
                  <a:schemeClr val="tx2"/>
                </a:solidFill>
              </a:rPr>
              <a:t>Businesses borrow to finance:</a:t>
            </a:r>
          </a:p>
          <a:p>
            <a:pPr lvl="1"/>
            <a:r>
              <a:rPr lang="en-US" sz="1500">
                <a:solidFill>
                  <a:schemeClr val="tx2"/>
                </a:solidFill>
              </a:rPr>
              <a:t>new factories, </a:t>
            </a:r>
          </a:p>
          <a:p>
            <a:pPr lvl="1"/>
            <a:r>
              <a:rPr lang="en-US" sz="1500">
                <a:solidFill>
                  <a:schemeClr val="tx2"/>
                </a:solidFill>
              </a:rPr>
              <a:t>machinery, </a:t>
            </a:r>
          </a:p>
          <a:p>
            <a:pPr lvl="1"/>
            <a:r>
              <a:rPr lang="en-US" sz="1500">
                <a:solidFill>
                  <a:schemeClr val="tx2"/>
                </a:solidFill>
              </a:rPr>
              <a:t>technology, </a:t>
            </a:r>
          </a:p>
          <a:p>
            <a:pPr lvl="1"/>
            <a:r>
              <a:rPr lang="en-US" sz="1500">
                <a:solidFill>
                  <a:schemeClr val="tx2"/>
                </a:solidFill>
              </a:rPr>
              <a:t>expansion, </a:t>
            </a:r>
          </a:p>
          <a:p>
            <a:pPr lvl="1"/>
            <a:r>
              <a:rPr lang="en-US" sz="1500">
                <a:solidFill>
                  <a:schemeClr val="tx2"/>
                </a:solidFill>
              </a:rPr>
              <a:t>research and development, </a:t>
            </a:r>
          </a:p>
          <a:p>
            <a:pPr lvl="1"/>
            <a:r>
              <a:rPr lang="en-US" sz="1500">
                <a:solidFill>
                  <a:schemeClr val="tx2"/>
                </a:solidFill>
              </a:rPr>
              <a:t>inventories. </a:t>
            </a:r>
          </a:p>
          <a:p>
            <a:r>
              <a:rPr lang="en-US" sz="1500">
                <a:solidFill>
                  <a:schemeClr val="tx2"/>
                </a:solidFill>
              </a:rPr>
              <a:t>Governments and households can also borrow.</a:t>
            </a:r>
          </a:p>
          <a:p>
            <a:endParaRPr lang="en-US" sz="150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Euro">
            <a:extLst>
              <a:ext uri="{FF2B5EF4-FFF2-40B4-BE49-F238E27FC236}">
                <a16:creationId xmlns:a16="http://schemas.microsoft.com/office/drawing/2014/main" id="{01352E35-165C-2D30-900A-F805BF0D63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949867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00BAF80-EA96-EC5D-FC97-EF56B9A52B9B}"/>
              </a:ext>
            </a:extLst>
          </p:cNvPr>
          <p:cNvSpPr>
            <a:spLocks noGrp="1"/>
          </p:cNvSpPr>
          <p:nvPr>
            <p:ph type="title"/>
          </p:nvPr>
        </p:nvSpPr>
        <p:spPr>
          <a:xfrm>
            <a:off x="621792" y="1161288"/>
            <a:ext cx="3602736" cy="4526280"/>
          </a:xfrm>
        </p:spPr>
        <p:txBody>
          <a:bodyPr>
            <a:normAutofit/>
          </a:bodyPr>
          <a:lstStyle/>
          <a:p>
            <a:r>
              <a:rPr lang="en-US" sz="4000"/>
              <a:t>Demand for Loanable Funds</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183D52BE-4157-FA71-712B-16CC575383B9}"/>
              </a:ext>
            </a:extLst>
          </p:cNvPr>
          <p:cNvGraphicFramePr>
            <a:graphicFrameLocks noGrp="1"/>
          </p:cNvGraphicFramePr>
          <p:nvPr>
            <p:ph idx="1"/>
            <p:extLst>
              <p:ext uri="{D42A27DB-BD31-4B8C-83A1-F6EECF244321}">
                <p14:modId xmlns:p14="http://schemas.microsoft.com/office/powerpoint/2010/main" val="2380840634"/>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0530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8EB565-7CFB-1331-BCC5-0A453D08C294}"/>
              </a:ext>
            </a:extLst>
          </p:cNvPr>
          <p:cNvSpPr>
            <a:spLocks noGrp="1"/>
          </p:cNvSpPr>
          <p:nvPr>
            <p:ph type="title"/>
          </p:nvPr>
        </p:nvSpPr>
        <p:spPr>
          <a:xfrm>
            <a:off x="836679" y="723898"/>
            <a:ext cx="6002110" cy="1495425"/>
          </a:xfrm>
        </p:spPr>
        <p:txBody>
          <a:bodyPr>
            <a:normAutofit/>
          </a:bodyPr>
          <a:lstStyle/>
          <a:p>
            <a:r>
              <a:rPr lang="en-US" sz="4000"/>
              <a:t>Marginal Benefit and Investment</a:t>
            </a:r>
          </a:p>
        </p:txBody>
      </p:sp>
      <p:sp>
        <p:nvSpPr>
          <p:cNvPr id="3" name="Content Placeholder 2">
            <a:extLst>
              <a:ext uri="{FF2B5EF4-FFF2-40B4-BE49-F238E27FC236}">
                <a16:creationId xmlns:a16="http://schemas.microsoft.com/office/drawing/2014/main" id="{6CF02146-76B2-3525-E6E6-5F303A65443B}"/>
              </a:ext>
            </a:extLst>
          </p:cNvPr>
          <p:cNvSpPr>
            <a:spLocks noGrp="1"/>
          </p:cNvSpPr>
          <p:nvPr>
            <p:ph idx="1"/>
          </p:nvPr>
        </p:nvSpPr>
        <p:spPr>
          <a:xfrm>
            <a:off x="836680" y="2405067"/>
            <a:ext cx="6002110" cy="3729034"/>
          </a:xfrm>
        </p:spPr>
        <p:txBody>
          <a:bodyPr>
            <a:normAutofit/>
          </a:bodyPr>
          <a:lstStyle/>
          <a:p>
            <a:r>
              <a:rPr lang="en-US" sz="1900"/>
              <a:t>A firm will borrow and invest when the expected return from investment is sufficiently high relative to the cost of borrowing.</a:t>
            </a:r>
          </a:p>
          <a:p>
            <a:r>
              <a:rPr lang="en-US" sz="1900"/>
              <a:t>Suppose a company is considering a machine costing Tk. 10 million. </a:t>
            </a:r>
          </a:p>
          <a:p>
            <a:pPr lvl="1"/>
            <a:r>
              <a:rPr lang="en-US" sz="1900"/>
              <a:t>If the expected return is 15% and the real interest rate is 8%, the project may be attractive.</a:t>
            </a:r>
          </a:p>
          <a:p>
            <a:pPr lvl="1"/>
            <a:r>
              <a:rPr lang="en-US" sz="1900"/>
              <a:t>But if the real interest rate rises to 18%, the project may no longer be profitable.</a:t>
            </a:r>
          </a:p>
          <a:p>
            <a:r>
              <a:rPr lang="en-US" sz="1900"/>
              <a:t>Therefore:</a:t>
            </a:r>
          </a:p>
          <a:p>
            <a:pPr lvl="1"/>
            <a:r>
              <a:rPr lang="en-US" sz="1900" b="1"/>
              <a:t>Higher real interest rates discourage investment.</a:t>
            </a:r>
            <a:endParaRPr lang="en-US" sz="1900"/>
          </a:p>
          <a:p>
            <a:endParaRPr lang="en-US" sz="1900"/>
          </a:p>
        </p:txBody>
      </p:sp>
      <p:pic>
        <p:nvPicPr>
          <p:cNvPr id="5" name="Picture 4" descr="White calculator">
            <a:extLst>
              <a:ext uri="{FF2B5EF4-FFF2-40B4-BE49-F238E27FC236}">
                <a16:creationId xmlns:a16="http://schemas.microsoft.com/office/drawing/2014/main" id="{99686560-A9F5-C8EF-F3B6-9C7B93FE1508}"/>
              </a:ext>
            </a:extLst>
          </p:cNvPr>
          <p:cNvPicPr>
            <a:picLocks noChangeAspect="1"/>
          </p:cNvPicPr>
          <p:nvPr/>
        </p:nvPicPr>
        <p:blipFill>
          <a:blip r:embed="rId2"/>
          <a:srcRect l="6987" r="44419" b="-1"/>
          <a:stretch>
            <a:fillRect/>
          </a:stretch>
        </p:blipFill>
        <p:spPr>
          <a:xfrm>
            <a:off x="7199440" y="10"/>
            <a:ext cx="4992560" cy="6857990"/>
          </a:xfrm>
          <a:prstGeom prst="rect">
            <a:avLst/>
          </a:prstGeom>
          <a:effectLst/>
        </p:spPr>
      </p:pic>
    </p:spTree>
    <p:extLst>
      <p:ext uri="{BB962C8B-B14F-4D97-AF65-F5344CB8AC3E}">
        <p14:creationId xmlns:p14="http://schemas.microsoft.com/office/powerpoint/2010/main" val="4026323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DDD9C2-A778-019B-10C6-5A28C9BCDA96}"/>
              </a:ext>
            </a:extLst>
          </p:cNvPr>
          <p:cNvSpPr>
            <a:spLocks noGrp="1"/>
          </p:cNvSpPr>
          <p:nvPr>
            <p:ph type="title"/>
          </p:nvPr>
        </p:nvSpPr>
        <p:spPr>
          <a:xfrm>
            <a:off x="836679" y="723898"/>
            <a:ext cx="6002110" cy="1495425"/>
          </a:xfrm>
        </p:spPr>
        <p:txBody>
          <a:bodyPr>
            <a:normAutofit/>
          </a:bodyPr>
          <a:lstStyle/>
          <a:p>
            <a:r>
              <a:rPr lang="en-US" sz="4000"/>
              <a:t>Supply of Loanable Funds</a:t>
            </a:r>
          </a:p>
        </p:txBody>
      </p:sp>
      <p:pic>
        <p:nvPicPr>
          <p:cNvPr id="6" name="Picture 5">
            <a:extLst>
              <a:ext uri="{FF2B5EF4-FFF2-40B4-BE49-F238E27FC236}">
                <a16:creationId xmlns:a16="http://schemas.microsoft.com/office/drawing/2014/main" id="{D645E1C7-B72E-437E-02CF-D79163AAEF2E}"/>
              </a:ext>
            </a:extLst>
          </p:cNvPr>
          <p:cNvPicPr>
            <a:picLocks noChangeAspect="1"/>
          </p:cNvPicPr>
          <p:nvPr/>
        </p:nvPicPr>
        <p:blipFill>
          <a:blip r:embed="rId2"/>
          <a:srcRect l="18912" r="32494" b="-1"/>
          <a:stretch>
            <a:fillRect/>
          </a:stretch>
        </p:blipFill>
        <p:spPr>
          <a:xfrm>
            <a:off x="7199440" y="10"/>
            <a:ext cx="4992560" cy="6857990"/>
          </a:xfrm>
          <a:prstGeom prst="rect">
            <a:avLst/>
          </a:prstGeom>
          <a:effectLst/>
        </p:spPr>
      </p:pic>
      <p:graphicFrame>
        <p:nvGraphicFramePr>
          <p:cNvPr id="11" name="Content Placeholder 2">
            <a:extLst>
              <a:ext uri="{FF2B5EF4-FFF2-40B4-BE49-F238E27FC236}">
                <a16:creationId xmlns:a16="http://schemas.microsoft.com/office/drawing/2014/main" id="{57BF196A-428F-DFD6-B6D8-8D0208F1BD5D}"/>
              </a:ext>
            </a:extLst>
          </p:cNvPr>
          <p:cNvGraphicFramePr>
            <a:graphicFrameLocks noGrp="1"/>
          </p:cNvGraphicFramePr>
          <p:nvPr>
            <p:ph idx="1"/>
            <p:extLst>
              <p:ext uri="{D42A27DB-BD31-4B8C-83A1-F6EECF244321}">
                <p14:modId xmlns:p14="http://schemas.microsoft.com/office/powerpoint/2010/main" val="3054853650"/>
              </p:ext>
            </p:extLst>
          </p:nvPr>
        </p:nvGraphicFramePr>
        <p:xfrm>
          <a:off x="836680" y="2405067"/>
          <a:ext cx="6002110" cy="37290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52417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8138D4-798A-4671-2FFD-6690D2542A16}"/>
              </a:ext>
            </a:extLst>
          </p:cNvPr>
          <p:cNvSpPr>
            <a:spLocks noGrp="1"/>
          </p:cNvSpPr>
          <p:nvPr>
            <p:ph type="title"/>
          </p:nvPr>
        </p:nvSpPr>
        <p:spPr>
          <a:xfrm>
            <a:off x="836679" y="723898"/>
            <a:ext cx="6002110" cy="1495425"/>
          </a:xfrm>
        </p:spPr>
        <p:txBody>
          <a:bodyPr>
            <a:normAutofit/>
          </a:bodyPr>
          <a:lstStyle/>
          <a:p>
            <a:r>
              <a:rPr lang="en-US" sz="4000"/>
              <a:t>Supply of Loanable Funds</a:t>
            </a:r>
          </a:p>
        </p:txBody>
      </p:sp>
      <p:pic>
        <p:nvPicPr>
          <p:cNvPr id="6" name="Picture 5">
            <a:extLst>
              <a:ext uri="{FF2B5EF4-FFF2-40B4-BE49-F238E27FC236}">
                <a16:creationId xmlns:a16="http://schemas.microsoft.com/office/drawing/2014/main" id="{75D9465D-45F4-EFBC-7F8E-10F52F08D35B}"/>
              </a:ext>
            </a:extLst>
          </p:cNvPr>
          <p:cNvPicPr>
            <a:picLocks noChangeAspect="1"/>
          </p:cNvPicPr>
          <p:nvPr/>
        </p:nvPicPr>
        <p:blipFill>
          <a:blip r:embed="rId2"/>
          <a:srcRect l="21856" r="29732"/>
          <a:stretch>
            <a:fillRect/>
          </a:stretch>
        </p:blipFill>
        <p:spPr>
          <a:xfrm>
            <a:off x="7199440" y="10"/>
            <a:ext cx="4992560" cy="6857990"/>
          </a:xfrm>
          <a:prstGeom prst="rect">
            <a:avLst/>
          </a:prstGeom>
          <a:effectLst/>
        </p:spPr>
      </p:pic>
      <p:graphicFrame>
        <p:nvGraphicFramePr>
          <p:cNvPr id="5" name="Content Placeholder 2">
            <a:extLst>
              <a:ext uri="{FF2B5EF4-FFF2-40B4-BE49-F238E27FC236}">
                <a16:creationId xmlns:a16="http://schemas.microsoft.com/office/drawing/2014/main" id="{DD8C37A4-E350-2A71-4E3D-ED2AFA9E3EC7}"/>
              </a:ext>
            </a:extLst>
          </p:cNvPr>
          <p:cNvGraphicFramePr>
            <a:graphicFrameLocks noGrp="1"/>
          </p:cNvGraphicFramePr>
          <p:nvPr>
            <p:ph idx="1"/>
            <p:extLst>
              <p:ext uri="{D42A27DB-BD31-4B8C-83A1-F6EECF244321}">
                <p14:modId xmlns:p14="http://schemas.microsoft.com/office/powerpoint/2010/main" val="2713554926"/>
              </p:ext>
            </p:extLst>
          </p:nvPr>
        </p:nvGraphicFramePr>
        <p:xfrm>
          <a:off x="836680" y="2405067"/>
          <a:ext cx="6002110" cy="37290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1322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D0BD71-E3DE-5773-CA60-D56059DAE312}"/>
              </a:ext>
            </a:extLst>
          </p:cNvPr>
          <p:cNvPicPr>
            <a:picLocks noChangeAspect="1"/>
          </p:cNvPicPr>
          <p:nvPr/>
        </p:nvPicPr>
        <p:blipFill>
          <a:blip r:embed="rId2">
            <a:duotone>
              <a:schemeClr val="bg2">
                <a:shade val="45000"/>
                <a:satMod val="135000"/>
              </a:schemeClr>
              <a:prstClr val="white"/>
            </a:duotone>
          </a:blip>
          <a:srcRect t="6010" b="6781"/>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D04583-1FC0-3F1D-9468-8E496CB8A32E}"/>
              </a:ext>
            </a:extLst>
          </p:cNvPr>
          <p:cNvSpPr>
            <a:spLocks noGrp="1"/>
          </p:cNvSpPr>
          <p:nvPr>
            <p:ph type="title"/>
          </p:nvPr>
        </p:nvSpPr>
        <p:spPr>
          <a:xfrm>
            <a:off x="838200" y="365125"/>
            <a:ext cx="10515600" cy="1325563"/>
          </a:xfrm>
        </p:spPr>
        <p:txBody>
          <a:bodyPr>
            <a:normAutofit/>
          </a:bodyPr>
          <a:lstStyle/>
          <a:p>
            <a:r>
              <a:rPr lang="en-US"/>
              <a:t>Other factors drive Supply of Loanable Fund</a:t>
            </a:r>
            <a:endParaRPr lang="en-US" dirty="0"/>
          </a:p>
        </p:txBody>
      </p:sp>
      <p:graphicFrame>
        <p:nvGraphicFramePr>
          <p:cNvPr id="19" name="Content Placeholder 2">
            <a:extLst>
              <a:ext uri="{FF2B5EF4-FFF2-40B4-BE49-F238E27FC236}">
                <a16:creationId xmlns:a16="http://schemas.microsoft.com/office/drawing/2014/main" id="{C6709B6E-0B28-5C65-0109-1034AA504686}"/>
              </a:ext>
            </a:extLst>
          </p:cNvPr>
          <p:cNvGraphicFramePr>
            <a:graphicFrameLocks noGrp="1"/>
          </p:cNvGraphicFramePr>
          <p:nvPr>
            <p:ph idx="1"/>
            <p:extLst>
              <p:ext uri="{D42A27DB-BD31-4B8C-83A1-F6EECF244321}">
                <p14:modId xmlns:p14="http://schemas.microsoft.com/office/powerpoint/2010/main" val="54669258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007022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EA936BD-69DA-B61D-9EAC-A2866E757D39}"/>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Equilibrium in the Loanable Funds Market</a:t>
            </a:r>
          </a:p>
        </p:txBody>
      </p:sp>
      <p:pic>
        <p:nvPicPr>
          <p:cNvPr id="4" name="Content Placeholder 3" descr="4.6 The Market for Loanable Funds · GitBook">
            <a:extLst>
              <a:ext uri="{FF2B5EF4-FFF2-40B4-BE49-F238E27FC236}">
                <a16:creationId xmlns:a16="http://schemas.microsoft.com/office/drawing/2014/main" id="{0FD4AC00-3F71-4458-D7EF-A47430B39D1C}"/>
              </a:ext>
            </a:extLst>
          </p:cNvPr>
          <p:cNvPicPr>
            <a:picLocks noGrp="1" noChangeAspect="1"/>
          </p:cNvPicPr>
          <p:nvPr>
            <p:ph idx="1"/>
          </p:nvPr>
        </p:nvPicPr>
        <p:blipFill>
          <a:blip r:embed="rId3"/>
          <a:stretch>
            <a:fillRect/>
          </a:stretch>
        </p:blipFill>
        <p:spPr>
          <a:xfrm>
            <a:off x="4502428" y="737055"/>
            <a:ext cx="7225748" cy="5383890"/>
          </a:xfrm>
          <a:prstGeom prst="rect">
            <a:avLst/>
          </a:prstGeom>
        </p:spPr>
      </p:pic>
    </p:spTree>
    <p:extLst>
      <p:ext uri="{BB962C8B-B14F-4D97-AF65-F5344CB8AC3E}">
        <p14:creationId xmlns:p14="http://schemas.microsoft.com/office/powerpoint/2010/main" val="1802199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9CB6747-D8EF-05B2-4F7B-E1C29480833C}"/>
              </a:ext>
            </a:extLst>
          </p:cNvPr>
          <p:cNvSpPr>
            <a:spLocks noGrp="1"/>
          </p:cNvSpPr>
          <p:nvPr>
            <p:ph type="title"/>
          </p:nvPr>
        </p:nvSpPr>
        <p:spPr>
          <a:xfrm>
            <a:off x="1137034" y="609597"/>
            <a:ext cx="9392421" cy="1330841"/>
          </a:xfrm>
        </p:spPr>
        <p:txBody>
          <a:bodyPr>
            <a:normAutofit/>
          </a:bodyPr>
          <a:lstStyle/>
          <a:p>
            <a:r>
              <a:rPr lang="en-US"/>
              <a:t>Changes in Demand of Loanable fund </a:t>
            </a:r>
          </a:p>
        </p:txBody>
      </p:sp>
      <p:sp>
        <p:nvSpPr>
          <p:cNvPr id="3" name="Content Placeholder 2">
            <a:extLst>
              <a:ext uri="{FF2B5EF4-FFF2-40B4-BE49-F238E27FC236}">
                <a16:creationId xmlns:a16="http://schemas.microsoft.com/office/drawing/2014/main" id="{17475F8D-86C0-6A34-FBF5-AA1D82ABF77A}"/>
              </a:ext>
            </a:extLst>
          </p:cNvPr>
          <p:cNvSpPr>
            <a:spLocks noGrp="1"/>
          </p:cNvSpPr>
          <p:nvPr>
            <p:ph idx="1"/>
          </p:nvPr>
        </p:nvSpPr>
        <p:spPr>
          <a:xfrm>
            <a:off x="1137034" y="2198362"/>
            <a:ext cx="4958966" cy="3917773"/>
          </a:xfrm>
        </p:spPr>
        <p:txBody>
          <a:bodyPr>
            <a:normAutofit/>
          </a:bodyPr>
          <a:lstStyle/>
          <a:p>
            <a:r>
              <a:rPr lang="en-US" sz="2000" dirty="0"/>
              <a:t>A </a:t>
            </a:r>
            <a:r>
              <a:rPr lang="en-US" sz="2000" b="1" dirty="0"/>
              <a:t>change in demand</a:t>
            </a:r>
            <a:r>
              <a:rPr lang="en-US" sz="2000" dirty="0"/>
              <a:t> means the entire demand curve shifts.</a:t>
            </a:r>
          </a:p>
          <a:p>
            <a:r>
              <a:rPr lang="en-US" sz="2000" dirty="0"/>
              <a:t>Demand curve shifts RIGHT → Increase in demand</a:t>
            </a:r>
          </a:p>
          <a:p>
            <a:r>
              <a:rPr lang="en-US" sz="2000" dirty="0"/>
              <a:t>Suppose Bangladeshi firms expect strong economic growth and decide to build more factories. They need more financing, so demand for loanable funds increases. This tends to push the real interest rate upward.</a:t>
            </a:r>
          </a:p>
          <a:p>
            <a:endParaRPr lang="en-US" sz="2000" dirty="0"/>
          </a:p>
        </p:txBody>
      </p:sp>
      <p:sp>
        <p:nvSpPr>
          <p:cNvPr id="17" name="Freeform: Shape 16">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Table 3">
            <a:extLst>
              <a:ext uri="{FF2B5EF4-FFF2-40B4-BE49-F238E27FC236}">
                <a16:creationId xmlns:a16="http://schemas.microsoft.com/office/drawing/2014/main" id="{684F54FC-687F-D452-14D1-C1926FDE5206}"/>
              </a:ext>
            </a:extLst>
          </p:cNvPr>
          <p:cNvGraphicFramePr>
            <a:graphicFrameLocks noGrp="1"/>
          </p:cNvGraphicFramePr>
          <p:nvPr>
            <p:extLst>
              <p:ext uri="{D42A27DB-BD31-4B8C-83A1-F6EECF244321}">
                <p14:modId xmlns:p14="http://schemas.microsoft.com/office/powerpoint/2010/main" val="1497509385"/>
              </p:ext>
            </p:extLst>
          </p:nvPr>
        </p:nvGraphicFramePr>
        <p:xfrm>
          <a:off x="6719367" y="2498583"/>
          <a:ext cx="4788506" cy="3128580"/>
        </p:xfrm>
        <a:graphic>
          <a:graphicData uri="http://schemas.openxmlformats.org/drawingml/2006/table">
            <a:tbl>
              <a:tblPr firstRow="1" bandRow="1">
                <a:tableStyleId>{ED083AE6-46FA-4A59-8FB0-9F97EB10719F}</a:tableStyleId>
              </a:tblPr>
              <a:tblGrid>
                <a:gridCol w="3622495">
                  <a:extLst>
                    <a:ext uri="{9D8B030D-6E8A-4147-A177-3AD203B41FA5}">
                      <a16:colId xmlns:a16="http://schemas.microsoft.com/office/drawing/2014/main" val="572802612"/>
                    </a:ext>
                  </a:extLst>
                </a:gridCol>
                <a:gridCol w="1166011">
                  <a:extLst>
                    <a:ext uri="{9D8B030D-6E8A-4147-A177-3AD203B41FA5}">
                      <a16:colId xmlns:a16="http://schemas.microsoft.com/office/drawing/2014/main" val="2741144204"/>
                    </a:ext>
                  </a:extLst>
                </a:gridCol>
              </a:tblGrid>
              <a:tr h="581696">
                <a:tc>
                  <a:txBody>
                    <a:bodyPr/>
                    <a:lstStyle/>
                    <a:p>
                      <a:pPr algn="ctr">
                        <a:buNone/>
                      </a:pPr>
                      <a:r>
                        <a:rPr lang="en-US" sz="1500" b="1"/>
                        <a:t>Factor</a:t>
                      </a:r>
                    </a:p>
                  </a:txBody>
                  <a:tcPr marL="78607" marR="78607" marT="39304" marB="39304" anchor="ctr"/>
                </a:tc>
                <a:tc>
                  <a:txBody>
                    <a:bodyPr/>
                    <a:lstStyle/>
                    <a:p>
                      <a:pPr algn="ctr">
                        <a:buNone/>
                      </a:pPr>
                      <a:r>
                        <a:rPr lang="en-US" sz="1500" b="1"/>
                        <a:t>Effect on Demand</a:t>
                      </a:r>
                    </a:p>
                  </a:txBody>
                  <a:tcPr marL="78607" marR="78607" marT="39304" marB="39304" anchor="ctr"/>
                </a:tc>
                <a:extLst>
                  <a:ext uri="{0D108BD9-81ED-4DB2-BD59-A6C34878D82A}">
                    <a16:rowId xmlns:a16="http://schemas.microsoft.com/office/drawing/2014/main" val="3450422029"/>
                  </a:ext>
                </a:extLst>
              </a:tr>
              <a:tr h="345873">
                <a:tc>
                  <a:txBody>
                    <a:bodyPr/>
                    <a:lstStyle/>
                    <a:p>
                      <a:pPr>
                        <a:buNone/>
                      </a:pPr>
                      <a:r>
                        <a:rPr lang="en-US" sz="1500"/>
                        <a:t>Increase in expected profit</a:t>
                      </a:r>
                    </a:p>
                  </a:txBody>
                  <a:tcPr marL="78607" marR="78607" marT="39304" marB="39304" anchor="ctr"/>
                </a:tc>
                <a:tc>
                  <a:txBody>
                    <a:bodyPr/>
                    <a:lstStyle/>
                    <a:p>
                      <a:pPr>
                        <a:buNone/>
                      </a:pPr>
                      <a:r>
                        <a:rPr lang="en-US" sz="1500"/>
                        <a:t>Demand ↑</a:t>
                      </a:r>
                    </a:p>
                  </a:txBody>
                  <a:tcPr marL="78607" marR="78607" marT="39304" marB="39304" anchor="ctr"/>
                </a:tc>
                <a:extLst>
                  <a:ext uri="{0D108BD9-81ED-4DB2-BD59-A6C34878D82A}">
                    <a16:rowId xmlns:a16="http://schemas.microsoft.com/office/drawing/2014/main" val="3053043841"/>
                  </a:ext>
                </a:extLst>
              </a:tr>
              <a:tr h="345873">
                <a:tc>
                  <a:txBody>
                    <a:bodyPr/>
                    <a:lstStyle/>
                    <a:p>
                      <a:pPr>
                        <a:buNone/>
                      </a:pPr>
                      <a:r>
                        <a:rPr lang="en-US" sz="1500"/>
                        <a:t>Increase in expected economic growth</a:t>
                      </a:r>
                    </a:p>
                  </a:txBody>
                  <a:tcPr marL="78607" marR="78607" marT="39304" marB="39304" anchor="ctr"/>
                </a:tc>
                <a:tc>
                  <a:txBody>
                    <a:bodyPr/>
                    <a:lstStyle/>
                    <a:p>
                      <a:pPr>
                        <a:buNone/>
                      </a:pPr>
                      <a:r>
                        <a:rPr lang="en-US" sz="1500"/>
                        <a:t>Demand ↑</a:t>
                      </a:r>
                    </a:p>
                  </a:txBody>
                  <a:tcPr marL="78607" marR="78607" marT="39304" marB="39304" anchor="ctr"/>
                </a:tc>
                <a:extLst>
                  <a:ext uri="{0D108BD9-81ED-4DB2-BD59-A6C34878D82A}">
                    <a16:rowId xmlns:a16="http://schemas.microsoft.com/office/drawing/2014/main" val="2074961179"/>
                  </a:ext>
                </a:extLst>
              </a:tr>
              <a:tr h="581696">
                <a:tc>
                  <a:txBody>
                    <a:bodyPr/>
                    <a:lstStyle/>
                    <a:p>
                      <a:pPr>
                        <a:buNone/>
                      </a:pPr>
                      <a:r>
                        <a:rPr lang="en-US" sz="1500"/>
                        <a:t>Increase in business investment opportunities</a:t>
                      </a:r>
                    </a:p>
                  </a:txBody>
                  <a:tcPr marL="78607" marR="78607" marT="39304" marB="39304" anchor="ctr"/>
                </a:tc>
                <a:tc>
                  <a:txBody>
                    <a:bodyPr/>
                    <a:lstStyle/>
                    <a:p>
                      <a:pPr>
                        <a:buNone/>
                      </a:pPr>
                      <a:r>
                        <a:rPr lang="en-US" sz="1500"/>
                        <a:t>Demand ↑</a:t>
                      </a:r>
                    </a:p>
                  </a:txBody>
                  <a:tcPr marL="78607" marR="78607" marT="39304" marB="39304" anchor="ctr"/>
                </a:tc>
                <a:extLst>
                  <a:ext uri="{0D108BD9-81ED-4DB2-BD59-A6C34878D82A}">
                    <a16:rowId xmlns:a16="http://schemas.microsoft.com/office/drawing/2014/main" val="174978276"/>
                  </a:ext>
                </a:extLst>
              </a:tr>
              <a:tr h="345873">
                <a:tc>
                  <a:txBody>
                    <a:bodyPr/>
                    <a:lstStyle/>
                    <a:p>
                      <a:pPr>
                        <a:buNone/>
                      </a:pPr>
                      <a:r>
                        <a:rPr lang="en-US" sz="1500"/>
                        <a:t>Increase in government budget deficit</a:t>
                      </a:r>
                    </a:p>
                  </a:txBody>
                  <a:tcPr marL="78607" marR="78607" marT="39304" marB="39304" anchor="ctr"/>
                </a:tc>
                <a:tc>
                  <a:txBody>
                    <a:bodyPr/>
                    <a:lstStyle/>
                    <a:p>
                      <a:pPr>
                        <a:buNone/>
                      </a:pPr>
                      <a:r>
                        <a:rPr lang="en-US" sz="1500"/>
                        <a:t>Demand ↑</a:t>
                      </a:r>
                    </a:p>
                  </a:txBody>
                  <a:tcPr marL="78607" marR="78607" marT="39304" marB="39304" anchor="ctr"/>
                </a:tc>
                <a:extLst>
                  <a:ext uri="{0D108BD9-81ED-4DB2-BD59-A6C34878D82A}">
                    <a16:rowId xmlns:a16="http://schemas.microsoft.com/office/drawing/2014/main" val="361473461"/>
                  </a:ext>
                </a:extLst>
              </a:tr>
              <a:tr h="581696">
                <a:tc>
                  <a:txBody>
                    <a:bodyPr/>
                    <a:lstStyle/>
                    <a:p>
                      <a:pPr>
                        <a:buNone/>
                      </a:pPr>
                      <a:r>
                        <a:rPr lang="en-US" sz="1500"/>
                        <a:t>Increase in expected inflation</a:t>
                      </a:r>
                    </a:p>
                  </a:txBody>
                  <a:tcPr marL="78607" marR="78607" marT="39304" marB="39304" anchor="ctr"/>
                </a:tc>
                <a:tc>
                  <a:txBody>
                    <a:bodyPr/>
                    <a:lstStyle/>
                    <a:p>
                      <a:pPr>
                        <a:buNone/>
                      </a:pPr>
                      <a:r>
                        <a:rPr lang="en-US" sz="1500"/>
                        <a:t>Usually demand ↑</a:t>
                      </a:r>
                    </a:p>
                  </a:txBody>
                  <a:tcPr marL="78607" marR="78607" marT="39304" marB="39304" anchor="ctr"/>
                </a:tc>
                <a:extLst>
                  <a:ext uri="{0D108BD9-81ED-4DB2-BD59-A6C34878D82A}">
                    <a16:rowId xmlns:a16="http://schemas.microsoft.com/office/drawing/2014/main" val="709391972"/>
                  </a:ext>
                </a:extLst>
              </a:tr>
              <a:tr h="345873">
                <a:tc>
                  <a:txBody>
                    <a:bodyPr/>
                    <a:lstStyle/>
                    <a:p>
                      <a:pPr>
                        <a:buNone/>
                      </a:pPr>
                      <a:r>
                        <a:rPr lang="en-US" sz="1500"/>
                        <a:t>Increase in population/business activity</a:t>
                      </a:r>
                    </a:p>
                  </a:txBody>
                  <a:tcPr marL="78607" marR="78607" marT="39304" marB="39304" anchor="ctr"/>
                </a:tc>
                <a:tc>
                  <a:txBody>
                    <a:bodyPr/>
                    <a:lstStyle/>
                    <a:p>
                      <a:pPr>
                        <a:buNone/>
                      </a:pPr>
                      <a:r>
                        <a:rPr lang="en-US" sz="1500"/>
                        <a:t>Demand ↑</a:t>
                      </a:r>
                    </a:p>
                  </a:txBody>
                  <a:tcPr marL="78607" marR="78607" marT="39304" marB="39304" anchor="ctr"/>
                </a:tc>
                <a:extLst>
                  <a:ext uri="{0D108BD9-81ED-4DB2-BD59-A6C34878D82A}">
                    <a16:rowId xmlns:a16="http://schemas.microsoft.com/office/drawing/2014/main" val="1586319081"/>
                  </a:ext>
                </a:extLst>
              </a:tr>
            </a:tbl>
          </a:graphicData>
        </a:graphic>
      </p:graphicFrame>
    </p:spTree>
    <p:extLst>
      <p:ext uri="{BB962C8B-B14F-4D97-AF65-F5344CB8AC3E}">
        <p14:creationId xmlns:p14="http://schemas.microsoft.com/office/powerpoint/2010/main" val="9384634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8FD464D-5C3A-B6F1-603E-5AA54DD70052}"/>
              </a:ext>
            </a:extLst>
          </p:cNvPr>
          <p:cNvSpPr>
            <a:spLocks noGrp="1"/>
          </p:cNvSpPr>
          <p:nvPr>
            <p:ph type="title"/>
          </p:nvPr>
        </p:nvSpPr>
        <p:spPr>
          <a:xfrm>
            <a:off x="838200" y="609600"/>
            <a:ext cx="3739341" cy="1330839"/>
          </a:xfrm>
        </p:spPr>
        <p:txBody>
          <a:bodyPr>
            <a:normAutofit/>
          </a:bodyPr>
          <a:lstStyle/>
          <a:p>
            <a:r>
              <a:rPr lang="en-US" sz="3700"/>
              <a:t>Changes in Supply of Loanable fund </a:t>
            </a:r>
          </a:p>
        </p:txBody>
      </p:sp>
      <p:sp>
        <p:nvSpPr>
          <p:cNvPr id="3" name="Content Placeholder 2">
            <a:extLst>
              <a:ext uri="{FF2B5EF4-FFF2-40B4-BE49-F238E27FC236}">
                <a16:creationId xmlns:a16="http://schemas.microsoft.com/office/drawing/2014/main" id="{9A1B95C4-1D67-7894-3E03-F21F8C3E4829}"/>
              </a:ext>
            </a:extLst>
          </p:cNvPr>
          <p:cNvSpPr>
            <a:spLocks noGrp="1"/>
          </p:cNvSpPr>
          <p:nvPr>
            <p:ph idx="1"/>
          </p:nvPr>
        </p:nvSpPr>
        <p:spPr>
          <a:xfrm>
            <a:off x="862366" y="2194102"/>
            <a:ext cx="3427001" cy="3908586"/>
          </a:xfrm>
        </p:spPr>
        <p:txBody>
          <a:bodyPr>
            <a:normAutofit/>
          </a:bodyPr>
          <a:lstStyle/>
          <a:p>
            <a:r>
              <a:rPr lang="en-US" sz="2000"/>
              <a:t>A </a:t>
            </a:r>
            <a:r>
              <a:rPr lang="en-US" sz="2000" b="1"/>
              <a:t>change in supply</a:t>
            </a:r>
            <a:r>
              <a:rPr lang="en-US" sz="2000"/>
              <a:t> means the entire supply curve shifts.</a:t>
            </a:r>
          </a:p>
          <a:p>
            <a:r>
              <a:rPr lang="en-US" sz="2000" b="1"/>
              <a:t>Supply curve shifts RIGHT → Increase in supply</a:t>
            </a:r>
          </a:p>
          <a:p>
            <a:r>
              <a:rPr lang="en-US" sz="2000"/>
              <a:t>An increase in supply means lenders/savers are willing to provide </a:t>
            </a:r>
            <a:r>
              <a:rPr lang="en-US" sz="2000" b="1"/>
              <a:t>more funds at every real interest rate</a:t>
            </a:r>
            <a:r>
              <a:rPr lang="en-US" sz="2000"/>
              <a:t>.</a:t>
            </a:r>
          </a:p>
          <a:p>
            <a:endParaRPr lang="en-US" sz="2000"/>
          </a:p>
        </p:txBody>
      </p:sp>
      <p:graphicFrame>
        <p:nvGraphicFramePr>
          <p:cNvPr id="4" name="Table 3">
            <a:extLst>
              <a:ext uri="{FF2B5EF4-FFF2-40B4-BE49-F238E27FC236}">
                <a16:creationId xmlns:a16="http://schemas.microsoft.com/office/drawing/2014/main" id="{5E0DE3BE-36D7-7AFA-249A-A1640C8EE3FE}"/>
              </a:ext>
            </a:extLst>
          </p:cNvPr>
          <p:cNvGraphicFramePr>
            <a:graphicFrameLocks noGrp="1"/>
          </p:cNvGraphicFramePr>
          <p:nvPr>
            <p:extLst>
              <p:ext uri="{D42A27DB-BD31-4B8C-83A1-F6EECF244321}">
                <p14:modId xmlns:p14="http://schemas.microsoft.com/office/powerpoint/2010/main" val="682916325"/>
              </p:ext>
            </p:extLst>
          </p:nvPr>
        </p:nvGraphicFramePr>
        <p:xfrm>
          <a:off x="5445457" y="1161965"/>
          <a:ext cx="6155142" cy="4557813"/>
        </p:xfrm>
        <a:graphic>
          <a:graphicData uri="http://schemas.openxmlformats.org/drawingml/2006/table">
            <a:tbl>
              <a:tblPr firstRow="1" bandRow="1">
                <a:solidFill>
                  <a:schemeClr val="accent1">
                    <a:lumMod val="20000"/>
                    <a:lumOff val="80000"/>
                  </a:schemeClr>
                </a:solidFill>
              </a:tblPr>
              <a:tblGrid>
                <a:gridCol w="4389530">
                  <a:extLst>
                    <a:ext uri="{9D8B030D-6E8A-4147-A177-3AD203B41FA5}">
                      <a16:colId xmlns:a16="http://schemas.microsoft.com/office/drawing/2014/main" val="2289648548"/>
                    </a:ext>
                  </a:extLst>
                </a:gridCol>
                <a:gridCol w="1765612">
                  <a:extLst>
                    <a:ext uri="{9D8B030D-6E8A-4147-A177-3AD203B41FA5}">
                      <a16:colId xmlns:a16="http://schemas.microsoft.com/office/drawing/2014/main" val="1428970231"/>
                    </a:ext>
                  </a:extLst>
                </a:gridCol>
              </a:tblGrid>
              <a:tr h="900209">
                <a:tc>
                  <a:txBody>
                    <a:bodyPr/>
                    <a:lstStyle/>
                    <a:p>
                      <a:pPr algn="ctr">
                        <a:buNone/>
                      </a:pPr>
                      <a:r>
                        <a:rPr lang="en-US" sz="1600" b="1" cap="all" spc="60">
                          <a:solidFill>
                            <a:schemeClr val="tx1"/>
                          </a:solidFill>
                        </a:rPr>
                        <a:t>Factor</a:t>
                      </a:r>
                    </a:p>
                  </a:txBody>
                  <a:tcPr marL="182475" marR="182475" marT="182475" marB="182475" anchor="ctr">
                    <a:lnL w="12700" cmpd="sng">
                      <a:noFill/>
                    </a:lnL>
                    <a:lnR w="12700" cmpd="sng">
                      <a:noFill/>
                    </a:lnR>
                    <a:lnT w="12700" cmpd="sng">
                      <a:noFill/>
                    </a:lnT>
                    <a:lnB w="38100" cmpd="sng">
                      <a:noFill/>
                    </a:lnB>
                    <a:noFill/>
                  </a:tcPr>
                </a:tc>
                <a:tc>
                  <a:txBody>
                    <a:bodyPr/>
                    <a:lstStyle/>
                    <a:p>
                      <a:pPr algn="ctr">
                        <a:buNone/>
                      </a:pPr>
                      <a:r>
                        <a:rPr lang="en-US" sz="1600" b="1" cap="all" spc="60">
                          <a:solidFill>
                            <a:schemeClr val="tx1"/>
                          </a:solidFill>
                        </a:rPr>
                        <a:t>Effect on Supply</a:t>
                      </a:r>
                    </a:p>
                  </a:txBody>
                  <a:tcPr marL="182475" marR="182475" marT="182475" marB="182475" anchor="ctr">
                    <a:lnL w="12700" cmpd="sng">
                      <a:noFill/>
                    </a:lnL>
                    <a:lnR w="12700" cmpd="sng">
                      <a:noFill/>
                    </a:lnR>
                    <a:lnT w="12700" cmpd="sng">
                      <a:noFill/>
                    </a:lnT>
                    <a:lnB w="38100" cmpd="sng">
                      <a:noFill/>
                    </a:lnB>
                    <a:noFill/>
                  </a:tcPr>
                </a:tc>
                <a:extLst>
                  <a:ext uri="{0D108BD9-81ED-4DB2-BD59-A6C34878D82A}">
                    <a16:rowId xmlns:a16="http://schemas.microsoft.com/office/drawing/2014/main" val="448210388"/>
                  </a:ext>
                </a:extLst>
              </a:tr>
              <a:tr h="555534">
                <a:tc>
                  <a:txBody>
                    <a:bodyPr/>
                    <a:lstStyle/>
                    <a:p>
                      <a:pPr>
                        <a:buNone/>
                      </a:pPr>
                      <a:r>
                        <a:rPr lang="en-US" sz="2100" cap="none" spc="0">
                          <a:solidFill>
                            <a:schemeClr val="tx1"/>
                          </a:solidFill>
                        </a:rPr>
                        <a:t>Increase in household saving</a:t>
                      </a:r>
                    </a:p>
                  </a:txBody>
                  <a:tcPr marL="121650" marR="121650" marT="60825" marB="121650"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US" sz="2100" cap="none" spc="0">
                          <a:solidFill>
                            <a:schemeClr val="tx1"/>
                          </a:solidFill>
                        </a:rPr>
                        <a:t>Supply ↑</a:t>
                      </a:r>
                    </a:p>
                  </a:txBody>
                  <a:tcPr marL="121650" marR="121650" marT="60825" marB="121650"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3383760067"/>
                  </a:ext>
                </a:extLst>
              </a:tr>
              <a:tr h="555534">
                <a:tc>
                  <a:txBody>
                    <a:bodyPr/>
                    <a:lstStyle/>
                    <a:p>
                      <a:pPr>
                        <a:buNone/>
                      </a:pPr>
                      <a:r>
                        <a:rPr lang="en-US" sz="2100" cap="none" spc="0">
                          <a:solidFill>
                            <a:schemeClr val="tx1"/>
                          </a:solidFill>
                        </a:rPr>
                        <a:t>Increase in disposable income</a:t>
                      </a:r>
                    </a:p>
                  </a:txBody>
                  <a:tcPr marL="121650" marR="121650" marT="60825" marB="121650"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2100" cap="none" spc="0">
                          <a:solidFill>
                            <a:schemeClr val="tx1"/>
                          </a:solidFill>
                        </a:rPr>
                        <a:t>Supply ↑</a:t>
                      </a:r>
                    </a:p>
                  </a:txBody>
                  <a:tcPr marL="121650" marR="121650" marT="60825" marB="121650"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2272115228"/>
                  </a:ext>
                </a:extLst>
              </a:tr>
              <a:tr h="879934">
                <a:tc>
                  <a:txBody>
                    <a:bodyPr/>
                    <a:lstStyle/>
                    <a:p>
                      <a:pPr>
                        <a:buNone/>
                      </a:pPr>
                      <a:r>
                        <a:rPr lang="en-US" sz="2100" cap="none" spc="0">
                          <a:solidFill>
                            <a:schemeClr val="tx1"/>
                          </a:solidFill>
                        </a:rPr>
                        <a:t>Greater confidence in financial institutions</a:t>
                      </a:r>
                    </a:p>
                  </a:txBody>
                  <a:tcPr marL="121650" marR="121650" marT="60825" marB="12165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2100" cap="none" spc="0">
                          <a:solidFill>
                            <a:schemeClr val="tx1"/>
                          </a:solidFill>
                        </a:rPr>
                        <a:t>Supply ↑</a:t>
                      </a:r>
                    </a:p>
                  </a:txBody>
                  <a:tcPr marL="121650" marR="121650" marT="60825" marB="12165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72087432"/>
                  </a:ext>
                </a:extLst>
              </a:tr>
              <a:tr h="555534">
                <a:tc>
                  <a:txBody>
                    <a:bodyPr/>
                    <a:lstStyle/>
                    <a:p>
                      <a:pPr>
                        <a:buNone/>
                      </a:pPr>
                      <a:r>
                        <a:rPr lang="en-US" sz="2100" cap="none" spc="0">
                          <a:solidFill>
                            <a:schemeClr val="tx1"/>
                          </a:solidFill>
                        </a:rPr>
                        <a:t>Increase in foreign capital inflows</a:t>
                      </a:r>
                    </a:p>
                  </a:txBody>
                  <a:tcPr marL="121650" marR="121650" marT="60825" marB="121650"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2100" cap="none" spc="0">
                          <a:solidFill>
                            <a:schemeClr val="tx1"/>
                          </a:solidFill>
                        </a:rPr>
                        <a:t>Supply ↑</a:t>
                      </a:r>
                    </a:p>
                  </a:txBody>
                  <a:tcPr marL="121650" marR="121650" marT="60825" marB="121650"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2127253490"/>
                  </a:ext>
                </a:extLst>
              </a:tr>
              <a:tr h="555534">
                <a:tc>
                  <a:txBody>
                    <a:bodyPr/>
                    <a:lstStyle/>
                    <a:p>
                      <a:pPr>
                        <a:buNone/>
                      </a:pPr>
                      <a:r>
                        <a:rPr lang="en-US" sz="2100" cap="none" spc="0">
                          <a:solidFill>
                            <a:schemeClr val="tx1"/>
                          </a:solidFill>
                        </a:rPr>
                        <a:t>Tax incentives for saving</a:t>
                      </a:r>
                    </a:p>
                  </a:txBody>
                  <a:tcPr marL="121650" marR="121650" marT="60825" marB="12165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2100" cap="none" spc="0">
                          <a:solidFill>
                            <a:schemeClr val="tx1"/>
                          </a:solidFill>
                        </a:rPr>
                        <a:t>Supply ↑</a:t>
                      </a:r>
                    </a:p>
                  </a:txBody>
                  <a:tcPr marL="121650" marR="121650" marT="60825" marB="12165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3187896"/>
                  </a:ext>
                </a:extLst>
              </a:tr>
              <a:tr h="555534">
                <a:tc>
                  <a:txBody>
                    <a:bodyPr/>
                    <a:lstStyle/>
                    <a:p>
                      <a:pPr>
                        <a:buNone/>
                      </a:pPr>
                      <a:r>
                        <a:rPr lang="en-US" sz="2100" cap="none" spc="0">
                          <a:solidFill>
                            <a:schemeClr val="tx1"/>
                          </a:solidFill>
                        </a:rPr>
                        <a:t>Improved financial markets</a:t>
                      </a:r>
                    </a:p>
                  </a:txBody>
                  <a:tcPr marL="121650" marR="121650" marT="60825" marB="121650"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2100" cap="none" spc="0">
                          <a:solidFill>
                            <a:schemeClr val="tx1"/>
                          </a:solidFill>
                        </a:rPr>
                        <a:t>Supply ↑</a:t>
                      </a:r>
                    </a:p>
                  </a:txBody>
                  <a:tcPr marL="121650" marR="121650" marT="60825" marB="121650"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3255722660"/>
                  </a:ext>
                </a:extLst>
              </a:tr>
            </a:tbl>
          </a:graphicData>
        </a:graphic>
      </p:graphicFrame>
    </p:spTree>
    <p:extLst>
      <p:ext uri="{BB962C8B-B14F-4D97-AF65-F5344CB8AC3E}">
        <p14:creationId xmlns:p14="http://schemas.microsoft.com/office/powerpoint/2010/main" val="42684177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86EDA7-7C78-5693-DF68-7AAC26D56BC7}"/>
              </a:ext>
            </a:extLst>
          </p:cNvPr>
          <p:cNvSpPr>
            <a:spLocks noGrp="1"/>
          </p:cNvSpPr>
          <p:nvPr>
            <p:ph type="title"/>
          </p:nvPr>
        </p:nvSpPr>
        <p:spPr>
          <a:xfrm>
            <a:off x="761800" y="762001"/>
            <a:ext cx="5334197" cy="1708242"/>
          </a:xfrm>
        </p:spPr>
        <p:txBody>
          <a:bodyPr anchor="ctr">
            <a:normAutofit/>
          </a:bodyPr>
          <a:lstStyle/>
          <a:p>
            <a:r>
              <a:rPr lang="en-US" sz="4000"/>
              <a:t>Effect on equilibrium</a:t>
            </a:r>
          </a:p>
        </p:txBody>
      </p:sp>
      <p:sp>
        <p:nvSpPr>
          <p:cNvPr id="3" name="Content Placeholder 2">
            <a:extLst>
              <a:ext uri="{FF2B5EF4-FFF2-40B4-BE49-F238E27FC236}">
                <a16:creationId xmlns:a16="http://schemas.microsoft.com/office/drawing/2014/main" id="{89F09E3E-F4B0-4811-93A8-5CD7C43A33CC}"/>
              </a:ext>
            </a:extLst>
          </p:cNvPr>
          <p:cNvSpPr>
            <a:spLocks noGrp="1"/>
          </p:cNvSpPr>
          <p:nvPr>
            <p:ph idx="1"/>
          </p:nvPr>
        </p:nvSpPr>
        <p:spPr>
          <a:xfrm>
            <a:off x="761800" y="2470244"/>
            <a:ext cx="5334197" cy="3769835"/>
          </a:xfrm>
        </p:spPr>
        <p:txBody>
          <a:bodyPr anchor="ctr">
            <a:normAutofit/>
          </a:bodyPr>
          <a:lstStyle/>
          <a:p>
            <a:r>
              <a:rPr lang="en-US" sz="2000" b="1"/>
              <a:t>S₀ → S₁ (right)</a:t>
            </a:r>
            <a:endParaRPr lang="en-US" sz="2000"/>
          </a:p>
          <a:p>
            <a:r>
              <a:rPr lang="en-US" sz="2000"/>
              <a:t>➡ Real interest rate </a:t>
            </a:r>
            <a:r>
              <a:rPr lang="en-US" sz="2000" b="1"/>
              <a:t>decreases</a:t>
            </a:r>
            <a:br>
              <a:rPr lang="en-US" sz="2000"/>
            </a:br>
            <a:r>
              <a:rPr lang="en-US" sz="2000"/>
              <a:t>➡ Quantity of loanable funds </a:t>
            </a:r>
            <a:r>
              <a:rPr lang="en-US" sz="2000" b="1"/>
              <a:t>increases</a:t>
            </a:r>
            <a:endParaRPr lang="en-US" sz="2000"/>
          </a:p>
          <a:p>
            <a:r>
              <a:rPr lang="en-US" sz="2000" b="1"/>
              <a:t>Example:</a:t>
            </a:r>
            <a:br>
              <a:rPr lang="en-US" sz="2000"/>
            </a:br>
            <a:r>
              <a:rPr lang="en-US" sz="2000"/>
              <a:t>If households in Bangladesh increase their savings and deposit more money in banks, banks have more funds available for lending. The supply of loanable funds increases, putting downward pressure on the real interest rate.</a:t>
            </a:r>
          </a:p>
          <a:p>
            <a:endParaRPr lang="en-US" sz="2000"/>
          </a:p>
        </p:txBody>
      </p:sp>
      <p:pic>
        <p:nvPicPr>
          <p:cNvPr id="5" name="Picture 4" descr="Calculator, pen, compass, money and a paper with graphs printed on it">
            <a:extLst>
              <a:ext uri="{FF2B5EF4-FFF2-40B4-BE49-F238E27FC236}">
                <a16:creationId xmlns:a16="http://schemas.microsoft.com/office/drawing/2014/main" id="{C1FD1BDA-A59B-75F9-17E8-94DE0C8F8941}"/>
              </a:ext>
            </a:extLst>
          </p:cNvPr>
          <p:cNvPicPr>
            <a:picLocks noChangeAspect="1"/>
          </p:cNvPicPr>
          <p:nvPr/>
        </p:nvPicPr>
        <p:blipFill>
          <a:blip r:embed="rId2"/>
          <a:srcRect l="28716" r="24496"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7548062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DE0B21-BE39-6F5A-7AC1-C17DBCD3D7A3}"/>
              </a:ext>
            </a:extLst>
          </p:cNvPr>
          <p:cNvSpPr>
            <a:spLocks noGrp="1"/>
          </p:cNvSpPr>
          <p:nvPr>
            <p:ph type="title"/>
          </p:nvPr>
        </p:nvSpPr>
        <p:spPr>
          <a:xfrm>
            <a:off x="1043631" y="809898"/>
            <a:ext cx="10173010" cy="1554480"/>
          </a:xfrm>
        </p:spPr>
        <p:txBody>
          <a:bodyPr anchor="ctr">
            <a:normAutofit/>
          </a:bodyPr>
          <a:lstStyle/>
          <a:p>
            <a:r>
              <a:rPr lang="en-US" sz="4800"/>
              <a:t>Impact of shift of demand and supply of loanable funds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F5F6841F-DCF1-904B-CBA1-75982CCF01A3}"/>
              </a:ext>
            </a:extLst>
          </p:cNvPr>
          <p:cNvGraphicFramePr>
            <a:graphicFrameLocks noGrp="1"/>
          </p:cNvGraphicFramePr>
          <p:nvPr>
            <p:ph idx="1"/>
            <p:extLst>
              <p:ext uri="{D42A27DB-BD31-4B8C-83A1-F6EECF244321}">
                <p14:modId xmlns:p14="http://schemas.microsoft.com/office/powerpoint/2010/main" val="401347450"/>
              </p:ext>
            </p:extLst>
          </p:nvPr>
        </p:nvGraphicFramePr>
        <p:xfrm>
          <a:off x="904602" y="3112047"/>
          <a:ext cx="10378443" cy="3020850"/>
        </p:xfrm>
        <a:graphic>
          <a:graphicData uri="http://schemas.openxmlformats.org/drawingml/2006/table">
            <a:tbl>
              <a:tblPr firstRow="1" bandRow="1"/>
              <a:tblGrid>
                <a:gridCol w="2036784">
                  <a:extLst>
                    <a:ext uri="{9D8B030D-6E8A-4147-A177-3AD203B41FA5}">
                      <a16:colId xmlns:a16="http://schemas.microsoft.com/office/drawing/2014/main" val="1219956402"/>
                    </a:ext>
                  </a:extLst>
                </a:gridCol>
                <a:gridCol w="1922358">
                  <a:extLst>
                    <a:ext uri="{9D8B030D-6E8A-4147-A177-3AD203B41FA5}">
                      <a16:colId xmlns:a16="http://schemas.microsoft.com/office/drawing/2014/main" val="3464536061"/>
                    </a:ext>
                  </a:extLst>
                </a:gridCol>
                <a:gridCol w="3238257">
                  <a:extLst>
                    <a:ext uri="{9D8B030D-6E8A-4147-A177-3AD203B41FA5}">
                      <a16:colId xmlns:a16="http://schemas.microsoft.com/office/drawing/2014/main" val="3646248027"/>
                    </a:ext>
                  </a:extLst>
                </a:gridCol>
                <a:gridCol w="3181044">
                  <a:extLst>
                    <a:ext uri="{9D8B030D-6E8A-4147-A177-3AD203B41FA5}">
                      <a16:colId xmlns:a16="http://schemas.microsoft.com/office/drawing/2014/main" val="1436818825"/>
                    </a:ext>
                  </a:extLst>
                </a:gridCol>
              </a:tblGrid>
              <a:tr h="604170">
                <a:tc>
                  <a:txBody>
                    <a:bodyPr/>
                    <a:lstStyle/>
                    <a:p>
                      <a:pPr>
                        <a:buNone/>
                      </a:pPr>
                      <a:r>
                        <a:rPr lang="en-US" sz="2700"/>
                        <a:t>Change</a:t>
                      </a:r>
                    </a:p>
                  </a:txBody>
                  <a:tcPr marL="137311" marR="137311" marT="68656" marB="68656" anchor="ctr">
                    <a:lnL>
                      <a:noFill/>
                    </a:lnL>
                    <a:lnR>
                      <a:noFill/>
                    </a:lnR>
                    <a:lnT>
                      <a:noFill/>
                    </a:lnT>
                    <a:lnB>
                      <a:noFill/>
                    </a:lnB>
                    <a:noFill/>
                  </a:tcPr>
                </a:tc>
                <a:tc>
                  <a:txBody>
                    <a:bodyPr/>
                    <a:lstStyle/>
                    <a:p>
                      <a:pPr>
                        <a:buNone/>
                      </a:pPr>
                      <a:r>
                        <a:rPr lang="en-US" sz="2700"/>
                        <a:t>Curve</a:t>
                      </a:r>
                    </a:p>
                  </a:txBody>
                  <a:tcPr marL="137311" marR="137311" marT="68656" marB="68656" anchor="ctr">
                    <a:lnL>
                      <a:noFill/>
                    </a:lnL>
                    <a:lnR>
                      <a:noFill/>
                    </a:lnR>
                    <a:lnT>
                      <a:noFill/>
                    </a:lnT>
                    <a:lnB>
                      <a:noFill/>
                    </a:lnB>
                    <a:noFill/>
                  </a:tcPr>
                </a:tc>
                <a:tc>
                  <a:txBody>
                    <a:bodyPr/>
                    <a:lstStyle/>
                    <a:p>
                      <a:pPr algn="r">
                        <a:buNone/>
                      </a:pPr>
                      <a:r>
                        <a:rPr lang="en-US" sz="2700"/>
                        <a:t>Real Interest Rate</a:t>
                      </a:r>
                    </a:p>
                  </a:txBody>
                  <a:tcPr marL="137311" marR="137311" marT="68656" marB="68656" anchor="ctr">
                    <a:lnL>
                      <a:noFill/>
                    </a:lnL>
                    <a:lnR>
                      <a:noFill/>
                    </a:lnR>
                    <a:lnT>
                      <a:noFill/>
                    </a:lnT>
                    <a:lnB>
                      <a:noFill/>
                    </a:lnB>
                    <a:noFill/>
                  </a:tcPr>
                </a:tc>
                <a:tc>
                  <a:txBody>
                    <a:bodyPr/>
                    <a:lstStyle/>
                    <a:p>
                      <a:pPr algn="r">
                        <a:buNone/>
                      </a:pPr>
                      <a:r>
                        <a:rPr lang="en-US" sz="2700"/>
                        <a:t>Quantity of Funds</a:t>
                      </a:r>
                    </a:p>
                  </a:txBody>
                  <a:tcPr marL="137311" marR="137311" marT="68656" marB="68656" anchor="ctr">
                    <a:lnL>
                      <a:noFill/>
                    </a:lnL>
                    <a:lnR>
                      <a:noFill/>
                    </a:lnR>
                    <a:lnT>
                      <a:noFill/>
                    </a:lnT>
                    <a:lnB>
                      <a:noFill/>
                    </a:lnB>
                    <a:noFill/>
                  </a:tcPr>
                </a:tc>
                <a:extLst>
                  <a:ext uri="{0D108BD9-81ED-4DB2-BD59-A6C34878D82A}">
                    <a16:rowId xmlns:a16="http://schemas.microsoft.com/office/drawing/2014/main" val="4084716168"/>
                  </a:ext>
                </a:extLst>
              </a:tr>
              <a:tr h="604170">
                <a:tc>
                  <a:txBody>
                    <a:bodyPr/>
                    <a:lstStyle/>
                    <a:p>
                      <a:pPr>
                        <a:buNone/>
                      </a:pPr>
                      <a:r>
                        <a:rPr lang="en-US" sz="2700"/>
                        <a:t>Demand ↑</a:t>
                      </a:r>
                    </a:p>
                  </a:txBody>
                  <a:tcPr marL="137311" marR="137311" marT="68656" marB="68656" anchor="ctr">
                    <a:lnL>
                      <a:noFill/>
                    </a:lnL>
                    <a:lnR>
                      <a:noFill/>
                    </a:lnR>
                    <a:lnT>
                      <a:noFill/>
                    </a:lnT>
                    <a:lnB>
                      <a:noFill/>
                    </a:lnB>
                    <a:noFill/>
                  </a:tcPr>
                </a:tc>
                <a:tc>
                  <a:txBody>
                    <a:bodyPr/>
                    <a:lstStyle/>
                    <a:p>
                      <a:pPr>
                        <a:buNone/>
                      </a:pPr>
                      <a:r>
                        <a:rPr lang="en-US" sz="2700"/>
                        <a:t>D → right</a:t>
                      </a:r>
                    </a:p>
                  </a:txBody>
                  <a:tcPr marL="137311" marR="137311" marT="68656" marB="68656" anchor="ctr">
                    <a:lnL>
                      <a:noFill/>
                    </a:lnL>
                    <a:lnR>
                      <a:noFill/>
                    </a:lnR>
                    <a:lnT>
                      <a:noFill/>
                    </a:lnT>
                    <a:lnB>
                      <a:noFill/>
                    </a:lnB>
                    <a:noFill/>
                  </a:tcPr>
                </a:tc>
                <a:tc>
                  <a:txBody>
                    <a:bodyPr/>
                    <a:lstStyle/>
                    <a:p>
                      <a:pPr algn="ctr">
                        <a:buNone/>
                      </a:pPr>
                      <a:r>
                        <a:rPr lang="en-US" sz="2700"/>
                        <a:t>↑</a:t>
                      </a:r>
                    </a:p>
                  </a:txBody>
                  <a:tcPr marL="137311" marR="137311" marT="68656" marB="68656" anchor="ctr">
                    <a:lnL>
                      <a:noFill/>
                    </a:lnL>
                    <a:lnR>
                      <a:noFill/>
                    </a:lnR>
                    <a:lnT>
                      <a:noFill/>
                    </a:lnT>
                    <a:lnB>
                      <a:noFill/>
                    </a:lnB>
                    <a:noFill/>
                  </a:tcPr>
                </a:tc>
                <a:tc>
                  <a:txBody>
                    <a:bodyPr/>
                    <a:lstStyle/>
                    <a:p>
                      <a:pPr algn="ctr">
                        <a:buNone/>
                      </a:pPr>
                      <a:r>
                        <a:rPr lang="en-US" sz="2700"/>
                        <a:t>↑</a:t>
                      </a:r>
                    </a:p>
                  </a:txBody>
                  <a:tcPr marL="137311" marR="137311" marT="68656" marB="68656" anchor="ctr">
                    <a:lnL>
                      <a:noFill/>
                    </a:lnL>
                    <a:lnR>
                      <a:noFill/>
                    </a:lnR>
                    <a:lnT>
                      <a:noFill/>
                    </a:lnT>
                    <a:lnB>
                      <a:noFill/>
                    </a:lnB>
                    <a:noFill/>
                  </a:tcPr>
                </a:tc>
                <a:extLst>
                  <a:ext uri="{0D108BD9-81ED-4DB2-BD59-A6C34878D82A}">
                    <a16:rowId xmlns:a16="http://schemas.microsoft.com/office/drawing/2014/main" val="1653558825"/>
                  </a:ext>
                </a:extLst>
              </a:tr>
              <a:tr h="604170">
                <a:tc>
                  <a:txBody>
                    <a:bodyPr/>
                    <a:lstStyle/>
                    <a:p>
                      <a:pPr>
                        <a:buNone/>
                      </a:pPr>
                      <a:r>
                        <a:rPr lang="en-US" sz="2700"/>
                        <a:t>Demand ↓</a:t>
                      </a:r>
                    </a:p>
                  </a:txBody>
                  <a:tcPr marL="137311" marR="137311" marT="68656" marB="68656" anchor="ctr">
                    <a:lnL>
                      <a:noFill/>
                    </a:lnL>
                    <a:lnR>
                      <a:noFill/>
                    </a:lnR>
                    <a:lnT>
                      <a:noFill/>
                    </a:lnT>
                    <a:lnB>
                      <a:noFill/>
                    </a:lnB>
                    <a:noFill/>
                  </a:tcPr>
                </a:tc>
                <a:tc>
                  <a:txBody>
                    <a:bodyPr/>
                    <a:lstStyle/>
                    <a:p>
                      <a:pPr>
                        <a:buNone/>
                      </a:pPr>
                      <a:r>
                        <a:rPr lang="en-US" sz="2700"/>
                        <a:t>D → left</a:t>
                      </a:r>
                    </a:p>
                  </a:txBody>
                  <a:tcPr marL="137311" marR="137311" marT="68656" marB="68656" anchor="ctr">
                    <a:lnL>
                      <a:noFill/>
                    </a:lnL>
                    <a:lnR>
                      <a:noFill/>
                    </a:lnR>
                    <a:lnT>
                      <a:noFill/>
                    </a:lnT>
                    <a:lnB>
                      <a:noFill/>
                    </a:lnB>
                    <a:noFill/>
                  </a:tcPr>
                </a:tc>
                <a:tc>
                  <a:txBody>
                    <a:bodyPr/>
                    <a:lstStyle/>
                    <a:p>
                      <a:pPr algn="ctr">
                        <a:buNone/>
                      </a:pPr>
                      <a:r>
                        <a:rPr lang="en-US" sz="2700"/>
                        <a:t>↓</a:t>
                      </a:r>
                    </a:p>
                  </a:txBody>
                  <a:tcPr marL="137311" marR="137311" marT="68656" marB="68656" anchor="ctr">
                    <a:lnL>
                      <a:noFill/>
                    </a:lnL>
                    <a:lnR>
                      <a:noFill/>
                    </a:lnR>
                    <a:lnT>
                      <a:noFill/>
                    </a:lnT>
                    <a:lnB>
                      <a:noFill/>
                    </a:lnB>
                    <a:noFill/>
                  </a:tcPr>
                </a:tc>
                <a:tc>
                  <a:txBody>
                    <a:bodyPr/>
                    <a:lstStyle/>
                    <a:p>
                      <a:pPr algn="ctr">
                        <a:buNone/>
                      </a:pPr>
                      <a:r>
                        <a:rPr lang="en-US" sz="2700"/>
                        <a:t>↓</a:t>
                      </a:r>
                    </a:p>
                  </a:txBody>
                  <a:tcPr marL="137311" marR="137311" marT="68656" marB="68656" anchor="ctr">
                    <a:lnL>
                      <a:noFill/>
                    </a:lnL>
                    <a:lnR>
                      <a:noFill/>
                    </a:lnR>
                    <a:lnT>
                      <a:noFill/>
                    </a:lnT>
                    <a:lnB>
                      <a:noFill/>
                    </a:lnB>
                    <a:noFill/>
                  </a:tcPr>
                </a:tc>
                <a:extLst>
                  <a:ext uri="{0D108BD9-81ED-4DB2-BD59-A6C34878D82A}">
                    <a16:rowId xmlns:a16="http://schemas.microsoft.com/office/drawing/2014/main" val="1727621492"/>
                  </a:ext>
                </a:extLst>
              </a:tr>
              <a:tr h="604170">
                <a:tc>
                  <a:txBody>
                    <a:bodyPr/>
                    <a:lstStyle/>
                    <a:p>
                      <a:pPr>
                        <a:buNone/>
                      </a:pPr>
                      <a:r>
                        <a:rPr lang="en-US" sz="2700"/>
                        <a:t>Supply ↑</a:t>
                      </a:r>
                    </a:p>
                  </a:txBody>
                  <a:tcPr marL="137311" marR="137311" marT="68656" marB="68656" anchor="ctr">
                    <a:lnL>
                      <a:noFill/>
                    </a:lnL>
                    <a:lnR>
                      <a:noFill/>
                    </a:lnR>
                    <a:lnT>
                      <a:noFill/>
                    </a:lnT>
                    <a:lnB>
                      <a:noFill/>
                    </a:lnB>
                    <a:noFill/>
                  </a:tcPr>
                </a:tc>
                <a:tc>
                  <a:txBody>
                    <a:bodyPr/>
                    <a:lstStyle/>
                    <a:p>
                      <a:pPr>
                        <a:buNone/>
                      </a:pPr>
                      <a:r>
                        <a:rPr lang="en-US" sz="2700"/>
                        <a:t>S → right</a:t>
                      </a:r>
                    </a:p>
                  </a:txBody>
                  <a:tcPr marL="137311" marR="137311" marT="68656" marB="68656" anchor="ctr">
                    <a:lnL>
                      <a:noFill/>
                    </a:lnL>
                    <a:lnR>
                      <a:noFill/>
                    </a:lnR>
                    <a:lnT>
                      <a:noFill/>
                    </a:lnT>
                    <a:lnB>
                      <a:noFill/>
                    </a:lnB>
                    <a:noFill/>
                  </a:tcPr>
                </a:tc>
                <a:tc>
                  <a:txBody>
                    <a:bodyPr/>
                    <a:lstStyle/>
                    <a:p>
                      <a:pPr algn="ctr">
                        <a:buNone/>
                      </a:pPr>
                      <a:r>
                        <a:rPr lang="en-US" sz="2700"/>
                        <a:t>↓</a:t>
                      </a:r>
                    </a:p>
                  </a:txBody>
                  <a:tcPr marL="137311" marR="137311" marT="68656" marB="68656" anchor="ctr">
                    <a:lnL>
                      <a:noFill/>
                    </a:lnL>
                    <a:lnR>
                      <a:noFill/>
                    </a:lnR>
                    <a:lnT>
                      <a:noFill/>
                    </a:lnT>
                    <a:lnB>
                      <a:noFill/>
                    </a:lnB>
                    <a:noFill/>
                  </a:tcPr>
                </a:tc>
                <a:tc>
                  <a:txBody>
                    <a:bodyPr/>
                    <a:lstStyle/>
                    <a:p>
                      <a:pPr algn="ctr">
                        <a:buNone/>
                      </a:pPr>
                      <a:r>
                        <a:rPr lang="en-US" sz="2700"/>
                        <a:t>↑</a:t>
                      </a:r>
                    </a:p>
                  </a:txBody>
                  <a:tcPr marL="137311" marR="137311" marT="68656" marB="68656" anchor="ctr">
                    <a:lnL>
                      <a:noFill/>
                    </a:lnL>
                    <a:lnR>
                      <a:noFill/>
                    </a:lnR>
                    <a:lnT>
                      <a:noFill/>
                    </a:lnT>
                    <a:lnB>
                      <a:noFill/>
                    </a:lnB>
                    <a:noFill/>
                  </a:tcPr>
                </a:tc>
                <a:extLst>
                  <a:ext uri="{0D108BD9-81ED-4DB2-BD59-A6C34878D82A}">
                    <a16:rowId xmlns:a16="http://schemas.microsoft.com/office/drawing/2014/main" val="172805833"/>
                  </a:ext>
                </a:extLst>
              </a:tr>
              <a:tr h="604170">
                <a:tc>
                  <a:txBody>
                    <a:bodyPr/>
                    <a:lstStyle/>
                    <a:p>
                      <a:pPr>
                        <a:buNone/>
                      </a:pPr>
                      <a:r>
                        <a:rPr lang="en-US" sz="2700"/>
                        <a:t>Supply ↓</a:t>
                      </a:r>
                    </a:p>
                  </a:txBody>
                  <a:tcPr marL="137311" marR="137311" marT="68656" marB="68656" anchor="ctr">
                    <a:lnL>
                      <a:noFill/>
                    </a:lnL>
                    <a:lnR>
                      <a:noFill/>
                    </a:lnR>
                    <a:lnT>
                      <a:noFill/>
                    </a:lnT>
                    <a:lnB>
                      <a:noFill/>
                    </a:lnB>
                    <a:noFill/>
                  </a:tcPr>
                </a:tc>
                <a:tc>
                  <a:txBody>
                    <a:bodyPr/>
                    <a:lstStyle/>
                    <a:p>
                      <a:pPr>
                        <a:buNone/>
                      </a:pPr>
                      <a:r>
                        <a:rPr lang="en-US" sz="2700"/>
                        <a:t>S → left</a:t>
                      </a:r>
                    </a:p>
                  </a:txBody>
                  <a:tcPr marL="137311" marR="137311" marT="68656" marB="68656" anchor="ctr">
                    <a:lnL>
                      <a:noFill/>
                    </a:lnL>
                    <a:lnR>
                      <a:noFill/>
                    </a:lnR>
                    <a:lnT>
                      <a:noFill/>
                    </a:lnT>
                    <a:lnB>
                      <a:noFill/>
                    </a:lnB>
                    <a:noFill/>
                  </a:tcPr>
                </a:tc>
                <a:tc>
                  <a:txBody>
                    <a:bodyPr/>
                    <a:lstStyle/>
                    <a:p>
                      <a:pPr algn="ctr">
                        <a:buNone/>
                      </a:pPr>
                      <a:r>
                        <a:rPr lang="en-US" sz="2700"/>
                        <a:t>↑</a:t>
                      </a:r>
                    </a:p>
                  </a:txBody>
                  <a:tcPr marL="137311" marR="137311" marT="68656" marB="68656" anchor="ctr">
                    <a:lnL>
                      <a:noFill/>
                    </a:lnL>
                    <a:lnR>
                      <a:noFill/>
                    </a:lnR>
                    <a:lnT>
                      <a:noFill/>
                    </a:lnT>
                    <a:lnB>
                      <a:noFill/>
                    </a:lnB>
                    <a:noFill/>
                  </a:tcPr>
                </a:tc>
                <a:tc>
                  <a:txBody>
                    <a:bodyPr/>
                    <a:lstStyle/>
                    <a:p>
                      <a:pPr algn="ctr">
                        <a:buNone/>
                      </a:pPr>
                      <a:r>
                        <a:rPr lang="en-US" sz="2700"/>
                        <a:t>↓</a:t>
                      </a:r>
                    </a:p>
                  </a:txBody>
                  <a:tcPr marL="137311" marR="137311" marT="68656" marB="68656" anchor="ctr">
                    <a:lnL>
                      <a:noFill/>
                    </a:lnL>
                    <a:lnR>
                      <a:noFill/>
                    </a:lnR>
                    <a:lnT>
                      <a:noFill/>
                    </a:lnT>
                    <a:lnB>
                      <a:noFill/>
                    </a:lnB>
                    <a:noFill/>
                  </a:tcPr>
                </a:tc>
                <a:extLst>
                  <a:ext uri="{0D108BD9-81ED-4DB2-BD59-A6C34878D82A}">
                    <a16:rowId xmlns:a16="http://schemas.microsoft.com/office/drawing/2014/main" val="2145399553"/>
                  </a:ext>
                </a:extLst>
              </a:tr>
            </a:tbl>
          </a:graphicData>
        </a:graphic>
      </p:graphicFrame>
    </p:spTree>
    <p:extLst>
      <p:ext uri="{BB962C8B-B14F-4D97-AF65-F5344CB8AC3E}">
        <p14:creationId xmlns:p14="http://schemas.microsoft.com/office/powerpoint/2010/main" val="2243369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227F30-CB28-55FF-C012-7B0C749486DF}"/>
              </a:ext>
            </a:extLst>
          </p:cNvPr>
          <p:cNvSpPr>
            <a:spLocks noGrp="1"/>
          </p:cNvSpPr>
          <p:nvPr>
            <p:ph type="title"/>
          </p:nvPr>
        </p:nvSpPr>
        <p:spPr/>
        <p:txBody>
          <a:bodyPr/>
          <a:lstStyle/>
          <a:p>
            <a:r>
              <a:rPr lang="en-US" dirty="0"/>
              <a:t>Government in the Loanable Funds Market</a:t>
            </a:r>
          </a:p>
        </p:txBody>
      </p:sp>
      <p:sp>
        <p:nvSpPr>
          <p:cNvPr id="5" name="Text Placeholder 4">
            <a:extLst>
              <a:ext uri="{FF2B5EF4-FFF2-40B4-BE49-F238E27FC236}">
                <a16:creationId xmlns:a16="http://schemas.microsoft.com/office/drawing/2014/main" id="{E63680A4-D2E5-D2BA-DF15-14C6341A111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985104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666D80-307B-31D5-1853-FBBCDB429EFB}"/>
              </a:ext>
            </a:extLst>
          </p:cNvPr>
          <p:cNvSpPr>
            <a:spLocks noGrp="1"/>
          </p:cNvSpPr>
          <p:nvPr>
            <p:ph type="title"/>
          </p:nvPr>
        </p:nvSpPr>
        <p:spPr/>
        <p:txBody>
          <a:bodyPr/>
          <a:lstStyle/>
          <a:p>
            <a:r>
              <a:rPr lang="en-US" dirty="0"/>
              <a:t>Role of Government in Loanable Fund</a:t>
            </a:r>
          </a:p>
        </p:txBody>
      </p:sp>
      <p:sp>
        <p:nvSpPr>
          <p:cNvPr id="5" name="Content Placeholder 4">
            <a:extLst>
              <a:ext uri="{FF2B5EF4-FFF2-40B4-BE49-F238E27FC236}">
                <a16:creationId xmlns:a16="http://schemas.microsoft.com/office/drawing/2014/main" id="{19ABADCD-1937-568D-A19A-5BEF1A44D3B9}"/>
              </a:ext>
            </a:extLst>
          </p:cNvPr>
          <p:cNvSpPr>
            <a:spLocks noGrp="1"/>
          </p:cNvSpPr>
          <p:nvPr>
            <p:ph idx="1"/>
          </p:nvPr>
        </p:nvSpPr>
        <p:spPr/>
        <p:txBody>
          <a:bodyPr>
            <a:normAutofit/>
          </a:bodyPr>
          <a:lstStyle/>
          <a:p>
            <a:r>
              <a:rPr lang="en-US" dirty="0"/>
              <a:t>The </a:t>
            </a:r>
            <a:r>
              <a:rPr lang="en-US" b="1" dirty="0"/>
              <a:t>loanable funds market</a:t>
            </a:r>
            <a:r>
              <a:rPr lang="en-US" dirty="0"/>
              <a:t> explains how households, firms, governments, and financial institutions interact to determine the </a:t>
            </a:r>
            <a:r>
              <a:rPr lang="en-US" b="1" dirty="0"/>
              <a:t>real interest rate</a:t>
            </a:r>
            <a:r>
              <a:rPr lang="en-US" dirty="0"/>
              <a:t> and the </a:t>
            </a:r>
            <a:r>
              <a:rPr lang="en-US" b="1" dirty="0"/>
              <a:t>quantity of funds borrowed and lent</a:t>
            </a:r>
            <a:r>
              <a:rPr lang="en-US" dirty="0"/>
              <a:t>.</a:t>
            </a:r>
          </a:p>
          <a:p>
            <a:r>
              <a:rPr lang="en-US" dirty="0"/>
              <a:t>The government participates in the loanable funds market mainly when it has a </a:t>
            </a:r>
            <a:r>
              <a:rPr lang="en-US" b="1" dirty="0"/>
              <a:t>budget deficit</a:t>
            </a:r>
            <a:r>
              <a:rPr lang="en-US" dirty="0"/>
              <a:t>.</a:t>
            </a:r>
          </a:p>
          <a:p>
            <a:pPr lvl="1"/>
            <a:r>
              <a:rPr lang="en-US" b="1" dirty="0"/>
              <a:t>Government budget deficit:</a:t>
            </a:r>
            <a:r>
              <a:rPr lang="en-US" dirty="0"/>
              <a:t> Government spending &gt; Tax revenue </a:t>
            </a:r>
          </a:p>
          <a:p>
            <a:pPr lvl="1"/>
            <a:r>
              <a:rPr lang="en-US" dirty="0"/>
              <a:t>The government must borrow to finance the deficit. </a:t>
            </a:r>
          </a:p>
          <a:p>
            <a:pPr lvl="1"/>
            <a:r>
              <a:rPr lang="en-US" dirty="0"/>
              <a:t>It does this by issuing </a:t>
            </a:r>
            <a:r>
              <a:rPr lang="en-US" b="1" dirty="0"/>
              <a:t>government bonds/securities</a:t>
            </a:r>
            <a:r>
              <a:rPr lang="en-US" dirty="0"/>
              <a:t>. </a:t>
            </a:r>
          </a:p>
          <a:p>
            <a:pPr lvl="1"/>
            <a:r>
              <a:rPr lang="en-US" dirty="0"/>
              <a:t>This makes the government a </a:t>
            </a:r>
            <a:r>
              <a:rPr lang="en-US" b="1" dirty="0"/>
              <a:t>borrower/demander of loanable funds</a:t>
            </a:r>
            <a:r>
              <a:rPr lang="en-US" dirty="0"/>
              <a:t>.</a:t>
            </a:r>
          </a:p>
          <a:p>
            <a:endParaRPr lang="en-US" dirty="0"/>
          </a:p>
        </p:txBody>
      </p:sp>
    </p:spTree>
    <p:extLst>
      <p:ext uri="{BB962C8B-B14F-4D97-AF65-F5344CB8AC3E}">
        <p14:creationId xmlns:p14="http://schemas.microsoft.com/office/powerpoint/2010/main" val="10989727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94375E-F5F2-CEEA-C3D5-5ACEB5473FEE}"/>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4600" kern="1200">
                <a:solidFill>
                  <a:schemeClr val="tx1"/>
                </a:solidFill>
                <a:latin typeface="+mj-lt"/>
                <a:ea typeface="+mj-ea"/>
                <a:cs typeface="+mj-cs"/>
              </a:rPr>
              <a:t>Government Budget Surplus vs. Deficit</a:t>
            </a:r>
          </a:p>
        </p:txBody>
      </p:sp>
      <p:grpSp>
        <p:nvGrpSpPr>
          <p:cNvPr id="25" name="Group 2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26" name="Rectangle 2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5B46A4E4-566B-DB6E-A8E6-4410C1CCB724}"/>
              </a:ext>
            </a:extLst>
          </p:cNvPr>
          <p:cNvGraphicFramePr>
            <a:graphicFrameLocks noGrp="1"/>
          </p:cNvGraphicFramePr>
          <p:nvPr>
            <p:ph idx="1"/>
            <p:extLst>
              <p:ext uri="{D42A27DB-BD31-4B8C-83A1-F6EECF244321}">
                <p14:modId xmlns:p14="http://schemas.microsoft.com/office/powerpoint/2010/main" val="438342359"/>
              </p:ext>
            </p:extLst>
          </p:nvPr>
        </p:nvGraphicFramePr>
        <p:xfrm>
          <a:off x="5922492" y="1762769"/>
          <a:ext cx="5536002" cy="3273709"/>
        </p:xfrm>
        <a:graphic>
          <a:graphicData uri="http://schemas.openxmlformats.org/drawingml/2006/table">
            <a:tbl>
              <a:tblPr>
                <a:noFill/>
              </a:tblPr>
              <a:tblGrid>
                <a:gridCol w="2029077">
                  <a:extLst>
                    <a:ext uri="{9D8B030D-6E8A-4147-A177-3AD203B41FA5}">
                      <a16:colId xmlns:a16="http://schemas.microsoft.com/office/drawing/2014/main" val="3195959343"/>
                    </a:ext>
                  </a:extLst>
                </a:gridCol>
                <a:gridCol w="3506925">
                  <a:extLst>
                    <a:ext uri="{9D8B030D-6E8A-4147-A177-3AD203B41FA5}">
                      <a16:colId xmlns:a16="http://schemas.microsoft.com/office/drawing/2014/main" val="2284369725"/>
                    </a:ext>
                  </a:extLst>
                </a:gridCol>
              </a:tblGrid>
              <a:tr h="880070">
                <a:tc>
                  <a:txBody>
                    <a:bodyPr/>
                    <a:lstStyle/>
                    <a:p>
                      <a:pPr>
                        <a:buNone/>
                      </a:pPr>
                      <a:r>
                        <a:rPr lang="en-US" sz="1600" b="1" cap="none" spc="0">
                          <a:solidFill>
                            <a:schemeClr val="tx1"/>
                          </a:solidFill>
                        </a:rPr>
                        <a:t>Government position</a:t>
                      </a:r>
                    </a:p>
                  </a:txBody>
                  <a:tcPr marL="170703" marR="170703" marT="170703" marB="170703"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600" b="1" cap="none" spc="0">
                          <a:solidFill>
                            <a:schemeClr val="tx1"/>
                          </a:solidFill>
                        </a:rPr>
                        <a:t>Effect in loanable funds market</a:t>
                      </a:r>
                    </a:p>
                  </a:txBody>
                  <a:tcPr marL="170703" marR="170703" marT="170703" marB="17070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205966746"/>
                  </a:ext>
                </a:extLst>
              </a:tr>
              <a:tr h="880070">
                <a:tc>
                  <a:txBody>
                    <a:bodyPr/>
                    <a:lstStyle/>
                    <a:p>
                      <a:pPr>
                        <a:buNone/>
                      </a:pPr>
                      <a:r>
                        <a:rPr lang="en-US" sz="1600" b="0" cap="none" spc="0">
                          <a:solidFill>
                            <a:schemeClr val="tx1"/>
                          </a:solidFill>
                        </a:rPr>
                        <a:t>Budget deficit</a:t>
                      </a:r>
                    </a:p>
                  </a:txBody>
                  <a:tcPr marL="170703" marR="170703" marT="170703" marB="170703"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600" cap="none" spc="0" dirty="0">
                          <a:solidFill>
                            <a:schemeClr val="tx1"/>
                          </a:solidFill>
                        </a:rPr>
                        <a:t>Government demands/borrows funds</a:t>
                      </a:r>
                    </a:p>
                  </a:txBody>
                  <a:tcPr marL="170703" marR="170703" marT="170703" marB="17070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79345513"/>
                  </a:ext>
                </a:extLst>
              </a:tr>
              <a:tr h="880070">
                <a:tc>
                  <a:txBody>
                    <a:bodyPr/>
                    <a:lstStyle/>
                    <a:p>
                      <a:pPr>
                        <a:buNone/>
                      </a:pPr>
                      <a:r>
                        <a:rPr lang="en-US" sz="1600" b="0" cap="none" spc="0">
                          <a:solidFill>
                            <a:schemeClr val="tx1"/>
                          </a:solidFill>
                        </a:rPr>
                        <a:t>Balanced budget</a:t>
                      </a:r>
                    </a:p>
                  </a:txBody>
                  <a:tcPr marL="170703" marR="170703" marT="170703" marB="170703"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600" cap="none" spc="0">
                          <a:solidFill>
                            <a:schemeClr val="tx1"/>
                          </a:solidFill>
                        </a:rPr>
                        <a:t>Little or no net government borrowing</a:t>
                      </a:r>
                    </a:p>
                  </a:txBody>
                  <a:tcPr marL="170703" marR="170703" marT="170703" marB="17070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580900444"/>
                  </a:ext>
                </a:extLst>
              </a:tr>
              <a:tr h="633499">
                <a:tc>
                  <a:txBody>
                    <a:bodyPr/>
                    <a:lstStyle/>
                    <a:p>
                      <a:pPr>
                        <a:buNone/>
                      </a:pPr>
                      <a:r>
                        <a:rPr lang="en-US" sz="1600" b="0" cap="none" spc="0">
                          <a:solidFill>
                            <a:schemeClr val="tx1"/>
                          </a:solidFill>
                        </a:rPr>
                        <a:t>Budget surplus</a:t>
                      </a:r>
                    </a:p>
                  </a:txBody>
                  <a:tcPr marL="170703" marR="170703" marT="170703" marB="170703"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600" cap="none" spc="0">
                          <a:solidFill>
                            <a:schemeClr val="tx1"/>
                          </a:solidFill>
                        </a:rPr>
                        <a:t>Government can save/lend funds</a:t>
                      </a:r>
                    </a:p>
                  </a:txBody>
                  <a:tcPr marL="170703" marR="170703" marT="170703" marB="17070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019440035"/>
                  </a:ext>
                </a:extLst>
              </a:tr>
            </a:tbl>
          </a:graphicData>
        </a:graphic>
      </p:graphicFrame>
    </p:spTree>
    <p:extLst>
      <p:ext uri="{BB962C8B-B14F-4D97-AF65-F5344CB8AC3E}">
        <p14:creationId xmlns:p14="http://schemas.microsoft.com/office/powerpoint/2010/main" val="1788191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CB3629-B16D-D8F9-76C8-BC953C11ACF6}"/>
              </a:ext>
            </a:extLst>
          </p:cNvPr>
          <p:cNvSpPr>
            <a:spLocks noGrp="1"/>
          </p:cNvSpPr>
          <p:nvPr>
            <p:ph type="title"/>
          </p:nvPr>
        </p:nvSpPr>
        <p:spPr>
          <a:xfrm>
            <a:off x="793662" y="386930"/>
            <a:ext cx="10066122" cy="1298448"/>
          </a:xfrm>
        </p:spPr>
        <p:txBody>
          <a:bodyPr anchor="b">
            <a:normAutofit/>
          </a:bodyPr>
          <a:lstStyle/>
          <a:p>
            <a:r>
              <a:rPr lang="en-US" sz="4800"/>
              <a:t>Effect of a Government Budget Deficit</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928DF26-BC19-A163-6321-BF9FCC470EDB}"/>
              </a:ext>
            </a:extLst>
          </p:cNvPr>
          <p:cNvSpPr>
            <a:spLocks noGrp="1"/>
          </p:cNvSpPr>
          <p:nvPr>
            <p:ph idx="1"/>
          </p:nvPr>
        </p:nvSpPr>
        <p:spPr>
          <a:xfrm>
            <a:off x="793661" y="2599509"/>
            <a:ext cx="4530898" cy="3639450"/>
          </a:xfrm>
        </p:spPr>
        <p:txBody>
          <a:bodyPr anchor="ctr">
            <a:normAutofit/>
          </a:bodyPr>
          <a:lstStyle/>
          <a:p>
            <a:pPr lvl="0"/>
            <a:r>
              <a:rPr lang="en-US" sz="2000" b="1"/>
              <a:t>Demand for loanable funds increases</a:t>
            </a:r>
            <a:r>
              <a:rPr lang="en-US" sz="2000"/>
              <a:t> </a:t>
            </a:r>
          </a:p>
          <a:p>
            <a:r>
              <a:rPr lang="en-US" sz="2000"/>
              <a:t>This shifts the </a:t>
            </a:r>
            <a:r>
              <a:rPr lang="en-US" sz="2000" b="1"/>
              <a:t>demand curve for loanable funds to the right</a:t>
            </a:r>
            <a:r>
              <a:rPr lang="en-US" sz="2000"/>
              <a:t>.</a:t>
            </a:r>
          </a:p>
          <a:p>
            <a:pPr lvl="0"/>
            <a:r>
              <a:rPr lang="en-US" sz="2000" b="1"/>
              <a:t>Real interest rate rises</a:t>
            </a:r>
            <a:r>
              <a:rPr lang="en-US" sz="2000"/>
              <a:t> </a:t>
            </a:r>
          </a:p>
          <a:p>
            <a:pPr lvl="0"/>
            <a:r>
              <a:rPr lang="en-US" sz="2000" b="1"/>
              <a:t>Quantity of loanable funds increases</a:t>
            </a:r>
            <a:r>
              <a:rPr lang="en-US" sz="2000"/>
              <a:t> </a:t>
            </a:r>
          </a:p>
          <a:p>
            <a:pPr lvl="0"/>
            <a:r>
              <a:rPr lang="en-US" sz="2000"/>
              <a:t>Private borrowers face a higher cost of borrowing.</a:t>
            </a:r>
          </a:p>
          <a:p>
            <a:endParaRPr lang="en-US" sz="2000"/>
          </a:p>
        </p:txBody>
      </p:sp>
      <p:pic>
        <p:nvPicPr>
          <p:cNvPr id="5" name="Picture 4">
            <a:extLst>
              <a:ext uri="{FF2B5EF4-FFF2-40B4-BE49-F238E27FC236}">
                <a16:creationId xmlns:a16="http://schemas.microsoft.com/office/drawing/2014/main" id="{9479773F-A523-7188-9E40-8B05A3B8A256}"/>
              </a:ext>
            </a:extLst>
          </p:cNvPr>
          <p:cNvPicPr>
            <a:picLocks noChangeAspect="1"/>
          </p:cNvPicPr>
          <p:nvPr/>
        </p:nvPicPr>
        <p:blipFill>
          <a:blip r:embed="rId2"/>
          <a:stretch>
            <a:fillRect/>
          </a:stretch>
        </p:blipFill>
        <p:spPr>
          <a:xfrm>
            <a:off x="6010508" y="2484255"/>
            <a:ext cx="4952325"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44846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B5293F-B4F2-E37E-A73B-C8CBAD108BEA}"/>
              </a:ext>
            </a:extLst>
          </p:cNvPr>
          <p:cNvSpPr>
            <a:spLocks noGrp="1"/>
          </p:cNvSpPr>
          <p:nvPr>
            <p:ph type="title"/>
          </p:nvPr>
        </p:nvSpPr>
        <p:spPr>
          <a:xfrm>
            <a:off x="793662" y="386930"/>
            <a:ext cx="10066122" cy="1298448"/>
          </a:xfrm>
        </p:spPr>
        <p:txBody>
          <a:bodyPr anchor="b">
            <a:normAutofit/>
          </a:bodyPr>
          <a:lstStyle/>
          <a:p>
            <a:r>
              <a:rPr lang="en-US" sz="4800"/>
              <a:t>Crowding-Out Effect</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BC47821-633C-B3D1-326D-77B06D9DB385}"/>
              </a:ext>
            </a:extLst>
          </p:cNvPr>
          <p:cNvSpPr>
            <a:spLocks noGrp="1"/>
          </p:cNvSpPr>
          <p:nvPr>
            <p:ph idx="1"/>
          </p:nvPr>
        </p:nvSpPr>
        <p:spPr>
          <a:xfrm>
            <a:off x="793661" y="2599509"/>
            <a:ext cx="4530898" cy="3639450"/>
          </a:xfrm>
        </p:spPr>
        <p:txBody>
          <a:bodyPr anchor="ctr">
            <a:normAutofit/>
          </a:bodyPr>
          <a:lstStyle/>
          <a:p>
            <a:r>
              <a:rPr lang="en-US" sz="2000" dirty="0"/>
              <a:t>One of the most important concepts is </a:t>
            </a:r>
            <a:r>
              <a:rPr lang="en-US" sz="2000" b="1" dirty="0"/>
              <a:t>crowding out</a:t>
            </a:r>
            <a:r>
              <a:rPr lang="en-US" sz="2000" dirty="0"/>
              <a:t>.</a:t>
            </a:r>
          </a:p>
          <a:p>
            <a:r>
              <a:rPr lang="en-US" sz="2000" dirty="0"/>
              <a:t>When the government borrows heavily:</a:t>
            </a:r>
          </a:p>
          <a:p>
            <a:r>
              <a:rPr lang="en-US" sz="2000" b="1" dirty="0"/>
              <a:t>Government borrowing ↑ → Interest rate ↑ → Private investment ↓</a:t>
            </a:r>
            <a:endParaRPr lang="en-US" sz="2000" dirty="0"/>
          </a:p>
          <a:p>
            <a:r>
              <a:rPr lang="en-US" sz="2000" dirty="0"/>
              <a:t>Higher interest rates make borrowing more expensive for businesses.</a:t>
            </a:r>
          </a:p>
          <a:p>
            <a:endParaRPr lang="en-US" sz="2000" dirty="0"/>
          </a:p>
        </p:txBody>
      </p:sp>
      <p:pic>
        <p:nvPicPr>
          <p:cNvPr id="7" name="Graphic 6" descr="Bank">
            <a:extLst>
              <a:ext uri="{FF2B5EF4-FFF2-40B4-BE49-F238E27FC236}">
                <a16:creationId xmlns:a16="http://schemas.microsoft.com/office/drawing/2014/main" id="{A9B6286B-50DC-47C4-F8F2-89E421F22F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29548" y="2484255"/>
            <a:ext cx="3714244"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01023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6F583-8672-A382-03E7-2F10E273BD21}"/>
              </a:ext>
            </a:extLst>
          </p:cNvPr>
          <p:cNvSpPr>
            <a:spLocks noGrp="1"/>
          </p:cNvSpPr>
          <p:nvPr>
            <p:ph type="title"/>
          </p:nvPr>
        </p:nvSpPr>
        <p:spPr/>
        <p:txBody>
          <a:bodyPr/>
          <a:lstStyle/>
          <a:p>
            <a:r>
              <a:rPr lang="en-US" dirty="0"/>
              <a:t>Government Budget Surplus</a:t>
            </a:r>
          </a:p>
        </p:txBody>
      </p:sp>
      <p:sp>
        <p:nvSpPr>
          <p:cNvPr id="3" name="Content Placeholder 2">
            <a:extLst>
              <a:ext uri="{FF2B5EF4-FFF2-40B4-BE49-F238E27FC236}">
                <a16:creationId xmlns:a16="http://schemas.microsoft.com/office/drawing/2014/main" id="{58284734-7A53-0970-2E07-3BE5241B5DF5}"/>
              </a:ext>
            </a:extLst>
          </p:cNvPr>
          <p:cNvSpPr>
            <a:spLocks noGrp="1"/>
          </p:cNvSpPr>
          <p:nvPr>
            <p:ph idx="1"/>
          </p:nvPr>
        </p:nvSpPr>
        <p:spPr/>
        <p:txBody>
          <a:bodyPr/>
          <a:lstStyle/>
          <a:p>
            <a:r>
              <a:rPr lang="en-US" dirty="0"/>
              <a:t>The opposite occurs when the government has a </a:t>
            </a:r>
            <a:r>
              <a:rPr lang="en-US" b="1" dirty="0"/>
              <a:t>budget surplus</a:t>
            </a:r>
            <a:r>
              <a:rPr lang="en-US" dirty="0"/>
              <a:t>.</a:t>
            </a:r>
          </a:p>
          <a:p>
            <a:r>
              <a:rPr lang="en-US" b="1" dirty="0"/>
              <a:t>Tax revenue &gt; Government expenditure</a:t>
            </a:r>
            <a:endParaRPr lang="en-US" dirty="0"/>
          </a:p>
          <a:p>
            <a:r>
              <a:rPr lang="en-US" dirty="0"/>
              <a:t>The government has excess funds and can use them to reduce borrowing or increase national saving.</a:t>
            </a:r>
          </a:p>
          <a:p>
            <a:r>
              <a:rPr lang="en-US" dirty="0"/>
              <a:t>Therefore:</a:t>
            </a:r>
          </a:p>
          <a:p>
            <a:r>
              <a:rPr lang="en-US" b="1" dirty="0"/>
              <a:t>Budget surplus ↑ → National saving ↑ → Supply of loanable funds ↑ → Real interest rate ↓ → Private investment ↑</a:t>
            </a:r>
            <a:endParaRPr lang="en-US" dirty="0"/>
          </a:p>
          <a:p>
            <a:r>
              <a:rPr lang="en-US" dirty="0"/>
              <a:t>The supply curve of loanable funds shifts </a:t>
            </a:r>
            <a:r>
              <a:rPr lang="en-US" b="1" dirty="0"/>
              <a:t>rightward</a:t>
            </a:r>
            <a:r>
              <a:rPr lang="en-US" dirty="0"/>
              <a:t>.</a:t>
            </a:r>
          </a:p>
          <a:p>
            <a:endParaRPr lang="en-US" dirty="0"/>
          </a:p>
        </p:txBody>
      </p:sp>
    </p:spTree>
    <p:extLst>
      <p:ext uri="{BB962C8B-B14F-4D97-AF65-F5344CB8AC3E}">
        <p14:creationId xmlns:p14="http://schemas.microsoft.com/office/powerpoint/2010/main" val="1567310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8FA467-082C-D343-24F0-DE3A3CA954E9}"/>
              </a:ext>
            </a:extLst>
          </p:cNvPr>
          <p:cNvSpPr>
            <a:spLocks noGrp="1"/>
          </p:cNvSpPr>
          <p:nvPr>
            <p:ph type="title"/>
          </p:nvPr>
        </p:nvSpPr>
        <p:spPr>
          <a:xfrm>
            <a:off x="793662" y="386930"/>
            <a:ext cx="10066122" cy="1298448"/>
          </a:xfrm>
        </p:spPr>
        <p:txBody>
          <a:bodyPr anchor="b">
            <a:normAutofit/>
          </a:bodyPr>
          <a:lstStyle/>
          <a:p>
            <a:r>
              <a:rPr lang="en-US" sz="4800"/>
              <a:t>Government and National Saving</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C253174-FEAF-E5A7-EFD2-EAC6DE7D5517}"/>
              </a:ext>
            </a:extLst>
          </p:cNvPr>
          <p:cNvSpPr>
            <a:spLocks noGrp="1"/>
          </p:cNvSpPr>
          <p:nvPr>
            <p:ph idx="1"/>
          </p:nvPr>
        </p:nvSpPr>
        <p:spPr>
          <a:xfrm>
            <a:off x="793661" y="2599509"/>
            <a:ext cx="4530898" cy="3639450"/>
          </a:xfrm>
        </p:spPr>
        <p:txBody>
          <a:bodyPr anchor="ctr">
            <a:normAutofit/>
          </a:bodyPr>
          <a:lstStyle/>
          <a:p>
            <a:r>
              <a:rPr lang="en-US" sz="1400" dirty="0"/>
              <a:t>National Saving=Private </a:t>
            </a:r>
            <a:r>
              <a:rPr lang="en-US" sz="1400" dirty="0" err="1"/>
              <a:t>Saving+Government</a:t>
            </a:r>
            <a:r>
              <a:rPr lang="en-US" sz="1400" dirty="0"/>
              <a:t> Saving </a:t>
            </a:r>
          </a:p>
          <a:p>
            <a:r>
              <a:rPr lang="en-US" sz="1400" dirty="0"/>
              <a:t>Government saving is:</a:t>
            </a:r>
          </a:p>
          <a:p>
            <a:r>
              <a:rPr lang="en-US" sz="1400" dirty="0"/>
              <a:t>Government Saving=T−G </a:t>
            </a:r>
          </a:p>
          <a:p>
            <a:r>
              <a:rPr lang="en-US" sz="1400" dirty="0"/>
              <a:t>where:</a:t>
            </a:r>
          </a:p>
          <a:p>
            <a:pPr lvl="0"/>
            <a:r>
              <a:rPr lang="en-US" sz="1400" dirty="0"/>
              <a:t>T = tax revenue </a:t>
            </a:r>
          </a:p>
          <a:p>
            <a:pPr lvl="0"/>
            <a:r>
              <a:rPr lang="en-US" sz="1400" dirty="0"/>
              <a:t>G = government expenditure </a:t>
            </a:r>
          </a:p>
          <a:p>
            <a:r>
              <a:rPr lang="en-US" sz="1400" dirty="0"/>
              <a:t>Therefore:</a:t>
            </a:r>
          </a:p>
          <a:p>
            <a:pPr lvl="0"/>
            <a:r>
              <a:rPr lang="en-US" sz="1400" dirty="0"/>
              <a:t>If T&gt;G, government saving is </a:t>
            </a:r>
            <a:r>
              <a:rPr lang="en-US" sz="1400" b="1" dirty="0"/>
              <a:t>positive</a:t>
            </a:r>
            <a:r>
              <a:rPr lang="en-US" sz="1400" dirty="0"/>
              <a:t> → budget surplus. </a:t>
            </a:r>
          </a:p>
          <a:p>
            <a:pPr lvl="0"/>
            <a:r>
              <a:rPr lang="en-US" sz="1400" dirty="0"/>
              <a:t>If T&lt;G, government saving is </a:t>
            </a:r>
            <a:r>
              <a:rPr lang="en-US" sz="1400" b="1" dirty="0"/>
              <a:t>negative</a:t>
            </a:r>
            <a:r>
              <a:rPr lang="en-US" sz="1400" dirty="0"/>
              <a:t> → budget deficit.</a:t>
            </a:r>
          </a:p>
          <a:p>
            <a:endParaRPr lang="en-US" sz="1400" dirty="0"/>
          </a:p>
        </p:txBody>
      </p:sp>
      <p:pic>
        <p:nvPicPr>
          <p:cNvPr id="7" name="Graphic 6" descr="Financial">
            <a:extLst>
              <a:ext uri="{FF2B5EF4-FFF2-40B4-BE49-F238E27FC236}">
                <a16:creationId xmlns:a16="http://schemas.microsoft.com/office/drawing/2014/main" id="{9A2B090F-5A55-3564-6B0C-A834D19C01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29548" y="2484255"/>
            <a:ext cx="3714244"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08478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C634CD-CBF9-EFE0-E0FE-01582FDBE3FC}"/>
              </a:ext>
            </a:extLst>
          </p:cNvPr>
          <p:cNvSpPr>
            <a:spLocks noGrp="1"/>
          </p:cNvSpPr>
          <p:nvPr>
            <p:ph type="title"/>
          </p:nvPr>
        </p:nvSpPr>
        <p:spPr>
          <a:xfrm>
            <a:off x="1043631" y="809898"/>
            <a:ext cx="9942716" cy="1554480"/>
          </a:xfrm>
        </p:spPr>
        <p:txBody>
          <a:bodyPr anchor="ctr">
            <a:normAutofit/>
          </a:bodyPr>
          <a:lstStyle/>
          <a:p>
            <a:r>
              <a:rPr lang="en-US" sz="4000" dirty="0"/>
              <a:t>Ricardo–Barro Effect</a:t>
            </a:r>
          </a:p>
        </p:txBody>
      </p:sp>
      <p:sp>
        <p:nvSpPr>
          <p:cNvPr id="3" name="Content Placeholder 2">
            <a:extLst>
              <a:ext uri="{FF2B5EF4-FFF2-40B4-BE49-F238E27FC236}">
                <a16:creationId xmlns:a16="http://schemas.microsoft.com/office/drawing/2014/main" id="{DF0138B3-AD8A-F841-5BC1-5F4652E8DD75}"/>
              </a:ext>
            </a:extLst>
          </p:cNvPr>
          <p:cNvSpPr>
            <a:spLocks noGrp="1"/>
          </p:cNvSpPr>
          <p:nvPr>
            <p:ph idx="1"/>
          </p:nvPr>
        </p:nvSpPr>
        <p:spPr>
          <a:xfrm>
            <a:off x="1045028" y="3017522"/>
            <a:ext cx="9941319" cy="3124658"/>
          </a:xfrm>
        </p:spPr>
        <p:txBody>
          <a:bodyPr anchor="ctr">
            <a:normAutofit/>
          </a:bodyPr>
          <a:lstStyle/>
          <a:p>
            <a:r>
              <a:rPr lang="en-US" sz="2400" dirty="0"/>
              <a:t>The </a:t>
            </a:r>
            <a:r>
              <a:rPr lang="en-US" sz="2400" b="1" dirty="0"/>
              <a:t>Ricardo–Barro effect</a:t>
            </a:r>
            <a:r>
              <a:rPr lang="en-US" sz="2400" dirty="0"/>
              <a:t>, also called the </a:t>
            </a:r>
            <a:r>
              <a:rPr lang="en-US" sz="2400" b="1" dirty="0"/>
              <a:t>Ricardian equivalence proposition</a:t>
            </a:r>
            <a:r>
              <a:rPr lang="en-US" sz="2400" dirty="0"/>
              <a:t>, explains why a </a:t>
            </a:r>
            <a:r>
              <a:rPr lang="en-US" sz="2400" b="1" dirty="0"/>
              <a:t>government budget deficit may not necessarily increase aggregate demand or interest rates</a:t>
            </a:r>
            <a:r>
              <a:rPr lang="en-US" sz="2400" dirty="0"/>
              <a:t>.</a:t>
            </a:r>
          </a:p>
          <a:p>
            <a:r>
              <a:rPr lang="en-US" sz="2400" dirty="0"/>
              <a:t>Developed by economist </a:t>
            </a:r>
            <a:r>
              <a:rPr lang="en-US" sz="2400" b="1" dirty="0"/>
              <a:t>David Ricardo</a:t>
            </a:r>
            <a:r>
              <a:rPr lang="en-US" sz="2400" dirty="0"/>
              <a:t> and was later developed and popularized by </a:t>
            </a:r>
            <a:r>
              <a:rPr lang="en-US" sz="2400" b="1" dirty="0"/>
              <a:t>Robert Barro</a:t>
            </a:r>
            <a:r>
              <a:rPr lang="en-US" sz="2400" dirty="0"/>
              <a:t>.</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05256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E7F489-7859-94B0-458B-2033F8601311}"/>
              </a:ext>
            </a:extLst>
          </p:cNvPr>
          <p:cNvSpPr>
            <a:spLocks noGrp="1"/>
          </p:cNvSpPr>
          <p:nvPr>
            <p:ph type="title"/>
          </p:nvPr>
        </p:nvSpPr>
        <p:spPr>
          <a:xfrm>
            <a:off x="808638" y="386930"/>
            <a:ext cx="9236700" cy="1188950"/>
          </a:xfrm>
        </p:spPr>
        <p:txBody>
          <a:bodyPr anchor="b">
            <a:normAutofit/>
          </a:bodyPr>
          <a:lstStyle/>
          <a:p>
            <a:r>
              <a:rPr lang="en-US" sz="5400" dirty="0"/>
              <a:t>Ricardo–Barro Effect</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D095C8F-BDE6-4172-DB7C-727133C2E521}"/>
              </a:ext>
            </a:extLst>
          </p:cNvPr>
          <p:cNvSpPr>
            <a:spLocks noGrp="1"/>
          </p:cNvSpPr>
          <p:nvPr>
            <p:ph idx="1"/>
          </p:nvPr>
        </p:nvSpPr>
        <p:spPr>
          <a:xfrm>
            <a:off x="793660" y="2599509"/>
            <a:ext cx="10143668" cy="3435531"/>
          </a:xfrm>
        </p:spPr>
        <p:txBody>
          <a:bodyPr anchor="ctr">
            <a:normAutofit/>
          </a:bodyPr>
          <a:lstStyle/>
          <a:p>
            <a:r>
              <a:rPr lang="en-US" sz="2000" dirty="0"/>
              <a:t>Suppose the government cuts taxes today but does </a:t>
            </a:r>
            <a:r>
              <a:rPr lang="en-US" sz="2000" b="1" dirty="0"/>
              <a:t>not</a:t>
            </a:r>
            <a:r>
              <a:rPr lang="en-US" sz="2000" dirty="0"/>
              <a:t> reduce government spending.</a:t>
            </a:r>
          </a:p>
          <a:p>
            <a:r>
              <a:rPr lang="en-US" sz="2000" dirty="0"/>
              <a:t>The government now has a </a:t>
            </a:r>
            <a:r>
              <a:rPr lang="en-US" sz="2000" b="1" dirty="0"/>
              <a:t>budget deficit</a:t>
            </a:r>
            <a:r>
              <a:rPr lang="en-US" sz="2000" dirty="0"/>
              <a:t> and must borrow.</a:t>
            </a:r>
          </a:p>
          <a:p>
            <a:r>
              <a:rPr lang="en-US" sz="2000" dirty="0"/>
              <a:t>Typical arguments are: </a:t>
            </a:r>
          </a:p>
          <a:p>
            <a:pPr lvl="1"/>
            <a:r>
              <a:rPr lang="en-US" sz="2000" b="1" dirty="0"/>
              <a:t>Tax cut → Disposable income ↑ → Consumption ↑ → Saving ↓ → Interest rate ↑</a:t>
            </a:r>
            <a:endParaRPr lang="en-US" sz="2000" dirty="0"/>
          </a:p>
          <a:p>
            <a:r>
              <a:rPr lang="en-US" sz="2000" dirty="0"/>
              <a:t>However, Ricardo–Barro argues that households may realize:</a:t>
            </a:r>
          </a:p>
          <a:p>
            <a:pPr lvl="1"/>
            <a:r>
              <a:rPr lang="en-US" sz="2000" b="1" dirty="0"/>
              <a:t>Today's tax cut means higher taxes in the future.</a:t>
            </a:r>
            <a:endParaRPr lang="en-US" sz="2000" dirty="0"/>
          </a:p>
          <a:p>
            <a:r>
              <a:rPr lang="en-US" sz="2000" dirty="0"/>
              <a:t>Therefore, instead of spending the additional income, households may </a:t>
            </a:r>
            <a:r>
              <a:rPr lang="en-US" sz="2000" b="1" dirty="0"/>
              <a:t>save it</a:t>
            </a:r>
            <a:r>
              <a:rPr lang="en-US" sz="2000" dirty="0"/>
              <a:t> to pay for future taxes.</a:t>
            </a:r>
          </a:p>
          <a:p>
            <a:endParaRPr lang="en-US" sz="2000" dirty="0"/>
          </a:p>
        </p:txBody>
      </p:sp>
    </p:spTree>
    <p:extLst>
      <p:ext uri="{BB962C8B-B14F-4D97-AF65-F5344CB8AC3E}">
        <p14:creationId xmlns:p14="http://schemas.microsoft.com/office/powerpoint/2010/main" val="30316285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8" name="Rectangle 27">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11BBBC-3456-C0AE-8787-EF8F1DAB89D7}"/>
              </a:ext>
            </a:extLst>
          </p:cNvPr>
          <p:cNvSpPr>
            <a:spLocks noGrp="1"/>
          </p:cNvSpPr>
          <p:nvPr>
            <p:ph type="title"/>
          </p:nvPr>
        </p:nvSpPr>
        <p:spPr>
          <a:xfrm>
            <a:off x="761803" y="350196"/>
            <a:ext cx="4646904" cy="1624520"/>
          </a:xfrm>
        </p:spPr>
        <p:txBody>
          <a:bodyPr anchor="ctr">
            <a:normAutofit/>
          </a:bodyPr>
          <a:lstStyle/>
          <a:p>
            <a:r>
              <a:rPr lang="en-US" sz="4000"/>
              <a:t>Ricardo–Barro Effect</a:t>
            </a:r>
          </a:p>
        </p:txBody>
      </p:sp>
      <p:sp>
        <p:nvSpPr>
          <p:cNvPr id="3" name="Content Placeholder 2">
            <a:extLst>
              <a:ext uri="{FF2B5EF4-FFF2-40B4-BE49-F238E27FC236}">
                <a16:creationId xmlns:a16="http://schemas.microsoft.com/office/drawing/2014/main" id="{88B74A7E-EFCC-D611-6C43-711BC59E5466}"/>
              </a:ext>
            </a:extLst>
          </p:cNvPr>
          <p:cNvSpPr>
            <a:spLocks noGrp="1"/>
          </p:cNvSpPr>
          <p:nvPr>
            <p:ph idx="1"/>
          </p:nvPr>
        </p:nvSpPr>
        <p:spPr>
          <a:xfrm>
            <a:off x="761802" y="2743200"/>
            <a:ext cx="4646905" cy="3613149"/>
          </a:xfrm>
        </p:spPr>
        <p:txBody>
          <a:bodyPr anchor="ctr">
            <a:normAutofit/>
          </a:bodyPr>
          <a:lstStyle/>
          <a:p>
            <a:pPr marL="0" indent="0">
              <a:buNone/>
            </a:pPr>
            <a:r>
              <a:rPr lang="en-US" sz="1700" b="1"/>
              <a:t>Government cuts taxes today</a:t>
            </a:r>
            <a:br>
              <a:rPr lang="en-US" sz="1700"/>
            </a:br>
            <a:r>
              <a:rPr lang="en-US" sz="1700"/>
              <a:t>↓</a:t>
            </a:r>
            <a:br>
              <a:rPr lang="en-US" sz="1700"/>
            </a:br>
            <a:r>
              <a:rPr lang="en-US" sz="1700" b="1"/>
              <a:t>Government budget deficit increases</a:t>
            </a:r>
            <a:br>
              <a:rPr lang="en-US" sz="1700"/>
            </a:br>
            <a:r>
              <a:rPr lang="en-US" sz="1700"/>
              <a:t>↓</a:t>
            </a:r>
            <a:br>
              <a:rPr lang="en-US" sz="1700"/>
            </a:br>
            <a:r>
              <a:rPr lang="en-US" sz="1700" b="1"/>
              <a:t>Government borrowing increases</a:t>
            </a:r>
            <a:br>
              <a:rPr lang="en-US" sz="1700"/>
            </a:br>
            <a:r>
              <a:rPr lang="en-US" sz="1700"/>
              <a:t>↓</a:t>
            </a:r>
            <a:br>
              <a:rPr lang="en-US" sz="1700"/>
            </a:br>
            <a:r>
              <a:rPr lang="en-US" sz="1700" b="1"/>
              <a:t>People expect higher future taxes</a:t>
            </a:r>
            <a:br>
              <a:rPr lang="en-US" sz="1700"/>
            </a:br>
            <a:r>
              <a:rPr lang="en-US" sz="1700"/>
              <a:t>↓</a:t>
            </a:r>
            <a:br>
              <a:rPr lang="en-US" sz="1700"/>
            </a:br>
            <a:r>
              <a:rPr lang="en-US" sz="1700" b="1"/>
              <a:t>Private saving increases</a:t>
            </a:r>
            <a:br>
              <a:rPr lang="en-US" sz="1700"/>
            </a:br>
            <a:r>
              <a:rPr lang="en-US" sz="1700"/>
              <a:t>↓</a:t>
            </a:r>
            <a:br>
              <a:rPr lang="en-US" sz="1700"/>
            </a:br>
            <a:r>
              <a:rPr lang="en-US" sz="1700" b="1"/>
              <a:t>National saving may remain unchanged</a:t>
            </a:r>
            <a:br>
              <a:rPr lang="en-US" sz="1700"/>
            </a:br>
            <a:r>
              <a:rPr lang="en-US" sz="1700"/>
              <a:t>↓</a:t>
            </a:r>
            <a:br>
              <a:rPr lang="en-US" sz="1700"/>
            </a:br>
            <a:r>
              <a:rPr lang="en-US" sz="1700" b="1"/>
              <a:t>Interest rate may remain unchanged</a:t>
            </a:r>
            <a:br>
              <a:rPr lang="en-US" sz="1700"/>
            </a:br>
            <a:r>
              <a:rPr lang="en-US" sz="1700"/>
              <a:t>↓</a:t>
            </a:r>
            <a:br>
              <a:rPr lang="en-US" sz="1700"/>
            </a:br>
            <a:r>
              <a:rPr lang="en-US" sz="1700" b="1"/>
              <a:t>Private investment may remain unchanged</a:t>
            </a:r>
            <a:endParaRPr lang="en-US" sz="1700"/>
          </a:p>
        </p:txBody>
      </p:sp>
      <p:pic>
        <p:nvPicPr>
          <p:cNvPr id="30" name="Picture 29" descr="A hand holding a pen and shading circles on a sheet">
            <a:extLst>
              <a:ext uri="{FF2B5EF4-FFF2-40B4-BE49-F238E27FC236}">
                <a16:creationId xmlns:a16="http://schemas.microsoft.com/office/drawing/2014/main" id="{BA63AB63-AB4A-F3B5-AF63-056000BF55A0}"/>
              </a:ext>
            </a:extLst>
          </p:cNvPr>
          <p:cNvPicPr>
            <a:picLocks noChangeAspect="1"/>
          </p:cNvPicPr>
          <p:nvPr/>
        </p:nvPicPr>
        <p:blipFill>
          <a:blip r:embed="rId2"/>
          <a:srcRect l="36317" r="11846" b="-2"/>
          <a:stretch>
            <a:fillRect/>
          </a:stretch>
        </p:blipFill>
        <p:spPr>
          <a:xfrm>
            <a:off x="6096000" y="1"/>
            <a:ext cx="6102825" cy="6858000"/>
          </a:xfrm>
          <a:prstGeom prst="rect">
            <a:avLst/>
          </a:prstGeom>
        </p:spPr>
      </p:pic>
    </p:spTree>
    <p:extLst>
      <p:ext uri="{BB962C8B-B14F-4D97-AF65-F5344CB8AC3E}">
        <p14:creationId xmlns:p14="http://schemas.microsoft.com/office/powerpoint/2010/main" val="2096806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5799A5-24EF-DBC4-177A-79E18D32CCD0}"/>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solidFill>
                  <a:schemeClr val="tx1"/>
                </a:solidFill>
                <a:latin typeface="+mj-lt"/>
                <a:ea typeface="+mj-ea"/>
                <a:cs typeface="+mj-cs"/>
              </a:rPr>
              <a:t>Numerical Example</a:t>
            </a:r>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9838A8F-0A8F-430D-8599-E18721139479}"/>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900"/>
              <a:t>Government reduces taxes by Tk. 100 billion.</a:t>
            </a:r>
          </a:p>
          <a:p>
            <a:pPr indent="-228600">
              <a:lnSpc>
                <a:spcPct val="90000"/>
              </a:lnSpc>
              <a:spcAft>
                <a:spcPts val="600"/>
              </a:spcAft>
              <a:buFont typeface="Arial" panose="020B0604020202020204" pitchFamily="34" charset="0"/>
              <a:buChar char="•"/>
            </a:pPr>
            <a:r>
              <a:rPr lang="en-US" sz="1900"/>
              <a:t>Government saving falls: 200−100=100 </a:t>
            </a:r>
          </a:p>
          <a:p>
            <a:pPr indent="-228600">
              <a:lnSpc>
                <a:spcPct val="90000"/>
              </a:lnSpc>
              <a:spcAft>
                <a:spcPts val="600"/>
              </a:spcAft>
              <a:buFont typeface="Arial" panose="020B0604020202020204" pitchFamily="34" charset="0"/>
              <a:buChar char="•"/>
            </a:pPr>
            <a:r>
              <a:rPr lang="en-US" sz="1900"/>
              <a:t>But households save the entire Tk. 100 billion tax reduction: 500+100=600 </a:t>
            </a:r>
          </a:p>
          <a:p>
            <a:pPr indent="-228600">
              <a:lnSpc>
                <a:spcPct val="90000"/>
              </a:lnSpc>
              <a:spcAft>
                <a:spcPts val="600"/>
              </a:spcAft>
              <a:buFont typeface="Arial" panose="020B0604020202020204" pitchFamily="34" charset="0"/>
              <a:buChar char="•"/>
            </a:pPr>
            <a:r>
              <a:rPr lang="en-US" sz="1900"/>
              <a:t>Therefore:</a:t>
            </a:r>
          </a:p>
          <a:p>
            <a:pPr indent="-228600">
              <a:lnSpc>
                <a:spcPct val="90000"/>
              </a:lnSpc>
              <a:spcAft>
                <a:spcPts val="600"/>
              </a:spcAft>
              <a:buFont typeface="Arial" panose="020B0604020202020204" pitchFamily="34" charset="0"/>
              <a:buChar char="•"/>
            </a:pPr>
            <a:r>
              <a:rPr lang="en-US" sz="1900"/>
              <a:t>National Saving=600+100=700 billion </a:t>
            </a:r>
          </a:p>
          <a:p>
            <a:pPr indent="-228600">
              <a:lnSpc>
                <a:spcPct val="90000"/>
              </a:lnSpc>
              <a:spcAft>
                <a:spcPts val="600"/>
              </a:spcAft>
              <a:buFont typeface="Arial" panose="020B0604020202020204" pitchFamily="34" charset="0"/>
              <a:buChar char="•"/>
            </a:pPr>
            <a:r>
              <a:rPr lang="en-US" sz="1900" b="1"/>
              <a:t>National saving remains unchanged.</a:t>
            </a:r>
            <a:endParaRPr lang="en-US" sz="1900"/>
          </a:p>
          <a:p>
            <a:pPr indent="-228600">
              <a:lnSpc>
                <a:spcPct val="90000"/>
              </a:lnSpc>
              <a:spcAft>
                <a:spcPts val="600"/>
              </a:spcAft>
              <a:buFont typeface="Arial" panose="020B0604020202020204" pitchFamily="34" charset="0"/>
              <a:buChar char="•"/>
            </a:pPr>
            <a:r>
              <a:rPr lang="en-US" sz="1900"/>
              <a:t>Consequently, the loanable-funds supply curve does not shift, and the real interest rate need not rise.</a:t>
            </a:r>
          </a:p>
        </p:txBody>
      </p:sp>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AC637773-B506-B67A-4097-C41024E693B4}"/>
              </a:ext>
            </a:extLst>
          </p:cNvPr>
          <p:cNvGraphicFramePr>
            <a:graphicFrameLocks noGrp="1"/>
          </p:cNvGraphicFramePr>
          <p:nvPr>
            <p:ph idx="1"/>
            <p:extLst>
              <p:ext uri="{D42A27DB-BD31-4B8C-83A1-F6EECF244321}">
                <p14:modId xmlns:p14="http://schemas.microsoft.com/office/powerpoint/2010/main" val="550014741"/>
              </p:ext>
            </p:extLst>
          </p:nvPr>
        </p:nvGraphicFramePr>
        <p:xfrm>
          <a:off x="5911532" y="3015662"/>
          <a:ext cx="5150277" cy="2651432"/>
        </p:xfrm>
        <a:graphic>
          <a:graphicData uri="http://schemas.openxmlformats.org/drawingml/2006/table">
            <a:tbl>
              <a:tblPr firstRow="1" bandRow="1">
                <a:solidFill>
                  <a:schemeClr val="bg1"/>
                </a:solidFill>
              </a:tblPr>
              <a:tblGrid>
                <a:gridCol w="2855949">
                  <a:extLst>
                    <a:ext uri="{9D8B030D-6E8A-4147-A177-3AD203B41FA5}">
                      <a16:colId xmlns:a16="http://schemas.microsoft.com/office/drawing/2014/main" val="1943296268"/>
                    </a:ext>
                  </a:extLst>
                </a:gridCol>
                <a:gridCol w="2294328">
                  <a:extLst>
                    <a:ext uri="{9D8B030D-6E8A-4147-A177-3AD203B41FA5}">
                      <a16:colId xmlns:a16="http://schemas.microsoft.com/office/drawing/2014/main" val="2797911739"/>
                    </a:ext>
                  </a:extLst>
                </a:gridCol>
              </a:tblGrid>
              <a:tr h="662858">
                <a:tc>
                  <a:txBody>
                    <a:bodyPr/>
                    <a:lstStyle/>
                    <a:p>
                      <a:pPr algn="l">
                        <a:buNone/>
                      </a:pPr>
                      <a:r>
                        <a:rPr lang="en-US" sz="2100" b="0" cap="none" spc="0">
                          <a:solidFill>
                            <a:schemeClr val="bg1"/>
                          </a:solidFill>
                        </a:rPr>
                        <a:t>Item</a:t>
                      </a:r>
                    </a:p>
                  </a:txBody>
                  <a:tcPr marL="182052" marR="140040" marT="140040" marB="140040"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l">
                        <a:buNone/>
                      </a:pPr>
                      <a:r>
                        <a:rPr lang="en-US" sz="2100" b="0" cap="none" spc="0">
                          <a:solidFill>
                            <a:schemeClr val="bg1"/>
                          </a:solidFill>
                        </a:rPr>
                        <a:t>Before tax cut</a:t>
                      </a:r>
                    </a:p>
                  </a:txBody>
                  <a:tcPr marL="182052" marR="140040" marT="140040" marB="140040"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1070791146"/>
                  </a:ext>
                </a:extLst>
              </a:tr>
              <a:tr h="662858">
                <a:tc>
                  <a:txBody>
                    <a:bodyPr/>
                    <a:lstStyle/>
                    <a:p>
                      <a:pPr>
                        <a:buNone/>
                      </a:pPr>
                      <a:r>
                        <a:rPr lang="en-US" sz="2100" cap="none" spc="0">
                          <a:solidFill>
                            <a:schemeClr val="tx1"/>
                          </a:solidFill>
                        </a:rPr>
                        <a:t>Private saving</a:t>
                      </a:r>
                    </a:p>
                  </a:txBody>
                  <a:tcPr marL="182052" marR="140040" marT="140040" marB="140040"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buNone/>
                      </a:pPr>
                      <a:r>
                        <a:rPr lang="en-US" sz="2100" cap="none" spc="0">
                          <a:solidFill>
                            <a:schemeClr val="tx1"/>
                          </a:solidFill>
                        </a:rPr>
                        <a:t>Tk. 500 billion</a:t>
                      </a:r>
                    </a:p>
                  </a:txBody>
                  <a:tcPr marL="182052" marR="140040" marT="140040" marB="140040"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639807958"/>
                  </a:ext>
                </a:extLst>
              </a:tr>
              <a:tr h="662858">
                <a:tc>
                  <a:txBody>
                    <a:bodyPr/>
                    <a:lstStyle/>
                    <a:p>
                      <a:pPr>
                        <a:buNone/>
                      </a:pPr>
                      <a:r>
                        <a:rPr lang="en-US" sz="2100" cap="none" spc="0">
                          <a:solidFill>
                            <a:schemeClr val="tx1"/>
                          </a:solidFill>
                        </a:rPr>
                        <a:t>Government saving</a:t>
                      </a:r>
                    </a:p>
                  </a:txBody>
                  <a:tcPr marL="182052" marR="140040" marT="140040" marB="14004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buNone/>
                      </a:pPr>
                      <a:r>
                        <a:rPr lang="en-US" sz="2100" cap="none" spc="0">
                          <a:solidFill>
                            <a:schemeClr val="tx1"/>
                          </a:solidFill>
                        </a:rPr>
                        <a:t>Tk. 200 billion</a:t>
                      </a:r>
                    </a:p>
                  </a:txBody>
                  <a:tcPr marL="182052" marR="140040" marT="140040" marB="140040"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023040048"/>
                  </a:ext>
                </a:extLst>
              </a:tr>
              <a:tr h="662858">
                <a:tc>
                  <a:txBody>
                    <a:bodyPr/>
                    <a:lstStyle/>
                    <a:p>
                      <a:pPr>
                        <a:buNone/>
                      </a:pPr>
                      <a:r>
                        <a:rPr lang="en-US" sz="2100" cap="none" spc="0">
                          <a:solidFill>
                            <a:schemeClr val="tx1"/>
                          </a:solidFill>
                        </a:rPr>
                        <a:t>National saving</a:t>
                      </a:r>
                    </a:p>
                  </a:txBody>
                  <a:tcPr marL="182052" marR="140040" marT="140040" marB="14004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2100" b="1" cap="none" spc="0">
                          <a:solidFill>
                            <a:schemeClr val="tx1"/>
                          </a:solidFill>
                        </a:rPr>
                        <a:t>Tk. 700 billion</a:t>
                      </a:r>
                      <a:endParaRPr lang="en-US" sz="2100" cap="none" spc="0">
                        <a:solidFill>
                          <a:schemeClr val="tx1"/>
                        </a:solidFill>
                      </a:endParaRPr>
                    </a:p>
                  </a:txBody>
                  <a:tcPr marL="182052" marR="140040" marT="140040" marB="14004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2497219820"/>
                  </a:ext>
                </a:extLst>
              </a:tr>
            </a:tbl>
          </a:graphicData>
        </a:graphic>
      </p:graphicFrame>
    </p:spTree>
    <p:extLst>
      <p:ext uri="{BB962C8B-B14F-4D97-AF65-F5344CB8AC3E}">
        <p14:creationId xmlns:p14="http://schemas.microsoft.com/office/powerpoint/2010/main" val="3385915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546</TotalTime>
  <Words>2317</Words>
  <Application>Microsoft Office PowerPoint</Application>
  <PresentationFormat>Widescreen</PresentationFormat>
  <Paragraphs>394</Paragraphs>
  <Slides>44</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44</vt:i4>
      </vt:variant>
    </vt:vector>
  </HeadingPairs>
  <TitlesOfParts>
    <vt:vector size="51" baseType="lpstr">
      <vt:lpstr>Aptos</vt:lpstr>
      <vt:lpstr>Aptos Display</vt:lpstr>
      <vt:lpstr>Arial</vt:lpstr>
      <vt:lpstr>Calibri</vt:lpstr>
      <vt:lpstr>Cambria Math</vt:lpstr>
      <vt:lpstr>Office Theme</vt:lpstr>
      <vt:lpstr>1_Office Theme</vt:lpstr>
      <vt:lpstr>Finance, Savings and Investment </vt:lpstr>
      <vt:lpstr>Scope of the Lesson</vt:lpstr>
      <vt:lpstr>Financial Institutions and Financial Markets </vt:lpstr>
      <vt:lpstr>What is Finance?</vt:lpstr>
      <vt:lpstr>Finance vs Money</vt:lpstr>
      <vt:lpstr>Physical Capital vs Financial Capital</vt:lpstr>
      <vt:lpstr>Capital and Investment </vt:lpstr>
      <vt:lpstr>Gross vs Net Investment</vt:lpstr>
      <vt:lpstr>Wealth and savings </vt:lpstr>
      <vt:lpstr>Saving and Investment</vt:lpstr>
      <vt:lpstr>Financial System of Bangladesh</vt:lpstr>
      <vt:lpstr>Financial Markets</vt:lpstr>
      <vt:lpstr>Loan Market</vt:lpstr>
      <vt:lpstr>Bond Market</vt:lpstr>
      <vt:lpstr>Stock Market</vt:lpstr>
      <vt:lpstr>Financial Institutions</vt:lpstr>
      <vt:lpstr>Insolvency and Illiquidity </vt:lpstr>
      <vt:lpstr>Central Bank</vt:lpstr>
      <vt:lpstr>Interest Rate and Financial Asset Prices </vt:lpstr>
      <vt:lpstr>Loanable Funds Market</vt:lpstr>
      <vt:lpstr>Why Do We Need a Loanable Funds Market?</vt:lpstr>
      <vt:lpstr>The Real Interest Rate</vt:lpstr>
      <vt:lpstr>Demand for Loanable Funds</vt:lpstr>
      <vt:lpstr>Demand for Loanable Funds</vt:lpstr>
      <vt:lpstr>Marginal Benefit and Investment</vt:lpstr>
      <vt:lpstr>Supply of Loanable Funds</vt:lpstr>
      <vt:lpstr>Supply of Loanable Funds</vt:lpstr>
      <vt:lpstr>Other factors drive Supply of Loanable Fund</vt:lpstr>
      <vt:lpstr>Equilibrium in the Loanable Funds Market</vt:lpstr>
      <vt:lpstr>Changes in Demand of Loanable fund </vt:lpstr>
      <vt:lpstr>Changes in Supply of Loanable fund </vt:lpstr>
      <vt:lpstr>Effect on equilibrium</vt:lpstr>
      <vt:lpstr>Impact of shift of demand and supply of loanable funds</vt:lpstr>
      <vt:lpstr>Government in the Loanable Funds Market</vt:lpstr>
      <vt:lpstr>Role of Government in Loanable Fund</vt:lpstr>
      <vt:lpstr>Government Budget Surplus vs. Deficit</vt:lpstr>
      <vt:lpstr>Effect of a Government Budget Deficit</vt:lpstr>
      <vt:lpstr>Crowding-Out Effect</vt:lpstr>
      <vt:lpstr>Government Budget Surplus</vt:lpstr>
      <vt:lpstr>Government and National Saving</vt:lpstr>
      <vt:lpstr>Ricardo–Barro Effect</vt:lpstr>
      <vt:lpstr>Ricardo–Barro Effect</vt:lpstr>
      <vt:lpstr>Ricardo–Barro Effect</vt:lpstr>
      <vt:lpstr>Numerical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Syed A Mamun, PhD, FCMA</dc:creator>
  <cp:lastModifiedBy>Syed A Mamun, PhD, FCMA</cp:lastModifiedBy>
  <cp:revision>5</cp:revision>
  <dcterms:created xsi:type="dcterms:W3CDTF">2026-08-03T07:43:04Z</dcterms:created>
  <dcterms:modified xsi:type="dcterms:W3CDTF">2026-08-17T08:17:29Z</dcterms:modified>
</cp:coreProperties>
</file>