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41C409-7057-443E-89C3-E4811E100545}" type="doc">
      <dgm:prSet loTypeId="urn:microsoft.com/office/officeart/2005/8/layout/list1" loCatId="list" qsTypeId="urn:microsoft.com/office/officeart/2005/8/quickstyle/simple1#54" qsCatId="simple" csTypeId="urn:microsoft.com/office/officeart/2005/8/colors/colorful2#5" csCatId="colorful"/>
      <dgm:spPr/>
      <dgm:t>
        <a:bodyPr/>
        <a:lstStyle/>
        <a:p>
          <a:endParaRPr lang="en-US"/>
        </a:p>
      </dgm:t>
    </dgm:pt>
    <dgm:pt modelId="{E1F573FB-337A-4AB1-8416-E500A2A3E65A}">
      <dgm:prSet/>
      <dgm:spPr/>
      <dgm:t>
        <a:bodyPr/>
        <a:lstStyle/>
        <a:p>
          <a:r>
            <a:rPr lang="en-US"/>
            <a:t>The </a:t>
          </a:r>
          <a:r>
            <a:rPr lang="en-US" b="1"/>
            <a:t>central bank</a:t>
          </a:r>
          <a:r>
            <a:rPr lang="en-US"/>
            <a:t> is responsible for monetary policy.</a:t>
          </a:r>
        </a:p>
      </dgm:t>
    </dgm:pt>
    <dgm:pt modelId="{F631172F-AAA3-4548-923F-4987D4440866}" type="parTrans" cxnId="{A161E3DF-23F4-4836-925B-FBE7977BFC86}">
      <dgm:prSet/>
      <dgm:spPr/>
      <dgm:t>
        <a:bodyPr/>
        <a:lstStyle/>
        <a:p>
          <a:endParaRPr lang="en-US"/>
        </a:p>
      </dgm:t>
    </dgm:pt>
    <dgm:pt modelId="{3A819016-9F0E-4806-A51D-6A3289ACFADB}" type="sibTrans" cxnId="{A161E3DF-23F4-4836-925B-FBE7977BFC86}">
      <dgm:prSet/>
      <dgm:spPr/>
      <dgm:t>
        <a:bodyPr/>
        <a:lstStyle/>
        <a:p>
          <a:endParaRPr lang="en-US"/>
        </a:p>
      </dgm:t>
    </dgm:pt>
    <dgm:pt modelId="{F874D894-0E74-4860-AD89-8D4F94AC3061}">
      <dgm:prSet/>
      <dgm:spPr/>
      <dgm:t>
        <a:bodyPr/>
        <a:lstStyle/>
        <a:p>
          <a:r>
            <a:rPr lang="en-US"/>
            <a:t>For Bangladesh: </a:t>
          </a:r>
          <a:r>
            <a:rPr lang="en-US" b="1"/>
            <a:t>Bangladesh Bank</a:t>
          </a:r>
          <a:endParaRPr lang="en-US"/>
        </a:p>
      </dgm:t>
    </dgm:pt>
    <dgm:pt modelId="{71713C1B-F7F8-4F4E-B321-E56E4BFBBB31}" type="parTrans" cxnId="{F180558E-FC06-4894-B222-2310D4BE1306}">
      <dgm:prSet/>
      <dgm:spPr/>
      <dgm:t>
        <a:bodyPr/>
        <a:lstStyle/>
        <a:p>
          <a:endParaRPr lang="en-US"/>
        </a:p>
      </dgm:t>
    </dgm:pt>
    <dgm:pt modelId="{C4324300-DB78-4AD5-8D4E-616BB5F30FF1}" type="sibTrans" cxnId="{F180558E-FC06-4894-B222-2310D4BE1306}">
      <dgm:prSet/>
      <dgm:spPr/>
      <dgm:t>
        <a:bodyPr/>
        <a:lstStyle/>
        <a:p>
          <a:endParaRPr lang="en-US"/>
        </a:p>
      </dgm:t>
    </dgm:pt>
    <dgm:pt modelId="{54BABA05-52F9-4735-82D7-0210DC09B337}">
      <dgm:prSet/>
      <dgm:spPr/>
      <dgm:t>
        <a:bodyPr/>
        <a:lstStyle/>
        <a:p>
          <a:r>
            <a:rPr lang="en-US"/>
            <a:t>Bangladesh Bank influences economic activity through:</a:t>
          </a:r>
        </a:p>
      </dgm:t>
    </dgm:pt>
    <dgm:pt modelId="{778DF286-8E9F-4CDF-B502-090AB17D095F}" type="parTrans" cxnId="{15B0D826-45A3-4D88-8187-EF60988ED63E}">
      <dgm:prSet/>
      <dgm:spPr/>
      <dgm:t>
        <a:bodyPr/>
        <a:lstStyle/>
        <a:p>
          <a:endParaRPr lang="en-US"/>
        </a:p>
      </dgm:t>
    </dgm:pt>
    <dgm:pt modelId="{4404D2FC-FD38-4DD9-AE6C-A61733466B9E}" type="sibTrans" cxnId="{15B0D826-45A3-4D88-8187-EF60988ED63E}">
      <dgm:prSet/>
      <dgm:spPr/>
      <dgm:t>
        <a:bodyPr/>
        <a:lstStyle/>
        <a:p>
          <a:endParaRPr lang="en-US"/>
        </a:p>
      </dgm:t>
    </dgm:pt>
    <dgm:pt modelId="{F724E784-2BE7-42A3-900C-F0777EC50C56}">
      <dgm:prSet/>
      <dgm:spPr/>
      <dgm:t>
        <a:bodyPr/>
        <a:lstStyle/>
        <a:p>
          <a:r>
            <a:rPr lang="en-US"/>
            <a:t>Policy interest rates </a:t>
          </a:r>
        </a:p>
      </dgm:t>
    </dgm:pt>
    <dgm:pt modelId="{AFE74D9E-D729-435C-90BA-95FEB6E934C0}" type="parTrans" cxnId="{1C44B8BB-C43A-4D8B-8B1E-A0D43E8F57D9}">
      <dgm:prSet/>
      <dgm:spPr/>
      <dgm:t>
        <a:bodyPr/>
        <a:lstStyle/>
        <a:p>
          <a:endParaRPr lang="en-US"/>
        </a:p>
      </dgm:t>
    </dgm:pt>
    <dgm:pt modelId="{9F82B1B6-08C5-4501-BBCF-6CEEB8FD80BF}" type="sibTrans" cxnId="{1C44B8BB-C43A-4D8B-8B1E-A0D43E8F57D9}">
      <dgm:prSet/>
      <dgm:spPr/>
      <dgm:t>
        <a:bodyPr/>
        <a:lstStyle/>
        <a:p>
          <a:endParaRPr lang="en-US"/>
        </a:p>
      </dgm:t>
    </dgm:pt>
    <dgm:pt modelId="{4E0E4C39-9EEF-43EB-99BC-3151E50CB5DC}">
      <dgm:prSet/>
      <dgm:spPr/>
      <dgm:t>
        <a:bodyPr/>
        <a:lstStyle/>
        <a:p>
          <a:r>
            <a:rPr lang="en-US"/>
            <a:t>Open market operations </a:t>
          </a:r>
        </a:p>
      </dgm:t>
    </dgm:pt>
    <dgm:pt modelId="{9F3F6091-4899-40B6-8087-D7D1F3464A4C}" type="parTrans" cxnId="{AF2E5DD0-79AF-49B9-B8D6-305F84957DB8}">
      <dgm:prSet/>
      <dgm:spPr/>
      <dgm:t>
        <a:bodyPr/>
        <a:lstStyle/>
        <a:p>
          <a:endParaRPr lang="en-US"/>
        </a:p>
      </dgm:t>
    </dgm:pt>
    <dgm:pt modelId="{AC889BBB-11A2-4291-AB86-F8DF53B43BF4}" type="sibTrans" cxnId="{AF2E5DD0-79AF-49B9-B8D6-305F84957DB8}">
      <dgm:prSet/>
      <dgm:spPr/>
      <dgm:t>
        <a:bodyPr/>
        <a:lstStyle/>
        <a:p>
          <a:endParaRPr lang="en-US"/>
        </a:p>
      </dgm:t>
    </dgm:pt>
    <dgm:pt modelId="{A0463029-D5B4-4D3C-B442-A743C2ABA7D4}">
      <dgm:prSet/>
      <dgm:spPr/>
      <dgm:t>
        <a:bodyPr/>
        <a:lstStyle/>
        <a:p>
          <a:r>
            <a:rPr lang="en-US"/>
            <a:t>Reserve requirements </a:t>
          </a:r>
        </a:p>
      </dgm:t>
    </dgm:pt>
    <dgm:pt modelId="{8AE416E5-7046-4BB8-8F02-3D0213974EE1}" type="parTrans" cxnId="{BED00633-42A9-4A93-A22D-E01F5C5681E5}">
      <dgm:prSet/>
      <dgm:spPr/>
      <dgm:t>
        <a:bodyPr/>
        <a:lstStyle/>
        <a:p>
          <a:endParaRPr lang="en-US"/>
        </a:p>
      </dgm:t>
    </dgm:pt>
    <dgm:pt modelId="{ACCFFD1F-4DFF-4945-B66B-A1B3662B8B5E}" type="sibTrans" cxnId="{BED00633-42A9-4A93-A22D-E01F5C5681E5}">
      <dgm:prSet/>
      <dgm:spPr/>
      <dgm:t>
        <a:bodyPr/>
        <a:lstStyle/>
        <a:p>
          <a:endParaRPr lang="en-US"/>
        </a:p>
      </dgm:t>
    </dgm:pt>
    <dgm:pt modelId="{48F55D94-5EE1-4B6B-9CB7-58A1C336E227}">
      <dgm:prSet/>
      <dgm:spPr/>
      <dgm:t>
        <a:bodyPr/>
        <a:lstStyle/>
        <a:p>
          <a:r>
            <a:rPr lang="en-US"/>
            <a:t>Liquidity management </a:t>
          </a:r>
        </a:p>
      </dgm:t>
    </dgm:pt>
    <dgm:pt modelId="{2CBD52A7-5034-43AC-9B8B-0476130C6FF4}" type="parTrans" cxnId="{2F18488C-58F3-4673-AA7D-5DB126FC4121}">
      <dgm:prSet/>
      <dgm:spPr/>
      <dgm:t>
        <a:bodyPr/>
        <a:lstStyle/>
        <a:p>
          <a:endParaRPr lang="en-US"/>
        </a:p>
      </dgm:t>
    </dgm:pt>
    <dgm:pt modelId="{C4C1C75E-F79A-43AE-AE0C-69637DB39E1F}" type="sibTrans" cxnId="{2F18488C-58F3-4673-AA7D-5DB126FC4121}">
      <dgm:prSet/>
      <dgm:spPr/>
      <dgm:t>
        <a:bodyPr/>
        <a:lstStyle/>
        <a:p>
          <a:endParaRPr lang="en-US"/>
        </a:p>
      </dgm:t>
    </dgm:pt>
    <dgm:pt modelId="{10A7F133-3398-41FE-AEEC-30039A5414E3}">
      <dgm:prSet/>
      <dgm:spPr/>
      <dgm:t>
        <a:bodyPr/>
        <a:lstStyle/>
        <a:p>
          <a:r>
            <a:rPr lang="en-US"/>
            <a:t>Foreign-exchange operations </a:t>
          </a:r>
        </a:p>
      </dgm:t>
    </dgm:pt>
    <dgm:pt modelId="{FF1730D2-B111-4516-BA41-EFB37A1981FE}" type="parTrans" cxnId="{FEF62C15-8A02-4238-A8D3-5416903A6036}">
      <dgm:prSet/>
      <dgm:spPr/>
      <dgm:t>
        <a:bodyPr/>
        <a:lstStyle/>
        <a:p>
          <a:endParaRPr lang="en-US"/>
        </a:p>
      </dgm:t>
    </dgm:pt>
    <dgm:pt modelId="{46104B95-17E0-45C8-9C13-223C68A828A0}" type="sibTrans" cxnId="{FEF62C15-8A02-4238-A8D3-5416903A6036}">
      <dgm:prSet/>
      <dgm:spPr/>
      <dgm:t>
        <a:bodyPr/>
        <a:lstStyle/>
        <a:p>
          <a:endParaRPr lang="en-US"/>
        </a:p>
      </dgm:t>
    </dgm:pt>
    <dgm:pt modelId="{C72103AB-2014-4EAB-B20C-C08FA5227FBB}">
      <dgm:prSet/>
      <dgm:spPr/>
      <dgm:t>
        <a:bodyPr/>
        <a:lstStyle/>
        <a:p>
          <a:r>
            <a:rPr lang="en-US"/>
            <a:t>Other monetary and macroprudential instruments</a:t>
          </a:r>
        </a:p>
      </dgm:t>
    </dgm:pt>
    <dgm:pt modelId="{E18427A5-AB9C-47AE-9043-F7D026230F6F}" type="parTrans" cxnId="{0916421F-C5B7-43FF-A86D-F9449D60C14A}">
      <dgm:prSet/>
      <dgm:spPr/>
      <dgm:t>
        <a:bodyPr/>
        <a:lstStyle/>
        <a:p>
          <a:endParaRPr lang="en-US"/>
        </a:p>
      </dgm:t>
    </dgm:pt>
    <dgm:pt modelId="{71A9F90E-7393-45FD-8225-2EEEA70AD03A}" type="sibTrans" cxnId="{0916421F-C5B7-43FF-A86D-F9449D60C14A}">
      <dgm:prSet/>
      <dgm:spPr/>
      <dgm:t>
        <a:bodyPr/>
        <a:lstStyle/>
        <a:p>
          <a:endParaRPr lang="en-US"/>
        </a:p>
      </dgm:t>
    </dgm:pt>
    <dgm:pt modelId="{9B233711-FE53-41BE-A4B1-1F136AD0631A}" type="pres">
      <dgm:prSet presAssocID="{FE41C409-7057-443E-89C3-E4811E100545}" presName="linear" presStyleCnt="0">
        <dgm:presLayoutVars>
          <dgm:dir/>
          <dgm:animLvl val="lvl"/>
          <dgm:resizeHandles val="exact"/>
        </dgm:presLayoutVars>
      </dgm:prSet>
      <dgm:spPr/>
    </dgm:pt>
    <dgm:pt modelId="{58157F59-6318-4C04-AE01-EFC97C41E16D}" type="pres">
      <dgm:prSet presAssocID="{E1F573FB-337A-4AB1-8416-E500A2A3E65A}" presName="parentLin" presStyleCnt="0"/>
      <dgm:spPr/>
    </dgm:pt>
    <dgm:pt modelId="{DF1F62D6-9A2E-4CDE-8D7E-3AACB8FB698D}" type="pres">
      <dgm:prSet presAssocID="{E1F573FB-337A-4AB1-8416-E500A2A3E65A}" presName="parentLeftMargin" presStyleLbl="node1" presStyleIdx="0" presStyleCnt="3"/>
      <dgm:spPr/>
    </dgm:pt>
    <dgm:pt modelId="{A34A982A-A7B0-43AC-A4BF-56DB3259EB14}" type="pres">
      <dgm:prSet presAssocID="{E1F573FB-337A-4AB1-8416-E500A2A3E6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6CEA01-3097-47A7-9EB7-3686B2BB32D5}" type="pres">
      <dgm:prSet presAssocID="{E1F573FB-337A-4AB1-8416-E500A2A3E65A}" presName="negativeSpace" presStyleCnt="0"/>
      <dgm:spPr/>
    </dgm:pt>
    <dgm:pt modelId="{7678A795-6CFD-4D62-A32E-3615B28B0A04}" type="pres">
      <dgm:prSet presAssocID="{E1F573FB-337A-4AB1-8416-E500A2A3E65A}" presName="childText" presStyleLbl="conFgAcc1" presStyleIdx="0" presStyleCnt="3">
        <dgm:presLayoutVars>
          <dgm:bulletEnabled val="1"/>
        </dgm:presLayoutVars>
      </dgm:prSet>
      <dgm:spPr/>
    </dgm:pt>
    <dgm:pt modelId="{D0BE5E18-EB9F-485B-AA26-26AD7700F903}" type="pres">
      <dgm:prSet presAssocID="{3A819016-9F0E-4806-A51D-6A3289ACFADB}" presName="spaceBetweenRectangles" presStyleCnt="0"/>
      <dgm:spPr/>
    </dgm:pt>
    <dgm:pt modelId="{26596715-86CA-4C83-BCF3-CFAADD626F41}" type="pres">
      <dgm:prSet presAssocID="{F874D894-0E74-4860-AD89-8D4F94AC3061}" presName="parentLin" presStyleCnt="0"/>
      <dgm:spPr/>
    </dgm:pt>
    <dgm:pt modelId="{9B187CBD-C0E3-449D-87E2-082B4E967E14}" type="pres">
      <dgm:prSet presAssocID="{F874D894-0E74-4860-AD89-8D4F94AC3061}" presName="parentLeftMargin" presStyleLbl="node1" presStyleIdx="0" presStyleCnt="3"/>
      <dgm:spPr/>
    </dgm:pt>
    <dgm:pt modelId="{8694EB48-FF72-48D9-A578-842E5BC91C34}" type="pres">
      <dgm:prSet presAssocID="{F874D894-0E74-4860-AD89-8D4F94AC306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C289EED-A114-4FC7-913A-F90FFC6913F6}" type="pres">
      <dgm:prSet presAssocID="{F874D894-0E74-4860-AD89-8D4F94AC3061}" presName="negativeSpace" presStyleCnt="0"/>
      <dgm:spPr/>
    </dgm:pt>
    <dgm:pt modelId="{265EC653-0A3B-4E4D-91DC-D9BD89F209EF}" type="pres">
      <dgm:prSet presAssocID="{F874D894-0E74-4860-AD89-8D4F94AC3061}" presName="childText" presStyleLbl="conFgAcc1" presStyleIdx="1" presStyleCnt="3">
        <dgm:presLayoutVars>
          <dgm:bulletEnabled val="1"/>
        </dgm:presLayoutVars>
      </dgm:prSet>
      <dgm:spPr/>
    </dgm:pt>
    <dgm:pt modelId="{002EC993-2E12-4C5B-82D1-6669BCB1158A}" type="pres">
      <dgm:prSet presAssocID="{C4324300-DB78-4AD5-8D4E-616BB5F30FF1}" presName="spaceBetweenRectangles" presStyleCnt="0"/>
      <dgm:spPr/>
    </dgm:pt>
    <dgm:pt modelId="{29627F1B-833C-49BC-888E-B576BF9BD83A}" type="pres">
      <dgm:prSet presAssocID="{54BABA05-52F9-4735-82D7-0210DC09B337}" presName="parentLin" presStyleCnt="0"/>
      <dgm:spPr/>
    </dgm:pt>
    <dgm:pt modelId="{4C2282D0-D30F-43FE-8D9D-3BC2448B4BD0}" type="pres">
      <dgm:prSet presAssocID="{54BABA05-52F9-4735-82D7-0210DC09B337}" presName="parentLeftMargin" presStyleLbl="node1" presStyleIdx="1" presStyleCnt="3"/>
      <dgm:spPr/>
    </dgm:pt>
    <dgm:pt modelId="{7D89E400-5BF3-4E58-B4D8-A9DB426C531B}" type="pres">
      <dgm:prSet presAssocID="{54BABA05-52F9-4735-82D7-0210DC09B33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D08C10F-EC6A-4460-BA5B-C931A905A524}" type="pres">
      <dgm:prSet presAssocID="{54BABA05-52F9-4735-82D7-0210DC09B337}" presName="negativeSpace" presStyleCnt="0"/>
      <dgm:spPr/>
    </dgm:pt>
    <dgm:pt modelId="{D60596EE-5B14-4332-A008-CD9E23D34F67}" type="pres">
      <dgm:prSet presAssocID="{54BABA05-52F9-4735-82D7-0210DC09B33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EF62C15-8A02-4238-A8D3-5416903A6036}" srcId="{54BABA05-52F9-4735-82D7-0210DC09B337}" destId="{10A7F133-3398-41FE-AEEC-30039A5414E3}" srcOrd="4" destOrd="0" parTransId="{FF1730D2-B111-4516-BA41-EFB37A1981FE}" sibTransId="{46104B95-17E0-45C8-9C13-223C68A828A0}"/>
    <dgm:cxn modelId="{3019D015-AB11-4BFE-BFDC-3E5557028DF3}" type="presOf" srcId="{A0463029-D5B4-4D3C-B442-A743C2ABA7D4}" destId="{D60596EE-5B14-4332-A008-CD9E23D34F67}" srcOrd="0" destOrd="2" presId="urn:microsoft.com/office/officeart/2005/8/layout/list1"/>
    <dgm:cxn modelId="{0916421F-C5B7-43FF-A86D-F9449D60C14A}" srcId="{54BABA05-52F9-4735-82D7-0210DC09B337}" destId="{C72103AB-2014-4EAB-B20C-C08FA5227FBB}" srcOrd="5" destOrd="0" parTransId="{E18427A5-AB9C-47AE-9043-F7D026230F6F}" sibTransId="{71A9F90E-7393-45FD-8225-2EEEA70AD03A}"/>
    <dgm:cxn modelId="{15B0D826-45A3-4D88-8187-EF60988ED63E}" srcId="{FE41C409-7057-443E-89C3-E4811E100545}" destId="{54BABA05-52F9-4735-82D7-0210DC09B337}" srcOrd="2" destOrd="0" parTransId="{778DF286-8E9F-4CDF-B502-090AB17D095F}" sibTransId="{4404D2FC-FD38-4DD9-AE6C-A61733466B9E}"/>
    <dgm:cxn modelId="{FAE2A828-EC0C-4402-836F-0873B70D233D}" type="presOf" srcId="{FE41C409-7057-443E-89C3-E4811E100545}" destId="{9B233711-FE53-41BE-A4B1-1F136AD0631A}" srcOrd="0" destOrd="0" presId="urn:microsoft.com/office/officeart/2005/8/layout/list1"/>
    <dgm:cxn modelId="{7C491C2B-267E-469B-915B-3B095EA31B32}" type="presOf" srcId="{E1F573FB-337A-4AB1-8416-E500A2A3E65A}" destId="{A34A982A-A7B0-43AC-A4BF-56DB3259EB14}" srcOrd="1" destOrd="0" presId="urn:microsoft.com/office/officeart/2005/8/layout/list1"/>
    <dgm:cxn modelId="{6D5E332B-AD5D-4822-9DCA-873D82FBF2C6}" type="presOf" srcId="{C72103AB-2014-4EAB-B20C-C08FA5227FBB}" destId="{D60596EE-5B14-4332-A008-CD9E23D34F67}" srcOrd="0" destOrd="5" presId="urn:microsoft.com/office/officeart/2005/8/layout/list1"/>
    <dgm:cxn modelId="{BED00633-42A9-4A93-A22D-E01F5C5681E5}" srcId="{54BABA05-52F9-4735-82D7-0210DC09B337}" destId="{A0463029-D5B4-4D3C-B442-A743C2ABA7D4}" srcOrd="2" destOrd="0" parTransId="{8AE416E5-7046-4BB8-8F02-3D0213974EE1}" sibTransId="{ACCFFD1F-4DFF-4945-B66B-A1B3662B8B5E}"/>
    <dgm:cxn modelId="{33871944-08C8-4F95-9165-BDE864E2D2B7}" type="presOf" srcId="{F724E784-2BE7-42A3-900C-F0777EC50C56}" destId="{D60596EE-5B14-4332-A008-CD9E23D34F67}" srcOrd="0" destOrd="0" presId="urn:microsoft.com/office/officeart/2005/8/layout/list1"/>
    <dgm:cxn modelId="{03058B44-01B1-4E5B-94A7-A6F9D078D13F}" type="presOf" srcId="{48F55D94-5EE1-4B6B-9CB7-58A1C336E227}" destId="{D60596EE-5B14-4332-A008-CD9E23D34F67}" srcOrd="0" destOrd="3" presId="urn:microsoft.com/office/officeart/2005/8/layout/list1"/>
    <dgm:cxn modelId="{B0CD4846-5836-4846-99E1-6D69E2781D78}" type="presOf" srcId="{E1F573FB-337A-4AB1-8416-E500A2A3E65A}" destId="{DF1F62D6-9A2E-4CDE-8D7E-3AACB8FB698D}" srcOrd="0" destOrd="0" presId="urn:microsoft.com/office/officeart/2005/8/layout/list1"/>
    <dgm:cxn modelId="{2F18488C-58F3-4673-AA7D-5DB126FC4121}" srcId="{54BABA05-52F9-4735-82D7-0210DC09B337}" destId="{48F55D94-5EE1-4B6B-9CB7-58A1C336E227}" srcOrd="3" destOrd="0" parTransId="{2CBD52A7-5034-43AC-9B8B-0476130C6FF4}" sibTransId="{C4C1C75E-F79A-43AE-AE0C-69637DB39E1F}"/>
    <dgm:cxn modelId="{F180558E-FC06-4894-B222-2310D4BE1306}" srcId="{FE41C409-7057-443E-89C3-E4811E100545}" destId="{F874D894-0E74-4860-AD89-8D4F94AC3061}" srcOrd="1" destOrd="0" parTransId="{71713C1B-F7F8-4F4E-B321-E56E4BFBBB31}" sibTransId="{C4324300-DB78-4AD5-8D4E-616BB5F30FF1}"/>
    <dgm:cxn modelId="{6F5DF88E-6463-49FC-B486-9FE81E3D6C42}" type="presOf" srcId="{F874D894-0E74-4860-AD89-8D4F94AC3061}" destId="{8694EB48-FF72-48D9-A578-842E5BC91C34}" srcOrd="1" destOrd="0" presId="urn:microsoft.com/office/officeart/2005/8/layout/list1"/>
    <dgm:cxn modelId="{C07A90AB-5DBC-497B-8DC8-04122EBAFE58}" type="presOf" srcId="{54BABA05-52F9-4735-82D7-0210DC09B337}" destId="{4C2282D0-D30F-43FE-8D9D-3BC2448B4BD0}" srcOrd="0" destOrd="0" presId="urn:microsoft.com/office/officeart/2005/8/layout/list1"/>
    <dgm:cxn modelId="{1C44B8BB-C43A-4D8B-8B1E-A0D43E8F57D9}" srcId="{54BABA05-52F9-4735-82D7-0210DC09B337}" destId="{F724E784-2BE7-42A3-900C-F0777EC50C56}" srcOrd="0" destOrd="0" parTransId="{AFE74D9E-D729-435C-90BA-95FEB6E934C0}" sibTransId="{9F82B1B6-08C5-4501-BBCF-6CEEB8FD80BF}"/>
    <dgm:cxn modelId="{AF2E5DD0-79AF-49B9-B8D6-305F84957DB8}" srcId="{54BABA05-52F9-4735-82D7-0210DC09B337}" destId="{4E0E4C39-9EEF-43EB-99BC-3151E50CB5DC}" srcOrd="1" destOrd="0" parTransId="{9F3F6091-4899-40B6-8087-D7D1F3464A4C}" sibTransId="{AC889BBB-11A2-4291-AB86-F8DF53B43BF4}"/>
    <dgm:cxn modelId="{38DD81D6-26A3-4761-9D3C-6796367B1E9F}" type="presOf" srcId="{10A7F133-3398-41FE-AEEC-30039A5414E3}" destId="{D60596EE-5B14-4332-A008-CD9E23D34F67}" srcOrd="0" destOrd="4" presId="urn:microsoft.com/office/officeart/2005/8/layout/list1"/>
    <dgm:cxn modelId="{CA3331D9-FFD0-44D8-82AB-9B79E7164EE7}" type="presOf" srcId="{F874D894-0E74-4860-AD89-8D4F94AC3061}" destId="{9B187CBD-C0E3-449D-87E2-082B4E967E14}" srcOrd="0" destOrd="0" presId="urn:microsoft.com/office/officeart/2005/8/layout/list1"/>
    <dgm:cxn modelId="{A161E3DF-23F4-4836-925B-FBE7977BFC86}" srcId="{FE41C409-7057-443E-89C3-E4811E100545}" destId="{E1F573FB-337A-4AB1-8416-E500A2A3E65A}" srcOrd="0" destOrd="0" parTransId="{F631172F-AAA3-4548-923F-4987D4440866}" sibTransId="{3A819016-9F0E-4806-A51D-6A3289ACFADB}"/>
    <dgm:cxn modelId="{4D16BEF0-4BEC-4F2D-A428-6AE16F412B73}" type="presOf" srcId="{54BABA05-52F9-4735-82D7-0210DC09B337}" destId="{7D89E400-5BF3-4E58-B4D8-A9DB426C531B}" srcOrd="1" destOrd="0" presId="urn:microsoft.com/office/officeart/2005/8/layout/list1"/>
    <dgm:cxn modelId="{4F7C31FA-28F9-4775-9E86-98AF39E3B646}" type="presOf" srcId="{4E0E4C39-9EEF-43EB-99BC-3151E50CB5DC}" destId="{D60596EE-5B14-4332-A008-CD9E23D34F67}" srcOrd="0" destOrd="1" presId="urn:microsoft.com/office/officeart/2005/8/layout/list1"/>
    <dgm:cxn modelId="{75F7918E-17F2-405E-BE95-F2903396ECFF}" type="presParOf" srcId="{9B233711-FE53-41BE-A4B1-1F136AD0631A}" destId="{58157F59-6318-4C04-AE01-EFC97C41E16D}" srcOrd="0" destOrd="0" presId="urn:microsoft.com/office/officeart/2005/8/layout/list1"/>
    <dgm:cxn modelId="{EE6AD07D-6370-4FC4-9EF4-7C4769901555}" type="presParOf" srcId="{58157F59-6318-4C04-AE01-EFC97C41E16D}" destId="{DF1F62D6-9A2E-4CDE-8D7E-3AACB8FB698D}" srcOrd="0" destOrd="0" presId="urn:microsoft.com/office/officeart/2005/8/layout/list1"/>
    <dgm:cxn modelId="{F1F31AA5-69DC-4757-B4D7-DA1B203ED261}" type="presParOf" srcId="{58157F59-6318-4C04-AE01-EFC97C41E16D}" destId="{A34A982A-A7B0-43AC-A4BF-56DB3259EB14}" srcOrd="1" destOrd="0" presId="urn:microsoft.com/office/officeart/2005/8/layout/list1"/>
    <dgm:cxn modelId="{5BD22C0B-BABA-444C-BC53-F3B3C39751EF}" type="presParOf" srcId="{9B233711-FE53-41BE-A4B1-1F136AD0631A}" destId="{3D6CEA01-3097-47A7-9EB7-3686B2BB32D5}" srcOrd="1" destOrd="0" presId="urn:microsoft.com/office/officeart/2005/8/layout/list1"/>
    <dgm:cxn modelId="{25448F49-F315-45BE-B655-0FBAA9AE73E2}" type="presParOf" srcId="{9B233711-FE53-41BE-A4B1-1F136AD0631A}" destId="{7678A795-6CFD-4D62-A32E-3615B28B0A04}" srcOrd="2" destOrd="0" presId="urn:microsoft.com/office/officeart/2005/8/layout/list1"/>
    <dgm:cxn modelId="{43D6BE16-97C6-4392-ABD3-29979549CA76}" type="presParOf" srcId="{9B233711-FE53-41BE-A4B1-1F136AD0631A}" destId="{D0BE5E18-EB9F-485B-AA26-26AD7700F903}" srcOrd="3" destOrd="0" presId="urn:microsoft.com/office/officeart/2005/8/layout/list1"/>
    <dgm:cxn modelId="{13F841DC-2987-470F-A341-AAF41E5AA402}" type="presParOf" srcId="{9B233711-FE53-41BE-A4B1-1F136AD0631A}" destId="{26596715-86CA-4C83-BCF3-CFAADD626F41}" srcOrd="4" destOrd="0" presId="urn:microsoft.com/office/officeart/2005/8/layout/list1"/>
    <dgm:cxn modelId="{889BACC6-1021-4665-9EC2-3C10CA341BD9}" type="presParOf" srcId="{26596715-86CA-4C83-BCF3-CFAADD626F41}" destId="{9B187CBD-C0E3-449D-87E2-082B4E967E14}" srcOrd="0" destOrd="0" presId="urn:microsoft.com/office/officeart/2005/8/layout/list1"/>
    <dgm:cxn modelId="{920D7013-8A0F-4BE4-AA7E-08F1CAC14CC5}" type="presParOf" srcId="{26596715-86CA-4C83-BCF3-CFAADD626F41}" destId="{8694EB48-FF72-48D9-A578-842E5BC91C34}" srcOrd="1" destOrd="0" presId="urn:microsoft.com/office/officeart/2005/8/layout/list1"/>
    <dgm:cxn modelId="{815FF761-77FB-4C2E-8459-25A039C73F42}" type="presParOf" srcId="{9B233711-FE53-41BE-A4B1-1F136AD0631A}" destId="{BC289EED-A114-4FC7-913A-F90FFC6913F6}" srcOrd="5" destOrd="0" presId="urn:microsoft.com/office/officeart/2005/8/layout/list1"/>
    <dgm:cxn modelId="{52BC9451-3878-4092-8DB0-A22DA0508D66}" type="presParOf" srcId="{9B233711-FE53-41BE-A4B1-1F136AD0631A}" destId="{265EC653-0A3B-4E4D-91DC-D9BD89F209EF}" srcOrd="6" destOrd="0" presId="urn:microsoft.com/office/officeart/2005/8/layout/list1"/>
    <dgm:cxn modelId="{58BB052B-E5B0-4253-A46A-AD380E55497A}" type="presParOf" srcId="{9B233711-FE53-41BE-A4B1-1F136AD0631A}" destId="{002EC993-2E12-4C5B-82D1-6669BCB1158A}" srcOrd="7" destOrd="0" presId="urn:microsoft.com/office/officeart/2005/8/layout/list1"/>
    <dgm:cxn modelId="{FA0DD174-62AF-4B15-94BF-8993CBAE723E}" type="presParOf" srcId="{9B233711-FE53-41BE-A4B1-1F136AD0631A}" destId="{29627F1B-833C-49BC-888E-B576BF9BD83A}" srcOrd="8" destOrd="0" presId="urn:microsoft.com/office/officeart/2005/8/layout/list1"/>
    <dgm:cxn modelId="{54392BD3-67DE-4009-A6A2-82C705B9D0ED}" type="presParOf" srcId="{29627F1B-833C-49BC-888E-B576BF9BD83A}" destId="{4C2282D0-D30F-43FE-8D9D-3BC2448B4BD0}" srcOrd="0" destOrd="0" presId="urn:microsoft.com/office/officeart/2005/8/layout/list1"/>
    <dgm:cxn modelId="{DCD3544C-26AE-41BD-9F6C-FFD887086484}" type="presParOf" srcId="{29627F1B-833C-49BC-888E-B576BF9BD83A}" destId="{7D89E400-5BF3-4E58-B4D8-A9DB426C531B}" srcOrd="1" destOrd="0" presId="urn:microsoft.com/office/officeart/2005/8/layout/list1"/>
    <dgm:cxn modelId="{43FED341-3EC1-41ED-AC27-C24A8B1CB877}" type="presParOf" srcId="{9B233711-FE53-41BE-A4B1-1F136AD0631A}" destId="{2D08C10F-EC6A-4460-BA5B-C931A905A524}" srcOrd="9" destOrd="0" presId="urn:microsoft.com/office/officeart/2005/8/layout/list1"/>
    <dgm:cxn modelId="{5B37B1BB-25BA-4160-AEBC-EE1AB2BE3916}" type="presParOf" srcId="{9B233711-FE53-41BE-A4B1-1F136AD0631A}" destId="{D60596EE-5B14-4332-A008-CD9E23D34F6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AD198A-785A-47F0-B12B-1E521F2502BF}" type="doc">
      <dgm:prSet loTypeId="urn:microsoft.com/office/officeart/2018/5/layout/CenteredIconLabelDescriptionList" loCatId="icon" qsTypeId="urn:microsoft.com/office/officeart/2005/8/quickstyle/simple1#43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F78228B-3D53-42AE-914D-994033DD3097}">
      <dgm:prSet/>
      <dgm:spPr/>
      <dgm:t>
        <a:bodyPr/>
        <a:lstStyle/>
        <a:p>
          <a:pPr>
            <a:defRPr b="1"/>
          </a:pPr>
          <a:r>
            <a:rPr lang="en-US"/>
            <a:t>Price Stability and controlling Inflation</a:t>
          </a:r>
        </a:p>
      </dgm:t>
    </dgm:pt>
    <dgm:pt modelId="{5A89CEC9-7943-4897-9CEC-EC40F117A324}" type="parTrans" cxnId="{9948CC46-E5BC-4D24-86FC-F77C47E669F4}">
      <dgm:prSet/>
      <dgm:spPr/>
      <dgm:t>
        <a:bodyPr/>
        <a:lstStyle/>
        <a:p>
          <a:endParaRPr lang="en-US"/>
        </a:p>
      </dgm:t>
    </dgm:pt>
    <dgm:pt modelId="{FB8DBD67-8D03-471F-BF45-53DF7A81CFE7}" type="sibTrans" cxnId="{9948CC46-E5BC-4D24-86FC-F77C47E669F4}">
      <dgm:prSet/>
      <dgm:spPr/>
      <dgm:t>
        <a:bodyPr/>
        <a:lstStyle/>
        <a:p>
          <a:endParaRPr lang="en-US"/>
        </a:p>
      </dgm:t>
    </dgm:pt>
    <dgm:pt modelId="{3001C11D-A5E6-46F0-9B2B-E927A6C84DAC}">
      <dgm:prSet/>
      <dgm:spPr/>
      <dgm:t>
        <a:bodyPr/>
        <a:lstStyle/>
        <a:p>
          <a:pPr>
            <a:defRPr b="1"/>
          </a:pPr>
          <a:r>
            <a:rPr lang="en-US"/>
            <a:t>Economic Growth</a:t>
          </a:r>
        </a:p>
      </dgm:t>
    </dgm:pt>
    <dgm:pt modelId="{90D6C49B-CCC9-47DB-BDEB-B3923BFF9AB6}" type="parTrans" cxnId="{6E21B8AA-C50F-464C-8958-BAC5000D0F98}">
      <dgm:prSet/>
      <dgm:spPr/>
      <dgm:t>
        <a:bodyPr/>
        <a:lstStyle/>
        <a:p>
          <a:endParaRPr lang="en-US"/>
        </a:p>
      </dgm:t>
    </dgm:pt>
    <dgm:pt modelId="{4E02135D-9D07-46C1-A6FB-B86983DBA500}" type="sibTrans" cxnId="{6E21B8AA-C50F-464C-8958-BAC5000D0F98}">
      <dgm:prSet/>
      <dgm:spPr/>
      <dgm:t>
        <a:bodyPr/>
        <a:lstStyle/>
        <a:p>
          <a:endParaRPr lang="en-US"/>
        </a:p>
      </dgm:t>
    </dgm:pt>
    <dgm:pt modelId="{D9AE379D-CE72-4D70-B223-8E741F424B9B}">
      <dgm:prSet/>
      <dgm:spPr/>
      <dgm:t>
        <a:bodyPr/>
        <a:lstStyle/>
        <a:p>
          <a:pPr>
            <a:defRPr b="1"/>
          </a:pPr>
          <a:r>
            <a:rPr lang="en-US"/>
            <a:t>Employment generation</a:t>
          </a:r>
        </a:p>
      </dgm:t>
    </dgm:pt>
    <dgm:pt modelId="{A8EEA25E-8A3F-4FF1-8C3E-2BC41F046DF5}" type="parTrans" cxnId="{2D373D19-9A3D-49D4-AEAB-24138F61F19A}">
      <dgm:prSet/>
      <dgm:spPr/>
      <dgm:t>
        <a:bodyPr/>
        <a:lstStyle/>
        <a:p>
          <a:endParaRPr lang="en-US"/>
        </a:p>
      </dgm:t>
    </dgm:pt>
    <dgm:pt modelId="{59290A51-767F-49D8-96ED-8A29A022A321}" type="sibTrans" cxnId="{2D373D19-9A3D-49D4-AEAB-24138F61F19A}">
      <dgm:prSet/>
      <dgm:spPr/>
      <dgm:t>
        <a:bodyPr/>
        <a:lstStyle/>
        <a:p>
          <a:endParaRPr lang="en-US"/>
        </a:p>
      </dgm:t>
    </dgm:pt>
    <dgm:pt modelId="{55BCC48F-97A0-4A86-BBE7-E80BD5466A07}">
      <dgm:prSet/>
      <dgm:spPr/>
      <dgm:t>
        <a:bodyPr/>
        <a:lstStyle/>
        <a:p>
          <a:pPr>
            <a:defRPr b="1"/>
          </a:pPr>
          <a:r>
            <a:rPr lang="en-US"/>
            <a:t>Financial Stability </a:t>
          </a:r>
        </a:p>
      </dgm:t>
    </dgm:pt>
    <dgm:pt modelId="{27284900-3C45-4466-8906-8E754E54E3FE}" type="parTrans" cxnId="{6F086B9E-D630-4A40-9048-8B172DA759F7}">
      <dgm:prSet/>
      <dgm:spPr/>
      <dgm:t>
        <a:bodyPr/>
        <a:lstStyle/>
        <a:p>
          <a:endParaRPr lang="en-US"/>
        </a:p>
      </dgm:t>
    </dgm:pt>
    <dgm:pt modelId="{CBE8ADDC-D1C8-4B36-9BD7-2E682376F0A1}" type="sibTrans" cxnId="{6F086B9E-D630-4A40-9048-8B172DA759F7}">
      <dgm:prSet/>
      <dgm:spPr/>
      <dgm:t>
        <a:bodyPr/>
        <a:lstStyle/>
        <a:p>
          <a:endParaRPr lang="en-US"/>
        </a:p>
      </dgm:t>
    </dgm:pt>
    <dgm:pt modelId="{819BD42C-AF1C-46E9-B672-5EF8C59994B5}">
      <dgm:prSet/>
      <dgm:spPr/>
      <dgm:t>
        <a:bodyPr/>
        <a:lstStyle/>
        <a:p>
          <a:r>
            <a:rPr lang="en-US"/>
            <a:t>Banking system </a:t>
          </a:r>
        </a:p>
      </dgm:t>
    </dgm:pt>
    <dgm:pt modelId="{6C245A02-E798-4995-970E-92A2F8C20F80}" type="parTrans" cxnId="{2F55D941-4255-46BA-B069-F6BDCFA58DD6}">
      <dgm:prSet/>
      <dgm:spPr/>
      <dgm:t>
        <a:bodyPr/>
        <a:lstStyle/>
        <a:p>
          <a:endParaRPr lang="en-US"/>
        </a:p>
      </dgm:t>
    </dgm:pt>
    <dgm:pt modelId="{E6F80DD5-24EA-4C2A-997D-4EAEEF92F069}" type="sibTrans" cxnId="{2F55D941-4255-46BA-B069-F6BDCFA58DD6}">
      <dgm:prSet/>
      <dgm:spPr/>
      <dgm:t>
        <a:bodyPr/>
        <a:lstStyle/>
        <a:p>
          <a:endParaRPr lang="en-US"/>
        </a:p>
      </dgm:t>
    </dgm:pt>
    <dgm:pt modelId="{217F715C-F10A-4065-9FEF-1BCC9149FD0A}">
      <dgm:prSet/>
      <dgm:spPr/>
      <dgm:t>
        <a:bodyPr/>
        <a:lstStyle/>
        <a:p>
          <a:r>
            <a:rPr lang="en-US"/>
            <a:t>Credit markets </a:t>
          </a:r>
        </a:p>
      </dgm:t>
    </dgm:pt>
    <dgm:pt modelId="{6F1E5B0F-407F-44FE-840E-4313EA2D9A59}" type="parTrans" cxnId="{18D5A981-D6E9-432F-B241-D5BCEEE3515C}">
      <dgm:prSet/>
      <dgm:spPr/>
      <dgm:t>
        <a:bodyPr/>
        <a:lstStyle/>
        <a:p>
          <a:endParaRPr lang="en-US"/>
        </a:p>
      </dgm:t>
    </dgm:pt>
    <dgm:pt modelId="{67282932-242C-406B-9438-65DD65F63290}" type="sibTrans" cxnId="{18D5A981-D6E9-432F-B241-D5BCEEE3515C}">
      <dgm:prSet/>
      <dgm:spPr/>
      <dgm:t>
        <a:bodyPr/>
        <a:lstStyle/>
        <a:p>
          <a:endParaRPr lang="en-US"/>
        </a:p>
      </dgm:t>
    </dgm:pt>
    <dgm:pt modelId="{75C99448-228D-4423-BF1F-D592F7349F15}">
      <dgm:prSet/>
      <dgm:spPr/>
      <dgm:t>
        <a:bodyPr/>
        <a:lstStyle/>
        <a:p>
          <a:r>
            <a:rPr lang="en-US"/>
            <a:t>Payment systems </a:t>
          </a:r>
        </a:p>
      </dgm:t>
    </dgm:pt>
    <dgm:pt modelId="{55E2593E-79E0-4695-A72C-BDA76593980B}" type="parTrans" cxnId="{BA37322B-E5EC-4672-A4B1-658E2CDCD185}">
      <dgm:prSet/>
      <dgm:spPr/>
      <dgm:t>
        <a:bodyPr/>
        <a:lstStyle/>
        <a:p>
          <a:endParaRPr lang="en-US"/>
        </a:p>
      </dgm:t>
    </dgm:pt>
    <dgm:pt modelId="{5F24B018-B292-42EA-9260-0615DF3C80C1}" type="sibTrans" cxnId="{BA37322B-E5EC-4672-A4B1-658E2CDCD185}">
      <dgm:prSet/>
      <dgm:spPr/>
      <dgm:t>
        <a:bodyPr/>
        <a:lstStyle/>
        <a:p>
          <a:endParaRPr lang="en-US"/>
        </a:p>
      </dgm:t>
    </dgm:pt>
    <dgm:pt modelId="{55FE4016-7F18-4393-BC0C-479E21244B63}">
      <dgm:prSet/>
      <dgm:spPr/>
      <dgm:t>
        <a:bodyPr/>
        <a:lstStyle/>
        <a:p>
          <a:r>
            <a:rPr lang="en-US"/>
            <a:t>Financial markets</a:t>
          </a:r>
        </a:p>
      </dgm:t>
    </dgm:pt>
    <dgm:pt modelId="{54653634-9C39-43F6-B904-5B4B9508D3D9}" type="parTrans" cxnId="{CEF38050-A94E-4E3E-86CE-898C03E39846}">
      <dgm:prSet/>
      <dgm:spPr/>
      <dgm:t>
        <a:bodyPr/>
        <a:lstStyle/>
        <a:p>
          <a:endParaRPr lang="en-US"/>
        </a:p>
      </dgm:t>
    </dgm:pt>
    <dgm:pt modelId="{ECBB31A6-9768-4DCF-908A-39DC90EDB972}" type="sibTrans" cxnId="{CEF38050-A94E-4E3E-86CE-898C03E39846}">
      <dgm:prSet/>
      <dgm:spPr/>
      <dgm:t>
        <a:bodyPr/>
        <a:lstStyle/>
        <a:p>
          <a:endParaRPr lang="en-US"/>
        </a:p>
      </dgm:t>
    </dgm:pt>
    <dgm:pt modelId="{9E149080-4073-403E-9FA6-495C608C8E01}">
      <dgm:prSet/>
      <dgm:spPr/>
      <dgm:t>
        <a:bodyPr/>
        <a:lstStyle/>
        <a:p>
          <a:pPr>
            <a:defRPr b="1"/>
          </a:pPr>
          <a:r>
            <a:rPr lang="en-US"/>
            <a:t>External stability </a:t>
          </a:r>
        </a:p>
      </dgm:t>
    </dgm:pt>
    <dgm:pt modelId="{92A67ACD-7EAD-49DC-A5B0-6D585946CA68}" type="parTrans" cxnId="{3865ABCA-8787-4E0D-9ABF-CEAA574A2300}">
      <dgm:prSet/>
      <dgm:spPr/>
      <dgm:t>
        <a:bodyPr/>
        <a:lstStyle/>
        <a:p>
          <a:endParaRPr lang="en-US"/>
        </a:p>
      </dgm:t>
    </dgm:pt>
    <dgm:pt modelId="{A6DB07CF-1163-47BB-A547-0C8C13E043D5}" type="sibTrans" cxnId="{3865ABCA-8787-4E0D-9ABF-CEAA574A2300}">
      <dgm:prSet/>
      <dgm:spPr/>
      <dgm:t>
        <a:bodyPr/>
        <a:lstStyle/>
        <a:p>
          <a:endParaRPr lang="en-US"/>
        </a:p>
      </dgm:t>
    </dgm:pt>
    <dgm:pt modelId="{BDB10EB1-79A4-4442-A6F6-42FD5B151451}">
      <dgm:prSet/>
      <dgm:spPr/>
      <dgm:t>
        <a:bodyPr/>
        <a:lstStyle/>
        <a:p>
          <a:r>
            <a:rPr lang="en-US"/>
            <a:t>Exchange rate </a:t>
          </a:r>
        </a:p>
      </dgm:t>
    </dgm:pt>
    <dgm:pt modelId="{166EE80B-B975-40DB-8913-3600FB63BBB6}" type="parTrans" cxnId="{44C8FAE6-4B6E-4C2B-8542-009CCAE89148}">
      <dgm:prSet/>
      <dgm:spPr/>
      <dgm:t>
        <a:bodyPr/>
        <a:lstStyle/>
        <a:p>
          <a:endParaRPr lang="en-US"/>
        </a:p>
      </dgm:t>
    </dgm:pt>
    <dgm:pt modelId="{50034C19-167C-4376-B0DF-0D63D5CCD980}" type="sibTrans" cxnId="{44C8FAE6-4B6E-4C2B-8542-009CCAE89148}">
      <dgm:prSet/>
      <dgm:spPr/>
      <dgm:t>
        <a:bodyPr/>
        <a:lstStyle/>
        <a:p>
          <a:endParaRPr lang="en-US"/>
        </a:p>
      </dgm:t>
    </dgm:pt>
    <dgm:pt modelId="{8ABA5C5F-0B5F-458A-9273-1EFFFAE12DB5}">
      <dgm:prSet/>
      <dgm:spPr/>
      <dgm:t>
        <a:bodyPr/>
        <a:lstStyle/>
        <a:p>
          <a:r>
            <a:rPr lang="en-US"/>
            <a:t>Capital flows </a:t>
          </a:r>
        </a:p>
      </dgm:t>
    </dgm:pt>
    <dgm:pt modelId="{ADF436FC-DD8A-47A8-8B31-1C2FC0973F50}" type="parTrans" cxnId="{34591F25-3DC6-423F-907C-92C3947081C2}">
      <dgm:prSet/>
      <dgm:spPr/>
      <dgm:t>
        <a:bodyPr/>
        <a:lstStyle/>
        <a:p>
          <a:endParaRPr lang="en-US"/>
        </a:p>
      </dgm:t>
    </dgm:pt>
    <dgm:pt modelId="{291C4456-DB0D-4757-B16D-AA689AA77D42}" type="sibTrans" cxnId="{34591F25-3DC6-423F-907C-92C3947081C2}">
      <dgm:prSet/>
      <dgm:spPr/>
      <dgm:t>
        <a:bodyPr/>
        <a:lstStyle/>
        <a:p>
          <a:endParaRPr lang="en-US"/>
        </a:p>
      </dgm:t>
    </dgm:pt>
    <dgm:pt modelId="{68F83B12-6779-403F-8B15-4EA1547074AF}">
      <dgm:prSet/>
      <dgm:spPr/>
      <dgm:t>
        <a:bodyPr/>
        <a:lstStyle/>
        <a:p>
          <a:r>
            <a:rPr lang="en-US"/>
            <a:t>Foreign-exchange demand </a:t>
          </a:r>
        </a:p>
      </dgm:t>
    </dgm:pt>
    <dgm:pt modelId="{876DB5BB-6138-4D08-B497-44E36EAE0C84}" type="parTrans" cxnId="{10C4DA23-68B3-46CF-B1B9-E258C5DA307C}">
      <dgm:prSet/>
      <dgm:spPr/>
      <dgm:t>
        <a:bodyPr/>
        <a:lstStyle/>
        <a:p>
          <a:endParaRPr lang="en-US"/>
        </a:p>
      </dgm:t>
    </dgm:pt>
    <dgm:pt modelId="{0277B5E1-124E-4FE5-A2D8-6273DEC4AC5B}" type="sibTrans" cxnId="{10C4DA23-68B3-46CF-B1B9-E258C5DA307C}">
      <dgm:prSet/>
      <dgm:spPr/>
      <dgm:t>
        <a:bodyPr/>
        <a:lstStyle/>
        <a:p>
          <a:endParaRPr lang="en-US"/>
        </a:p>
      </dgm:t>
    </dgm:pt>
    <dgm:pt modelId="{42C6CAEC-04EC-4664-B5AF-62AA9044A676}">
      <dgm:prSet/>
      <dgm:spPr/>
      <dgm:t>
        <a:bodyPr/>
        <a:lstStyle/>
        <a:p>
          <a:r>
            <a:rPr lang="en-US"/>
            <a:t>Balance of payments</a:t>
          </a:r>
        </a:p>
      </dgm:t>
    </dgm:pt>
    <dgm:pt modelId="{5662D76B-49C5-4F67-AA69-57F2B81C42E8}" type="parTrans" cxnId="{8DA43619-8325-4C68-9EAC-39383095AE9E}">
      <dgm:prSet/>
      <dgm:spPr/>
      <dgm:t>
        <a:bodyPr/>
        <a:lstStyle/>
        <a:p>
          <a:endParaRPr lang="en-US"/>
        </a:p>
      </dgm:t>
    </dgm:pt>
    <dgm:pt modelId="{B87F66D7-F882-48DA-AC95-9573FA5BB7A0}" type="sibTrans" cxnId="{8DA43619-8325-4C68-9EAC-39383095AE9E}">
      <dgm:prSet/>
      <dgm:spPr/>
      <dgm:t>
        <a:bodyPr/>
        <a:lstStyle/>
        <a:p>
          <a:endParaRPr lang="en-US"/>
        </a:p>
      </dgm:t>
    </dgm:pt>
    <dgm:pt modelId="{64E31A60-2EEB-4E13-970B-FCB5D459E57B}" type="pres">
      <dgm:prSet presAssocID="{68AD198A-785A-47F0-B12B-1E521F2502BF}" presName="root" presStyleCnt="0">
        <dgm:presLayoutVars>
          <dgm:dir/>
          <dgm:resizeHandles val="exact"/>
        </dgm:presLayoutVars>
      </dgm:prSet>
      <dgm:spPr/>
    </dgm:pt>
    <dgm:pt modelId="{20D74583-7640-40E7-A09D-C61138ED3F21}" type="pres">
      <dgm:prSet presAssocID="{FF78228B-3D53-42AE-914D-994033DD3097}" presName="compNode" presStyleCnt="0"/>
      <dgm:spPr/>
    </dgm:pt>
    <dgm:pt modelId="{E79F548B-20D3-4D95-A076-E103A32C0086}" type="pres">
      <dgm:prSet presAssocID="{FF78228B-3D53-42AE-914D-994033DD309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41D15F6-A499-4B86-A455-5A8A41087197}" type="pres">
      <dgm:prSet presAssocID="{FF78228B-3D53-42AE-914D-994033DD3097}" presName="iconSpace" presStyleCnt="0"/>
      <dgm:spPr/>
    </dgm:pt>
    <dgm:pt modelId="{CE5C607B-ECEF-43EC-932F-B55B8D3A2111}" type="pres">
      <dgm:prSet presAssocID="{FF78228B-3D53-42AE-914D-994033DD3097}" presName="parTx" presStyleLbl="revTx" presStyleIdx="0" presStyleCnt="10">
        <dgm:presLayoutVars>
          <dgm:chMax val="0"/>
          <dgm:chPref val="0"/>
        </dgm:presLayoutVars>
      </dgm:prSet>
      <dgm:spPr/>
    </dgm:pt>
    <dgm:pt modelId="{44184D61-1E71-452B-A477-ED0A60622054}" type="pres">
      <dgm:prSet presAssocID="{FF78228B-3D53-42AE-914D-994033DD3097}" presName="txSpace" presStyleCnt="0"/>
      <dgm:spPr/>
    </dgm:pt>
    <dgm:pt modelId="{0144201D-F177-44A7-B2BA-961DAA3DD020}" type="pres">
      <dgm:prSet presAssocID="{FF78228B-3D53-42AE-914D-994033DD3097}" presName="desTx" presStyleLbl="revTx" presStyleIdx="1" presStyleCnt="10">
        <dgm:presLayoutVars/>
      </dgm:prSet>
      <dgm:spPr/>
    </dgm:pt>
    <dgm:pt modelId="{21ED80A5-0A93-4C51-A93F-8BF6A47430C9}" type="pres">
      <dgm:prSet presAssocID="{FB8DBD67-8D03-471F-BF45-53DF7A81CFE7}" presName="sibTrans" presStyleCnt="0"/>
      <dgm:spPr/>
    </dgm:pt>
    <dgm:pt modelId="{36ECAE95-F985-4D9D-8B3A-40B244ADAE48}" type="pres">
      <dgm:prSet presAssocID="{3001C11D-A5E6-46F0-9B2B-E927A6C84DAC}" presName="compNode" presStyleCnt="0"/>
      <dgm:spPr/>
    </dgm:pt>
    <dgm:pt modelId="{5589568B-C9AD-4137-880E-4A3609AB13D7}" type="pres">
      <dgm:prSet presAssocID="{3001C11D-A5E6-46F0-9B2B-E927A6C84DA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6B7B5D6-58AC-4CB0-B997-EF21ED3E736F}" type="pres">
      <dgm:prSet presAssocID="{3001C11D-A5E6-46F0-9B2B-E927A6C84DAC}" presName="iconSpace" presStyleCnt="0"/>
      <dgm:spPr/>
    </dgm:pt>
    <dgm:pt modelId="{BF2C5FD6-8ED6-433F-87E0-64920A69F477}" type="pres">
      <dgm:prSet presAssocID="{3001C11D-A5E6-46F0-9B2B-E927A6C84DAC}" presName="parTx" presStyleLbl="revTx" presStyleIdx="2" presStyleCnt="10">
        <dgm:presLayoutVars>
          <dgm:chMax val="0"/>
          <dgm:chPref val="0"/>
        </dgm:presLayoutVars>
      </dgm:prSet>
      <dgm:spPr/>
    </dgm:pt>
    <dgm:pt modelId="{8C2B0752-B687-4368-AB49-323D39A57706}" type="pres">
      <dgm:prSet presAssocID="{3001C11D-A5E6-46F0-9B2B-E927A6C84DAC}" presName="txSpace" presStyleCnt="0"/>
      <dgm:spPr/>
    </dgm:pt>
    <dgm:pt modelId="{759B860B-0221-4346-9A78-ECFE111769BD}" type="pres">
      <dgm:prSet presAssocID="{3001C11D-A5E6-46F0-9B2B-E927A6C84DAC}" presName="desTx" presStyleLbl="revTx" presStyleIdx="3" presStyleCnt="10">
        <dgm:presLayoutVars/>
      </dgm:prSet>
      <dgm:spPr/>
    </dgm:pt>
    <dgm:pt modelId="{F8BEE4AB-5966-4617-9105-EE1CE029470D}" type="pres">
      <dgm:prSet presAssocID="{4E02135D-9D07-46C1-A6FB-B86983DBA500}" presName="sibTrans" presStyleCnt="0"/>
      <dgm:spPr/>
    </dgm:pt>
    <dgm:pt modelId="{6F195D9D-01FA-4CAE-BEE2-632ED4AECA77}" type="pres">
      <dgm:prSet presAssocID="{D9AE379D-CE72-4D70-B223-8E741F424B9B}" presName="compNode" presStyleCnt="0"/>
      <dgm:spPr/>
    </dgm:pt>
    <dgm:pt modelId="{F394DD17-DBE5-401A-86CD-6CAEDBC6D784}" type="pres">
      <dgm:prSet presAssocID="{D9AE379D-CE72-4D70-B223-8E741F424B9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30EA857-EB63-4296-AFFB-5EED1386BCA8}" type="pres">
      <dgm:prSet presAssocID="{D9AE379D-CE72-4D70-B223-8E741F424B9B}" presName="iconSpace" presStyleCnt="0"/>
      <dgm:spPr/>
    </dgm:pt>
    <dgm:pt modelId="{98EA669F-AFC4-4835-AFB0-E1DC0834D271}" type="pres">
      <dgm:prSet presAssocID="{D9AE379D-CE72-4D70-B223-8E741F424B9B}" presName="parTx" presStyleLbl="revTx" presStyleIdx="4" presStyleCnt="10">
        <dgm:presLayoutVars>
          <dgm:chMax val="0"/>
          <dgm:chPref val="0"/>
        </dgm:presLayoutVars>
      </dgm:prSet>
      <dgm:spPr/>
    </dgm:pt>
    <dgm:pt modelId="{7242E393-556E-4121-B870-D0669E660C7F}" type="pres">
      <dgm:prSet presAssocID="{D9AE379D-CE72-4D70-B223-8E741F424B9B}" presName="txSpace" presStyleCnt="0"/>
      <dgm:spPr/>
    </dgm:pt>
    <dgm:pt modelId="{88E04BF6-FEA7-4827-BC0C-CFD4F5ED4200}" type="pres">
      <dgm:prSet presAssocID="{D9AE379D-CE72-4D70-B223-8E741F424B9B}" presName="desTx" presStyleLbl="revTx" presStyleIdx="5" presStyleCnt="10">
        <dgm:presLayoutVars/>
      </dgm:prSet>
      <dgm:spPr/>
    </dgm:pt>
    <dgm:pt modelId="{6854812E-C60D-4F36-8A37-88C42DBD1AE9}" type="pres">
      <dgm:prSet presAssocID="{59290A51-767F-49D8-96ED-8A29A022A321}" presName="sibTrans" presStyleCnt="0"/>
      <dgm:spPr/>
    </dgm:pt>
    <dgm:pt modelId="{096D588F-D1AC-49C3-A9F0-F78C379BE84B}" type="pres">
      <dgm:prSet presAssocID="{55BCC48F-97A0-4A86-BBE7-E80BD5466A07}" presName="compNode" presStyleCnt="0"/>
      <dgm:spPr/>
    </dgm:pt>
    <dgm:pt modelId="{413BE222-7B54-4084-9490-082E66ED1A68}" type="pres">
      <dgm:prSet presAssocID="{55BCC48F-97A0-4A86-BBE7-E80BD5466A0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DB59FFF-C191-4420-91B9-1FB6F62BBFDF}" type="pres">
      <dgm:prSet presAssocID="{55BCC48F-97A0-4A86-BBE7-E80BD5466A07}" presName="iconSpace" presStyleCnt="0"/>
      <dgm:spPr/>
    </dgm:pt>
    <dgm:pt modelId="{CEB82578-CC8E-458F-B525-89710E8D0F31}" type="pres">
      <dgm:prSet presAssocID="{55BCC48F-97A0-4A86-BBE7-E80BD5466A07}" presName="parTx" presStyleLbl="revTx" presStyleIdx="6" presStyleCnt="10">
        <dgm:presLayoutVars>
          <dgm:chMax val="0"/>
          <dgm:chPref val="0"/>
        </dgm:presLayoutVars>
      </dgm:prSet>
      <dgm:spPr/>
    </dgm:pt>
    <dgm:pt modelId="{2F08E736-3860-4182-990F-1065844E5C39}" type="pres">
      <dgm:prSet presAssocID="{55BCC48F-97A0-4A86-BBE7-E80BD5466A07}" presName="txSpace" presStyleCnt="0"/>
      <dgm:spPr/>
    </dgm:pt>
    <dgm:pt modelId="{6412F82A-6429-424D-982E-9F063140F476}" type="pres">
      <dgm:prSet presAssocID="{55BCC48F-97A0-4A86-BBE7-E80BD5466A07}" presName="desTx" presStyleLbl="revTx" presStyleIdx="7" presStyleCnt="10">
        <dgm:presLayoutVars/>
      </dgm:prSet>
      <dgm:spPr/>
    </dgm:pt>
    <dgm:pt modelId="{E69BB1F6-9EA0-4C06-B0F7-08781D4835B9}" type="pres">
      <dgm:prSet presAssocID="{CBE8ADDC-D1C8-4B36-9BD7-2E682376F0A1}" presName="sibTrans" presStyleCnt="0"/>
      <dgm:spPr/>
    </dgm:pt>
    <dgm:pt modelId="{87962FB9-61D8-4060-A141-590EAD4CF9F5}" type="pres">
      <dgm:prSet presAssocID="{9E149080-4073-403E-9FA6-495C608C8E01}" presName="compNode" presStyleCnt="0"/>
      <dgm:spPr/>
    </dgm:pt>
    <dgm:pt modelId="{B56B1419-C927-4363-B0FA-A8BFC640F6DE}" type="pres">
      <dgm:prSet presAssocID="{9E149080-4073-403E-9FA6-495C608C8E0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0ED1AA1-76D5-46BA-A2C0-F3AACDE2450F}" type="pres">
      <dgm:prSet presAssocID="{9E149080-4073-403E-9FA6-495C608C8E01}" presName="iconSpace" presStyleCnt="0"/>
      <dgm:spPr/>
    </dgm:pt>
    <dgm:pt modelId="{0875C2AA-4CAA-4B8E-B7CB-F2D2B5990356}" type="pres">
      <dgm:prSet presAssocID="{9E149080-4073-403E-9FA6-495C608C8E01}" presName="parTx" presStyleLbl="revTx" presStyleIdx="8" presStyleCnt="10">
        <dgm:presLayoutVars>
          <dgm:chMax val="0"/>
          <dgm:chPref val="0"/>
        </dgm:presLayoutVars>
      </dgm:prSet>
      <dgm:spPr/>
    </dgm:pt>
    <dgm:pt modelId="{BD441BDF-9568-422A-BE52-C845F9123D39}" type="pres">
      <dgm:prSet presAssocID="{9E149080-4073-403E-9FA6-495C608C8E01}" presName="txSpace" presStyleCnt="0"/>
      <dgm:spPr/>
    </dgm:pt>
    <dgm:pt modelId="{D217A4AE-EAA2-4F10-88E4-C6310D7E7C04}" type="pres">
      <dgm:prSet presAssocID="{9E149080-4073-403E-9FA6-495C608C8E01}" presName="desTx" presStyleLbl="revTx" presStyleIdx="9" presStyleCnt="10">
        <dgm:presLayoutVars/>
      </dgm:prSet>
      <dgm:spPr/>
    </dgm:pt>
  </dgm:ptLst>
  <dgm:cxnLst>
    <dgm:cxn modelId="{400A7C01-1764-4284-97E0-24EB9655C2D9}" type="presOf" srcId="{217F715C-F10A-4065-9FEF-1BCC9149FD0A}" destId="{6412F82A-6429-424D-982E-9F063140F476}" srcOrd="0" destOrd="1" presId="urn:microsoft.com/office/officeart/2018/5/layout/CenteredIconLabelDescriptionList"/>
    <dgm:cxn modelId="{6C924812-8DAE-4BBC-A91F-CA9716A46FDD}" type="presOf" srcId="{8ABA5C5F-0B5F-458A-9273-1EFFFAE12DB5}" destId="{D217A4AE-EAA2-4F10-88E4-C6310D7E7C04}" srcOrd="0" destOrd="1" presId="urn:microsoft.com/office/officeart/2018/5/layout/CenteredIconLabelDescriptionList"/>
    <dgm:cxn modelId="{C7FD9712-3C11-485E-A28E-958C12ADDAD5}" type="presOf" srcId="{68AD198A-785A-47F0-B12B-1E521F2502BF}" destId="{64E31A60-2EEB-4E13-970B-FCB5D459E57B}" srcOrd="0" destOrd="0" presId="urn:microsoft.com/office/officeart/2018/5/layout/CenteredIconLabelDescriptionList"/>
    <dgm:cxn modelId="{8DA43619-8325-4C68-9EAC-39383095AE9E}" srcId="{9E149080-4073-403E-9FA6-495C608C8E01}" destId="{42C6CAEC-04EC-4664-B5AF-62AA9044A676}" srcOrd="3" destOrd="0" parTransId="{5662D76B-49C5-4F67-AA69-57F2B81C42E8}" sibTransId="{B87F66D7-F882-48DA-AC95-9573FA5BB7A0}"/>
    <dgm:cxn modelId="{2D373D19-9A3D-49D4-AEAB-24138F61F19A}" srcId="{68AD198A-785A-47F0-B12B-1E521F2502BF}" destId="{D9AE379D-CE72-4D70-B223-8E741F424B9B}" srcOrd="2" destOrd="0" parTransId="{A8EEA25E-8A3F-4FF1-8C3E-2BC41F046DF5}" sibTransId="{59290A51-767F-49D8-96ED-8A29A022A321}"/>
    <dgm:cxn modelId="{10C4DA23-68B3-46CF-B1B9-E258C5DA307C}" srcId="{9E149080-4073-403E-9FA6-495C608C8E01}" destId="{68F83B12-6779-403F-8B15-4EA1547074AF}" srcOrd="2" destOrd="0" parTransId="{876DB5BB-6138-4D08-B497-44E36EAE0C84}" sibTransId="{0277B5E1-124E-4FE5-A2D8-6273DEC4AC5B}"/>
    <dgm:cxn modelId="{34591F25-3DC6-423F-907C-92C3947081C2}" srcId="{9E149080-4073-403E-9FA6-495C608C8E01}" destId="{8ABA5C5F-0B5F-458A-9273-1EFFFAE12DB5}" srcOrd="1" destOrd="0" parTransId="{ADF436FC-DD8A-47A8-8B31-1C2FC0973F50}" sibTransId="{291C4456-DB0D-4757-B16D-AA689AA77D42}"/>
    <dgm:cxn modelId="{BA37322B-E5EC-4672-A4B1-658E2CDCD185}" srcId="{55BCC48F-97A0-4A86-BBE7-E80BD5466A07}" destId="{75C99448-228D-4423-BF1F-D592F7349F15}" srcOrd="2" destOrd="0" parTransId="{55E2593E-79E0-4695-A72C-BDA76593980B}" sibTransId="{5F24B018-B292-42EA-9260-0615DF3C80C1}"/>
    <dgm:cxn modelId="{FD911F37-302F-4CE7-B1C8-983B10F02A8F}" type="presOf" srcId="{75C99448-228D-4423-BF1F-D592F7349F15}" destId="{6412F82A-6429-424D-982E-9F063140F476}" srcOrd="0" destOrd="2" presId="urn:microsoft.com/office/officeart/2018/5/layout/CenteredIconLabelDescriptionList"/>
    <dgm:cxn modelId="{2F55D941-4255-46BA-B069-F6BDCFA58DD6}" srcId="{55BCC48F-97A0-4A86-BBE7-E80BD5466A07}" destId="{819BD42C-AF1C-46E9-B672-5EF8C59994B5}" srcOrd="0" destOrd="0" parTransId="{6C245A02-E798-4995-970E-92A2F8C20F80}" sibTransId="{E6F80DD5-24EA-4C2A-997D-4EAEEF92F069}"/>
    <dgm:cxn modelId="{9948CC46-E5BC-4D24-86FC-F77C47E669F4}" srcId="{68AD198A-785A-47F0-B12B-1E521F2502BF}" destId="{FF78228B-3D53-42AE-914D-994033DD3097}" srcOrd="0" destOrd="0" parTransId="{5A89CEC9-7943-4897-9CEC-EC40F117A324}" sibTransId="{FB8DBD67-8D03-471F-BF45-53DF7A81CFE7}"/>
    <dgm:cxn modelId="{CEF38050-A94E-4E3E-86CE-898C03E39846}" srcId="{55BCC48F-97A0-4A86-BBE7-E80BD5466A07}" destId="{55FE4016-7F18-4393-BC0C-479E21244B63}" srcOrd="3" destOrd="0" parTransId="{54653634-9C39-43F6-B904-5B4B9508D3D9}" sibTransId="{ECBB31A6-9768-4DCF-908A-39DC90EDB972}"/>
    <dgm:cxn modelId="{9D317C80-C1AF-4EA9-AEC2-8E2200DC51B5}" type="presOf" srcId="{68F83B12-6779-403F-8B15-4EA1547074AF}" destId="{D217A4AE-EAA2-4F10-88E4-C6310D7E7C04}" srcOrd="0" destOrd="2" presId="urn:microsoft.com/office/officeart/2018/5/layout/CenteredIconLabelDescriptionList"/>
    <dgm:cxn modelId="{18D5A981-D6E9-432F-B241-D5BCEEE3515C}" srcId="{55BCC48F-97A0-4A86-BBE7-E80BD5466A07}" destId="{217F715C-F10A-4065-9FEF-1BCC9149FD0A}" srcOrd="1" destOrd="0" parTransId="{6F1E5B0F-407F-44FE-840E-4313EA2D9A59}" sibTransId="{67282932-242C-406B-9438-65DD65F63290}"/>
    <dgm:cxn modelId="{752B7E8B-4014-41C0-BB37-CFC4553FFFF6}" type="presOf" srcId="{55BCC48F-97A0-4A86-BBE7-E80BD5466A07}" destId="{CEB82578-CC8E-458F-B525-89710E8D0F31}" srcOrd="0" destOrd="0" presId="urn:microsoft.com/office/officeart/2018/5/layout/CenteredIconLabelDescriptionList"/>
    <dgm:cxn modelId="{AFFBA98D-1394-4F77-ACA3-625A895D372C}" type="presOf" srcId="{FF78228B-3D53-42AE-914D-994033DD3097}" destId="{CE5C607B-ECEF-43EC-932F-B55B8D3A2111}" srcOrd="0" destOrd="0" presId="urn:microsoft.com/office/officeart/2018/5/layout/CenteredIconLabelDescriptionList"/>
    <dgm:cxn modelId="{9D6E9891-91D1-4628-8696-EDF43A738971}" type="presOf" srcId="{D9AE379D-CE72-4D70-B223-8E741F424B9B}" destId="{98EA669F-AFC4-4835-AFB0-E1DC0834D271}" srcOrd="0" destOrd="0" presId="urn:microsoft.com/office/officeart/2018/5/layout/CenteredIconLabelDescriptionList"/>
    <dgm:cxn modelId="{1E550E95-1EE2-4225-B1F0-9B38E59DCDB9}" type="presOf" srcId="{9E149080-4073-403E-9FA6-495C608C8E01}" destId="{0875C2AA-4CAA-4B8E-B7CB-F2D2B5990356}" srcOrd="0" destOrd="0" presId="urn:microsoft.com/office/officeart/2018/5/layout/CenteredIconLabelDescriptionList"/>
    <dgm:cxn modelId="{6F086B9E-D630-4A40-9048-8B172DA759F7}" srcId="{68AD198A-785A-47F0-B12B-1E521F2502BF}" destId="{55BCC48F-97A0-4A86-BBE7-E80BD5466A07}" srcOrd="3" destOrd="0" parTransId="{27284900-3C45-4466-8906-8E754E54E3FE}" sibTransId="{CBE8ADDC-D1C8-4B36-9BD7-2E682376F0A1}"/>
    <dgm:cxn modelId="{C664B9A5-072A-43C3-88E2-5CF1EE2E8BC0}" type="presOf" srcId="{819BD42C-AF1C-46E9-B672-5EF8C59994B5}" destId="{6412F82A-6429-424D-982E-9F063140F476}" srcOrd="0" destOrd="0" presId="urn:microsoft.com/office/officeart/2018/5/layout/CenteredIconLabelDescriptionList"/>
    <dgm:cxn modelId="{1DA4D1A6-B1C4-4EA5-B6AC-91F7BD7DDA4F}" type="presOf" srcId="{3001C11D-A5E6-46F0-9B2B-E927A6C84DAC}" destId="{BF2C5FD6-8ED6-433F-87E0-64920A69F477}" srcOrd="0" destOrd="0" presId="urn:microsoft.com/office/officeart/2018/5/layout/CenteredIconLabelDescriptionList"/>
    <dgm:cxn modelId="{5F6538A7-A668-400B-ADC4-0A2EA00724E4}" type="presOf" srcId="{55FE4016-7F18-4393-BC0C-479E21244B63}" destId="{6412F82A-6429-424D-982E-9F063140F476}" srcOrd="0" destOrd="3" presId="urn:microsoft.com/office/officeart/2018/5/layout/CenteredIconLabelDescriptionList"/>
    <dgm:cxn modelId="{6E21B8AA-C50F-464C-8958-BAC5000D0F98}" srcId="{68AD198A-785A-47F0-B12B-1E521F2502BF}" destId="{3001C11D-A5E6-46F0-9B2B-E927A6C84DAC}" srcOrd="1" destOrd="0" parTransId="{90D6C49B-CCC9-47DB-BDEB-B3923BFF9AB6}" sibTransId="{4E02135D-9D07-46C1-A6FB-B86983DBA500}"/>
    <dgm:cxn modelId="{85270BBF-B671-44F2-8600-8875A6A01A48}" type="presOf" srcId="{42C6CAEC-04EC-4664-B5AF-62AA9044A676}" destId="{D217A4AE-EAA2-4F10-88E4-C6310D7E7C04}" srcOrd="0" destOrd="3" presId="urn:microsoft.com/office/officeart/2018/5/layout/CenteredIconLabelDescriptionList"/>
    <dgm:cxn modelId="{3865ABCA-8787-4E0D-9ABF-CEAA574A2300}" srcId="{68AD198A-785A-47F0-B12B-1E521F2502BF}" destId="{9E149080-4073-403E-9FA6-495C608C8E01}" srcOrd="4" destOrd="0" parTransId="{92A67ACD-7EAD-49DC-A5B0-6D585946CA68}" sibTransId="{A6DB07CF-1163-47BB-A547-0C8C13E043D5}"/>
    <dgm:cxn modelId="{44C8FAE6-4B6E-4C2B-8542-009CCAE89148}" srcId="{9E149080-4073-403E-9FA6-495C608C8E01}" destId="{BDB10EB1-79A4-4442-A6F6-42FD5B151451}" srcOrd="0" destOrd="0" parTransId="{166EE80B-B975-40DB-8913-3600FB63BBB6}" sibTransId="{50034C19-167C-4376-B0DF-0D63D5CCD980}"/>
    <dgm:cxn modelId="{44F6AFEB-C969-4D3C-B8BE-FAD772467146}" type="presOf" srcId="{BDB10EB1-79A4-4442-A6F6-42FD5B151451}" destId="{D217A4AE-EAA2-4F10-88E4-C6310D7E7C04}" srcOrd="0" destOrd="0" presId="urn:microsoft.com/office/officeart/2018/5/layout/CenteredIconLabelDescriptionList"/>
    <dgm:cxn modelId="{C025825E-1683-419B-81FF-139B883637F7}" type="presParOf" srcId="{64E31A60-2EEB-4E13-970B-FCB5D459E57B}" destId="{20D74583-7640-40E7-A09D-C61138ED3F21}" srcOrd="0" destOrd="0" presId="urn:microsoft.com/office/officeart/2018/5/layout/CenteredIconLabelDescriptionList"/>
    <dgm:cxn modelId="{40CEAD5E-93A3-43F1-B3EB-8C59FD8E4CEA}" type="presParOf" srcId="{20D74583-7640-40E7-A09D-C61138ED3F21}" destId="{E79F548B-20D3-4D95-A076-E103A32C0086}" srcOrd="0" destOrd="0" presId="urn:microsoft.com/office/officeart/2018/5/layout/CenteredIconLabelDescriptionList"/>
    <dgm:cxn modelId="{1157E68E-9A3A-4B71-A522-AABEA4E5ACB7}" type="presParOf" srcId="{20D74583-7640-40E7-A09D-C61138ED3F21}" destId="{A41D15F6-A499-4B86-A455-5A8A41087197}" srcOrd="1" destOrd="0" presId="urn:microsoft.com/office/officeart/2018/5/layout/CenteredIconLabelDescriptionList"/>
    <dgm:cxn modelId="{06770F56-4020-423A-9043-8CB530191E06}" type="presParOf" srcId="{20D74583-7640-40E7-A09D-C61138ED3F21}" destId="{CE5C607B-ECEF-43EC-932F-B55B8D3A2111}" srcOrd="2" destOrd="0" presId="urn:microsoft.com/office/officeart/2018/5/layout/CenteredIconLabelDescriptionList"/>
    <dgm:cxn modelId="{92751DAE-978E-4847-908D-32E511D88116}" type="presParOf" srcId="{20D74583-7640-40E7-A09D-C61138ED3F21}" destId="{44184D61-1E71-452B-A477-ED0A60622054}" srcOrd="3" destOrd="0" presId="urn:microsoft.com/office/officeart/2018/5/layout/CenteredIconLabelDescriptionList"/>
    <dgm:cxn modelId="{64629DCE-7D43-454F-89C4-3B20A5D4098B}" type="presParOf" srcId="{20D74583-7640-40E7-A09D-C61138ED3F21}" destId="{0144201D-F177-44A7-B2BA-961DAA3DD020}" srcOrd="4" destOrd="0" presId="urn:microsoft.com/office/officeart/2018/5/layout/CenteredIconLabelDescriptionList"/>
    <dgm:cxn modelId="{3B858AC3-1295-45C0-8633-19E71F0D3A27}" type="presParOf" srcId="{64E31A60-2EEB-4E13-970B-FCB5D459E57B}" destId="{21ED80A5-0A93-4C51-A93F-8BF6A47430C9}" srcOrd="1" destOrd="0" presId="urn:microsoft.com/office/officeart/2018/5/layout/CenteredIconLabelDescriptionList"/>
    <dgm:cxn modelId="{D69B6F65-9E40-41DC-B27A-0B034BA62C3E}" type="presParOf" srcId="{64E31A60-2EEB-4E13-970B-FCB5D459E57B}" destId="{36ECAE95-F985-4D9D-8B3A-40B244ADAE48}" srcOrd="2" destOrd="0" presId="urn:microsoft.com/office/officeart/2018/5/layout/CenteredIconLabelDescriptionList"/>
    <dgm:cxn modelId="{8B6CC695-E0D3-4100-9616-00CDC2E0DABC}" type="presParOf" srcId="{36ECAE95-F985-4D9D-8B3A-40B244ADAE48}" destId="{5589568B-C9AD-4137-880E-4A3609AB13D7}" srcOrd="0" destOrd="0" presId="urn:microsoft.com/office/officeart/2018/5/layout/CenteredIconLabelDescriptionList"/>
    <dgm:cxn modelId="{B1648326-A920-4850-BD48-4126A60ED9C9}" type="presParOf" srcId="{36ECAE95-F985-4D9D-8B3A-40B244ADAE48}" destId="{36B7B5D6-58AC-4CB0-B997-EF21ED3E736F}" srcOrd="1" destOrd="0" presId="urn:microsoft.com/office/officeart/2018/5/layout/CenteredIconLabelDescriptionList"/>
    <dgm:cxn modelId="{1D82B71B-2E78-4990-990C-B517B56F1ACE}" type="presParOf" srcId="{36ECAE95-F985-4D9D-8B3A-40B244ADAE48}" destId="{BF2C5FD6-8ED6-433F-87E0-64920A69F477}" srcOrd="2" destOrd="0" presId="urn:microsoft.com/office/officeart/2018/5/layout/CenteredIconLabelDescriptionList"/>
    <dgm:cxn modelId="{8E36434B-EF1D-4967-B0B2-64E6751422D5}" type="presParOf" srcId="{36ECAE95-F985-4D9D-8B3A-40B244ADAE48}" destId="{8C2B0752-B687-4368-AB49-323D39A57706}" srcOrd="3" destOrd="0" presId="urn:microsoft.com/office/officeart/2018/5/layout/CenteredIconLabelDescriptionList"/>
    <dgm:cxn modelId="{4C2CE28D-1A31-411D-881C-513B5349D056}" type="presParOf" srcId="{36ECAE95-F985-4D9D-8B3A-40B244ADAE48}" destId="{759B860B-0221-4346-9A78-ECFE111769BD}" srcOrd="4" destOrd="0" presId="urn:microsoft.com/office/officeart/2018/5/layout/CenteredIconLabelDescriptionList"/>
    <dgm:cxn modelId="{CAD397DA-3A5F-4C47-A812-23883BAA3472}" type="presParOf" srcId="{64E31A60-2EEB-4E13-970B-FCB5D459E57B}" destId="{F8BEE4AB-5966-4617-9105-EE1CE029470D}" srcOrd="3" destOrd="0" presId="urn:microsoft.com/office/officeart/2018/5/layout/CenteredIconLabelDescriptionList"/>
    <dgm:cxn modelId="{738F30FE-958C-4001-8243-2914668E8C6A}" type="presParOf" srcId="{64E31A60-2EEB-4E13-970B-FCB5D459E57B}" destId="{6F195D9D-01FA-4CAE-BEE2-632ED4AECA77}" srcOrd="4" destOrd="0" presId="urn:microsoft.com/office/officeart/2018/5/layout/CenteredIconLabelDescriptionList"/>
    <dgm:cxn modelId="{DA29B00E-2866-477A-96CC-CA1A000D3B54}" type="presParOf" srcId="{6F195D9D-01FA-4CAE-BEE2-632ED4AECA77}" destId="{F394DD17-DBE5-401A-86CD-6CAEDBC6D784}" srcOrd="0" destOrd="0" presId="urn:microsoft.com/office/officeart/2018/5/layout/CenteredIconLabelDescriptionList"/>
    <dgm:cxn modelId="{4B9BA3ED-FC48-4BCD-AF58-148633E2BEF0}" type="presParOf" srcId="{6F195D9D-01FA-4CAE-BEE2-632ED4AECA77}" destId="{230EA857-EB63-4296-AFFB-5EED1386BCA8}" srcOrd="1" destOrd="0" presId="urn:microsoft.com/office/officeart/2018/5/layout/CenteredIconLabelDescriptionList"/>
    <dgm:cxn modelId="{930D8F26-DE8F-4DA7-BC88-4ACC22743A7D}" type="presParOf" srcId="{6F195D9D-01FA-4CAE-BEE2-632ED4AECA77}" destId="{98EA669F-AFC4-4835-AFB0-E1DC0834D271}" srcOrd="2" destOrd="0" presId="urn:microsoft.com/office/officeart/2018/5/layout/CenteredIconLabelDescriptionList"/>
    <dgm:cxn modelId="{AA95096C-966A-4D5A-8E13-3C20A95F0B10}" type="presParOf" srcId="{6F195D9D-01FA-4CAE-BEE2-632ED4AECA77}" destId="{7242E393-556E-4121-B870-D0669E660C7F}" srcOrd="3" destOrd="0" presId="urn:microsoft.com/office/officeart/2018/5/layout/CenteredIconLabelDescriptionList"/>
    <dgm:cxn modelId="{C51F721B-D489-405F-A6CA-285BCE60ABAB}" type="presParOf" srcId="{6F195D9D-01FA-4CAE-BEE2-632ED4AECA77}" destId="{88E04BF6-FEA7-4827-BC0C-CFD4F5ED4200}" srcOrd="4" destOrd="0" presId="urn:microsoft.com/office/officeart/2018/5/layout/CenteredIconLabelDescriptionList"/>
    <dgm:cxn modelId="{FB67E03D-6D98-42A5-BB43-FC9F2822D410}" type="presParOf" srcId="{64E31A60-2EEB-4E13-970B-FCB5D459E57B}" destId="{6854812E-C60D-4F36-8A37-88C42DBD1AE9}" srcOrd="5" destOrd="0" presId="urn:microsoft.com/office/officeart/2018/5/layout/CenteredIconLabelDescriptionList"/>
    <dgm:cxn modelId="{7554BDE2-EC86-4881-8F4C-18C6C51FA4CA}" type="presParOf" srcId="{64E31A60-2EEB-4E13-970B-FCB5D459E57B}" destId="{096D588F-D1AC-49C3-A9F0-F78C379BE84B}" srcOrd="6" destOrd="0" presId="urn:microsoft.com/office/officeart/2018/5/layout/CenteredIconLabelDescriptionList"/>
    <dgm:cxn modelId="{32ABF0ED-4F4B-4F6C-8C97-A3081DC2B04D}" type="presParOf" srcId="{096D588F-D1AC-49C3-A9F0-F78C379BE84B}" destId="{413BE222-7B54-4084-9490-082E66ED1A68}" srcOrd="0" destOrd="0" presId="urn:microsoft.com/office/officeart/2018/5/layout/CenteredIconLabelDescriptionList"/>
    <dgm:cxn modelId="{35EA193C-368F-4FBD-AC2F-C8949EB46BCE}" type="presParOf" srcId="{096D588F-D1AC-49C3-A9F0-F78C379BE84B}" destId="{FDB59FFF-C191-4420-91B9-1FB6F62BBFDF}" srcOrd="1" destOrd="0" presId="urn:microsoft.com/office/officeart/2018/5/layout/CenteredIconLabelDescriptionList"/>
    <dgm:cxn modelId="{482DB9B5-B824-465C-8800-A41A9B26C83B}" type="presParOf" srcId="{096D588F-D1AC-49C3-A9F0-F78C379BE84B}" destId="{CEB82578-CC8E-458F-B525-89710E8D0F31}" srcOrd="2" destOrd="0" presId="urn:microsoft.com/office/officeart/2018/5/layout/CenteredIconLabelDescriptionList"/>
    <dgm:cxn modelId="{AE5DECC6-1D85-4749-97FD-4011E3DE885E}" type="presParOf" srcId="{096D588F-D1AC-49C3-A9F0-F78C379BE84B}" destId="{2F08E736-3860-4182-990F-1065844E5C39}" srcOrd="3" destOrd="0" presId="urn:microsoft.com/office/officeart/2018/5/layout/CenteredIconLabelDescriptionList"/>
    <dgm:cxn modelId="{AC4F604F-B43C-409A-985B-B88443957F89}" type="presParOf" srcId="{096D588F-D1AC-49C3-A9F0-F78C379BE84B}" destId="{6412F82A-6429-424D-982E-9F063140F476}" srcOrd="4" destOrd="0" presId="urn:microsoft.com/office/officeart/2018/5/layout/CenteredIconLabelDescriptionList"/>
    <dgm:cxn modelId="{C16D32FD-5FDA-47CD-AFB8-7E856E7BD041}" type="presParOf" srcId="{64E31A60-2EEB-4E13-970B-FCB5D459E57B}" destId="{E69BB1F6-9EA0-4C06-B0F7-08781D4835B9}" srcOrd="7" destOrd="0" presId="urn:microsoft.com/office/officeart/2018/5/layout/CenteredIconLabelDescriptionList"/>
    <dgm:cxn modelId="{A4DAF110-6F4B-4CB3-8515-926EB465AD9D}" type="presParOf" srcId="{64E31A60-2EEB-4E13-970B-FCB5D459E57B}" destId="{87962FB9-61D8-4060-A141-590EAD4CF9F5}" srcOrd="8" destOrd="0" presId="urn:microsoft.com/office/officeart/2018/5/layout/CenteredIconLabelDescriptionList"/>
    <dgm:cxn modelId="{FACA11C7-E5D9-4AA6-8A89-3CC19A14B72D}" type="presParOf" srcId="{87962FB9-61D8-4060-A141-590EAD4CF9F5}" destId="{B56B1419-C927-4363-B0FA-A8BFC640F6DE}" srcOrd="0" destOrd="0" presId="urn:microsoft.com/office/officeart/2018/5/layout/CenteredIconLabelDescriptionList"/>
    <dgm:cxn modelId="{8F483590-DDB4-4D6A-BE5F-919A115A8C42}" type="presParOf" srcId="{87962FB9-61D8-4060-A141-590EAD4CF9F5}" destId="{C0ED1AA1-76D5-46BA-A2C0-F3AACDE2450F}" srcOrd="1" destOrd="0" presId="urn:microsoft.com/office/officeart/2018/5/layout/CenteredIconLabelDescriptionList"/>
    <dgm:cxn modelId="{568BE177-B54F-4472-ACB5-75E17F85A0CE}" type="presParOf" srcId="{87962FB9-61D8-4060-A141-590EAD4CF9F5}" destId="{0875C2AA-4CAA-4B8E-B7CB-F2D2B5990356}" srcOrd="2" destOrd="0" presId="urn:microsoft.com/office/officeart/2018/5/layout/CenteredIconLabelDescriptionList"/>
    <dgm:cxn modelId="{3C667C5D-713B-4C72-9850-160B779BD4FC}" type="presParOf" srcId="{87962FB9-61D8-4060-A141-590EAD4CF9F5}" destId="{BD441BDF-9568-422A-BE52-C845F9123D39}" srcOrd="3" destOrd="0" presId="urn:microsoft.com/office/officeart/2018/5/layout/CenteredIconLabelDescriptionList"/>
    <dgm:cxn modelId="{D77FB94D-B18C-4D32-9A9C-48FB52254BB6}" type="presParOf" srcId="{87962FB9-61D8-4060-A141-590EAD4CF9F5}" destId="{D217A4AE-EAA2-4F10-88E4-C6310D7E7C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E0387E-F871-45C8-978A-6538ACADB7AE}" type="doc">
      <dgm:prSet loTypeId="urn:microsoft.com/office/officeart/2018/2/layout/IconLabelList" loCatId="icon" qsTypeId="urn:microsoft.com/office/officeart/2005/8/quickstyle/simple1#37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DFEBC7-8AC3-4D3A-A3BE-3579C40F93FC}">
      <dgm:prSet/>
      <dgm:spPr/>
      <dgm:t>
        <a:bodyPr/>
        <a:lstStyle/>
        <a:p>
          <a:r>
            <a:rPr lang="en-US"/>
            <a:t>Expansionary Monetary Policy</a:t>
          </a:r>
        </a:p>
      </dgm:t>
    </dgm:pt>
    <dgm:pt modelId="{59171E90-E29C-4C7D-A792-28D3BDE55953}" type="parTrans" cxnId="{D6AD5DFB-8D31-4B77-AC10-D2B78298F7A2}">
      <dgm:prSet/>
      <dgm:spPr/>
      <dgm:t>
        <a:bodyPr/>
        <a:lstStyle/>
        <a:p>
          <a:endParaRPr lang="en-US"/>
        </a:p>
      </dgm:t>
    </dgm:pt>
    <dgm:pt modelId="{59983F3F-9D86-4095-B545-16B12C2C3681}" type="sibTrans" cxnId="{D6AD5DFB-8D31-4B77-AC10-D2B78298F7A2}">
      <dgm:prSet/>
      <dgm:spPr/>
      <dgm:t>
        <a:bodyPr/>
        <a:lstStyle/>
        <a:p>
          <a:endParaRPr lang="en-US"/>
        </a:p>
      </dgm:t>
    </dgm:pt>
    <dgm:pt modelId="{39949491-D400-4C33-8E1E-B3923B93EEC7}">
      <dgm:prSet/>
      <dgm:spPr/>
      <dgm:t>
        <a:bodyPr/>
        <a:lstStyle/>
        <a:p>
          <a:r>
            <a:rPr lang="en-US"/>
            <a:t>Contractionary Monetary Policy</a:t>
          </a:r>
        </a:p>
      </dgm:t>
    </dgm:pt>
    <dgm:pt modelId="{F72115D1-886A-415A-99A3-5B85423D55F0}" type="parTrans" cxnId="{6AF31A0A-3D3E-49FE-B462-0761847378E6}">
      <dgm:prSet/>
      <dgm:spPr/>
      <dgm:t>
        <a:bodyPr/>
        <a:lstStyle/>
        <a:p>
          <a:endParaRPr lang="en-US"/>
        </a:p>
      </dgm:t>
    </dgm:pt>
    <dgm:pt modelId="{DC3A8857-A5DD-4C3C-8482-54F4831EC97F}" type="sibTrans" cxnId="{6AF31A0A-3D3E-49FE-B462-0761847378E6}">
      <dgm:prSet/>
      <dgm:spPr/>
      <dgm:t>
        <a:bodyPr/>
        <a:lstStyle/>
        <a:p>
          <a:endParaRPr lang="en-US"/>
        </a:p>
      </dgm:t>
    </dgm:pt>
    <dgm:pt modelId="{8D4A7DDC-4DCF-4375-9A8B-4CE282DDEADF}" type="pres">
      <dgm:prSet presAssocID="{4EE0387E-F871-45C8-978A-6538ACADB7AE}" presName="root" presStyleCnt="0">
        <dgm:presLayoutVars>
          <dgm:dir/>
          <dgm:resizeHandles val="exact"/>
        </dgm:presLayoutVars>
      </dgm:prSet>
      <dgm:spPr/>
    </dgm:pt>
    <dgm:pt modelId="{2AF284C0-641B-4E75-ACEA-96ABE1212A1E}" type="pres">
      <dgm:prSet presAssocID="{E7DFEBC7-8AC3-4D3A-A3BE-3579C40F93FC}" presName="compNode" presStyleCnt="0"/>
      <dgm:spPr/>
    </dgm:pt>
    <dgm:pt modelId="{1AB503CA-4166-4E9A-B072-6A7DFDFB2806}" type="pres">
      <dgm:prSet presAssocID="{E7DFEBC7-8AC3-4D3A-A3BE-3579C40F93F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37810A6-B3C6-4EC7-9300-10CCC169E066}" type="pres">
      <dgm:prSet presAssocID="{E7DFEBC7-8AC3-4D3A-A3BE-3579C40F93FC}" presName="spaceRect" presStyleCnt="0"/>
      <dgm:spPr/>
    </dgm:pt>
    <dgm:pt modelId="{DB7A94F5-C470-4E9B-B86F-9FDD0E99D3E9}" type="pres">
      <dgm:prSet presAssocID="{E7DFEBC7-8AC3-4D3A-A3BE-3579C40F93FC}" presName="textRect" presStyleLbl="revTx" presStyleIdx="0" presStyleCnt="2">
        <dgm:presLayoutVars>
          <dgm:chMax val="1"/>
          <dgm:chPref val="1"/>
        </dgm:presLayoutVars>
      </dgm:prSet>
      <dgm:spPr/>
    </dgm:pt>
    <dgm:pt modelId="{EC309210-1E3B-4561-9E44-806A2D583C22}" type="pres">
      <dgm:prSet presAssocID="{59983F3F-9D86-4095-B545-16B12C2C3681}" presName="sibTrans" presStyleCnt="0"/>
      <dgm:spPr/>
    </dgm:pt>
    <dgm:pt modelId="{F488C321-3A37-4109-B3B8-7A2F648C38DD}" type="pres">
      <dgm:prSet presAssocID="{39949491-D400-4C33-8E1E-B3923B93EEC7}" presName="compNode" presStyleCnt="0"/>
      <dgm:spPr/>
    </dgm:pt>
    <dgm:pt modelId="{30B2E5AF-3093-4412-8AF4-E4AEB8438EC6}" type="pres">
      <dgm:prSet presAssocID="{39949491-D400-4C33-8E1E-B3923B93EEC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EFA3B52-3620-4528-AF7E-D526BFB28BDB}" type="pres">
      <dgm:prSet presAssocID="{39949491-D400-4C33-8E1E-B3923B93EEC7}" presName="spaceRect" presStyleCnt="0"/>
      <dgm:spPr/>
    </dgm:pt>
    <dgm:pt modelId="{97F9D0FB-2005-4537-8759-520175B7F52F}" type="pres">
      <dgm:prSet presAssocID="{39949491-D400-4C33-8E1E-B3923B93EEC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F31A0A-3D3E-49FE-B462-0761847378E6}" srcId="{4EE0387E-F871-45C8-978A-6538ACADB7AE}" destId="{39949491-D400-4C33-8E1E-B3923B93EEC7}" srcOrd="1" destOrd="0" parTransId="{F72115D1-886A-415A-99A3-5B85423D55F0}" sibTransId="{DC3A8857-A5DD-4C3C-8482-54F4831EC97F}"/>
    <dgm:cxn modelId="{3E364926-12EF-47D5-8B55-4C0DE7790B9F}" type="presOf" srcId="{E7DFEBC7-8AC3-4D3A-A3BE-3579C40F93FC}" destId="{DB7A94F5-C470-4E9B-B86F-9FDD0E99D3E9}" srcOrd="0" destOrd="0" presId="urn:microsoft.com/office/officeart/2018/2/layout/IconLabelList"/>
    <dgm:cxn modelId="{73EC0F5A-CE13-4546-BF7D-BFF8BC43517B}" type="presOf" srcId="{4EE0387E-F871-45C8-978A-6538ACADB7AE}" destId="{8D4A7DDC-4DCF-4375-9A8B-4CE282DDEADF}" srcOrd="0" destOrd="0" presId="urn:microsoft.com/office/officeart/2018/2/layout/IconLabelList"/>
    <dgm:cxn modelId="{D6AD5DFB-8D31-4B77-AC10-D2B78298F7A2}" srcId="{4EE0387E-F871-45C8-978A-6538ACADB7AE}" destId="{E7DFEBC7-8AC3-4D3A-A3BE-3579C40F93FC}" srcOrd="0" destOrd="0" parTransId="{59171E90-E29C-4C7D-A792-28D3BDE55953}" sibTransId="{59983F3F-9D86-4095-B545-16B12C2C3681}"/>
    <dgm:cxn modelId="{387422FD-1D89-409F-BE71-D060926DB6D4}" type="presOf" srcId="{39949491-D400-4C33-8E1E-B3923B93EEC7}" destId="{97F9D0FB-2005-4537-8759-520175B7F52F}" srcOrd="0" destOrd="0" presId="urn:microsoft.com/office/officeart/2018/2/layout/IconLabelList"/>
    <dgm:cxn modelId="{099EC81E-C78C-45DE-BE47-4C92D5BD6A26}" type="presParOf" srcId="{8D4A7DDC-4DCF-4375-9A8B-4CE282DDEADF}" destId="{2AF284C0-641B-4E75-ACEA-96ABE1212A1E}" srcOrd="0" destOrd="0" presId="urn:microsoft.com/office/officeart/2018/2/layout/IconLabelList"/>
    <dgm:cxn modelId="{10070FC5-7276-49C6-AC96-387E3CB77C9A}" type="presParOf" srcId="{2AF284C0-641B-4E75-ACEA-96ABE1212A1E}" destId="{1AB503CA-4166-4E9A-B072-6A7DFDFB2806}" srcOrd="0" destOrd="0" presId="urn:microsoft.com/office/officeart/2018/2/layout/IconLabelList"/>
    <dgm:cxn modelId="{5CA0B191-5C35-4D40-AF45-A4AEE152D24B}" type="presParOf" srcId="{2AF284C0-641B-4E75-ACEA-96ABE1212A1E}" destId="{037810A6-B3C6-4EC7-9300-10CCC169E066}" srcOrd="1" destOrd="0" presId="urn:microsoft.com/office/officeart/2018/2/layout/IconLabelList"/>
    <dgm:cxn modelId="{91EFE38A-31C3-45A4-B502-C2AD4FCC76DB}" type="presParOf" srcId="{2AF284C0-641B-4E75-ACEA-96ABE1212A1E}" destId="{DB7A94F5-C470-4E9B-B86F-9FDD0E99D3E9}" srcOrd="2" destOrd="0" presId="urn:microsoft.com/office/officeart/2018/2/layout/IconLabelList"/>
    <dgm:cxn modelId="{F35DF7CC-0589-419F-8C44-BC6BC9B6B5AD}" type="presParOf" srcId="{8D4A7DDC-4DCF-4375-9A8B-4CE282DDEADF}" destId="{EC309210-1E3B-4561-9E44-806A2D583C22}" srcOrd="1" destOrd="0" presId="urn:microsoft.com/office/officeart/2018/2/layout/IconLabelList"/>
    <dgm:cxn modelId="{B251857A-3BB3-4C33-B821-92713996C775}" type="presParOf" srcId="{8D4A7DDC-4DCF-4375-9A8B-4CE282DDEADF}" destId="{F488C321-3A37-4109-B3B8-7A2F648C38DD}" srcOrd="2" destOrd="0" presId="urn:microsoft.com/office/officeart/2018/2/layout/IconLabelList"/>
    <dgm:cxn modelId="{E8741A0E-6B6D-45D2-8B54-35B2DA91EE5B}" type="presParOf" srcId="{F488C321-3A37-4109-B3B8-7A2F648C38DD}" destId="{30B2E5AF-3093-4412-8AF4-E4AEB8438EC6}" srcOrd="0" destOrd="0" presId="urn:microsoft.com/office/officeart/2018/2/layout/IconLabelList"/>
    <dgm:cxn modelId="{1472C73E-EDB7-43F9-B4F5-B11942695728}" type="presParOf" srcId="{F488C321-3A37-4109-B3B8-7A2F648C38DD}" destId="{8EFA3B52-3620-4528-AF7E-D526BFB28BDB}" srcOrd="1" destOrd="0" presId="urn:microsoft.com/office/officeart/2018/2/layout/IconLabelList"/>
    <dgm:cxn modelId="{AC6FD429-1D1C-44F9-A68E-1E364623CD2C}" type="presParOf" srcId="{F488C321-3A37-4109-B3B8-7A2F648C38DD}" destId="{97F9D0FB-2005-4537-8759-520175B7F5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19A532-5D63-4FF4-B948-6C3BC5103069}" type="doc">
      <dgm:prSet loTypeId="urn:microsoft.com/office/officeart/2005/8/layout/list1" loCatId="list" qsTypeId="urn:microsoft.com/office/officeart/2005/8/quickstyle/simple1#26" qsCatId="simple" csTypeId="urn:microsoft.com/office/officeart/2005/8/colors/colorful2#2" csCatId="colorful"/>
      <dgm:spPr/>
      <dgm:t>
        <a:bodyPr/>
        <a:lstStyle/>
        <a:p>
          <a:endParaRPr lang="en-US"/>
        </a:p>
      </dgm:t>
    </dgm:pt>
    <dgm:pt modelId="{145B920B-1DCF-4E00-BFB7-02BF5AD8FA16}">
      <dgm:prSet/>
      <dgm:spPr/>
      <dgm:t>
        <a:bodyPr/>
        <a:lstStyle/>
        <a:p>
          <a:r>
            <a:rPr lang="en-US"/>
            <a:t>Policy Interest Rate</a:t>
          </a:r>
        </a:p>
      </dgm:t>
    </dgm:pt>
    <dgm:pt modelId="{E77C18CF-F086-4AEB-B33E-8C8B89A23179}" type="parTrans" cxnId="{BB65EF5E-59EF-4D80-983E-6DF680FF7E27}">
      <dgm:prSet/>
      <dgm:spPr/>
      <dgm:t>
        <a:bodyPr/>
        <a:lstStyle/>
        <a:p>
          <a:endParaRPr lang="en-US"/>
        </a:p>
      </dgm:t>
    </dgm:pt>
    <dgm:pt modelId="{2C98CBCE-4B92-4EAC-98B2-B4C3F0FD6977}" type="sibTrans" cxnId="{BB65EF5E-59EF-4D80-983E-6DF680FF7E27}">
      <dgm:prSet/>
      <dgm:spPr/>
      <dgm:t>
        <a:bodyPr/>
        <a:lstStyle/>
        <a:p>
          <a:endParaRPr lang="en-US"/>
        </a:p>
      </dgm:t>
    </dgm:pt>
    <dgm:pt modelId="{D0A5202C-6403-4FA3-8FF0-B1BAE877308A}">
      <dgm:prSet/>
      <dgm:spPr/>
      <dgm:t>
        <a:bodyPr/>
        <a:lstStyle/>
        <a:p>
          <a:r>
            <a:rPr lang="en-US"/>
            <a:t>The central bank changes its policy rate to influence market interest rates.</a:t>
          </a:r>
        </a:p>
      </dgm:t>
    </dgm:pt>
    <dgm:pt modelId="{BB22346D-D8BA-4CFB-BBE5-4D48E8792BE1}" type="parTrans" cxnId="{32B02749-576B-4CF3-A593-279774A1BAF9}">
      <dgm:prSet/>
      <dgm:spPr/>
      <dgm:t>
        <a:bodyPr/>
        <a:lstStyle/>
        <a:p>
          <a:endParaRPr lang="en-US"/>
        </a:p>
      </dgm:t>
    </dgm:pt>
    <dgm:pt modelId="{8304B9C2-C8B1-4A88-AC2B-7257BD79BCA6}" type="sibTrans" cxnId="{32B02749-576B-4CF3-A593-279774A1BAF9}">
      <dgm:prSet/>
      <dgm:spPr/>
      <dgm:t>
        <a:bodyPr/>
        <a:lstStyle/>
        <a:p>
          <a:endParaRPr lang="en-US"/>
        </a:p>
      </dgm:t>
    </dgm:pt>
    <dgm:pt modelId="{4056CCFD-D9BB-40A6-BEE9-0DCF19995713}">
      <dgm:prSet/>
      <dgm:spPr/>
      <dgm:t>
        <a:bodyPr/>
        <a:lstStyle/>
        <a:p>
          <a:r>
            <a:rPr lang="en-US"/>
            <a:t>Reserve Requirement</a:t>
          </a:r>
        </a:p>
      </dgm:t>
    </dgm:pt>
    <dgm:pt modelId="{3795D012-3F03-45F5-9B41-E7D5CC4A5609}" type="parTrans" cxnId="{2F2BE7B7-D879-4783-8C62-E2624E9614D7}">
      <dgm:prSet/>
      <dgm:spPr/>
      <dgm:t>
        <a:bodyPr/>
        <a:lstStyle/>
        <a:p>
          <a:endParaRPr lang="en-US"/>
        </a:p>
      </dgm:t>
    </dgm:pt>
    <dgm:pt modelId="{4F794AF4-5379-4ABF-877C-968648C65C71}" type="sibTrans" cxnId="{2F2BE7B7-D879-4783-8C62-E2624E9614D7}">
      <dgm:prSet/>
      <dgm:spPr/>
      <dgm:t>
        <a:bodyPr/>
        <a:lstStyle/>
        <a:p>
          <a:endParaRPr lang="en-US"/>
        </a:p>
      </dgm:t>
    </dgm:pt>
    <dgm:pt modelId="{B11D627D-E7B9-4EF6-BE0A-3F8476D7BBE7}">
      <dgm:prSet/>
      <dgm:spPr/>
      <dgm:t>
        <a:bodyPr/>
        <a:lstStyle/>
        <a:p>
          <a:r>
            <a:rPr lang="en-US"/>
            <a:t>Commercial banks are required to maintain specified reserves.</a:t>
          </a:r>
        </a:p>
      </dgm:t>
    </dgm:pt>
    <dgm:pt modelId="{CB8E2D18-36BE-4104-872F-5FA95FFE590D}" type="parTrans" cxnId="{1B889C40-8932-42A4-ADD0-84473D54545D}">
      <dgm:prSet/>
      <dgm:spPr/>
      <dgm:t>
        <a:bodyPr/>
        <a:lstStyle/>
        <a:p>
          <a:endParaRPr lang="en-US"/>
        </a:p>
      </dgm:t>
    </dgm:pt>
    <dgm:pt modelId="{3A10F4B3-AAD0-42D0-9FF3-34F5F65AAFB9}" type="sibTrans" cxnId="{1B889C40-8932-42A4-ADD0-84473D54545D}">
      <dgm:prSet/>
      <dgm:spPr/>
      <dgm:t>
        <a:bodyPr/>
        <a:lstStyle/>
        <a:p>
          <a:endParaRPr lang="en-US"/>
        </a:p>
      </dgm:t>
    </dgm:pt>
    <dgm:pt modelId="{CF00AAA1-4A97-419C-8B89-FAB1E32469FC}">
      <dgm:prSet/>
      <dgm:spPr/>
      <dgm:t>
        <a:bodyPr/>
        <a:lstStyle/>
        <a:p>
          <a:r>
            <a:rPr lang="en-US"/>
            <a:t>Open Market Operations</a:t>
          </a:r>
        </a:p>
      </dgm:t>
    </dgm:pt>
    <dgm:pt modelId="{519BB4F8-87DF-4414-B2F0-0EC65AB11644}" type="parTrans" cxnId="{8ABE6147-5758-4C90-881F-B4A35F3D3CDD}">
      <dgm:prSet/>
      <dgm:spPr/>
      <dgm:t>
        <a:bodyPr/>
        <a:lstStyle/>
        <a:p>
          <a:endParaRPr lang="en-US"/>
        </a:p>
      </dgm:t>
    </dgm:pt>
    <dgm:pt modelId="{2E0E973F-70F8-45D7-AE5F-1F1A545C6CB2}" type="sibTrans" cxnId="{8ABE6147-5758-4C90-881F-B4A35F3D3CDD}">
      <dgm:prSet/>
      <dgm:spPr/>
      <dgm:t>
        <a:bodyPr/>
        <a:lstStyle/>
        <a:p>
          <a:endParaRPr lang="en-US"/>
        </a:p>
      </dgm:t>
    </dgm:pt>
    <dgm:pt modelId="{628A6D40-267D-4F4F-96FB-4CF28ABB1B0C}">
      <dgm:prSet/>
      <dgm:spPr/>
      <dgm:t>
        <a:bodyPr/>
        <a:lstStyle/>
        <a:p>
          <a:r>
            <a:rPr lang="en-US"/>
            <a:t>The central bank can buy or sell securities.</a:t>
          </a:r>
        </a:p>
      </dgm:t>
    </dgm:pt>
    <dgm:pt modelId="{C81B352A-8BBD-4974-BA48-A7959646498A}" type="parTrans" cxnId="{080182C9-E4CF-4B61-9FF8-23816153C66B}">
      <dgm:prSet/>
      <dgm:spPr/>
      <dgm:t>
        <a:bodyPr/>
        <a:lstStyle/>
        <a:p>
          <a:endParaRPr lang="en-US"/>
        </a:p>
      </dgm:t>
    </dgm:pt>
    <dgm:pt modelId="{0DB86F95-9FED-415F-91C6-C696D90D7558}" type="sibTrans" cxnId="{080182C9-E4CF-4B61-9FF8-23816153C66B}">
      <dgm:prSet/>
      <dgm:spPr/>
      <dgm:t>
        <a:bodyPr/>
        <a:lstStyle/>
        <a:p>
          <a:endParaRPr lang="en-US"/>
        </a:p>
      </dgm:t>
    </dgm:pt>
    <dgm:pt modelId="{777B429B-25F7-48F7-9EE4-E4AE463FBAD1}" type="pres">
      <dgm:prSet presAssocID="{2719A532-5D63-4FF4-B948-6C3BC5103069}" presName="linear" presStyleCnt="0">
        <dgm:presLayoutVars>
          <dgm:dir/>
          <dgm:animLvl val="lvl"/>
          <dgm:resizeHandles val="exact"/>
        </dgm:presLayoutVars>
      </dgm:prSet>
      <dgm:spPr/>
    </dgm:pt>
    <dgm:pt modelId="{50AC31AC-9E90-4417-8B77-D3E18583C7C9}" type="pres">
      <dgm:prSet presAssocID="{145B920B-1DCF-4E00-BFB7-02BF5AD8FA16}" presName="parentLin" presStyleCnt="0"/>
      <dgm:spPr/>
    </dgm:pt>
    <dgm:pt modelId="{7BE80036-934A-4AAA-BBD3-53D64672E322}" type="pres">
      <dgm:prSet presAssocID="{145B920B-1DCF-4E00-BFB7-02BF5AD8FA16}" presName="parentLeftMargin" presStyleLbl="node1" presStyleIdx="0" presStyleCnt="3"/>
      <dgm:spPr/>
    </dgm:pt>
    <dgm:pt modelId="{0C75EF80-13EC-4EC3-BB12-469136933BE7}" type="pres">
      <dgm:prSet presAssocID="{145B920B-1DCF-4E00-BFB7-02BF5AD8FA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9E61C3-8B24-435F-BFEB-53E2D084AB54}" type="pres">
      <dgm:prSet presAssocID="{145B920B-1DCF-4E00-BFB7-02BF5AD8FA16}" presName="negativeSpace" presStyleCnt="0"/>
      <dgm:spPr/>
    </dgm:pt>
    <dgm:pt modelId="{9BA27901-762D-42A7-860E-D16FF5001F5C}" type="pres">
      <dgm:prSet presAssocID="{145B920B-1DCF-4E00-BFB7-02BF5AD8FA16}" presName="childText" presStyleLbl="conFgAcc1" presStyleIdx="0" presStyleCnt="3">
        <dgm:presLayoutVars>
          <dgm:bulletEnabled val="1"/>
        </dgm:presLayoutVars>
      </dgm:prSet>
      <dgm:spPr/>
    </dgm:pt>
    <dgm:pt modelId="{E5704520-A27D-4894-BC02-C1AEBFB40185}" type="pres">
      <dgm:prSet presAssocID="{2C98CBCE-4B92-4EAC-98B2-B4C3F0FD6977}" presName="spaceBetweenRectangles" presStyleCnt="0"/>
      <dgm:spPr/>
    </dgm:pt>
    <dgm:pt modelId="{5B1CE209-841B-4E3B-A945-48C4A887CFC1}" type="pres">
      <dgm:prSet presAssocID="{4056CCFD-D9BB-40A6-BEE9-0DCF19995713}" presName="parentLin" presStyleCnt="0"/>
      <dgm:spPr/>
    </dgm:pt>
    <dgm:pt modelId="{0AFFC6E1-9FD5-46D7-9D88-0E3028138DF6}" type="pres">
      <dgm:prSet presAssocID="{4056CCFD-D9BB-40A6-BEE9-0DCF19995713}" presName="parentLeftMargin" presStyleLbl="node1" presStyleIdx="0" presStyleCnt="3"/>
      <dgm:spPr/>
    </dgm:pt>
    <dgm:pt modelId="{C85E4385-6E88-437C-A93B-12026F4C38EC}" type="pres">
      <dgm:prSet presAssocID="{4056CCFD-D9BB-40A6-BEE9-0DCF199957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02BD17-10EE-4DD4-B418-71C6ADD59080}" type="pres">
      <dgm:prSet presAssocID="{4056CCFD-D9BB-40A6-BEE9-0DCF19995713}" presName="negativeSpace" presStyleCnt="0"/>
      <dgm:spPr/>
    </dgm:pt>
    <dgm:pt modelId="{CAED52D1-316B-4822-B793-24D5269336B3}" type="pres">
      <dgm:prSet presAssocID="{4056CCFD-D9BB-40A6-BEE9-0DCF19995713}" presName="childText" presStyleLbl="conFgAcc1" presStyleIdx="1" presStyleCnt="3">
        <dgm:presLayoutVars>
          <dgm:bulletEnabled val="1"/>
        </dgm:presLayoutVars>
      </dgm:prSet>
      <dgm:spPr/>
    </dgm:pt>
    <dgm:pt modelId="{8E208F26-42CD-4DEE-92B4-66B7E93F058D}" type="pres">
      <dgm:prSet presAssocID="{4F794AF4-5379-4ABF-877C-968648C65C71}" presName="spaceBetweenRectangles" presStyleCnt="0"/>
      <dgm:spPr/>
    </dgm:pt>
    <dgm:pt modelId="{B9891B0A-E6E6-4289-8CA9-56F44A430463}" type="pres">
      <dgm:prSet presAssocID="{CF00AAA1-4A97-419C-8B89-FAB1E32469FC}" presName="parentLin" presStyleCnt="0"/>
      <dgm:spPr/>
    </dgm:pt>
    <dgm:pt modelId="{3B9C085C-72A0-4DF3-805B-C0C04E64F1AF}" type="pres">
      <dgm:prSet presAssocID="{CF00AAA1-4A97-419C-8B89-FAB1E32469FC}" presName="parentLeftMargin" presStyleLbl="node1" presStyleIdx="1" presStyleCnt="3"/>
      <dgm:spPr/>
    </dgm:pt>
    <dgm:pt modelId="{63D77268-D582-4792-923A-A9F631CE0B4C}" type="pres">
      <dgm:prSet presAssocID="{CF00AAA1-4A97-419C-8B89-FAB1E32469F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86E443-2DAC-431B-A078-B70B38F05BEC}" type="pres">
      <dgm:prSet presAssocID="{CF00AAA1-4A97-419C-8B89-FAB1E32469FC}" presName="negativeSpace" presStyleCnt="0"/>
      <dgm:spPr/>
    </dgm:pt>
    <dgm:pt modelId="{65C8576F-9832-4A48-951F-636671D6B472}" type="pres">
      <dgm:prSet presAssocID="{CF00AAA1-4A97-419C-8B89-FAB1E32469F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5AAC42B-AE23-48BD-81F9-B8508F871120}" type="presOf" srcId="{4056CCFD-D9BB-40A6-BEE9-0DCF19995713}" destId="{0AFFC6E1-9FD5-46D7-9D88-0E3028138DF6}" srcOrd="0" destOrd="0" presId="urn:microsoft.com/office/officeart/2005/8/layout/list1"/>
    <dgm:cxn modelId="{1B889C40-8932-42A4-ADD0-84473D54545D}" srcId="{4056CCFD-D9BB-40A6-BEE9-0DCF19995713}" destId="{B11D627D-E7B9-4EF6-BE0A-3F8476D7BBE7}" srcOrd="0" destOrd="0" parTransId="{CB8E2D18-36BE-4104-872F-5FA95FFE590D}" sibTransId="{3A10F4B3-AAD0-42D0-9FF3-34F5F65AAFB9}"/>
    <dgm:cxn modelId="{BB65EF5E-59EF-4D80-983E-6DF680FF7E27}" srcId="{2719A532-5D63-4FF4-B948-6C3BC5103069}" destId="{145B920B-1DCF-4E00-BFB7-02BF5AD8FA16}" srcOrd="0" destOrd="0" parTransId="{E77C18CF-F086-4AEB-B33E-8C8B89A23179}" sibTransId="{2C98CBCE-4B92-4EAC-98B2-B4C3F0FD6977}"/>
    <dgm:cxn modelId="{8ABE6147-5758-4C90-881F-B4A35F3D3CDD}" srcId="{2719A532-5D63-4FF4-B948-6C3BC5103069}" destId="{CF00AAA1-4A97-419C-8B89-FAB1E32469FC}" srcOrd="2" destOrd="0" parTransId="{519BB4F8-87DF-4414-B2F0-0EC65AB11644}" sibTransId="{2E0E973F-70F8-45D7-AE5F-1F1A545C6CB2}"/>
    <dgm:cxn modelId="{32B02749-576B-4CF3-A593-279774A1BAF9}" srcId="{145B920B-1DCF-4E00-BFB7-02BF5AD8FA16}" destId="{D0A5202C-6403-4FA3-8FF0-B1BAE877308A}" srcOrd="0" destOrd="0" parTransId="{BB22346D-D8BA-4CFB-BBE5-4D48E8792BE1}" sibTransId="{8304B9C2-C8B1-4A88-AC2B-7257BD79BCA6}"/>
    <dgm:cxn modelId="{3CE3756C-1934-417B-94FB-2D9CD3F7606A}" type="presOf" srcId="{2719A532-5D63-4FF4-B948-6C3BC5103069}" destId="{777B429B-25F7-48F7-9EE4-E4AE463FBAD1}" srcOrd="0" destOrd="0" presId="urn:microsoft.com/office/officeart/2005/8/layout/list1"/>
    <dgm:cxn modelId="{FD773F58-6E3A-458C-A25F-B57E46C956F8}" type="presOf" srcId="{CF00AAA1-4A97-419C-8B89-FAB1E32469FC}" destId="{3B9C085C-72A0-4DF3-805B-C0C04E64F1AF}" srcOrd="0" destOrd="0" presId="urn:microsoft.com/office/officeart/2005/8/layout/list1"/>
    <dgm:cxn modelId="{B1744981-62F2-451B-9E54-3922A121344B}" type="presOf" srcId="{145B920B-1DCF-4E00-BFB7-02BF5AD8FA16}" destId="{0C75EF80-13EC-4EC3-BB12-469136933BE7}" srcOrd="1" destOrd="0" presId="urn:microsoft.com/office/officeart/2005/8/layout/list1"/>
    <dgm:cxn modelId="{67B8A7A7-C243-45C8-9DF1-E0597F934039}" type="presOf" srcId="{B11D627D-E7B9-4EF6-BE0A-3F8476D7BBE7}" destId="{CAED52D1-316B-4822-B793-24D5269336B3}" srcOrd="0" destOrd="0" presId="urn:microsoft.com/office/officeart/2005/8/layout/list1"/>
    <dgm:cxn modelId="{2F2BE7B7-D879-4783-8C62-E2624E9614D7}" srcId="{2719A532-5D63-4FF4-B948-6C3BC5103069}" destId="{4056CCFD-D9BB-40A6-BEE9-0DCF19995713}" srcOrd="1" destOrd="0" parTransId="{3795D012-3F03-45F5-9B41-E7D5CC4A5609}" sibTransId="{4F794AF4-5379-4ABF-877C-968648C65C71}"/>
    <dgm:cxn modelId="{DDE0A3BC-D56F-474A-A939-03850D001BBF}" type="presOf" srcId="{D0A5202C-6403-4FA3-8FF0-B1BAE877308A}" destId="{9BA27901-762D-42A7-860E-D16FF5001F5C}" srcOrd="0" destOrd="0" presId="urn:microsoft.com/office/officeart/2005/8/layout/list1"/>
    <dgm:cxn modelId="{080182C9-E4CF-4B61-9FF8-23816153C66B}" srcId="{CF00AAA1-4A97-419C-8B89-FAB1E32469FC}" destId="{628A6D40-267D-4F4F-96FB-4CF28ABB1B0C}" srcOrd="0" destOrd="0" parTransId="{C81B352A-8BBD-4974-BA48-A7959646498A}" sibTransId="{0DB86F95-9FED-415F-91C6-C696D90D7558}"/>
    <dgm:cxn modelId="{B05193D9-410C-4A27-99B2-E1858D6D8BB5}" type="presOf" srcId="{145B920B-1DCF-4E00-BFB7-02BF5AD8FA16}" destId="{7BE80036-934A-4AAA-BBD3-53D64672E322}" srcOrd="0" destOrd="0" presId="urn:microsoft.com/office/officeart/2005/8/layout/list1"/>
    <dgm:cxn modelId="{82E954E1-4684-467B-AFC9-C9717B19BAE3}" type="presOf" srcId="{CF00AAA1-4A97-419C-8B89-FAB1E32469FC}" destId="{63D77268-D582-4792-923A-A9F631CE0B4C}" srcOrd="1" destOrd="0" presId="urn:microsoft.com/office/officeart/2005/8/layout/list1"/>
    <dgm:cxn modelId="{9E9F33EE-E96E-4933-A31E-7882313B2768}" type="presOf" srcId="{4056CCFD-D9BB-40A6-BEE9-0DCF19995713}" destId="{C85E4385-6E88-437C-A93B-12026F4C38EC}" srcOrd="1" destOrd="0" presId="urn:microsoft.com/office/officeart/2005/8/layout/list1"/>
    <dgm:cxn modelId="{798061EE-2B19-4F43-B036-1CD17897EE1A}" type="presOf" srcId="{628A6D40-267D-4F4F-96FB-4CF28ABB1B0C}" destId="{65C8576F-9832-4A48-951F-636671D6B472}" srcOrd="0" destOrd="0" presId="urn:microsoft.com/office/officeart/2005/8/layout/list1"/>
    <dgm:cxn modelId="{61A326CF-3EBE-441F-AF4F-259A2B6DCF4B}" type="presParOf" srcId="{777B429B-25F7-48F7-9EE4-E4AE463FBAD1}" destId="{50AC31AC-9E90-4417-8B77-D3E18583C7C9}" srcOrd="0" destOrd="0" presId="urn:microsoft.com/office/officeart/2005/8/layout/list1"/>
    <dgm:cxn modelId="{16E92A35-40A6-401F-8935-AEE1BE47A706}" type="presParOf" srcId="{50AC31AC-9E90-4417-8B77-D3E18583C7C9}" destId="{7BE80036-934A-4AAA-BBD3-53D64672E322}" srcOrd="0" destOrd="0" presId="urn:microsoft.com/office/officeart/2005/8/layout/list1"/>
    <dgm:cxn modelId="{E0BC4D23-1D6F-4FAE-98CF-B79296D71E45}" type="presParOf" srcId="{50AC31AC-9E90-4417-8B77-D3E18583C7C9}" destId="{0C75EF80-13EC-4EC3-BB12-469136933BE7}" srcOrd="1" destOrd="0" presId="urn:microsoft.com/office/officeart/2005/8/layout/list1"/>
    <dgm:cxn modelId="{68163CCE-6F17-4FC3-9079-C3354E8D0D3B}" type="presParOf" srcId="{777B429B-25F7-48F7-9EE4-E4AE463FBAD1}" destId="{1F9E61C3-8B24-435F-BFEB-53E2D084AB54}" srcOrd="1" destOrd="0" presId="urn:microsoft.com/office/officeart/2005/8/layout/list1"/>
    <dgm:cxn modelId="{2E2C61F2-0F2C-4944-9D3F-BBFC95FD13DD}" type="presParOf" srcId="{777B429B-25F7-48F7-9EE4-E4AE463FBAD1}" destId="{9BA27901-762D-42A7-860E-D16FF5001F5C}" srcOrd="2" destOrd="0" presId="urn:microsoft.com/office/officeart/2005/8/layout/list1"/>
    <dgm:cxn modelId="{AEE7CA83-61AA-4921-8C36-9CC06AF76B16}" type="presParOf" srcId="{777B429B-25F7-48F7-9EE4-E4AE463FBAD1}" destId="{E5704520-A27D-4894-BC02-C1AEBFB40185}" srcOrd="3" destOrd="0" presId="urn:microsoft.com/office/officeart/2005/8/layout/list1"/>
    <dgm:cxn modelId="{536DA4EE-A8E0-4529-ABEB-215973E6D52A}" type="presParOf" srcId="{777B429B-25F7-48F7-9EE4-E4AE463FBAD1}" destId="{5B1CE209-841B-4E3B-A945-48C4A887CFC1}" srcOrd="4" destOrd="0" presId="urn:microsoft.com/office/officeart/2005/8/layout/list1"/>
    <dgm:cxn modelId="{5E84CB64-23FB-41FA-9B6F-AB4070B5745F}" type="presParOf" srcId="{5B1CE209-841B-4E3B-A945-48C4A887CFC1}" destId="{0AFFC6E1-9FD5-46D7-9D88-0E3028138DF6}" srcOrd="0" destOrd="0" presId="urn:microsoft.com/office/officeart/2005/8/layout/list1"/>
    <dgm:cxn modelId="{235D9706-B67C-43FE-A514-97F7AB401C79}" type="presParOf" srcId="{5B1CE209-841B-4E3B-A945-48C4A887CFC1}" destId="{C85E4385-6E88-437C-A93B-12026F4C38EC}" srcOrd="1" destOrd="0" presId="urn:microsoft.com/office/officeart/2005/8/layout/list1"/>
    <dgm:cxn modelId="{B5B40187-EF00-4C78-9C2D-F54F4A9CB5AC}" type="presParOf" srcId="{777B429B-25F7-48F7-9EE4-E4AE463FBAD1}" destId="{3602BD17-10EE-4DD4-B418-71C6ADD59080}" srcOrd="5" destOrd="0" presId="urn:microsoft.com/office/officeart/2005/8/layout/list1"/>
    <dgm:cxn modelId="{A6FB8EB3-0B2D-47C5-8FC0-367EF718FA81}" type="presParOf" srcId="{777B429B-25F7-48F7-9EE4-E4AE463FBAD1}" destId="{CAED52D1-316B-4822-B793-24D5269336B3}" srcOrd="6" destOrd="0" presId="urn:microsoft.com/office/officeart/2005/8/layout/list1"/>
    <dgm:cxn modelId="{66694AAE-40C4-4FD9-87DC-E0EC4C692B5A}" type="presParOf" srcId="{777B429B-25F7-48F7-9EE4-E4AE463FBAD1}" destId="{8E208F26-42CD-4DEE-92B4-66B7E93F058D}" srcOrd="7" destOrd="0" presId="urn:microsoft.com/office/officeart/2005/8/layout/list1"/>
    <dgm:cxn modelId="{80C204B7-54EE-454E-B310-0B7781B54FC7}" type="presParOf" srcId="{777B429B-25F7-48F7-9EE4-E4AE463FBAD1}" destId="{B9891B0A-E6E6-4289-8CA9-56F44A430463}" srcOrd="8" destOrd="0" presId="urn:microsoft.com/office/officeart/2005/8/layout/list1"/>
    <dgm:cxn modelId="{09B2D3C2-E5C3-4252-95D1-19351A27E5AB}" type="presParOf" srcId="{B9891B0A-E6E6-4289-8CA9-56F44A430463}" destId="{3B9C085C-72A0-4DF3-805B-C0C04E64F1AF}" srcOrd="0" destOrd="0" presId="urn:microsoft.com/office/officeart/2005/8/layout/list1"/>
    <dgm:cxn modelId="{3C8819F1-73AA-4DFB-A840-D5C80264137F}" type="presParOf" srcId="{B9891B0A-E6E6-4289-8CA9-56F44A430463}" destId="{63D77268-D582-4792-923A-A9F631CE0B4C}" srcOrd="1" destOrd="0" presId="urn:microsoft.com/office/officeart/2005/8/layout/list1"/>
    <dgm:cxn modelId="{AC9A6621-972B-4EE3-9254-2022B6486FF2}" type="presParOf" srcId="{777B429B-25F7-48F7-9EE4-E4AE463FBAD1}" destId="{EA86E443-2DAC-431B-A078-B70B38F05BEC}" srcOrd="9" destOrd="0" presId="urn:microsoft.com/office/officeart/2005/8/layout/list1"/>
    <dgm:cxn modelId="{B72D99D7-DA01-41BB-B504-E56BB0660431}" type="presParOf" srcId="{777B429B-25F7-48F7-9EE4-E4AE463FBAD1}" destId="{65C8576F-9832-4A48-951F-636671D6B47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8A795-6CFD-4D62-A32E-3615B28B0A04}">
      <dsp:nvSpPr>
        <dsp:cNvPr id="0" name=""/>
        <dsp:cNvSpPr/>
      </dsp:nvSpPr>
      <dsp:spPr>
        <a:xfrm>
          <a:off x="0" y="27876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A982A-A7B0-43AC-A4BF-56DB3259EB14}">
      <dsp:nvSpPr>
        <dsp:cNvPr id="0" name=""/>
        <dsp:cNvSpPr/>
      </dsp:nvSpPr>
      <dsp:spPr>
        <a:xfrm>
          <a:off x="546391" y="13082"/>
          <a:ext cx="7649480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</a:t>
          </a:r>
          <a:r>
            <a:rPr lang="en-US" sz="1800" b="1" kern="1200"/>
            <a:t>central bank</a:t>
          </a:r>
          <a:r>
            <a:rPr lang="en-US" sz="1800" kern="1200"/>
            <a:t> is responsible for monetary policy.</a:t>
          </a:r>
        </a:p>
      </dsp:txBody>
      <dsp:txXfrm>
        <a:off x="572330" y="39021"/>
        <a:ext cx="7597602" cy="479482"/>
      </dsp:txXfrm>
    </dsp:sp>
    <dsp:sp modelId="{265EC653-0A3B-4E4D-91DC-D9BD89F209EF}">
      <dsp:nvSpPr>
        <dsp:cNvPr id="0" name=""/>
        <dsp:cNvSpPr/>
      </dsp:nvSpPr>
      <dsp:spPr>
        <a:xfrm>
          <a:off x="0" y="109524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4EB48-FF72-48D9-A578-842E5BC91C34}">
      <dsp:nvSpPr>
        <dsp:cNvPr id="0" name=""/>
        <dsp:cNvSpPr/>
      </dsp:nvSpPr>
      <dsp:spPr>
        <a:xfrm>
          <a:off x="546391" y="829562"/>
          <a:ext cx="7649480" cy="5313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 Bangladesh: </a:t>
          </a:r>
          <a:r>
            <a:rPr lang="en-US" sz="1800" b="1" kern="1200"/>
            <a:t>Bangladesh Bank</a:t>
          </a:r>
          <a:endParaRPr lang="en-US" sz="1800" kern="1200"/>
        </a:p>
      </dsp:txBody>
      <dsp:txXfrm>
        <a:off x="572330" y="855501"/>
        <a:ext cx="7597602" cy="479482"/>
      </dsp:txXfrm>
    </dsp:sp>
    <dsp:sp modelId="{D60596EE-5B14-4332-A008-CD9E23D34F67}">
      <dsp:nvSpPr>
        <dsp:cNvPr id="0" name=""/>
        <dsp:cNvSpPr/>
      </dsp:nvSpPr>
      <dsp:spPr>
        <a:xfrm>
          <a:off x="0" y="1911722"/>
          <a:ext cx="10927829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74904" rIns="8481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Policy interest rates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Open market operations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Reserve requirements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Liquidity management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Foreign-exchange operations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Other monetary and macroprudential instruments</a:t>
          </a:r>
        </a:p>
      </dsp:txBody>
      <dsp:txXfrm>
        <a:off x="0" y="1911722"/>
        <a:ext cx="10927829" cy="2268000"/>
      </dsp:txXfrm>
    </dsp:sp>
    <dsp:sp modelId="{7D89E400-5BF3-4E58-B4D8-A9DB426C531B}">
      <dsp:nvSpPr>
        <dsp:cNvPr id="0" name=""/>
        <dsp:cNvSpPr/>
      </dsp:nvSpPr>
      <dsp:spPr>
        <a:xfrm>
          <a:off x="546391" y="1646042"/>
          <a:ext cx="7649480" cy="5313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Bangladesh Bank influences economic activity through:</a:t>
          </a:r>
        </a:p>
      </dsp:txBody>
      <dsp:txXfrm>
        <a:off x="572330" y="1671981"/>
        <a:ext cx="7597602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F548B-20D3-4D95-A076-E103A32C0086}">
      <dsp:nvSpPr>
        <dsp:cNvPr id="0" name=""/>
        <dsp:cNvSpPr/>
      </dsp:nvSpPr>
      <dsp:spPr>
        <a:xfrm>
          <a:off x="627750" y="10986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C607B-ECEF-43EC-932F-B55B8D3A2111}">
      <dsp:nvSpPr>
        <dsp:cNvPr id="0" name=""/>
        <dsp:cNvSpPr/>
      </dsp:nvSpPr>
      <dsp:spPr>
        <a:xfrm>
          <a:off x="5273" y="185483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Price Stability and controlling Inflation</a:t>
          </a:r>
        </a:p>
      </dsp:txBody>
      <dsp:txXfrm>
        <a:off x="5273" y="1854831"/>
        <a:ext cx="1915312" cy="395033"/>
      </dsp:txXfrm>
    </dsp:sp>
    <dsp:sp modelId="{0144201D-F177-44A7-B2BA-961DAA3DD020}">
      <dsp:nvSpPr>
        <dsp:cNvPr id="0" name=""/>
        <dsp:cNvSpPr/>
      </dsp:nvSpPr>
      <dsp:spPr>
        <a:xfrm>
          <a:off x="5273" y="2289773"/>
          <a:ext cx="1915312" cy="80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89568B-C9AD-4137-880E-4A3609AB13D7}">
      <dsp:nvSpPr>
        <dsp:cNvPr id="0" name=""/>
        <dsp:cNvSpPr/>
      </dsp:nvSpPr>
      <dsp:spPr>
        <a:xfrm>
          <a:off x="2878242" y="10986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C5FD6-8ED6-433F-87E0-64920A69F477}">
      <dsp:nvSpPr>
        <dsp:cNvPr id="0" name=""/>
        <dsp:cNvSpPr/>
      </dsp:nvSpPr>
      <dsp:spPr>
        <a:xfrm>
          <a:off x="2255766" y="185483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Economic Growth</a:t>
          </a:r>
        </a:p>
      </dsp:txBody>
      <dsp:txXfrm>
        <a:off x="2255766" y="1854831"/>
        <a:ext cx="1915312" cy="395033"/>
      </dsp:txXfrm>
    </dsp:sp>
    <dsp:sp modelId="{759B860B-0221-4346-9A78-ECFE111769BD}">
      <dsp:nvSpPr>
        <dsp:cNvPr id="0" name=""/>
        <dsp:cNvSpPr/>
      </dsp:nvSpPr>
      <dsp:spPr>
        <a:xfrm>
          <a:off x="2255766" y="2289773"/>
          <a:ext cx="1915312" cy="80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94DD17-DBE5-401A-86CD-6CAEDBC6D784}">
      <dsp:nvSpPr>
        <dsp:cNvPr id="0" name=""/>
        <dsp:cNvSpPr/>
      </dsp:nvSpPr>
      <dsp:spPr>
        <a:xfrm>
          <a:off x="5128734" y="10986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A669F-AFC4-4835-AFB0-E1DC0834D271}">
      <dsp:nvSpPr>
        <dsp:cNvPr id="0" name=""/>
        <dsp:cNvSpPr/>
      </dsp:nvSpPr>
      <dsp:spPr>
        <a:xfrm>
          <a:off x="4506258" y="185483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Employment generation</a:t>
          </a:r>
        </a:p>
      </dsp:txBody>
      <dsp:txXfrm>
        <a:off x="4506258" y="1854831"/>
        <a:ext cx="1915312" cy="395033"/>
      </dsp:txXfrm>
    </dsp:sp>
    <dsp:sp modelId="{88E04BF6-FEA7-4827-BC0C-CFD4F5ED4200}">
      <dsp:nvSpPr>
        <dsp:cNvPr id="0" name=""/>
        <dsp:cNvSpPr/>
      </dsp:nvSpPr>
      <dsp:spPr>
        <a:xfrm>
          <a:off x="4506258" y="2289773"/>
          <a:ext cx="1915312" cy="80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3BE222-7B54-4084-9490-082E66ED1A68}">
      <dsp:nvSpPr>
        <dsp:cNvPr id="0" name=""/>
        <dsp:cNvSpPr/>
      </dsp:nvSpPr>
      <dsp:spPr>
        <a:xfrm>
          <a:off x="7379227" y="10986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82578-CC8E-458F-B525-89710E8D0F31}">
      <dsp:nvSpPr>
        <dsp:cNvPr id="0" name=""/>
        <dsp:cNvSpPr/>
      </dsp:nvSpPr>
      <dsp:spPr>
        <a:xfrm>
          <a:off x="6756750" y="185483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Financial Stability </a:t>
          </a:r>
        </a:p>
      </dsp:txBody>
      <dsp:txXfrm>
        <a:off x="6756750" y="1854831"/>
        <a:ext cx="1915312" cy="395033"/>
      </dsp:txXfrm>
    </dsp:sp>
    <dsp:sp modelId="{6412F82A-6429-424D-982E-9F063140F476}">
      <dsp:nvSpPr>
        <dsp:cNvPr id="0" name=""/>
        <dsp:cNvSpPr/>
      </dsp:nvSpPr>
      <dsp:spPr>
        <a:xfrm>
          <a:off x="6756750" y="2289773"/>
          <a:ext cx="1915312" cy="80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Banking system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Credit markets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Payment systems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Financial markets</a:t>
          </a:r>
        </a:p>
      </dsp:txBody>
      <dsp:txXfrm>
        <a:off x="6756750" y="2289773"/>
        <a:ext cx="1915312" cy="804364"/>
      </dsp:txXfrm>
    </dsp:sp>
    <dsp:sp modelId="{B56B1419-C927-4363-B0FA-A8BFC640F6DE}">
      <dsp:nvSpPr>
        <dsp:cNvPr id="0" name=""/>
        <dsp:cNvSpPr/>
      </dsp:nvSpPr>
      <dsp:spPr>
        <a:xfrm>
          <a:off x="9629719" y="1098666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5C2AA-4CAA-4B8E-B7CB-F2D2B5990356}">
      <dsp:nvSpPr>
        <dsp:cNvPr id="0" name=""/>
        <dsp:cNvSpPr/>
      </dsp:nvSpPr>
      <dsp:spPr>
        <a:xfrm>
          <a:off x="9007242" y="185483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External stability </a:t>
          </a:r>
        </a:p>
      </dsp:txBody>
      <dsp:txXfrm>
        <a:off x="9007242" y="1854831"/>
        <a:ext cx="1915312" cy="395033"/>
      </dsp:txXfrm>
    </dsp:sp>
    <dsp:sp modelId="{D217A4AE-EAA2-4F10-88E4-C6310D7E7C04}">
      <dsp:nvSpPr>
        <dsp:cNvPr id="0" name=""/>
        <dsp:cNvSpPr/>
      </dsp:nvSpPr>
      <dsp:spPr>
        <a:xfrm>
          <a:off x="9007242" y="2289773"/>
          <a:ext cx="1915312" cy="80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Exchange rate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Capital flows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Foreign-exchange demand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Balance of payments</a:t>
          </a:r>
        </a:p>
      </dsp:txBody>
      <dsp:txXfrm>
        <a:off x="9007242" y="2289773"/>
        <a:ext cx="1915312" cy="8043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503CA-4166-4E9A-B072-6A7DFDFB2806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A94F5-C470-4E9B-B86F-9FDD0E99D3E9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Expansionary Monetary Policy</a:t>
          </a:r>
        </a:p>
      </dsp:txBody>
      <dsp:txXfrm>
        <a:off x="765914" y="2943510"/>
        <a:ext cx="4320000" cy="720000"/>
      </dsp:txXfrm>
    </dsp:sp>
    <dsp:sp modelId="{30B2E5AF-3093-4412-8AF4-E4AEB8438EC6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9D0FB-2005-4537-8759-520175B7F52F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Contractionary Monetary Policy</a:t>
          </a:r>
        </a:p>
      </dsp:txBody>
      <dsp:txXfrm>
        <a:off x="5841914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27901-762D-42A7-860E-D16FF5001F5C}">
      <dsp:nvSpPr>
        <dsp:cNvPr id="0" name=""/>
        <dsp:cNvSpPr/>
      </dsp:nvSpPr>
      <dsp:spPr>
        <a:xfrm>
          <a:off x="0" y="335259"/>
          <a:ext cx="10515600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central bank changes its policy rate to influence market interest rates.</a:t>
          </a:r>
        </a:p>
      </dsp:txBody>
      <dsp:txXfrm>
        <a:off x="0" y="335259"/>
        <a:ext cx="10515600" cy="1247400"/>
      </dsp:txXfrm>
    </dsp:sp>
    <dsp:sp modelId="{0C75EF80-13EC-4EC3-BB12-469136933BE7}">
      <dsp:nvSpPr>
        <dsp:cNvPr id="0" name=""/>
        <dsp:cNvSpPr/>
      </dsp:nvSpPr>
      <dsp:spPr>
        <a:xfrm>
          <a:off x="525780" y="10538"/>
          <a:ext cx="7360920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Policy Interest Rate</a:t>
          </a:r>
        </a:p>
      </dsp:txBody>
      <dsp:txXfrm>
        <a:off x="557483" y="42241"/>
        <a:ext cx="7297514" cy="586034"/>
      </dsp:txXfrm>
    </dsp:sp>
    <dsp:sp modelId="{CAED52D1-316B-4822-B793-24D5269336B3}">
      <dsp:nvSpPr>
        <dsp:cNvPr id="0" name=""/>
        <dsp:cNvSpPr/>
      </dsp:nvSpPr>
      <dsp:spPr>
        <a:xfrm>
          <a:off x="0" y="2026179"/>
          <a:ext cx="10515600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Commercial banks are required to maintain specified reserves.</a:t>
          </a:r>
        </a:p>
      </dsp:txBody>
      <dsp:txXfrm>
        <a:off x="0" y="2026179"/>
        <a:ext cx="10515600" cy="935550"/>
      </dsp:txXfrm>
    </dsp:sp>
    <dsp:sp modelId="{C85E4385-6E88-437C-A93B-12026F4C38EC}">
      <dsp:nvSpPr>
        <dsp:cNvPr id="0" name=""/>
        <dsp:cNvSpPr/>
      </dsp:nvSpPr>
      <dsp:spPr>
        <a:xfrm>
          <a:off x="525780" y="1701459"/>
          <a:ext cx="7360920" cy="6494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Reserve Requirement</a:t>
          </a:r>
        </a:p>
      </dsp:txBody>
      <dsp:txXfrm>
        <a:off x="557483" y="1733162"/>
        <a:ext cx="7297514" cy="586034"/>
      </dsp:txXfrm>
    </dsp:sp>
    <dsp:sp modelId="{65C8576F-9832-4A48-951F-636671D6B472}">
      <dsp:nvSpPr>
        <dsp:cNvPr id="0" name=""/>
        <dsp:cNvSpPr/>
      </dsp:nvSpPr>
      <dsp:spPr>
        <a:xfrm>
          <a:off x="0" y="3405249"/>
          <a:ext cx="10515600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central bank can buy or sell securities.</a:t>
          </a:r>
        </a:p>
      </dsp:txBody>
      <dsp:txXfrm>
        <a:off x="0" y="3405249"/>
        <a:ext cx="10515600" cy="935550"/>
      </dsp:txXfrm>
    </dsp:sp>
    <dsp:sp modelId="{63D77268-D582-4792-923A-A9F631CE0B4C}">
      <dsp:nvSpPr>
        <dsp:cNvPr id="0" name=""/>
        <dsp:cNvSpPr/>
      </dsp:nvSpPr>
      <dsp:spPr>
        <a:xfrm>
          <a:off x="525780" y="3080529"/>
          <a:ext cx="7360920" cy="6494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Open Market Operations</a:t>
          </a:r>
        </a:p>
      </dsp:txBody>
      <dsp:txXfrm>
        <a:off x="557483" y="3112232"/>
        <a:ext cx="729751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1FB3-496D-82AC-7BE0-98BB54C73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29BFC-B710-C54F-0739-24AA0D559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2E36A-9CD3-D257-5DDE-AA661DC6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7396B-C6DE-B5C7-EB03-CCBDFB3D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EC2A8-5C09-943D-04D7-C40AA8CA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7C7A-4CE9-78B6-3AE6-9363CB83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0BB55-D38D-671A-E7A8-D5A6CB3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5A54F-8DB6-6299-606E-3C5A00A1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67A7D-9E2D-860A-2F56-9EE97F1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97AAE-43F9-7ECA-B320-6EB0B0C8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2E2B-8D8F-382F-FC95-783D0AD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2914F-D874-EE9D-0538-BE2F487A2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CFED-A9C6-A38C-1366-C6BCA10A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BA24A-A12C-024C-E8FB-4F57752A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347E6-6922-6496-2BA6-35990E34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9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7223-CBB3-016C-0C70-174FDDB5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56CB-5057-6021-1867-BBCBBF749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BFB07-44C6-7BD5-6272-46C9BC1EB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76140-882B-F8FA-6093-08FD1680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BB4D6-F3A2-08AC-D085-6D58E66C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0B52F-C743-1E2E-0B8F-C6538F96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8B14-1D3E-8EBB-4542-28280E7B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1E722-9140-E83D-43A1-A1196BBA8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A472A-BE64-A7A7-022A-2CAC22C6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38E66-696E-9835-74ED-ACE3BDC38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DC6E3-729F-D7E4-959F-E6F45414A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FF42D-87F8-C8DF-13D0-50BDBC65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01BBA-33B7-9D16-FFA1-39628337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F03DE2-CCA4-0C21-A53A-F8775868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15F8-0657-CB28-0058-CE5CC74C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3CD25-CFEE-0A38-4388-2F6D65193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91796-53E4-C690-1ED9-1A81EBB5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D0FD4-C163-001A-CB3D-CE4ED67C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4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59E83-6D09-4B95-A021-238A96F5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8F6E5-1885-2996-FF0B-9859CEDF5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9E5BD-330C-5B75-78CD-BEBCC09E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C77C-8558-370F-AF52-354A7595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FA05B-6B1F-1D80-F10C-689CD2A2E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1796C-142C-90BE-8D24-8AEEB368E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DD04B-074D-1FFE-13A7-0499E302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16B13-08E2-278F-8A7E-F6E81C76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2E89-FF14-414A-14CB-6292958B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3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A919-6C49-2F95-8DAB-25DFD943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F8F56-2C95-8F79-BA3D-223DAAC24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FAAEE-2121-80C4-83AB-D9C8A072A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91AED-4876-3B03-F8B4-38757A8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93323-7243-50E2-B8C8-41FADF19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30A1D-FA62-2A1E-C546-69F22363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F350-E0A4-9D80-F139-D0633BAB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F5875-7B35-0CE8-E83B-9134C1212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6C06F-D3BE-5284-73FA-144E78CE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A6823-6251-D2DD-7CFF-794DECA1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4F8B3-7A4F-7127-EF91-4C54B0EF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360E30-2A33-7861-8412-594B464AE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7AF28-5856-2C92-1808-7098C58C6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CF414-4D61-7162-6632-B88C257A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EF329-6F1B-67D0-9FF0-63DEC33A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A9807-E630-B64B-6DC3-182A8858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1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6A02A-F8CF-D2A0-D149-A84A4B33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C4952-332B-630B-C02C-91B35F11C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853F8-E664-67E4-B093-7D79D5525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36B78-D937-40BF-A11F-1EC86E55CB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2181E-C6E8-6E4F-1DFD-600DF1FF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C5C90-A4C4-E9CA-286E-7A11B2176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FE65B-37D7-4E87-B316-3832B6E6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0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E3A0E-D728-3ED7-5143-6E948BA4A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>
            <a:normAutofit/>
          </a:bodyPr>
          <a:lstStyle/>
          <a:p>
            <a:pPr algn="l"/>
            <a:r>
              <a:rPr lang="en-US"/>
              <a:t>Monetary Policy and </a:t>
            </a:r>
            <a:br>
              <a:rPr lang="en-US"/>
            </a:br>
            <a:r>
              <a:rPr lang="en-US"/>
              <a:t>Fiscal Policy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9BCAA-4FB2-A9D8-7723-2E6CF8987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>
            <a:normAutofit fontScale="92500" lnSpcReduction="10000"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2200" b="1" dirty="0"/>
              <a:t>Syed A. Mamun, PhD, FCMA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00" dirty="0"/>
              <a:t>Professor of Finance &amp; Strategy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00" dirty="0"/>
              <a:t>Department of 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300" dirty="0"/>
              <a:t>BRAC University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ney and passport">
            <a:extLst>
              <a:ext uri="{FF2B5EF4-FFF2-40B4-BE49-F238E27FC236}">
                <a16:creationId xmlns:a16="http://schemas.microsoft.com/office/drawing/2014/main" id="{E73E5F27-770E-7C05-2AA4-4508D3F5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7"/>
          <a:stretch>
            <a:fillRect/>
          </a:stretch>
        </p:blipFill>
        <p:spPr>
          <a:xfrm>
            <a:off x="5640572" y="1789474"/>
            <a:ext cx="5608830" cy="316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2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4436-D7A0-9AA8-F462-1A7FB71C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Quantity Theory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8E5D2-8A02-0E55-0667-ECA9E90E1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The Quantity Theory of Money (QTM) explains the relationship between the money supply, price level, and real output in an economy. </a:t>
            </a:r>
          </a:p>
          <a:p>
            <a:r>
              <a:rPr lang="en-US" sz="2400"/>
              <a:t>If the money supply grows faster than </a:t>
            </a:r>
          </a:p>
          <a:p>
            <a:pPr lvl="1"/>
            <a:r>
              <a:rPr lang="en-US" dirty="0"/>
              <a:t>real output, the general price level tends to rise,</a:t>
            </a:r>
          </a:p>
          <a:p>
            <a:pPr lvl="1"/>
            <a:r>
              <a:rPr lang="en-US" dirty="0"/>
              <a:t> causing inflation.</a:t>
            </a:r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3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823E-97D6-B2F8-A7CB-CA3862A7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Quantity Theory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EAE5-EBE6-31F2-1541-54EFC42F9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theory is expressed through the equation:</a:t>
            </a:r>
          </a:p>
          <a:p>
            <a:pPr marL="0" indent="0" algn="ctr">
              <a:buNone/>
            </a:pPr>
            <a:r>
              <a:rPr lang="en-US" dirty="0"/>
              <a:t>MV=PY​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CB01B1D-C682-91E3-8C27-3C215D610B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1971483"/>
                  </p:ext>
                </p:extLst>
              </p:nvPr>
            </p:nvGraphicFramePr>
            <p:xfrm>
              <a:off x="2594658" y="2904014"/>
              <a:ext cx="7002684" cy="2194560"/>
            </p:xfrm>
            <a:graphic>
              <a:graphicData uri="http://schemas.openxmlformats.org/drawingml/2006/table">
                <a:tbl>
                  <a:tblPr>
                    <a:tableStyleId>{00A15C55-8517-42AA-B614-E9B94910E393}</a:tableStyleId>
                  </a:tblPr>
                  <a:tblGrid>
                    <a:gridCol w="2599134">
                      <a:extLst>
                        <a:ext uri="{9D8B030D-6E8A-4147-A177-3AD203B41FA5}">
                          <a16:colId xmlns:a16="http://schemas.microsoft.com/office/drawing/2014/main" val="1734077393"/>
                        </a:ext>
                      </a:extLst>
                    </a:gridCol>
                    <a:gridCol w="4403550">
                      <a:extLst>
                        <a:ext uri="{9D8B030D-6E8A-4147-A177-3AD203B41FA5}">
                          <a16:colId xmlns:a16="http://schemas.microsoft.com/office/drawing/2014/main" val="302778550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3385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/>
                                  <m:t>𝑀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Money supply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62061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/>
                                  <m:t>𝑉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Velocity of circulation of money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96141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/>
                                  <m:t>𝑃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General price level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65372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/>
                                  <m:t>𝑌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Real output (real GDP)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87233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/>
                                  <m:t>𝑃𝑌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Nominal GDP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2075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CB01B1D-C682-91E3-8C27-3C215D610B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1971483"/>
                  </p:ext>
                </p:extLst>
              </p:nvPr>
            </p:nvGraphicFramePr>
            <p:xfrm>
              <a:off x="2594658" y="2904014"/>
              <a:ext cx="7002684" cy="2194560"/>
            </p:xfrm>
            <a:graphic>
              <a:graphicData uri="http://schemas.openxmlformats.org/drawingml/2006/table">
                <a:tbl>
                  <a:tblPr>
                    <a:tableStyleId>{00A15C55-8517-42AA-B614-E9B94910E393}</a:tableStyleId>
                  </a:tblPr>
                  <a:tblGrid>
                    <a:gridCol w="2599134">
                      <a:extLst>
                        <a:ext uri="{9D8B030D-6E8A-4147-A177-3AD203B41FA5}">
                          <a16:colId xmlns:a16="http://schemas.microsoft.com/office/drawing/2014/main" val="1734077393"/>
                        </a:ext>
                      </a:extLst>
                    </a:gridCol>
                    <a:gridCol w="4403550">
                      <a:extLst>
                        <a:ext uri="{9D8B030D-6E8A-4147-A177-3AD203B41FA5}">
                          <a16:colId xmlns:a16="http://schemas.microsoft.com/office/drawing/2014/main" val="302778550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33857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4" t="-106667" r="-16978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Money supply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62061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4" t="-203279" r="-16978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Velocity of circulation of money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9614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4" t="-308333" r="-16978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General price level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653721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4" t="-408333" r="-16978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Real output (real GDP)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87233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4" t="-508333" r="-169789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Nominal GDP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2075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8B3711C-614F-4884-D229-36EE6B8ECB4F}"/>
              </a:ext>
            </a:extLst>
          </p:cNvPr>
          <p:cNvSpPr txBox="1"/>
          <p:nvPr/>
        </p:nvSpPr>
        <p:spPr>
          <a:xfrm>
            <a:off x="2202084" y="564318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Money Supply × Velocity = Price Level × Real Output</a:t>
            </a:r>
          </a:p>
        </p:txBody>
      </p:sp>
    </p:spTree>
    <p:extLst>
      <p:ext uri="{BB962C8B-B14F-4D97-AF65-F5344CB8AC3E}">
        <p14:creationId xmlns:p14="http://schemas.microsoft.com/office/powerpoint/2010/main" val="3411408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37C32-2E1E-763D-35E3-F370AA219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What is Velocity of Money?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ADC172-71E0-8DDD-9521-99902B78A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000" b="1"/>
                  <a:t>Velocity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b="1"/>
                  <a:t>)</a:t>
                </a:r>
                <a:r>
                  <a:rPr lang="en-US" sz="2000"/>
                  <a:t> measures how many times, on average, a unit of money is used to purchase final goods and services during a period.</a:t>
                </a:r>
              </a:p>
              <a:p>
                <a:pPr marL="0" indent="0">
                  <a:buNone/>
                </a:pPr>
                <a:r>
                  <a:rPr lang="en-US" sz="2000"/>
                  <a:t>V=PY​​/ M</a:t>
                </a:r>
              </a:p>
              <a:p>
                <a:r>
                  <a:rPr lang="en-US" sz="2000" i="1"/>
                  <a:t>Example</a:t>
                </a:r>
              </a:p>
              <a:p>
                <a:r>
                  <a:rPr lang="en-US" sz="2000"/>
                  <a:t>Suppose, Money supply = Tk. 1,000 billion  and Nominal GDP (PY) = Tk. 10,000 billion </a:t>
                </a:r>
              </a:p>
              <a:p>
                <a:r>
                  <a:rPr lang="en-US" sz="2000"/>
                  <a:t>Then,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10,000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1,000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000"/>
              </a:p>
              <a:p>
                <a:r>
                  <a:rPr lang="en-US" sz="2000"/>
                  <a:t>This means each taka is used, on average, </a:t>
                </a:r>
                <a:r>
                  <a:rPr lang="en-US" sz="2000" b="1"/>
                  <a:t>10 times</a:t>
                </a:r>
                <a:r>
                  <a:rPr lang="en-US" sz="2000"/>
                  <a:t> to support transactions represented in nominal GDP.</a:t>
                </a:r>
              </a:p>
              <a:p>
                <a:endParaRPr lang="en-US" sz="20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ADC172-71E0-8DDD-9521-99902B78A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  <a:blipFill>
                <a:blip r:embed="rId2"/>
                <a:stretch>
                  <a:fillRect l="-1210" t="-1277" r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52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136BE-5ED0-BCD1-DDC2-69EEDBC7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Classical Quantity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20252-C2E3-54B7-FB55-85ABB0F70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b="1" dirty="0"/>
                  <a:t>Assumption 1: Velocity is stable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/>
                      <m:t>constant</m:t>
                    </m:r>
                  </m:oMath>
                </a14:m>
                <a:endParaRPr lang="en-US" sz="2000" b="0" dirty="0"/>
              </a:p>
              <a:p>
                <a:r>
                  <a:rPr lang="en-US" sz="2000" b="1" dirty="0"/>
                  <a:t>Assumption 2: Real output is determined by real factors</a:t>
                </a:r>
              </a:p>
              <a:p>
                <a:pPr lvl="1"/>
                <a:r>
                  <a:rPr lang="en-US" sz="2000" dirty="0"/>
                  <a:t>In the long run,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is determined by factors such as:</a:t>
                </a:r>
              </a:p>
              <a:p>
                <a:pPr lvl="2"/>
                <a:r>
                  <a:rPr lang="en-US" dirty="0" err="1"/>
                  <a:t>Labour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Capital </a:t>
                </a:r>
              </a:p>
              <a:p>
                <a:pPr lvl="2"/>
                <a:r>
                  <a:rPr lang="en-US" dirty="0"/>
                  <a:t>Technology </a:t>
                </a:r>
              </a:p>
              <a:p>
                <a:pPr lvl="2"/>
                <a:r>
                  <a:rPr lang="en-US" dirty="0"/>
                  <a:t>Natural resources </a:t>
                </a:r>
              </a:p>
              <a:p>
                <a:pPr lvl="2"/>
                <a:r>
                  <a:rPr lang="en-US" dirty="0"/>
                  <a:t>Productivity </a:t>
                </a:r>
              </a:p>
              <a:p>
                <a:r>
                  <a:rPr lang="en-US" sz="2000" dirty="0"/>
                  <a:t>Therefore, changes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mainly affect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Starting with: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𝑃𝑌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are constant: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↑⇒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Therefore:</a:t>
                </a:r>
              </a:p>
              <a:p>
                <a:pPr lvl="1"/>
                <a:r>
                  <a:rPr lang="en-US" sz="2000" dirty="0"/>
                  <a:t>Money supply growth → Inflation​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20252-C2E3-54B7-FB55-85ABB0F70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  <a:blipFill>
                <a:blip r:embed="rId2"/>
                <a:stretch>
                  <a:fillRect l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24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566E8BD6-F224-B858-26DB-8F886B56C4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4449" b="965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F629E8-0D97-C33F-9483-FAE77618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Macroeconomic Policy Framework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32AEA-BA4D-B077-338C-DC26BC448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Macroeconomic policy refers to government actions designed to influence the overall performance of an economy.</a:t>
            </a:r>
          </a:p>
          <a:p>
            <a:r>
              <a:rPr lang="en-US">
                <a:solidFill>
                  <a:srgbClr val="FFFFFF"/>
                </a:solidFill>
              </a:rPr>
              <a:t>The major goals are: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Economic growth</a:t>
            </a: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Price stability</a:t>
            </a: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Full employment</a:t>
            </a: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Balance of payments/external stability</a:t>
            </a: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Financial stability</a:t>
            </a: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Exchange-rate stability</a:t>
            </a:r>
            <a:r>
              <a:rPr lang="en-US">
                <a:solidFill>
                  <a:srgbClr val="FFFFFF"/>
                </a:solidFill>
              </a:rPr>
              <a:t>, where relevant </a:t>
            </a:r>
          </a:p>
          <a:p>
            <a:r>
              <a:rPr lang="en-US">
                <a:solidFill>
                  <a:srgbClr val="FFFFFF"/>
                </a:solidFill>
              </a:rPr>
              <a:t>Two major instruments are:</a:t>
            </a:r>
          </a:p>
          <a:p>
            <a:pPr lvl="1"/>
            <a:r>
              <a:rPr lang="en-US" b="1">
                <a:solidFill>
                  <a:srgbClr val="FFFFFF"/>
                </a:solidFill>
              </a:rPr>
              <a:t>Monetary Policy → Central Bank</a:t>
            </a:r>
            <a:endParaRPr lang="en-US">
              <a:solidFill>
                <a:srgbClr val="FFFFFF"/>
              </a:solidFill>
            </a:endParaRPr>
          </a:p>
          <a:p>
            <a:pPr lvl="1"/>
            <a:r>
              <a:rPr lang="en-US" b="1">
                <a:solidFill>
                  <a:srgbClr val="FFFFFF"/>
                </a:solidFill>
              </a:rPr>
              <a:t>Fiscal Policy → Government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04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64F63-BAEB-5A3A-FA1C-A12684DD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Monetary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99CBC-9644-9916-9DC7-C67314285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Monetary policy</a:t>
            </a:r>
            <a:r>
              <a:rPr lang="en-US" sz="2000"/>
              <a:t> is the use of monetary and financial instruments by a central bank to influence:</a:t>
            </a:r>
          </a:p>
          <a:p>
            <a:pPr lvl="1"/>
            <a:r>
              <a:rPr lang="en-US" sz="2000"/>
              <a:t>Money supply </a:t>
            </a:r>
          </a:p>
          <a:p>
            <a:pPr lvl="1"/>
            <a:r>
              <a:rPr lang="en-US" sz="2000"/>
              <a:t>Interest rates </a:t>
            </a:r>
          </a:p>
          <a:p>
            <a:pPr lvl="1"/>
            <a:r>
              <a:rPr lang="en-US" sz="2000"/>
              <a:t>Credit conditions </a:t>
            </a:r>
          </a:p>
          <a:p>
            <a:pPr lvl="1"/>
            <a:r>
              <a:rPr lang="en-US" sz="2000"/>
              <a:t>Inflation </a:t>
            </a:r>
          </a:p>
          <a:p>
            <a:pPr lvl="1"/>
            <a:r>
              <a:rPr lang="en-US" sz="2000"/>
              <a:t>Aggregate demand </a:t>
            </a:r>
          </a:p>
          <a:p>
            <a:pPr lvl="1"/>
            <a:r>
              <a:rPr lang="en-US" sz="2000"/>
              <a:t>Exchange-rate and financial conditions </a:t>
            </a:r>
          </a:p>
          <a:p>
            <a:r>
              <a:rPr lang="en-US" sz="2000"/>
              <a:t>The ultimate objective is generally to maintain price and macroeconomic stability while supporting sustainable economic growth.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7421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0C67E-C436-504E-4D47-B6058EB4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Who Conducts Monetary Policy?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2F8E5E-D397-5F44-B8AB-B11722307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1544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781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FBD10-5511-8322-415E-92B6317F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Objectives of Monetary Policy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950D9C-AC64-A5A6-D6AE-47A3D8CCB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8029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023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4376A-FA9F-869F-FB69-1A83591E5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Two types of Monetary Policy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4BA260-218B-D887-EEE9-E18F9671B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855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48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9B0BB-72C6-E9A6-E01F-E6C48B24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Expansionary Monetary Policy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DBCE5-A229-94A5-3E36-1F8513A2C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/>
              <a:t>Expansionary monetary policy is used when the economy is weak or aggregate demand is insufficient.</a:t>
            </a:r>
          </a:p>
          <a:p>
            <a:r>
              <a:rPr lang="en-US" sz="2600" b="1"/>
              <a:t>Money/credit conditions ↑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→ Interest rate ↓</a:t>
            </a:r>
          </a:p>
          <a:p>
            <a:pPr marL="0" indent="0">
              <a:buNone/>
            </a:pPr>
            <a:r>
              <a:rPr lang="en-US" sz="2600"/>
              <a:t>→ Investment ↑</a:t>
            </a:r>
          </a:p>
          <a:p>
            <a:pPr marL="0" indent="0">
              <a:buNone/>
            </a:pPr>
            <a:r>
              <a:rPr lang="en-US" sz="2600"/>
              <a:t>→ Consumption ↑</a:t>
            </a:r>
          </a:p>
          <a:p>
            <a:pPr marL="0" indent="0">
              <a:buNone/>
            </a:pPr>
            <a:r>
              <a:rPr lang="en-US" sz="2600"/>
              <a:t>→ AD ↑</a:t>
            </a:r>
          </a:p>
          <a:p>
            <a:pPr marL="0" indent="0">
              <a:buNone/>
            </a:pPr>
            <a:r>
              <a:rPr lang="en-US" sz="2600"/>
              <a:t>→ Real GDP ↑</a:t>
            </a:r>
          </a:p>
          <a:p>
            <a:pPr marL="0" indent="0">
              <a:buNone/>
            </a:pPr>
            <a:r>
              <a:rPr lang="en-US" sz="2600"/>
              <a:t>→ Employment ↑</a:t>
            </a:r>
          </a:p>
          <a:p>
            <a:r>
              <a:rPr lang="en-US" sz="2600"/>
              <a:t>Potential problem:</a:t>
            </a:r>
          </a:p>
          <a:p>
            <a:pPr marL="0" indent="0">
              <a:buNone/>
            </a:pPr>
            <a:r>
              <a:rPr lang="en-US" sz="2600"/>
              <a:t>→ </a:t>
            </a:r>
            <a:r>
              <a:rPr lang="en-US" sz="2600" b="1"/>
              <a:t>Inflation ↑</a:t>
            </a:r>
            <a:endParaRPr lang="en-US" sz="2600"/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04490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0234A-FDEC-8E83-348E-9758E5F0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Contractionary Monetary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4C97-40ED-C97A-A57C-7C543399E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Contractionary monetary policy is used when inflationary pressure is excessive.</a:t>
            </a:r>
          </a:p>
          <a:p>
            <a:r>
              <a:rPr lang="en-US" sz="2000" b="1"/>
              <a:t>Mechanism</a:t>
            </a:r>
          </a:p>
          <a:p>
            <a:pPr lvl="1"/>
            <a:r>
              <a:rPr lang="en-US" sz="2000"/>
              <a:t>Money/credit conditions ↓</a:t>
            </a:r>
          </a:p>
          <a:p>
            <a:pPr lvl="1"/>
            <a:r>
              <a:rPr lang="en-US" sz="2000"/>
              <a:t>→ Interest rate ↑</a:t>
            </a:r>
          </a:p>
          <a:p>
            <a:pPr lvl="1"/>
            <a:r>
              <a:rPr lang="en-US" sz="2000"/>
              <a:t>→ Investment ↓</a:t>
            </a:r>
          </a:p>
          <a:p>
            <a:pPr lvl="1"/>
            <a:r>
              <a:rPr lang="en-US" sz="2000"/>
              <a:t>→ Consumption ↓</a:t>
            </a:r>
          </a:p>
          <a:p>
            <a:pPr lvl="1"/>
            <a:r>
              <a:rPr lang="en-US" sz="2000"/>
              <a:t>→ AD ↓</a:t>
            </a:r>
          </a:p>
          <a:p>
            <a:pPr lvl="1"/>
            <a:r>
              <a:rPr lang="en-US" sz="2000"/>
              <a:t>→ Inflation ↓</a:t>
            </a:r>
          </a:p>
          <a:p>
            <a:r>
              <a:rPr lang="en-US" sz="2000"/>
              <a:t>But:</a:t>
            </a:r>
          </a:p>
          <a:p>
            <a:pPr lvl="1"/>
            <a:r>
              <a:rPr lang="en-US" sz="2000"/>
              <a:t>→ Economic growth may slow.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1021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500DF9-359F-2A32-2959-B6535DBBD5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44403-DA9E-C8A9-40DE-F9AB5110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Monetary Policy Instruments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062E2B-D9CD-EFC7-6304-407F7BA92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2038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45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A4454-79BF-9CA8-A994-5F8C280C3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Fiscal Policy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17408-D0D8-5C5A-1FF7-0B16C004E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Fiscal policy</a:t>
            </a:r>
            <a:r>
              <a:rPr lang="en-US" dirty="0"/>
              <a:t> refers to government decisions regarding:</a:t>
            </a:r>
          </a:p>
          <a:p>
            <a:pPr lvl="1"/>
            <a:r>
              <a:rPr lang="en-US" dirty="0"/>
              <a:t>Government expenditure (G) </a:t>
            </a:r>
          </a:p>
          <a:p>
            <a:pPr lvl="1"/>
            <a:r>
              <a:rPr lang="en-US" dirty="0"/>
              <a:t>Taxation (T) </a:t>
            </a:r>
          </a:p>
          <a:p>
            <a:pPr lvl="1"/>
            <a:r>
              <a:rPr lang="en-US" dirty="0"/>
              <a:t>Government transfers </a:t>
            </a:r>
          </a:p>
          <a:p>
            <a:r>
              <a:rPr lang="en-US" dirty="0"/>
              <a:t>to influence economic activity.</a:t>
            </a:r>
          </a:p>
          <a:p>
            <a:pPr lvl="1"/>
            <a:r>
              <a:rPr lang="en-US" dirty="0"/>
              <a:t>Aggregate demand </a:t>
            </a:r>
          </a:p>
          <a:p>
            <a:pPr lvl="1"/>
            <a:r>
              <a:rPr lang="en-US" dirty="0"/>
              <a:t>Output </a:t>
            </a:r>
          </a:p>
          <a:p>
            <a:pPr lvl="1"/>
            <a:r>
              <a:rPr lang="en-US" dirty="0"/>
              <a:t>Employment </a:t>
            </a:r>
          </a:p>
          <a:p>
            <a:pPr lvl="1"/>
            <a:r>
              <a:rPr lang="en-US" dirty="0"/>
              <a:t>Inflation </a:t>
            </a:r>
          </a:p>
          <a:p>
            <a:pPr lvl="1"/>
            <a:r>
              <a:rPr lang="en-US" dirty="0"/>
              <a:t>Income distribution </a:t>
            </a:r>
          </a:p>
          <a:p>
            <a:pPr lvl="1"/>
            <a:r>
              <a:rPr lang="en-US" dirty="0"/>
              <a:t>Economic growth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0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7EDB4-A59F-3944-31BE-99FF2101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Components of Fiscal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2E810-D53C-E6F7-CACF-AB472644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Government expenditure can include:</a:t>
            </a:r>
          </a:p>
          <a:p>
            <a:r>
              <a:rPr lang="en-US" sz="2000" b="1"/>
              <a:t>Current expenditure</a:t>
            </a:r>
          </a:p>
          <a:p>
            <a:pPr lvl="1"/>
            <a:r>
              <a:rPr lang="en-US" sz="2000"/>
              <a:t>Salaries </a:t>
            </a:r>
          </a:p>
          <a:p>
            <a:pPr lvl="1"/>
            <a:r>
              <a:rPr lang="en-US" sz="2000"/>
              <a:t>Administration </a:t>
            </a:r>
          </a:p>
          <a:p>
            <a:pPr lvl="1"/>
            <a:r>
              <a:rPr lang="en-US" sz="2000"/>
              <a:t>Subsidies </a:t>
            </a:r>
          </a:p>
          <a:p>
            <a:pPr lvl="1"/>
            <a:r>
              <a:rPr lang="en-US" sz="2000"/>
              <a:t>Interest payments </a:t>
            </a:r>
          </a:p>
          <a:p>
            <a:r>
              <a:rPr lang="en-US" sz="2000" b="1"/>
              <a:t>Development expenditure</a:t>
            </a:r>
          </a:p>
          <a:p>
            <a:pPr lvl="1"/>
            <a:r>
              <a:rPr lang="en-US" sz="2000"/>
              <a:t>Roads </a:t>
            </a:r>
          </a:p>
          <a:p>
            <a:pPr lvl="1"/>
            <a:r>
              <a:rPr lang="en-US" sz="2000"/>
              <a:t>Bridges </a:t>
            </a:r>
          </a:p>
          <a:p>
            <a:pPr lvl="1"/>
            <a:r>
              <a:rPr lang="en-US" sz="2000"/>
              <a:t>Infrastructure </a:t>
            </a:r>
          </a:p>
          <a:p>
            <a:pPr lvl="1"/>
            <a:r>
              <a:rPr lang="en-US" sz="2000"/>
              <a:t>Education </a:t>
            </a:r>
          </a:p>
          <a:p>
            <a:pPr lvl="1"/>
            <a:r>
              <a:rPr lang="en-US" sz="2000"/>
              <a:t>Health </a:t>
            </a:r>
          </a:p>
          <a:p>
            <a:pPr lvl="1"/>
            <a:r>
              <a:rPr lang="en-US" sz="2000"/>
              <a:t>Energy </a:t>
            </a:r>
          </a:p>
          <a:p>
            <a:pPr lvl="1"/>
            <a:r>
              <a:rPr lang="en-US" sz="2000"/>
              <a:t>Digital infrastructure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95373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36A7-BC20-0EFD-2700-E2E21D79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Expansionary Fiscal Policy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38870-7E57-A4FC-AAA8-F3ED637A4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Govt uses this policy when the economy is experiencing:</a:t>
                </a:r>
              </a:p>
              <a:p>
                <a:pPr lvl="1"/>
                <a:r>
                  <a:rPr lang="en-US" dirty="0"/>
                  <a:t>Recession </a:t>
                </a:r>
              </a:p>
              <a:p>
                <a:pPr lvl="1"/>
                <a:r>
                  <a:rPr lang="en-US" dirty="0"/>
                  <a:t>Low demand </a:t>
                </a:r>
              </a:p>
              <a:p>
                <a:pPr lvl="1"/>
                <a:r>
                  <a:rPr lang="en-US" dirty="0"/>
                  <a:t>High unemployment </a:t>
                </a:r>
              </a:p>
              <a:p>
                <a:pPr lvl="1"/>
                <a:r>
                  <a:rPr lang="en-US" dirty="0"/>
                  <a:t>Weak investment</a:t>
                </a:r>
              </a:p>
              <a:p>
                <a:r>
                  <a:rPr lang="en-US" b="1" dirty="0"/>
                  <a:t>Increase government spending </a:t>
                </a:r>
                <a14:m>
                  <m:oMath xmlns:m="http://schemas.openxmlformats.org/officeDocument/2006/math">
                    <m:r>
                      <a:rPr lang="en-US" i="1"/>
                      <m:t>𝐺</m:t>
                    </m:r>
                    <m:r>
                      <a:rPr lang="en-US"/>
                      <m:t>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or</a:t>
                </a:r>
              </a:p>
              <a:p>
                <a:r>
                  <a:rPr lang="en-US" b="1" dirty="0"/>
                  <a:t>Reduce taxes </a:t>
                </a:r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  <m:r>
                      <a:rPr lang="en-US"/>
                      <m:t>↓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or</a:t>
                </a:r>
              </a:p>
              <a:p>
                <a:r>
                  <a:rPr lang="en-US" dirty="0"/>
                  <a:t> both.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38870-7E57-A4FC-AAA8-F3ED637A4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66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300DB-ECA1-69EC-33B3-26BAACB30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Contractionary Fiscal Policy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8DE15-9B85-FE76-842F-D69359AA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Used when inflationary pressure is excessive.</a:t>
            </a:r>
          </a:p>
          <a:p>
            <a:r>
              <a:rPr lang="en-US" sz="2400"/>
              <a:t>Government can:</a:t>
            </a:r>
          </a:p>
          <a:p>
            <a:pPr lvl="1"/>
            <a:r>
              <a:rPr lang="en-US" dirty="0"/>
              <a:t>Reduce government expenditure </a:t>
            </a:r>
          </a:p>
          <a:p>
            <a:pPr lvl="1"/>
            <a:r>
              <a:rPr lang="en-US" dirty="0"/>
              <a:t>Increase taxes </a:t>
            </a:r>
          </a:p>
          <a:p>
            <a:pPr lvl="1"/>
            <a:r>
              <a:rPr lang="en-US" dirty="0"/>
              <a:t>Reduce transfers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13839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735</Words>
  <Application>Microsoft Office PowerPoint</Application>
  <PresentationFormat>Widescreen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Office Theme</vt:lpstr>
      <vt:lpstr>Monetary Policy and  Fiscal Policy </vt:lpstr>
      <vt:lpstr>Quantity Theory of Money</vt:lpstr>
      <vt:lpstr>Quantity Theory of Money</vt:lpstr>
      <vt:lpstr>What is Velocity of Money?</vt:lpstr>
      <vt:lpstr>Classical Quantity Theory</vt:lpstr>
      <vt:lpstr>Macroeconomic Policy Framework</vt:lpstr>
      <vt:lpstr>Monetary Policy</vt:lpstr>
      <vt:lpstr>Who Conducts Monetary Policy?</vt:lpstr>
      <vt:lpstr>Objectives of Monetary Policy</vt:lpstr>
      <vt:lpstr>Two types of Monetary Policy</vt:lpstr>
      <vt:lpstr>Expansionary Monetary Policy</vt:lpstr>
      <vt:lpstr>Contractionary Monetary Policy</vt:lpstr>
      <vt:lpstr>Monetary Policy Instruments</vt:lpstr>
      <vt:lpstr>Fiscal Policy</vt:lpstr>
      <vt:lpstr>Components of Fiscal Policy</vt:lpstr>
      <vt:lpstr>Expansionary Fiscal Policy</vt:lpstr>
      <vt:lpstr>Contractionary Fiscal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 Mamun, PhD, FCMA</dc:creator>
  <cp:lastModifiedBy>Syed A Mamun, PhD, FCMA</cp:lastModifiedBy>
  <cp:revision>2</cp:revision>
  <dcterms:created xsi:type="dcterms:W3CDTF">2026-09-02T07:40:23Z</dcterms:created>
  <dcterms:modified xsi:type="dcterms:W3CDTF">2026-09-02T08:30:24Z</dcterms:modified>
</cp:coreProperties>
</file>