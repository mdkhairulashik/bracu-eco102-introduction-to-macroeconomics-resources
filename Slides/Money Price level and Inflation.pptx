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5" r:id="rId8"/>
    <p:sldId id="263" r:id="rId9"/>
    <p:sldId id="264" r:id="rId10"/>
    <p:sldId id="262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5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#10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1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799F77-A721-45C5-A8EF-1B042BAE4E49}" type="doc">
      <dgm:prSet loTypeId="urn:microsoft.com/office/officeart/2005/8/layout/vList2" loCatId="list" qsTypeId="urn:microsoft.com/office/officeart/2005/8/quickstyle/simple4#5" qsCatId="simple" csTypeId="urn:microsoft.com/office/officeart/2005/8/colors/colorful2#5" csCatId="colorful"/>
      <dgm:spPr/>
      <dgm:t>
        <a:bodyPr/>
        <a:lstStyle/>
        <a:p>
          <a:endParaRPr lang="en-US"/>
        </a:p>
      </dgm:t>
    </dgm:pt>
    <dgm:pt modelId="{DE471525-B17A-4A30-B8A7-E316298A63DD}">
      <dgm:prSet/>
      <dgm:spPr/>
      <dgm:t>
        <a:bodyPr/>
        <a:lstStyle/>
        <a:p>
          <a:r>
            <a:rPr lang="en-US" b="1"/>
            <a:t>Money is anything that is generally accepted as a means of payment.</a:t>
          </a:r>
          <a:endParaRPr lang="en-US"/>
        </a:p>
      </dgm:t>
    </dgm:pt>
    <dgm:pt modelId="{95836013-19F2-4876-A55A-659AF4628FF9}" type="parTrans" cxnId="{1D4363F1-A273-4DBC-B4E7-8D032E42D7BA}">
      <dgm:prSet/>
      <dgm:spPr/>
      <dgm:t>
        <a:bodyPr/>
        <a:lstStyle/>
        <a:p>
          <a:endParaRPr lang="en-US"/>
        </a:p>
      </dgm:t>
    </dgm:pt>
    <dgm:pt modelId="{64D3A103-F9DF-47F1-99AF-CF73182FD5CF}" type="sibTrans" cxnId="{1D4363F1-A273-4DBC-B4E7-8D032E42D7BA}">
      <dgm:prSet/>
      <dgm:spPr/>
      <dgm:t>
        <a:bodyPr/>
        <a:lstStyle/>
        <a:p>
          <a:endParaRPr lang="en-US"/>
        </a:p>
      </dgm:t>
    </dgm:pt>
    <dgm:pt modelId="{33A97923-2CAA-401C-8756-84961147DC5D}">
      <dgm:prSet/>
      <dgm:spPr/>
      <dgm:t>
        <a:bodyPr/>
        <a:lstStyle/>
        <a:p>
          <a:r>
            <a:rPr lang="en-US"/>
            <a:t>A </a:t>
          </a:r>
          <a:r>
            <a:rPr lang="en-US" b="1"/>
            <a:t>means of payment</a:t>
          </a:r>
          <a:r>
            <a:rPr lang="en-US"/>
            <a:t> is something used to settle a debt or transaction.</a:t>
          </a:r>
        </a:p>
      </dgm:t>
    </dgm:pt>
    <dgm:pt modelId="{6312C1BD-2294-4B84-8600-DA11B74E2031}" type="parTrans" cxnId="{30C9089A-E5C7-431C-BC61-E1D372DAF7E9}">
      <dgm:prSet/>
      <dgm:spPr/>
      <dgm:t>
        <a:bodyPr/>
        <a:lstStyle/>
        <a:p>
          <a:endParaRPr lang="en-US"/>
        </a:p>
      </dgm:t>
    </dgm:pt>
    <dgm:pt modelId="{D4FD6738-2EE4-4489-8F33-CB0C094279D6}" type="sibTrans" cxnId="{30C9089A-E5C7-431C-BC61-E1D372DAF7E9}">
      <dgm:prSet/>
      <dgm:spPr/>
      <dgm:t>
        <a:bodyPr/>
        <a:lstStyle/>
        <a:p>
          <a:endParaRPr lang="en-US"/>
        </a:p>
      </dgm:t>
    </dgm:pt>
    <dgm:pt modelId="{4EE51A8F-01D8-4D76-98CC-2552171FD28B}">
      <dgm:prSet/>
      <dgm:spPr/>
      <dgm:t>
        <a:bodyPr/>
        <a:lstStyle/>
        <a:p>
          <a:r>
            <a:rPr lang="en-US"/>
            <a:t>Money performs three major economic functions:</a:t>
          </a:r>
        </a:p>
      </dgm:t>
    </dgm:pt>
    <dgm:pt modelId="{6DBFA5A1-6E38-48C4-BB5E-0E8649DDD8ED}" type="parTrans" cxnId="{AE853EC3-A24E-4346-8CAD-1AB6624CE295}">
      <dgm:prSet/>
      <dgm:spPr/>
      <dgm:t>
        <a:bodyPr/>
        <a:lstStyle/>
        <a:p>
          <a:endParaRPr lang="en-US"/>
        </a:p>
      </dgm:t>
    </dgm:pt>
    <dgm:pt modelId="{21F2183B-DE7A-4365-99CC-13F82C192C70}" type="sibTrans" cxnId="{AE853EC3-A24E-4346-8CAD-1AB6624CE295}">
      <dgm:prSet/>
      <dgm:spPr/>
      <dgm:t>
        <a:bodyPr/>
        <a:lstStyle/>
        <a:p>
          <a:endParaRPr lang="en-US"/>
        </a:p>
      </dgm:t>
    </dgm:pt>
    <dgm:pt modelId="{5BD97A33-9C33-4CF4-A821-845CF8B820CC}">
      <dgm:prSet/>
      <dgm:spPr/>
      <dgm:t>
        <a:bodyPr/>
        <a:lstStyle/>
        <a:p>
          <a:r>
            <a:rPr lang="en-US"/>
            <a:t>Medium of Exchange</a:t>
          </a:r>
        </a:p>
      </dgm:t>
    </dgm:pt>
    <dgm:pt modelId="{A3409EE8-6A7F-41AC-93EA-4F99F11597E2}" type="parTrans" cxnId="{CC964261-AE35-4F21-A430-1B4D8520FE20}">
      <dgm:prSet/>
      <dgm:spPr/>
      <dgm:t>
        <a:bodyPr/>
        <a:lstStyle/>
        <a:p>
          <a:endParaRPr lang="en-US"/>
        </a:p>
      </dgm:t>
    </dgm:pt>
    <dgm:pt modelId="{D4301FF9-6835-49CF-96A0-C8DB6A01E8CE}" type="sibTrans" cxnId="{CC964261-AE35-4F21-A430-1B4D8520FE20}">
      <dgm:prSet/>
      <dgm:spPr/>
      <dgm:t>
        <a:bodyPr/>
        <a:lstStyle/>
        <a:p>
          <a:endParaRPr lang="en-US"/>
        </a:p>
      </dgm:t>
    </dgm:pt>
    <dgm:pt modelId="{58E51915-6407-4994-BB29-3F82AD4783A8}">
      <dgm:prSet/>
      <dgm:spPr/>
      <dgm:t>
        <a:bodyPr/>
        <a:lstStyle/>
        <a:p>
          <a:r>
            <a:rPr lang="en-US"/>
            <a:t>Unit of Account</a:t>
          </a:r>
        </a:p>
      </dgm:t>
    </dgm:pt>
    <dgm:pt modelId="{35BEFE4D-76FB-4B54-BAE0-D27DBBFB8DCF}" type="parTrans" cxnId="{FEB76424-6B89-44BA-83B9-F2C5A811D3ED}">
      <dgm:prSet/>
      <dgm:spPr/>
      <dgm:t>
        <a:bodyPr/>
        <a:lstStyle/>
        <a:p>
          <a:endParaRPr lang="en-US"/>
        </a:p>
      </dgm:t>
    </dgm:pt>
    <dgm:pt modelId="{6ACA351F-D566-485B-B159-F3E7C9D0FF0C}" type="sibTrans" cxnId="{FEB76424-6B89-44BA-83B9-F2C5A811D3ED}">
      <dgm:prSet/>
      <dgm:spPr/>
      <dgm:t>
        <a:bodyPr/>
        <a:lstStyle/>
        <a:p>
          <a:endParaRPr lang="en-US"/>
        </a:p>
      </dgm:t>
    </dgm:pt>
    <dgm:pt modelId="{0B2528B4-DBCC-4B14-903A-7866561807F7}">
      <dgm:prSet/>
      <dgm:spPr/>
      <dgm:t>
        <a:bodyPr/>
        <a:lstStyle/>
        <a:p>
          <a:r>
            <a:rPr lang="en-US"/>
            <a:t>Store of Value</a:t>
          </a:r>
        </a:p>
      </dgm:t>
    </dgm:pt>
    <dgm:pt modelId="{61E96A18-0C99-455E-9904-341AB0E4FE94}" type="parTrans" cxnId="{8098C8FB-804E-47CD-8158-AEF39B2CFC0D}">
      <dgm:prSet/>
      <dgm:spPr/>
      <dgm:t>
        <a:bodyPr/>
        <a:lstStyle/>
        <a:p>
          <a:endParaRPr lang="en-US"/>
        </a:p>
      </dgm:t>
    </dgm:pt>
    <dgm:pt modelId="{DCA37793-316C-443A-BD30-D4B3B4CDF909}" type="sibTrans" cxnId="{8098C8FB-804E-47CD-8158-AEF39B2CFC0D}">
      <dgm:prSet/>
      <dgm:spPr/>
      <dgm:t>
        <a:bodyPr/>
        <a:lstStyle/>
        <a:p>
          <a:endParaRPr lang="en-US"/>
        </a:p>
      </dgm:t>
    </dgm:pt>
    <dgm:pt modelId="{B02F8116-9CF7-41C2-9461-D3883924F5E9}" type="pres">
      <dgm:prSet presAssocID="{58799F77-A721-45C5-A8EF-1B042BAE4E49}" presName="linear" presStyleCnt="0">
        <dgm:presLayoutVars>
          <dgm:animLvl val="lvl"/>
          <dgm:resizeHandles val="exact"/>
        </dgm:presLayoutVars>
      </dgm:prSet>
      <dgm:spPr/>
    </dgm:pt>
    <dgm:pt modelId="{33420A76-BC5E-4345-A72E-8DF0F0CD374C}" type="pres">
      <dgm:prSet presAssocID="{DE471525-B17A-4A30-B8A7-E316298A63D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D7A1366-7E77-4312-8FF2-DE9B42C4582A}" type="pres">
      <dgm:prSet presAssocID="{64D3A103-F9DF-47F1-99AF-CF73182FD5CF}" presName="spacer" presStyleCnt="0"/>
      <dgm:spPr/>
    </dgm:pt>
    <dgm:pt modelId="{680C70E4-E940-44DC-87A5-F4C2752A30C5}" type="pres">
      <dgm:prSet presAssocID="{33A97923-2CAA-401C-8756-84961147DC5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E50231F-E012-4ECD-AAC6-0B7C5CB7E7EF}" type="pres">
      <dgm:prSet presAssocID="{D4FD6738-2EE4-4489-8F33-CB0C094279D6}" presName="spacer" presStyleCnt="0"/>
      <dgm:spPr/>
    </dgm:pt>
    <dgm:pt modelId="{23C66304-9469-4F96-B734-DA41BB4CF016}" type="pres">
      <dgm:prSet presAssocID="{4EE51A8F-01D8-4D76-98CC-2552171FD28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44801DF-E828-495B-978C-3B771856909E}" type="pres">
      <dgm:prSet presAssocID="{4EE51A8F-01D8-4D76-98CC-2552171FD28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8CBB200-176C-4D46-9DF9-A67191EF8FCD}" type="presOf" srcId="{58E51915-6407-4994-BB29-3F82AD4783A8}" destId="{544801DF-E828-495B-978C-3B771856909E}" srcOrd="0" destOrd="1" presId="urn:microsoft.com/office/officeart/2005/8/layout/vList2"/>
    <dgm:cxn modelId="{65E01D18-83EA-49BA-9B6C-8C083978DB03}" type="presOf" srcId="{33A97923-2CAA-401C-8756-84961147DC5D}" destId="{680C70E4-E940-44DC-87A5-F4C2752A30C5}" srcOrd="0" destOrd="0" presId="urn:microsoft.com/office/officeart/2005/8/layout/vList2"/>
    <dgm:cxn modelId="{FEB76424-6B89-44BA-83B9-F2C5A811D3ED}" srcId="{4EE51A8F-01D8-4D76-98CC-2552171FD28B}" destId="{58E51915-6407-4994-BB29-3F82AD4783A8}" srcOrd="1" destOrd="0" parTransId="{35BEFE4D-76FB-4B54-BAE0-D27DBBFB8DCF}" sibTransId="{6ACA351F-D566-485B-B159-F3E7C9D0FF0C}"/>
    <dgm:cxn modelId="{CC964261-AE35-4F21-A430-1B4D8520FE20}" srcId="{4EE51A8F-01D8-4D76-98CC-2552171FD28B}" destId="{5BD97A33-9C33-4CF4-A821-845CF8B820CC}" srcOrd="0" destOrd="0" parTransId="{A3409EE8-6A7F-41AC-93EA-4F99F11597E2}" sibTransId="{D4301FF9-6835-49CF-96A0-C8DB6A01E8CE}"/>
    <dgm:cxn modelId="{B89F0552-6EB8-44A6-B716-8311D65F1A00}" type="presOf" srcId="{58799F77-A721-45C5-A8EF-1B042BAE4E49}" destId="{B02F8116-9CF7-41C2-9461-D3883924F5E9}" srcOrd="0" destOrd="0" presId="urn:microsoft.com/office/officeart/2005/8/layout/vList2"/>
    <dgm:cxn modelId="{64D53091-6655-4274-9371-F115B2FE543E}" type="presOf" srcId="{0B2528B4-DBCC-4B14-903A-7866561807F7}" destId="{544801DF-E828-495B-978C-3B771856909E}" srcOrd="0" destOrd="2" presId="urn:microsoft.com/office/officeart/2005/8/layout/vList2"/>
    <dgm:cxn modelId="{10EFE494-42DD-44F4-9799-2722BDF8EDCD}" type="presOf" srcId="{DE471525-B17A-4A30-B8A7-E316298A63DD}" destId="{33420A76-BC5E-4345-A72E-8DF0F0CD374C}" srcOrd="0" destOrd="0" presId="urn:microsoft.com/office/officeart/2005/8/layout/vList2"/>
    <dgm:cxn modelId="{30C9089A-E5C7-431C-BC61-E1D372DAF7E9}" srcId="{58799F77-A721-45C5-A8EF-1B042BAE4E49}" destId="{33A97923-2CAA-401C-8756-84961147DC5D}" srcOrd="1" destOrd="0" parTransId="{6312C1BD-2294-4B84-8600-DA11B74E2031}" sibTransId="{D4FD6738-2EE4-4489-8F33-CB0C094279D6}"/>
    <dgm:cxn modelId="{0C440BA7-8062-47B4-9535-F7276A422A13}" type="presOf" srcId="{5BD97A33-9C33-4CF4-A821-845CF8B820CC}" destId="{544801DF-E828-495B-978C-3B771856909E}" srcOrd="0" destOrd="0" presId="urn:microsoft.com/office/officeart/2005/8/layout/vList2"/>
    <dgm:cxn modelId="{871B09A8-799A-4209-BFDD-75A424D10A96}" type="presOf" srcId="{4EE51A8F-01D8-4D76-98CC-2552171FD28B}" destId="{23C66304-9469-4F96-B734-DA41BB4CF016}" srcOrd="0" destOrd="0" presId="urn:microsoft.com/office/officeart/2005/8/layout/vList2"/>
    <dgm:cxn modelId="{AE853EC3-A24E-4346-8CAD-1AB6624CE295}" srcId="{58799F77-A721-45C5-A8EF-1B042BAE4E49}" destId="{4EE51A8F-01D8-4D76-98CC-2552171FD28B}" srcOrd="2" destOrd="0" parTransId="{6DBFA5A1-6E38-48C4-BB5E-0E8649DDD8ED}" sibTransId="{21F2183B-DE7A-4365-99CC-13F82C192C70}"/>
    <dgm:cxn modelId="{1D4363F1-A273-4DBC-B4E7-8D032E42D7BA}" srcId="{58799F77-A721-45C5-A8EF-1B042BAE4E49}" destId="{DE471525-B17A-4A30-B8A7-E316298A63DD}" srcOrd="0" destOrd="0" parTransId="{95836013-19F2-4876-A55A-659AF4628FF9}" sibTransId="{64D3A103-F9DF-47F1-99AF-CF73182FD5CF}"/>
    <dgm:cxn modelId="{8098C8FB-804E-47CD-8158-AEF39B2CFC0D}" srcId="{4EE51A8F-01D8-4D76-98CC-2552171FD28B}" destId="{0B2528B4-DBCC-4B14-903A-7866561807F7}" srcOrd="2" destOrd="0" parTransId="{61E96A18-0C99-455E-9904-341AB0E4FE94}" sibTransId="{DCA37793-316C-443A-BD30-D4B3B4CDF909}"/>
    <dgm:cxn modelId="{61D26A90-A9E3-426B-8F13-2EE9BA8930AD}" type="presParOf" srcId="{B02F8116-9CF7-41C2-9461-D3883924F5E9}" destId="{33420A76-BC5E-4345-A72E-8DF0F0CD374C}" srcOrd="0" destOrd="0" presId="urn:microsoft.com/office/officeart/2005/8/layout/vList2"/>
    <dgm:cxn modelId="{F3FABBC2-CE48-4AB6-96B1-3C8CCECCDE77}" type="presParOf" srcId="{B02F8116-9CF7-41C2-9461-D3883924F5E9}" destId="{0D7A1366-7E77-4312-8FF2-DE9B42C4582A}" srcOrd="1" destOrd="0" presId="urn:microsoft.com/office/officeart/2005/8/layout/vList2"/>
    <dgm:cxn modelId="{206760F0-3850-42D6-B5D6-2A2D820C9F77}" type="presParOf" srcId="{B02F8116-9CF7-41C2-9461-D3883924F5E9}" destId="{680C70E4-E940-44DC-87A5-F4C2752A30C5}" srcOrd="2" destOrd="0" presId="urn:microsoft.com/office/officeart/2005/8/layout/vList2"/>
    <dgm:cxn modelId="{2E52C140-FA12-45A3-A89A-8D1DC9E60A83}" type="presParOf" srcId="{B02F8116-9CF7-41C2-9461-D3883924F5E9}" destId="{7E50231F-E012-4ECD-AAC6-0B7C5CB7E7EF}" srcOrd="3" destOrd="0" presId="urn:microsoft.com/office/officeart/2005/8/layout/vList2"/>
    <dgm:cxn modelId="{477EFA60-C86D-42BB-A75E-CDC6B6933FA1}" type="presParOf" srcId="{B02F8116-9CF7-41C2-9461-D3883924F5E9}" destId="{23C66304-9469-4F96-B734-DA41BB4CF016}" srcOrd="4" destOrd="0" presId="urn:microsoft.com/office/officeart/2005/8/layout/vList2"/>
    <dgm:cxn modelId="{BF1EAE49-9EAE-4434-9D5C-517116027824}" type="presParOf" srcId="{B02F8116-9CF7-41C2-9461-D3883924F5E9}" destId="{544801DF-E828-495B-978C-3B771856909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FE712A-167F-405B-9909-FB295CDA7CD8}" type="doc">
      <dgm:prSet loTypeId="urn:microsoft.com/office/officeart/2005/8/layout/vList5" loCatId="list" qsTypeId="urn:microsoft.com/office/officeart/2005/8/quickstyle/simple1#29" qsCatId="simple" csTypeId="urn:microsoft.com/office/officeart/2005/8/colors/accent0_3#1" csCatId="mainScheme"/>
      <dgm:spPr/>
      <dgm:t>
        <a:bodyPr/>
        <a:lstStyle/>
        <a:p>
          <a:endParaRPr lang="en-US"/>
        </a:p>
      </dgm:t>
    </dgm:pt>
    <dgm:pt modelId="{423F6DD9-4205-4DBC-9F28-4802EE8B8C4B}">
      <dgm:prSet/>
      <dgm:spPr/>
      <dgm:t>
        <a:bodyPr/>
        <a:lstStyle/>
        <a:p>
          <a:r>
            <a:rPr lang="en-US" b="1"/>
            <a:t>Currency</a:t>
          </a:r>
          <a:endParaRPr lang="en-US"/>
        </a:p>
      </dgm:t>
    </dgm:pt>
    <dgm:pt modelId="{DCD1C346-EA3E-42E9-9C57-4A91BBF5CAC1}" type="parTrans" cxnId="{3ABCFDDD-147F-44AE-8EE5-AA042AC4A505}">
      <dgm:prSet/>
      <dgm:spPr/>
      <dgm:t>
        <a:bodyPr/>
        <a:lstStyle/>
        <a:p>
          <a:endParaRPr lang="en-US"/>
        </a:p>
      </dgm:t>
    </dgm:pt>
    <dgm:pt modelId="{B85EDF9F-18B7-448F-95A2-CE48A0D3ED05}" type="sibTrans" cxnId="{3ABCFDDD-147F-44AE-8EE5-AA042AC4A505}">
      <dgm:prSet/>
      <dgm:spPr/>
      <dgm:t>
        <a:bodyPr/>
        <a:lstStyle/>
        <a:p>
          <a:endParaRPr lang="en-US"/>
        </a:p>
      </dgm:t>
    </dgm:pt>
    <dgm:pt modelId="{0719A4CF-6B1B-45D1-AA88-4EA654DA3B42}">
      <dgm:prSet/>
      <dgm:spPr/>
      <dgm:t>
        <a:bodyPr/>
        <a:lstStyle/>
        <a:p>
          <a:r>
            <a:rPr lang="en-US"/>
            <a:t>Money.</a:t>
          </a:r>
        </a:p>
      </dgm:t>
    </dgm:pt>
    <dgm:pt modelId="{76187159-B414-4B38-B843-594ED6F973F8}" type="parTrans" cxnId="{1843927F-0927-4D7C-AD94-05CD998ABB0E}">
      <dgm:prSet/>
      <dgm:spPr/>
      <dgm:t>
        <a:bodyPr/>
        <a:lstStyle/>
        <a:p>
          <a:endParaRPr lang="en-US"/>
        </a:p>
      </dgm:t>
    </dgm:pt>
    <dgm:pt modelId="{C764F94C-47BE-4CC9-A656-E68E722F20E4}" type="sibTrans" cxnId="{1843927F-0927-4D7C-AD94-05CD998ABB0E}">
      <dgm:prSet/>
      <dgm:spPr/>
      <dgm:t>
        <a:bodyPr/>
        <a:lstStyle/>
        <a:p>
          <a:endParaRPr lang="en-US"/>
        </a:p>
      </dgm:t>
    </dgm:pt>
    <dgm:pt modelId="{9800B991-3C63-441C-939D-C4081CF10354}">
      <dgm:prSet/>
      <dgm:spPr/>
      <dgm:t>
        <a:bodyPr/>
        <a:lstStyle/>
        <a:p>
          <a:r>
            <a:rPr lang="en-US" b="1"/>
            <a:t>Bank deposits</a:t>
          </a:r>
          <a:endParaRPr lang="en-US"/>
        </a:p>
      </dgm:t>
    </dgm:pt>
    <dgm:pt modelId="{9850F87D-1C68-4ADF-ADD0-693DBE6E143B}" type="parTrans" cxnId="{8468EBDF-6221-4025-9F99-8A312000C4C3}">
      <dgm:prSet/>
      <dgm:spPr/>
      <dgm:t>
        <a:bodyPr/>
        <a:lstStyle/>
        <a:p>
          <a:endParaRPr lang="en-US"/>
        </a:p>
      </dgm:t>
    </dgm:pt>
    <dgm:pt modelId="{89407548-FF07-49FF-9D6F-5452E2BFF0B8}" type="sibTrans" cxnId="{8468EBDF-6221-4025-9F99-8A312000C4C3}">
      <dgm:prSet/>
      <dgm:spPr/>
      <dgm:t>
        <a:bodyPr/>
        <a:lstStyle/>
        <a:p>
          <a:endParaRPr lang="en-US"/>
        </a:p>
      </dgm:t>
    </dgm:pt>
    <dgm:pt modelId="{98FD3BBD-7A52-4DBC-A9E6-7DACE60FFB31}">
      <dgm:prSet/>
      <dgm:spPr/>
      <dgm:t>
        <a:bodyPr/>
        <a:lstStyle/>
        <a:p>
          <a:r>
            <a:rPr lang="en-US"/>
            <a:t>Generally considered money because they can be used to make payments.</a:t>
          </a:r>
        </a:p>
      </dgm:t>
    </dgm:pt>
    <dgm:pt modelId="{2305CD05-8EDF-457C-995C-6964A6753253}" type="parTrans" cxnId="{6641B560-BB2B-479F-A8AB-CA95716509D0}">
      <dgm:prSet/>
      <dgm:spPr/>
      <dgm:t>
        <a:bodyPr/>
        <a:lstStyle/>
        <a:p>
          <a:endParaRPr lang="en-US"/>
        </a:p>
      </dgm:t>
    </dgm:pt>
    <dgm:pt modelId="{6D1C592D-7ACF-4205-ACDD-84675529DEED}" type="sibTrans" cxnId="{6641B560-BB2B-479F-A8AB-CA95716509D0}">
      <dgm:prSet/>
      <dgm:spPr/>
      <dgm:t>
        <a:bodyPr/>
        <a:lstStyle/>
        <a:p>
          <a:endParaRPr lang="en-US"/>
        </a:p>
      </dgm:t>
    </dgm:pt>
    <dgm:pt modelId="{B2F2564B-3F8D-4BA2-89AA-8F0A25185F6F}">
      <dgm:prSet/>
      <dgm:spPr/>
      <dgm:t>
        <a:bodyPr/>
        <a:lstStyle/>
        <a:p>
          <a:r>
            <a:rPr lang="en-US" b="1"/>
            <a:t>Credit card</a:t>
          </a:r>
          <a:endParaRPr lang="en-US"/>
        </a:p>
      </dgm:t>
    </dgm:pt>
    <dgm:pt modelId="{9CB61669-F9C0-4CB3-97A1-B34E74397FC4}" type="parTrans" cxnId="{C874E80A-A89F-48EA-BF58-676D4ACBE180}">
      <dgm:prSet/>
      <dgm:spPr/>
      <dgm:t>
        <a:bodyPr/>
        <a:lstStyle/>
        <a:p>
          <a:endParaRPr lang="en-US"/>
        </a:p>
      </dgm:t>
    </dgm:pt>
    <dgm:pt modelId="{2656DB12-E4B6-41CD-AC5C-053E40EC19BA}" type="sibTrans" cxnId="{C874E80A-A89F-48EA-BF58-676D4ACBE180}">
      <dgm:prSet/>
      <dgm:spPr/>
      <dgm:t>
        <a:bodyPr/>
        <a:lstStyle/>
        <a:p>
          <a:endParaRPr lang="en-US"/>
        </a:p>
      </dgm:t>
    </dgm:pt>
    <dgm:pt modelId="{FA546AEE-33E1-4BEC-AA9C-BD5EC8FA4CF9}">
      <dgm:prSet/>
      <dgm:spPr/>
      <dgm:t>
        <a:bodyPr/>
        <a:lstStyle/>
        <a:p>
          <a:r>
            <a:rPr lang="en-US" b="1"/>
            <a:t>Not money. </a:t>
          </a:r>
          <a:r>
            <a:rPr lang="en-US"/>
            <a:t>A credit card provides access to borrowing; it is not itself a means of payment in the economic sense.</a:t>
          </a:r>
        </a:p>
      </dgm:t>
    </dgm:pt>
    <dgm:pt modelId="{6AC15D32-DC98-4F21-86BE-C419345C47E1}" type="parTrans" cxnId="{CCE3F3CE-6C1E-4375-9366-2DDE8E52B7E1}">
      <dgm:prSet/>
      <dgm:spPr/>
      <dgm:t>
        <a:bodyPr/>
        <a:lstStyle/>
        <a:p>
          <a:endParaRPr lang="en-US"/>
        </a:p>
      </dgm:t>
    </dgm:pt>
    <dgm:pt modelId="{C77F7BBC-2827-4B54-BB4E-F44182AED0A8}" type="sibTrans" cxnId="{CCE3F3CE-6C1E-4375-9366-2DDE8E52B7E1}">
      <dgm:prSet/>
      <dgm:spPr/>
      <dgm:t>
        <a:bodyPr/>
        <a:lstStyle/>
        <a:p>
          <a:endParaRPr lang="en-US"/>
        </a:p>
      </dgm:t>
    </dgm:pt>
    <dgm:pt modelId="{A8BDF050-720D-4D6C-879D-023A65691BEF}">
      <dgm:prSet/>
      <dgm:spPr/>
      <dgm:t>
        <a:bodyPr/>
        <a:lstStyle/>
        <a:p>
          <a:r>
            <a:rPr lang="en-US" b="1"/>
            <a:t>House</a:t>
          </a:r>
          <a:endParaRPr lang="en-US"/>
        </a:p>
      </dgm:t>
    </dgm:pt>
    <dgm:pt modelId="{6864D018-837D-4A6E-8477-FF2012D8B371}" type="parTrans" cxnId="{3238A558-52AD-4B41-8DCE-A3BFA3A462EC}">
      <dgm:prSet/>
      <dgm:spPr/>
      <dgm:t>
        <a:bodyPr/>
        <a:lstStyle/>
        <a:p>
          <a:endParaRPr lang="en-US"/>
        </a:p>
      </dgm:t>
    </dgm:pt>
    <dgm:pt modelId="{6D069EDD-0702-462B-A0A3-D73E571366BD}" type="sibTrans" cxnId="{3238A558-52AD-4B41-8DCE-A3BFA3A462EC}">
      <dgm:prSet/>
      <dgm:spPr/>
      <dgm:t>
        <a:bodyPr/>
        <a:lstStyle/>
        <a:p>
          <a:endParaRPr lang="en-US"/>
        </a:p>
      </dgm:t>
    </dgm:pt>
    <dgm:pt modelId="{2511CD25-0660-47B5-9945-0FCDF8A9C00C}">
      <dgm:prSet/>
      <dgm:spPr/>
      <dgm:t>
        <a:bodyPr/>
        <a:lstStyle/>
        <a:p>
          <a:r>
            <a:rPr lang="en-US" b="1"/>
            <a:t>Not money. </a:t>
          </a:r>
          <a:r>
            <a:rPr lang="en-US"/>
            <a:t>It is an asset and store of wealth but is not generally accepted as a means of payment.</a:t>
          </a:r>
        </a:p>
      </dgm:t>
    </dgm:pt>
    <dgm:pt modelId="{FD160995-7F26-4F69-9F57-EDD4C2DC50C3}" type="parTrans" cxnId="{42587E80-B10F-4829-8D6D-918828C51335}">
      <dgm:prSet/>
      <dgm:spPr/>
      <dgm:t>
        <a:bodyPr/>
        <a:lstStyle/>
        <a:p>
          <a:endParaRPr lang="en-US"/>
        </a:p>
      </dgm:t>
    </dgm:pt>
    <dgm:pt modelId="{BF8CD679-C5F9-426F-8212-FD0E5B3CD45E}" type="sibTrans" cxnId="{42587E80-B10F-4829-8D6D-918828C51335}">
      <dgm:prSet/>
      <dgm:spPr/>
      <dgm:t>
        <a:bodyPr/>
        <a:lstStyle/>
        <a:p>
          <a:endParaRPr lang="en-US"/>
        </a:p>
      </dgm:t>
    </dgm:pt>
    <dgm:pt modelId="{D091BE4B-B825-4481-BFCF-4A97AE082370}">
      <dgm:prSet/>
      <dgm:spPr/>
      <dgm:t>
        <a:bodyPr/>
        <a:lstStyle/>
        <a:p>
          <a:r>
            <a:rPr lang="en-US" b="1"/>
            <a:t>Gold</a:t>
          </a:r>
          <a:endParaRPr lang="en-US"/>
        </a:p>
      </dgm:t>
    </dgm:pt>
    <dgm:pt modelId="{0D59F519-FEB1-4D11-9E56-284F1EFF33C5}" type="parTrans" cxnId="{FE549B00-CA2A-4C3B-AF5A-54D24EDBEC74}">
      <dgm:prSet/>
      <dgm:spPr/>
      <dgm:t>
        <a:bodyPr/>
        <a:lstStyle/>
        <a:p>
          <a:endParaRPr lang="en-US"/>
        </a:p>
      </dgm:t>
    </dgm:pt>
    <dgm:pt modelId="{71C70BAC-3FA2-4A62-8079-04EBE04F5A13}" type="sibTrans" cxnId="{FE549B00-CA2A-4C3B-AF5A-54D24EDBEC74}">
      <dgm:prSet/>
      <dgm:spPr/>
      <dgm:t>
        <a:bodyPr/>
        <a:lstStyle/>
        <a:p>
          <a:endParaRPr lang="en-US"/>
        </a:p>
      </dgm:t>
    </dgm:pt>
    <dgm:pt modelId="{274B0677-0031-44EE-A4A4-172FC5A6CA24}">
      <dgm:prSet/>
      <dgm:spPr/>
      <dgm:t>
        <a:bodyPr/>
        <a:lstStyle/>
        <a:p>
          <a:r>
            <a:rPr lang="en-US"/>
            <a:t>Can function as a store of value, but modern gold is generally not money because it is not the normal means of payment.</a:t>
          </a:r>
        </a:p>
      </dgm:t>
    </dgm:pt>
    <dgm:pt modelId="{53CA85FB-229E-4638-9C69-57244CA901DC}" type="parTrans" cxnId="{BFF623E6-5EE7-4E84-8084-018BB8A7BC0D}">
      <dgm:prSet/>
      <dgm:spPr/>
      <dgm:t>
        <a:bodyPr/>
        <a:lstStyle/>
        <a:p>
          <a:endParaRPr lang="en-US"/>
        </a:p>
      </dgm:t>
    </dgm:pt>
    <dgm:pt modelId="{14794465-025C-4F7F-BD23-F48735BBE880}" type="sibTrans" cxnId="{BFF623E6-5EE7-4E84-8084-018BB8A7BC0D}">
      <dgm:prSet/>
      <dgm:spPr/>
      <dgm:t>
        <a:bodyPr/>
        <a:lstStyle/>
        <a:p>
          <a:endParaRPr lang="en-US"/>
        </a:p>
      </dgm:t>
    </dgm:pt>
    <dgm:pt modelId="{26E23DBD-8155-46F8-A8C3-59E9256A9D4B}" type="pres">
      <dgm:prSet presAssocID="{E9FE712A-167F-405B-9909-FB295CDA7CD8}" presName="Name0" presStyleCnt="0">
        <dgm:presLayoutVars>
          <dgm:dir/>
          <dgm:animLvl val="lvl"/>
          <dgm:resizeHandles val="exact"/>
        </dgm:presLayoutVars>
      </dgm:prSet>
      <dgm:spPr/>
    </dgm:pt>
    <dgm:pt modelId="{35ABE012-3314-4CD1-A00A-7FE9DB1D90FE}" type="pres">
      <dgm:prSet presAssocID="{423F6DD9-4205-4DBC-9F28-4802EE8B8C4B}" presName="linNode" presStyleCnt="0"/>
      <dgm:spPr/>
    </dgm:pt>
    <dgm:pt modelId="{A40666F0-E0B4-4238-BCA3-83198120BA61}" type="pres">
      <dgm:prSet presAssocID="{423F6DD9-4205-4DBC-9F28-4802EE8B8C4B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72B7B480-4493-461B-A983-E545BCA87405}" type="pres">
      <dgm:prSet presAssocID="{423F6DD9-4205-4DBC-9F28-4802EE8B8C4B}" presName="descendantText" presStyleLbl="alignAccFollowNode1" presStyleIdx="0" presStyleCnt="5">
        <dgm:presLayoutVars>
          <dgm:bulletEnabled val="1"/>
        </dgm:presLayoutVars>
      </dgm:prSet>
      <dgm:spPr/>
    </dgm:pt>
    <dgm:pt modelId="{B8F0DAD6-DF15-41BF-8DAC-BC7D2F61E388}" type="pres">
      <dgm:prSet presAssocID="{B85EDF9F-18B7-448F-95A2-CE48A0D3ED05}" presName="sp" presStyleCnt="0"/>
      <dgm:spPr/>
    </dgm:pt>
    <dgm:pt modelId="{5116B674-F320-466C-AF72-8425874A5EE4}" type="pres">
      <dgm:prSet presAssocID="{9800B991-3C63-441C-939D-C4081CF10354}" presName="linNode" presStyleCnt="0"/>
      <dgm:spPr/>
    </dgm:pt>
    <dgm:pt modelId="{03530EDF-CD40-4592-8364-2DBA8C8C401B}" type="pres">
      <dgm:prSet presAssocID="{9800B991-3C63-441C-939D-C4081CF10354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6BA7FE91-4B36-4EB1-8BD2-7291BDEB32A6}" type="pres">
      <dgm:prSet presAssocID="{9800B991-3C63-441C-939D-C4081CF10354}" presName="descendantText" presStyleLbl="alignAccFollowNode1" presStyleIdx="1" presStyleCnt="5">
        <dgm:presLayoutVars>
          <dgm:bulletEnabled val="1"/>
        </dgm:presLayoutVars>
      </dgm:prSet>
      <dgm:spPr/>
    </dgm:pt>
    <dgm:pt modelId="{FC126771-45AB-4EFE-97D4-3A087517C0F5}" type="pres">
      <dgm:prSet presAssocID="{89407548-FF07-49FF-9D6F-5452E2BFF0B8}" presName="sp" presStyleCnt="0"/>
      <dgm:spPr/>
    </dgm:pt>
    <dgm:pt modelId="{675D25A4-55AD-4A1A-9E1E-29FB632A2A89}" type="pres">
      <dgm:prSet presAssocID="{B2F2564B-3F8D-4BA2-89AA-8F0A25185F6F}" presName="linNode" presStyleCnt="0"/>
      <dgm:spPr/>
    </dgm:pt>
    <dgm:pt modelId="{B93AD97A-ED3D-4254-8BEA-178DFC577EA1}" type="pres">
      <dgm:prSet presAssocID="{B2F2564B-3F8D-4BA2-89AA-8F0A25185F6F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B8335FE7-4D42-4D34-8D44-69FBB73926C7}" type="pres">
      <dgm:prSet presAssocID="{B2F2564B-3F8D-4BA2-89AA-8F0A25185F6F}" presName="descendantText" presStyleLbl="alignAccFollowNode1" presStyleIdx="2" presStyleCnt="5">
        <dgm:presLayoutVars>
          <dgm:bulletEnabled val="1"/>
        </dgm:presLayoutVars>
      </dgm:prSet>
      <dgm:spPr/>
    </dgm:pt>
    <dgm:pt modelId="{7CA02794-358E-45FB-8915-3301F882AC42}" type="pres">
      <dgm:prSet presAssocID="{2656DB12-E4B6-41CD-AC5C-053E40EC19BA}" presName="sp" presStyleCnt="0"/>
      <dgm:spPr/>
    </dgm:pt>
    <dgm:pt modelId="{DF17209D-DEEE-4F51-89FD-F866C693926E}" type="pres">
      <dgm:prSet presAssocID="{A8BDF050-720D-4D6C-879D-023A65691BEF}" presName="linNode" presStyleCnt="0"/>
      <dgm:spPr/>
    </dgm:pt>
    <dgm:pt modelId="{3E540155-0825-465B-8AC9-8992C1454870}" type="pres">
      <dgm:prSet presAssocID="{A8BDF050-720D-4D6C-879D-023A65691BEF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D2C819E4-EAAD-4F83-9244-1F6CBF250067}" type="pres">
      <dgm:prSet presAssocID="{A8BDF050-720D-4D6C-879D-023A65691BEF}" presName="descendantText" presStyleLbl="alignAccFollowNode1" presStyleIdx="3" presStyleCnt="5">
        <dgm:presLayoutVars>
          <dgm:bulletEnabled val="1"/>
        </dgm:presLayoutVars>
      </dgm:prSet>
      <dgm:spPr/>
    </dgm:pt>
    <dgm:pt modelId="{98B6D946-3B51-41C7-83C8-1CAF46C3AF1C}" type="pres">
      <dgm:prSet presAssocID="{6D069EDD-0702-462B-A0A3-D73E571366BD}" presName="sp" presStyleCnt="0"/>
      <dgm:spPr/>
    </dgm:pt>
    <dgm:pt modelId="{910540B9-C780-48F5-A9CA-26005F099C70}" type="pres">
      <dgm:prSet presAssocID="{D091BE4B-B825-4481-BFCF-4A97AE082370}" presName="linNode" presStyleCnt="0"/>
      <dgm:spPr/>
    </dgm:pt>
    <dgm:pt modelId="{172052E7-8A97-4A0F-8182-43AB2B5F9AB6}" type="pres">
      <dgm:prSet presAssocID="{D091BE4B-B825-4481-BFCF-4A97AE082370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82B8987B-4B5E-49CE-B1A3-9E21581968D3}" type="pres">
      <dgm:prSet presAssocID="{D091BE4B-B825-4481-BFCF-4A97AE082370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FE549B00-CA2A-4C3B-AF5A-54D24EDBEC74}" srcId="{E9FE712A-167F-405B-9909-FB295CDA7CD8}" destId="{D091BE4B-B825-4481-BFCF-4A97AE082370}" srcOrd="4" destOrd="0" parTransId="{0D59F519-FEB1-4D11-9E56-284F1EFF33C5}" sibTransId="{71C70BAC-3FA2-4A62-8079-04EBE04F5A13}"/>
    <dgm:cxn modelId="{C874E80A-A89F-48EA-BF58-676D4ACBE180}" srcId="{E9FE712A-167F-405B-9909-FB295CDA7CD8}" destId="{B2F2564B-3F8D-4BA2-89AA-8F0A25185F6F}" srcOrd="2" destOrd="0" parTransId="{9CB61669-F9C0-4CB3-97A1-B34E74397FC4}" sibTransId="{2656DB12-E4B6-41CD-AC5C-053E40EC19BA}"/>
    <dgm:cxn modelId="{A8771310-F242-4B77-BD9C-1B84E968483E}" type="presOf" srcId="{98FD3BBD-7A52-4DBC-A9E6-7DACE60FFB31}" destId="{6BA7FE91-4B36-4EB1-8BD2-7291BDEB32A6}" srcOrd="0" destOrd="0" presId="urn:microsoft.com/office/officeart/2005/8/layout/vList5"/>
    <dgm:cxn modelId="{6641B560-BB2B-479F-A8AB-CA95716509D0}" srcId="{9800B991-3C63-441C-939D-C4081CF10354}" destId="{98FD3BBD-7A52-4DBC-A9E6-7DACE60FFB31}" srcOrd="0" destOrd="0" parTransId="{2305CD05-8EDF-457C-995C-6964A6753253}" sibTransId="{6D1C592D-7ACF-4205-ACDD-84675529DEED}"/>
    <dgm:cxn modelId="{4AC0156A-AC88-4577-A11F-E5FD90D68670}" type="presOf" srcId="{9800B991-3C63-441C-939D-C4081CF10354}" destId="{03530EDF-CD40-4592-8364-2DBA8C8C401B}" srcOrd="0" destOrd="0" presId="urn:microsoft.com/office/officeart/2005/8/layout/vList5"/>
    <dgm:cxn modelId="{7939966D-B611-47B7-AAE7-247C1D28143A}" type="presOf" srcId="{423F6DD9-4205-4DBC-9F28-4802EE8B8C4B}" destId="{A40666F0-E0B4-4238-BCA3-83198120BA61}" srcOrd="0" destOrd="0" presId="urn:microsoft.com/office/officeart/2005/8/layout/vList5"/>
    <dgm:cxn modelId="{3238A558-52AD-4B41-8DCE-A3BFA3A462EC}" srcId="{E9FE712A-167F-405B-9909-FB295CDA7CD8}" destId="{A8BDF050-720D-4D6C-879D-023A65691BEF}" srcOrd="3" destOrd="0" parTransId="{6864D018-837D-4A6E-8477-FF2012D8B371}" sibTransId="{6D069EDD-0702-462B-A0A3-D73E571366BD}"/>
    <dgm:cxn modelId="{8B18A47E-5B5A-4B64-9606-B8F8DCE89535}" type="presOf" srcId="{274B0677-0031-44EE-A4A4-172FC5A6CA24}" destId="{82B8987B-4B5E-49CE-B1A3-9E21581968D3}" srcOrd="0" destOrd="0" presId="urn:microsoft.com/office/officeart/2005/8/layout/vList5"/>
    <dgm:cxn modelId="{1843927F-0927-4D7C-AD94-05CD998ABB0E}" srcId="{423F6DD9-4205-4DBC-9F28-4802EE8B8C4B}" destId="{0719A4CF-6B1B-45D1-AA88-4EA654DA3B42}" srcOrd="0" destOrd="0" parTransId="{76187159-B414-4B38-B843-594ED6F973F8}" sibTransId="{C764F94C-47BE-4CC9-A656-E68E722F20E4}"/>
    <dgm:cxn modelId="{42587E80-B10F-4829-8D6D-918828C51335}" srcId="{A8BDF050-720D-4D6C-879D-023A65691BEF}" destId="{2511CD25-0660-47B5-9945-0FCDF8A9C00C}" srcOrd="0" destOrd="0" parTransId="{FD160995-7F26-4F69-9F57-EDD4C2DC50C3}" sibTransId="{BF8CD679-C5F9-426F-8212-FD0E5B3CD45E}"/>
    <dgm:cxn modelId="{6802BB88-A87D-43E0-915F-B3DBCD91AE83}" type="presOf" srcId="{0719A4CF-6B1B-45D1-AA88-4EA654DA3B42}" destId="{72B7B480-4493-461B-A983-E545BCA87405}" srcOrd="0" destOrd="0" presId="urn:microsoft.com/office/officeart/2005/8/layout/vList5"/>
    <dgm:cxn modelId="{BC7DDD8F-EC90-4C35-9AFE-7B149B6C29C8}" type="presOf" srcId="{A8BDF050-720D-4D6C-879D-023A65691BEF}" destId="{3E540155-0825-465B-8AC9-8992C1454870}" srcOrd="0" destOrd="0" presId="urn:microsoft.com/office/officeart/2005/8/layout/vList5"/>
    <dgm:cxn modelId="{16099A90-BF7C-4D2B-84C8-5E8DD5435ABE}" type="presOf" srcId="{E9FE712A-167F-405B-9909-FB295CDA7CD8}" destId="{26E23DBD-8155-46F8-A8C3-59E9256A9D4B}" srcOrd="0" destOrd="0" presId="urn:microsoft.com/office/officeart/2005/8/layout/vList5"/>
    <dgm:cxn modelId="{66EEB291-44BD-49EA-B522-C0F751A8A0F1}" type="presOf" srcId="{D091BE4B-B825-4481-BFCF-4A97AE082370}" destId="{172052E7-8A97-4A0F-8182-43AB2B5F9AB6}" srcOrd="0" destOrd="0" presId="urn:microsoft.com/office/officeart/2005/8/layout/vList5"/>
    <dgm:cxn modelId="{07225095-64F0-4997-B2CA-CFFCDE9E0CB2}" type="presOf" srcId="{B2F2564B-3F8D-4BA2-89AA-8F0A25185F6F}" destId="{B93AD97A-ED3D-4254-8BEA-178DFC577EA1}" srcOrd="0" destOrd="0" presId="urn:microsoft.com/office/officeart/2005/8/layout/vList5"/>
    <dgm:cxn modelId="{DDF64D9B-CC21-4D03-ACEC-89190D21DA66}" type="presOf" srcId="{2511CD25-0660-47B5-9945-0FCDF8A9C00C}" destId="{D2C819E4-EAAD-4F83-9244-1F6CBF250067}" srcOrd="0" destOrd="0" presId="urn:microsoft.com/office/officeart/2005/8/layout/vList5"/>
    <dgm:cxn modelId="{76E10FCA-2AF7-4981-B895-5E97F95BEA89}" type="presOf" srcId="{FA546AEE-33E1-4BEC-AA9C-BD5EC8FA4CF9}" destId="{B8335FE7-4D42-4D34-8D44-69FBB73926C7}" srcOrd="0" destOrd="0" presId="urn:microsoft.com/office/officeart/2005/8/layout/vList5"/>
    <dgm:cxn modelId="{CCE3F3CE-6C1E-4375-9366-2DDE8E52B7E1}" srcId="{B2F2564B-3F8D-4BA2-89AA-8F0A25185F6F}" destId="{FA546AEE-33E1-4BEC-AA9C-BD5EC8FA4CF9}" srcOrd="0" destOrd="0" parTransId="{6AC15D32-DC98-4F21-86BE-C419345C47E1}" sibTransId="{C77F7BBC-2827-4B54-BB4E-F44182AED0A8}"/>
    <dgm:cxn modelId="{3ABCFDDD-147F-44AE-8EE5-AA042AC4A505}" srcId="{E9FE712A-167F-405B-9909-FB295CDA7CD8}" destId="{423F6DD9-4205-4DBC-9F28-4802EE8B8C4B}" srcOrd="0" destOrd="0" parTransId="{DCD1C346-EA3E-42E9-9C57-4A91BBF5CAC1}" sibTransId="{B85EDF9F-18B7-448F-95A2-CE48A0D3ED05}"/>
    <dgm:cxn modelId="{8468EBDF-6221-4025-9F99-8A312000C4C3}" srcId="{E9FE712A-167F-405B-9909-FB295CDA7CD8}" destId="{9800B991-3C63-441C-939D-C4081CF10354}" srcOrd="1" destOrd="0" parTransId="{9850F87D-1C68-4ADF-ADD0-693DBE6E143B}" sibTransId="{89407548-FF07-49FF-9D6F-5452E2BFF0B8}"/>
    <dgm:cxn modelId="{BFF623E6-5EE7-4E84-8084-018BB8A7BC0D}" srcId="{D091BE4B-B825-4481-BFCF-4A97AE082370}" destId="{274B0677-0031-44EE-A4A4-172FC5A6CA24}" srcOrd="0" destOrd="0" parTransId="{53CA85FB-229E-4638-9C69-57244CA901DC}" sibTransId="{14794465-025C-4F7F-BD23-F48735BBE880}"/>
    <dgm:cxn modelId="{BE7AA9F8-70C5-439D-946A-445DAFE18E76}" type="presParOf" srcId="{26E23DBD-8155-46F8-A8C3-59E9256A9D4B}" destId="{35ABE012-3314-4CD1-A00A-7FE9DB1D90FE}" srcOrd="0" destOrd="0" presId="urn:microsoft.com/office/officeart/2005/8/layout/vList5"/>
    <dgm:cxn modelId="{00DA43CF-3E38-4000-B8D1-0A0255D28DEB}" type="presParOf" srcId="{35ABE012-3314-4CD1-A00A-7FE9DB1D90FE}" destId="{A40666F0-E0B4-4238-BCA3-83198120BA61}" srcOrd="0" destOrd="0" presId="urn:microsoft.com/office/officeart/2005/8/layout/vList5"/>
    <dgm:cxn modelId="{B4776696-BA65-4D0C-928D-82E0BF7465A4}" type="presParOf" srcId="{35ABE012-3314-4CD1-A00A-7FE9DB1D90FE}" destId="{72B7B480-4493-461B-A983-E545BCA87405}" srcOrd="1" destOrd="0" presId="urn:microsoft.com/office/officeart/2005/8/layout/vList5"/>
    <dgm:cxn modelId="{5505248D-8655-4965-AD86-3CEB28B1ED90}" type="presParOf" srcId="{26E23DBD-8155-46F8-A8C3-59E9256A9D4B}" destId="{B8F0DAD6-DF15-41BF-8DAC-BC7D2F61E388}" srcOrd="1" destOrd="0" presId="urn:microsoft.com/office/officeart/2005/8/layout/vList5"/>
    <dgm:cxn modelId="{EFC12D18-C047-49B8-9C05-E0417DE35835}" type="presParOf" srcId="{26E23DBD-8155-46F8-A8C3-59E9256A9D4B}" destId="{5116B674-F320-466C-AF72-8425874A5EE4}" srcOrd="2" destOrd="0" presId="urn:microsoft.com/office/officeart/2005/8/layout/vList5"/>
    <dgm:cxn modelId="{14806E03-B73B-49DF-A8A4-2489C89D6FF5}" type="presParOf" srcId="{5116B674-F320-466C-AF72-8425874A5EE4}" destId="{03530EDF-CD40-4592-8364-2DBA8C8C401B}" srcOrd="0" destOrd="0" presId="urn:microsoft.com/office/officeart/2005/8/layout/vList5"/>
    <dgm:cxn modelId="{25663537-E847-484D-ABF9-BE7078126EEA}" type="presParOf" srcId="{5116B674-F320-466C-AF72-8425874A5EE4}" destId="{6BA7FE91-4B36-4EB1-8BD2-7291BDEB32A6}" srcOrd="1" destOrd="0" presId="urn:microsoft.com/office/officeart/2005/8/layout/vList5"/>
    <dgm:cxn modelId="{97725F7D-C678-43D3-8454-66AA6ADB6714}" type="presParOf" srcId="{26E23DBD-8155-46F8-A8C3-59E9256A9D4B}" destId="{FC126771-45AB-4EFE-97D4-3A087517C0F5}" srcOrd="3" destOrd="0" presId="urn:microsoft.com/office/officeart/2005/8/layout/vList5"/>
    <dgm:cxn modelId="{7490B9A9-6015-484C-A5BB-8316A44024FD}" type="presParOf" srcId="{26E23DBD-8155-46F8-A8C3-59E9256A9D4B}" destId="{675D25A4-55AD-4A1A-9E1E-29FB632A2A89}" srcOrd="4" destOrd="0" presId="urn:microsoft.com/office/officeart/2005/8/layout/vList5"/>
    <dgm:cxn modelId="{372607A0-0B53-4E55-8DBE-8983BF390E29}" type="presParOf" srcId="{675D25A4-55AD-4A1A-9E1E-29FB632A2A89}" destId="{B93AD97A-ED3D-4254-8BEA-178DFC577EA1}" srcOrd="0" destOrd="0" presId="urn:microsoft.com/office/officeart/2005/8/layout/vList5"/>
    <dgm:cxn modelId="{8F187C4E-E450-4088-97C2-B174691C86D5}" type="presParOf" srcId="{675D25A4-55AD-4A1A-9E1E-29FB632A2A89}" destId="{B8335FE7-4D42-4D34-8D44-69FBB73926C7}" srcOrd="1" destOrd="0" presId="urn:microsoft.com/office/officeart/2005/8/layout/vList5"/>
    <dgm:cxn modelId="{A1BF592A-D039-48DD-BC13-5BB013A889BD}" type="presParOf" srcId="{26E23DBD-8155-46F8-A8C3-59E9256A9D4B}" destId="{7CA02794-358E-45FB-8915-3301F882AC42}" srcOrd="5" destOrd="0" presId="urn:microsoft.com/office/officeart/2005/8/layout/vList5"/>
    <dgm:cxn modelId="{D90EB117-AC43-45B2-89E0-C8EBED1A7D51}" type="presParOf" srcId="{26E23DBD-8155-46F8-A8C3-59E9256A9D4B}" destId="{DF17209D-DEEE-4F51-89FD-F866C693926E}" srcOrd="6" destOrd="0" presId="urn:microsoft.com/office/officeart/2005/8/layout/vList5"/>
    <dgm:cxn modelId="{FD9EA9CB-2634-4B79-ABB3-4C4AC811FF90}" type="presParOf" srcId="{DF17209D-DEEE-4F51-89FD-F866C693926E}" destId="{3E540155-0825-465B-8AC9-8992C1454870}" srcOrd="0" destOrd="0" presId="urn:microsoft.com/office/officeart/2005/8/layout/vList5"/>
    <dgm:cxn modelId="{9F9EE4C4-37BF-4D25-8F84-38451A3E4606}" type="presParOf" srcId="{DF17209D-DEEE-4F51-89FD-F866C693926E}" destId="{D2C819E4-EAAD-4F83-9244-1F6CBF250067}" srcOrd="1" destOrd="0" presId="urn:microsoft.com/office/officeart/2005/8/layout/vList5"/>
    <dgm:cxn modelId="{D9D43205-4E22-4BD6-88D5-FEA5E43EF3E1}" type="presParOf" srcId="{26E23DBD-8155-46F8-A8C3-59E9256A9D4B}" destId="{98B6D946-3B51-41C7-83C8-1CAF46C3AF1C}" srcOrd="7" destOrd="0" presId="urn:microsoft.com/office/officeart/2005/8/layout/vList5"/>
    <dgm:cxn modelId="{C4F094F4-7056-42DD-81D8-3EA956B71662}" type="presParOf" srcId="{26E23DBD-8155-46F8-A8C3-59E9256A9D4B}" destId="{910540B9-C780-48F5-A9CA-26005F099C70}" srcOrd="8" destOrd="0" presId="urn:microsoft.com/office/officeart/2005/8/layout/vList5"/>
    <dgm:cxn modelId="{B5928617-5C2C-467D-83FA-D2A06A88B721}" type="presParOf" srcId="{910540B9-C780-48F5-A9CA-26005F099C70}" destId="{172052E7-8A97-4A0F-8182-43AB2B5F9AB6}" srcOrd="0" destOrd="0" presId="urn:microsoft.com/office/officeart/2005/8/layout/vList5"/>
    <dgm:cxn modelId="{2DBD2479-4020-475C-843F-775EA3850959}" type="presParOf" srcId="{910540B9-C780-48F5-A9CA-26005F099C70}" destId="{82B8987B-4B5E-49CE-B1A3-9E21581968D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DDA8FE-9383-4169-B31E-61DADB5701F7}" type="doc">
      <dgm:prSet loTypeId="urn:microsoft.com/office/officeart/2016/7/layout/BasicLinearProcessNumbered" loCatId="process" qsTypeId="urn:microsoft.com/office/officeart/2005/8/quickstyle/simple1#21" qsCatId="simple" csTypeId="urn:microsoft.com/office/officeart/2005/8/colors/colorful1#3" csCatId="colorful"/>
      <dgm:spPr/>
      <dgm:t>
        <a:bodyPr/>
        <a:lstStyle/>
        <a:p>
          <a:endParaRPr lang="en-US"/>
        </a:p>
      </dgm:t>
    </dgm:pt>
    <dgm:pt modelId="{E220F012-0CA3-42FA-AEB9-164557CBDDB6}">
      <dgm:prSet/>
      <dgm:spPr/>
      <dgm:t>
        <a:bodyPr/>
        <a:lstStyle/>
        <a:p>
          <a:r>
            <a:rPr lang="en-US"/>
            <a:t>issuing currency; </a:t>
          </a:r>
        </a:p>
      </dgm:t>
    </dgm:pt>
    <dgm:pt modelId="{D90B8E29-009C-480C-A381-FC0AB70514FE}" type="parTrans" cxnId="{2CA01507-6420-476D-A21F-7480589C56AA}">
      <dgm:prSet/>
      <dgm:spPr/>
      <dgm:t>
        <a:bodyPr/>
        <a:lstStyle/>
        <a:p>
          <a:endParaRPr lang="en-US"/>
        </a:p>
      </dgm:t>
    </dgm:pt>
    <dgm:pt modelId="{2662C552-82CE-467C-B0C8-9DC633D42F2A}" type="sibTrans" cxnId="{2CA01507-6420-476D-A21F-7480589C56A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5B200951-6507-449A-A175-23B57198771E}">
      <dgm:prSet/>
      <dgm:spPr/>
      <dgm:t>
        <a:bodyPr/>
        <a:lstStyle/>
        <a:p>
          <a:r>
            <a:rPr lang="en-US"/>
            <a:t>acting as banker to the government; </a:t>
          </a:r>
        </a:p>
      </dgm:t>
    </dgm:pt>
    <dgm:pt modelId="{040F8CC3-8C84-420B-A755-018CA4341FDF}" type="parTrans" cxnId="{CBEC398A-8D25-4D6B-BC0D-DA31BB1FC8BA}">
      <dgm:prSet/>
      <dgm:spPr/>
      <dgm:t>
        <a:bodyPr/>
        <a:lstStyle/>
        <a:p>
          <a:endParaRPr lang="en-US"/>
        </a:p>
      </dgm:t>
    </dgm:pt>
    <dgm:pt modelId="{E64BC4AA-0ACE-4E27-8AEA-31DDD3F5F4BF}" type="sibTrans" cxnId="{CBEC398A-8D25-4D6B-BC0D-DA31BB1FC8BA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1C0D5FB-EE1E-48DD-A4B5-6FA9D05C7446}">
      <dgm:prSet/>
      <dgm:spPr/>
      <dgm:t>
        <a:bodyPr/>
        <a:lstStyle/>
        <a:p>
          <a:r>
            <a:rPr lang="en-US"/>
            <a:t>acting as banker to commercial banks; </a:t>
          </a:r>
        </a:p>
      </dgm:t>
    </dgm:pt>
    <dgm:pt modelId="{361CE42B-F572-45E7-80EA-96501414E905}" type="parTrans" cxnId="{6F62F300-6E4E-465D-A95F-84E64CE31B42}">
      <dgm:prSet/>
      <dgm:spPr/>
      <dgm:t>
        <a:bodyPr/>
        <a:lstStyle/>
        <a:p>
          <a:endParaRPr lang="en-US"/>
        </a:p>
      </dgm:t>
    </dgm:pt>
    <dgm:pt modelId="{4C10732D-E48A-4746-BBBB-3EAC96E8D0A6}" type="sibTrans" cxnId="{6F62F300-6E4E-465D-A95F-84E64CE31B42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E6C4E9A-3B6E-4C13-9AD2-38EA9743CD0B}">
      <dgm:prSet/>
      <dgm:spPr/>
      <dgm:t>
        <a:bodyPr/>
        <a:lstStyle/>
        <a:p>
          <a:r>
            <a:rPr lang="en-US"/>
            <a:t>maintaining financial stability; </a:t>
          </a:r>
        </a:p>
      </dgm:t>
    </dgm:pt>
    <dgm:pt modelId="{D8B5ABB1-93B2-44F7-82F1-B8BB2BF06A27}" type="parTrans" cxnId="{B29F348E-6956-402D-8DA5-79C36D6CF681}">
      <dgm:prSet/>
      <dgm:spPr/>
      <dgm:t>
        <a:bodyPr/>
        <a:lstStyle/>
        <a:p>
          <a:endParaRPr lang="en-US"/>
        </a:p>
      </dgm:t>
    </dgm:pt>
    <dgm:pt modelId="{95344B3D-5594-457F-B422-9897941CC57C}" type="sibTrans" cxnId="{B29F348E-6956-402D-8DA5-79C36D6CF681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21B65F90-B0A7-4562-B4E7-7E5ADC543347}">
      <dgm:prSet/>
      <dgm:spPr/>
      <dgm:t>
        <a:bodyPr/>
        <a:lstStyle/>
        <a:p>
          <a:r>
            <a:rPr lang="en-US"/>
            <a:t>influencing the money supply; </a:t>
          </a:r>
        </a:p>
      </dgm:t>
    </dgm:pt>
    <dgm:pt modelId="{44CB3056-DB5B-41CB-B007-CEC80E74D65E}" type="parTrans" cxnId="{6BFEA95A-D849-4E41-A4E6-3DD543DE227D}">
      <dgm:prSet/>
      <dgm:spPr/>
      <dgm:t>
        <a:bodyPr/>
        <a:lstStyle/>
        <a:p>
          <a:endParaRPr lang="en-US"/>
        </a:p>
      </dgm:t>
    </dgm:pt>
    <dgm:pt modelId="{4412483A-FEB5-47A0-82F0-CB6ABB5F1048}" type="sibTrans" cxnId="{6BFEA95A-D849-4E41-A4E6-3DD543DE227D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BDAC286B-DA50-43BA-B778-5C98D8D348FF}">
      <dgm:prSet/>
      <dgm:spPr/>
      <dgm:t>
        <a:bodyPr/>
        <a:lstStyle/>
        <a:p>
          <a:r>
            <a:rPr lang="en-US"/>
            <a:t>conducting monetary policy; </a:t>
          </a:r>
        </a:p>
      </dgm:t>
    </dgm:pt>
    <dgm:pt modelId="{17C921C2-AC2F-4CAE-8C4E-3DC96EFE2323}" type="parTrans" cxnId="{C3CA0FF0-B3C5-49A5-B86E-37FD57BF9197}">
      <dgm:prSet/>
      <dgm:spPr/>
      <dgm:t>
        <a:bodyPr/>
        <a:lstStyle/>
        <a:p>
          <a:endParaRPr lang="en-US"/>
        </a:p>
      </dgm:t>
    </dgm:pt>
    <dgm:pt modelId="{65B0B483-F94F-437D-86FF-BBA39DA2B6AA}" type="sibTrans" cxnId="{C3CA0FF0-B3C5-49A5-B86E-37FD57BF9197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B1440B0B-2050-4BD1-95CB-2BC8988F7E76}">
      <dgm:prSet/>
      <dgm:spPr/>
      <dgm:t>
        <a:bodyPr/>
        <a:lstStyle/>
        <a:p>
          <a:r>
            <a:rPr lang="en-US"/>
            <a:t>acting as lender of last resort.</a:t>
          </a:r>
        </a:p>
      </dgm:t>
    </dgm:pt>
    <dgm:pt modelId="{EE162426-5CC9-4763-B264-64A33A73F3E2}" type="parTrans" cxnId="{7EC4D94E-3D98-4E7D-9543-BEE69434C7DB}">
      <dgm:prSet/>
      <dgm:spPr/>
      <dgm:t>
        <a:bodyPr/>
        <a:lstStyle/>
        <a:p>
          <a:endParaRPr lang="en-US"/>
        </a:p>
      </dgm:t>
    </dgm:pt>
    <dgm:pt modelId="{E039E923-F387-41C9-8258-7B7B0673744B}" type="sibTrans" cxnId="{7EC4D94E-3D98-4E7D-9543-BEE69434C7DB}">
      <dgm:prSet phldrT="7" phldr="0"/>
      <dgm:spPr/>
      <dgm:t>
        <a:bodyPr/>
        <a:lstStyle/>
        <a:p>
          <a:r>
            <a:rPr lang="en-US"/>
            <a:t>7</a:t>
          </a:r>
        </a:p>
      </dgm:t>
    </dgm:pt>
    <dgm:pt modelId="{DE4F1ED7-F72A-427C-A12E-0FFA9B476B09}" type="pres">
      <dgm:prSet presAssocID="{1ADDA8FE-9383-4169-B31E-61DADB5701F7}" presName="Name0" presStyleCnt="0">
        <dgm:presLayoutVars>
          <dgm:animLvl val="lvl"/>
          <dgm:resizeHandles val="exact"/>
        </dgm:presLayoutVars>
      </dgm:prSet>
      <dgm:spPr/>
    </dgm:pt>
    <dgm:pt modelId="{F9F91BC6-232D-43AF-B0AD-CEAB93FCABF3}" type="pres">
      <dgm:prSet presAssocID="{E220F012-0CA3-42FA-AEB9-164557CBDDB6}" presName="compositeNode" presStyleCnt="0">
        <dgm:presLayoutVars>
          <dgm:bulletEnabled val="1"/>
        </dgm:presLayoutVars>
      </dgm:prSet>
      <dgm:spPr/>
    </dgm:pt>
    <dgm:pt modelId="{5EAF3BAC-AECF-4CE5-8784-303256B91CE6}" type="pres">
      <dgm:prSet presAssocID="{E220F012-0CA3-42FA-AEB9-164557CBDDB6}" presName="bgRect" presStyleLbl="bgAccFollowNode1" presStyleIdx="0" presStyleCnt="7"/>
      <dgm:spPr/>
    </dgm:pt>
    <dgm:pt modelId="{FCB91500-912C-4165-9501-1FCCA1B086D7}" type="pres">
      <dgm:prSet presAssocID="{2662C552-82CE-467C-B0C8-9DC633D42F2A}" presName="sibTransNodeCircle" presStyleLbl="alignNode1" presStyleIdx="0" presStyleCnt="14">
        <dgm:presLayoutVars>
          <dgm:chMax val="0"/>
          <dgm:bulletEnabled/>
        </dgm:presLayoutVars>
      </dgm:prSet>
      <dgm:spPr/>
    </dgm:pt>
    <dgm:pt modelId="{EE2CCB47-1EFB-4DAE-8222-F879B65FDDB6}" type="pres">
      <dgm:prSet presAssocID="{E220F012-0CA3-42FA-AEB9-164557CBDDB6}" presName="bottomLine" presStyleLbl="alignNode1" presStyleIdx="1" presStyleCnt="14">
        <dgm:presLayoutVars/>
      </dgm:prSet>
      <dgm:spPr/>
    </dgm:pt>
    <dgm:pt modelId="{3C398BA8-ECC7-4958-BE5F-8244D3DA5A39}" type="pres">
      <dgm:prSet presAssocID="{E220F012-0CA3-42FA-AEB9-164557CBDDB6}" presName="nodeText" presStyleLbl="bgAccFollowNode1" presStyleIdx="0" presStyleCnt="7">
        <dgm:presLayoutVars>
          <dgm:bulletEnabled val="1"/>
        </dgm:presLayoutVars>
      </dgm:prSet>
      <dgm:spPr/>
    </dgm:pt>
    <dgm:pt modelId="{E6553288-4C17-4282-8DD7-355412FA3A67}" type="pres">
      <dgm:prSet presAssocID="{2662C552-82CE-467C-B0C8-9DC633D42F2A}" presName="sibTrans" presStyleCnt="0"/>
      <dgm:spPr/>
    </dgm:pt>
    <dgm:pt modelId="{51DECF57-05FD-424C-9203-9DAD0858CDB1}" type="pres">
      <dgm:prSet presAssocID="{5B200951-6507-449A-A175-23B57198771E}" presName="compositeNode" presStyleCnt="0">
        <dgm:presLayoutVars>
          <dgm:bulletEnabled val="1"/>
        </dgm:presLayoutVars>
      </dgm:prSet>
      <dgm:spPr/>
    </dgm:pt>
    <dgm:pt modelId="{AEB9279F-84ED-4953-A079-FACD95F188AB}" type="pres">
      <dgm:prSet presAssocID="{5B200951-6507-449A-A175-23B57198771E}" presName="bgRect" presStyleLbl="bgAccFollowNode1" presStyleIdx="1" presStyleCnt="7"/>
      <dgm:spPr/>
    </dgm:pt>
    <dgm:pt modelId="{924D0094-EF63-4D85-B2D3-BD58EDBC4D35}" type="pres">
      <dgm:prSet presAssocID="{E64BC4AA-0ACE-4E27-8AEA-31DDD3F5F4BF}" presName="sibTransNodeCircle" presStyleLbl="alignNode1" presStyleIdx="2" presStyleCnt="14">
        <dgm:presLayoutVars>
          <dgm:chMax val="0"/>
          <dgm:bulletEnabled/>
        </dgm:presLayoutVars>
      </dgm:prSet>
      <dgm:spPr/>
    </dgm:pt>
    <dgm:pt modelId="{44AEAA38-3D1E-42F0-A14A-45F591DABEB6}" type="pres">
      <dgm:prSet presAssocID="{5B200951-6507-449A-A175-23B57198771E}" presName="bottomLine" presStyleLbl="alignNode1" presStyleIdx="3" presStyleCnt="14">
        <dgm:presLayoutVars/>
      </dgm:prSet>
      <dgm:spPr/>
    </dgm:pt>
    <dgm:pt modelId="{F763F144-7A1D-496A-8849-35CB9B41D00F}" type="pres">
      <dgm:prSet presAssocID="{5B200951-6507-449A-A175-23B57198771E}" presName="nodeText" presStyleLbl="bgAccFollowNode1" presStyleIdx="1" presStyleCnt="7">
        <dgm:presLayoutVars>
          <dgm:bulletEnabled val="1"/>
        </dgm:presLayoutVars>
      </dgm:prSet>
      <dgm:spPr/>
    </dgm:pt>
    <dgm:pt modelId="{7E910C69-7F62-4BA3-B8D0-39128C3E94E4}" type="pres">
      <dgm:prSet presAssocID="{E64BC4AA-0ACE-4E27-8AEA-31DDD3F5F4BF}" presName="sibTrans" presStyleCnt="0"/>
      <dgm:spPr/>
    </dgm:pt>
    <dgm:pt modelId="{C825B4AE-346A-45E9-AFDB-73DBB74F8502}" type="pres">
      <dgm:prSet presAssocID="{41C0D5FB-EE1E-48DD-A4B5-6FA9D05C7446}" presName="compositeNode" presStyleCnt="0">
        <dgm:presLayoutVars>
          <dgm:bulletEnabled val="1"/>
        </dgm:presLayoutVars>
      </dgm:prSet>
      <dgm:spPr/>
    </dgm:pt>
    <dgm:pt modelId="{2D7B1B5C-F170-4A79-B9AA-BBACF97E3E49}" type="pres">
      <dgm:prSet presAssocID="{41C0D5FB-EE1E-48DD-A4B5-6FA9D05C7446}" presName="bgRect" presStyleLbl="bgAccFollowNode1" presStyleIdx="2" presStyleCnt="7"/>
      <dgm:spPr/>
    </dgm:pt>
    <dgm:pt modelId="{37A0AA91-66BF-4C8D-8043-132EB9AD3DAD}" type="pres">
      <dgm:prSet presAssocID="{4C10732D-E48A-4746-BBBB-3EAC96E8D0A6}" presName="sibTransNodeCircle" presStyleLbl="alignNode1" presStyleIdx="4" presStyleCnt="14">
        <dgm:presLayoutVars>
          <dgm:chMax val="0"/>
          <dgm:bulletEnabled/>
        </dgm:presLayoutVars>
      </dgm:prSet>
      <dgm:spPr/>
    </dgm:pt>
    <dgm:pt modelId="{7189D497-E54E-489B-945E-6F0B6B17588A}" type="pres">
      <dgm:prSet presAssocID="{41C0D5FB-EE1E-48DD-A4B5-6FA9D05C7446}" presName="bottomLine" presStyleLbl="alignNode1" presStyleIdx="5" presStyleCnt="14">
        <dgm:presLayoutVars/>
      </dgm:prSet>
      <dgm:spPr/>
    </dgm:pt>
    <dgm:pt modelId="{E944E70A-66C7-458E-9AD9-9E7BB87F4CAD}" type="pres">
      <dgm:prSet presAssocID="{41C0D5FB-EE1E-48DD-A4B5-6FA9D05C7446}" presName="nodeText" presStyleLbl="bgAccFollowNode1" presStyleIdx="2" presStyleCnt="7">
        <dgm:presLayoutVars>
          <dgm:bulletEnabled val="1"/>
        </dgm:presLayoutVars>
      </dgm:prSet>
      <dgm:spPr/>
    </dgm:pt>
    <dgm:pt modelId="{A31490D2-C8FC-4A54-AFAE-54E1ED0F037F}" type="pres">
      <dgm:prSet presAssocID="{4C10732D-E48A-4746-BBBB-3EAC96E8D0A6}" presName="sibTrans" presStyleCnt="0"/>
      <dgm:spPr/>
    </dgm:pt>
    <dgm:pt modelId="{F3DF749B-0B05-4FF9-A059-89F7FB01020B}" type="pres">
      <dgm:prSet presAssocID="{6E6C4E9A-3B6E-4C13-9AD2-38EA9743CD0B}" presName="compositeNode" presStyleCnt="0">
        <dgm:presLayoutVars>
          <dgm:bulletEnabled val="1"/>
        </dgm:presLayoutVars>
      </dgm:prSet>
      <dgm:spPr/>
    </dgm:pt>
    <dgm:pt modelId="{9D334006-5F77-4237-9DE6-18A6B46D0485}" type="pres">
      <dgm:prSet presAssocID="{6E6C4E9A-3B6E-4C13-9AD2-38EA9743CD0B}" presName="bgRect" presStyleLbl="bgAccFollowNode1" presStyleIdx="3" presStyleCnt="7"/>
      <dgm:spPr/>
    </dgm:pt>
    <dgm:pt modelId="{6D243A5F-1B92-4521-BE3D-AA99FB91B7F5}" type="pres">
      <dgm:prSet presAssocID="{95344B3D-5594-457F-B422-9897941CC57C}" presName="sibTransNodeCircle" presStyleLbl="alignNode1" presStyleIdx="6" presStyleCnt="14">
        <dgm:presLayoutVars>
          <dgm:chMax val="0"/>
          <dgm:bulletEnabled/>
        </dgm:presLayoutVars>
      </dgm:prSet>
      <dgm:spPr/>
    </dgm:pt>
    <dgm:pt modelId="{09DEB870-8474-43AB-8453-E59C54B171A3}" type="pres">
      <dgm:prSet presAssocID="{6E6C4E9A-3B6E-4C13-9AD2-38EA9743CD0B}" presName="bottomLine" presStyleLbl="alignNode1" presStyleIdx="7" presStyleCnt="14">
        <dgm:presLayoutVars/>
      </dgm:prSet>
      <dgm:spPr/>
    </dgm:pt>
    <dgm:pt modelId="{6342391F-62C1-470E-86B2-A2454FE2F92E}" type="pres">
      <dgm:prSet presAssocID="{6E6C4E9A-3B6E-4C13-9AD2-38EA9743CD0B}" presName="nodeText" presStyleLbl="bgAccFollowNode1" presStyleIdx="3" presStyleCnt="7">
        <dgm:presLayoutVars>
          <dgm:bulletEnabled val="1"/>
        </dgm:presLayoutVars>
      </dgm:prSet>
      <dgm:spPr/>
    </dgm:pt>
    <dgm:pt modelId="{2A97330E-0138-4CAE-910E-D65FA5D65C22}" type="pres">
      <dgm:prSet presAssocID="{95344B3D-5594-457F-B422-9897941CC57C}" presName="sibTrans" presStyleCnt="0"/>
      <dgm:spPr/>
    </dgm:pt>
    <dgm:pt modelId="{D5DB99FC-E01A-4AAB-BA20-133360ABEC58}" type="pres">
      <dgm:prSet presAssocID="{21B65F90-B0A7-4562-B4E7-7E5ADC543347}" presName="compositeNode" presStyleCnt="0">
        <dgm:presLayoutVars>
          <dgm:bulletEnabled val="1"/>
        </dgm:presLayoutVars>
      </dgm:prSet>
      <dgm:spPr/>
    </dgm:pt>
    <dgm:pt modelId="{DFCCA1F4-4701-4887-81F4-8FDE5FA73138}" type="pres">
      <dgm:prSet presAssocID="{21B65F90-B0A7-4562-B4E7-7E5ADC543347}" presName="bgRect" presStyleLbl="bgAccFollowNode1" presStyleIdx="4" presStyleCnt="7"/>
      <dgm:spPr/>
    </dgm:pt>
    <dgm:pt modelId="{7F01E149-FA2C-4098-BA3C-CEC58878BBCC}" type="pres">
      <dgm:prSet presAssocID="{4412483A-FEB5-47A0-82F0-CB6ABB5F1048}" presName="sibTransNodeCircle" presStyleLbl="alignNode1" presStyleIdx="8" presStyleCnt="14">
        <dgm:presLayoutVars>
          <dgm:chMax val="0"/>
          <dgm:bulletEnabled/>
        </dgm:presLayoutVars>
      </dgm:prSet>
      <dgm:spPr/>
    </dgm:pt>
    <dgm:pt modelId="{65BE92FB-53AB-4B35-8952-1196629908B5}" type="pres">
      <dgm:prSet presAssocID="{21B65F90-B0A7-4562-B4E7-7E5ADC543347}" presName="bottomLine" presStyleLbl="alignNode1" presStyleIdx="9" presStyleCnt="14">
        <dgm:presLayoutVars/>
      </dgm:prSet>
      <dgm:spPr/>
    </dgm:pt>
    <dgm:pt modelId="{25A45E4C-A8C3-4466-836A-9369FA020F89}" type="pres">
      <dgm:prSet presAssocID="{21B65F90-B0A7-4562-B4E7-7E5ADC543347}" presName="nodeText" presStyleLbl="bgAccFollowNode1" presStyleIdx="4" presStyleCnt="7">
        <dgm:presLayoutVars>
          <dgm:bulletEnabled val="1"/>
        </dgm:presLayoutVars>
      </dgm:prSet>
      <dgm:spPr/>
    </dgm:pt>
    <dgm:pt modelId="{344D921C-F8C0-46AD-A149-3BF052397B7B}" type="pres">
      <dgm:prSet presAssocID="{4412483A-FEB5-47A0-82F0-CB6ABB5F1048}" presName="sibTrans" presStyleCnt="0"/>
      <dgm:spPr/>
    </dgm:pt>
    <dgm:pt modelId="{1C03E625-C1AF-4B49-9916-F6C3FA0AC741}" type="pres">
      <dgm:prSet presAssocID="{BDAC286B-DA50-43BA-B778-5C98D8D348FF}" presName="compositeNode" presStyleCnt="0">
        <dgm:presLayoutVars>
          <dgm:bulletEnabled val="1"/>
        </dgm:presLayoutVars>
      </dgm:prSet>
      <dgm:spPr/>
    </dgm:pt>
    <dgm:pt modelId="{040081B6-46AF-411C-BC53-F3D330A53931}" type="pres">
      <dgm:prSet presAssocID="{BDAC286B-DA50-43BA-B778-5C98D8D348FF}" presName="bgRect" presStyleLbl="bgAccFollowNode1" presStyleIdx="5" presStyleCnt="7"/>
      <dgm:spPr/>
    </dgm:pt>
    <dgm:pt modelId="{FA7D9498-8640-4B93-85DF-691C24269093}" type="pres">
      <dgm:prSet presAssocID="{65B0B483-F94F-437D-86FF-BBA39DA2B6AA}" presName="sibTransNodeCircle" presStyleLbl="alignNode1" presStyleIdx="10" presStyleCnt="14">
        <dgm:presLayoutVars>
          <dgm:chMax val="0"/>
          <dgm:bulletEnabled/>
        </dgm:presLayoutVars>
      </dgm:prSet>
      <dgm:spPr/>
    </dgm:pt>
    <dgm:pt modelId="{1D354FF4-B4CC-4E04-B797-2041261EE7BD}" type="pres">
      <dgm:prSet presAssocID="{BDAC286B-DA50-43BA-B778-5C98D8D348FF}" presName="bottomLine" presStyleLbl="alignNode1" presStyleIdx="11" presStyleCnt="14">
        <dgm:presLayoutVars/>
      </dgm:prSet>
      <dgm:spPr/>
    </dgm:pt>
    <dgm:pt modelId="{A7469453-877B-48A4-A11B-923AD9B14B6C}" type="pres">
      <dgm:prSet presAssocID="{BDAC286B-DA50-43BA-B778-5C98D8D348FF}" presName="nodeText" presStyleLbl="bgAccFollowNode1" presStyleIdx="5" presStyleCnt="7">
        <dgm:presLayoutVars>
          <dgm:bulletEnabled val="1"/>
        </dgm:presLayoutVars>
      </dgm:prSet>
      <dgm:spPr/>
    </dgm:pt>
    <dgm:pt modelId="{9F31B277-6A96-462A-A440-9C74F083ED47}" type="pres">
      <dgm:prSet presAssocID="{65B0B483-F94F-437D-86FF-BBA39DA2B6AA}" presName="sibTrans" presStyleCnt="0"/>
      <dgm:spPr/>
    </dgm:pt>
    <dgm:pt modelId="{B17E008B-DE59-4986-9347-876914FB1FC1}" type="pres">
      <dgm:prSet presAssocID="{B1440B0B-2050-4BD1-95CB-2BC8988F7E76}" presName="compositeNode" presStyleCnt="0">
        <dgm:presLayoutVars>
          <dgm:bulletEnabled val="1"/>
        </dgm:presLayoutVars>
      </dgm:prSet>
      <dgm:spPr/>
    </dgm:pt>
    <dgm:pt modelId="{C4C7EA48-7EBA-4A1A-AEDE-485F287D3D74}" type="pres">
      <dgm:prSet presAssocID="{B1440B0B-2050-4BD1-95CB-2BC8988F7E76}" presName="bgRect" presStyleLbl="bgAccFollowNode1" presStyleIdx="6" presStyleCnt="7"/>
      <dgm:spPr/>
    </dgm:pt>
    <dgm:pt modelId="{6A3F546A-F6DD-49FC-B61D-59808369305C}" type="pres">
      <dgm:prSet presAssocID="{E039E923-F387-41C9-8258-7B7B0673744B}" presName="sibTransNodeCircle" presStyleLbl="alignNode1" presStyleIdx="12" presStyleCnt="14">
        <dgm:presLayoutVars>
          <dgm:chMax val="0"/>
          <dgm:bulletEnabled/>
        </dgm:presLayoutVars>
      </dgm:prSet>
      <dgm:spPr/>
    </dgm:pt>
    <dgm:pt modelId="{7C93CC61-5986-41F7-8DAA-8304F53F66B4}" type="pres">
      <dgm:prSet presAssocID="{B1440B0B-2050-4BD1-95CB-2BC8988F7E76}" presName="bottomLine" presStyleLbl="alignNode1" presStyleIdx="13" presStyleCnt="14">
        <dgm:presLayoutVars/>
      </dgm:prSet>
      <dgm:spPr/>
    </dgm:pt>
    <dgm:pt modelId="{03F8FEEC-C3E9-4247-B884-ED3ACED42450}" type="pres">
      <dgm:prSet presAssocID="{B1440B0B-2050-4BD1-95CB-2BC8988F7E76}" presName="nodeText" presStyleLbl="bgAccFollowNode1" presStyleIdx="6" presStyleCnt="7">
        <dgm:presLayoutVars>
          <dgm:bulletEnabled val="1"/>
        </dgm:presLayoutVars>
      </dgm:prSet>
      <dgm:spPr/>
    </dgm:pt>
  </dgm:ptLst>
  <dgm:cxnLst>
    <dgm:cxn modelId="{AA80AA00-4D05-4382-B3B9-110C662308C8}" type="presOf" srcId="{E220F012-0CA3-42FA-AEB9-164557CBDDB6}" destId="{3C398BA8-ECC7-4958-BE5F-8244D3DA5A39}" srcOrd="1" destOrd="0" presId="urn:microsoft.com/office/officeart/2016/7/layout/BasicLinearProcessNumbered"/>
    <dgm:cxn modelId="{6F62F300-6E4E-465D-A95F-84E64CE31B42}" srcId="{1ADDA8FE-9383-4169-B31E-61DADB5701F7}" destId="{41C0D5FB-EE1E-48DD-A4B5-6FA9D05C7446}" srcOrd="2" destOrd="0" parTransId="{361CE42B-F572-45E7-80EA-96501414E905}" sibTransId="{4C10732D-E48A-4746-BBBB-3EAC96E8D0A6}"/>
    <dgm:cxn modelId="{2CA01507-6420-476D-A21F-7480589C56AA}" srcId="{1ADDA8FE-9383-4169-B31E-61DADB5701F7}" destId="{E220F012-0CA3-42FA-AEB9-164557CBDDB6}" srcOrd="0" destOrd="0" parTransId="{D90B8E29-009C-480C-A381-FC0AB70514FE}" sibTransId="{2662C552-82CE-467C-B0C8-9DC633D42F2A}"/>
    <dgm:cxn modelId="{E9B07719-FBD2-4389-9E9A-EAB6B1D6158A}" type="presOf" srcId="{21B65F90-B0A7-4562-B4E7-7E5ADC543347}" destId="{25A45E4C-A8C3-4466-836A-9369FA020F89}" srcOrd="1" destOrd="0" presId="urn:microsoft.com/office/officeart/2016/7/layout/BasicLinearProcessNumbered"/>
    <dgm:cxn modelId="{DFE78F1C-695D-48EC-9402-CF42250E1199}" type="presOf" srcId="{BDAC286B-DA50-43BA-B778-5C98D8D348FF}" destId="{040081B6-46AF-411C-BC53-F3D330A53931}" srcOrd="0" destOrd="0" presId="urn:microsoft.com/office/officeart/2016/7/layout/BasicLinearProcessNumbered"/>
    <dgm:cxn modelId="{4512FC28-E2CA-4380-8F52-3FB3C760B8F3}" type="presOf" srcId="{41C0D5FB-EE1E-48DD-A4B5-6FA9D05C7446}" destId="{2D7B1B5C-F170-4A79-B9AA-BBACF97E3E49}" srcOrd="0" destOrd="0" presId="urn:microsoft.com/office/officeart/2016/7/layout/BasicLinearProcessNumbered"/>
    <dgm:cxn modelId="{4E19CD2B-F11A-4C20-AB0A-059E3E913DB4}" type="presOf" srcId="{4C10732D-E48A-4746-BBBB-3EAC96E8D0A6}" destId="{37A0AA91-66BF-4C8D-8043-132EB9AD3DAD}" srcOrd="0" destOrd="0" presId="urn:microsoft.com/office/officeart/2016/7/layout/BasicLinearProcessNumbered"/>
    <dgm:cxn modelId="{F1B1253E-F6FA-48B8-8BFE-DE8085463504}" type="presOf" srcId="{65B0B483-F94F-437D-86FF-BBA39DA2B6AA}" destId="{FA7D9498-8640-4B93-85DF-691C24269093}" srcOrd="0" destOrd="0" presId="urn:microsoft.com/office/officeart/2016/7/layout/BasicLinearProcessNumbered"/>
    <dgm:cxn modelId="{7C970C5B-B83C-4591-B2C3-64304F268C3B}" type="presOf" srcId="{1ADDA8FE-9383-4169-B31E-61DADB5701F7}" destId="{DE4F1ED7-F72A-427C-A12E-0FFA9B476B09}" srcOrd="0" destOrd="0" presId="urn:microsoft.com/office/officeart/2016/7/layout/BasicLinearProcessNumbered"/>
    <dgm:cxn modelId="{0AA44162-03DA-4305-92A9-26A7AA6AA897}" type="presOf" srcId="{B1440B0B-2050-4BD1-95CB-2BC8988F7E76}" destId="{03F8FEEC-C3E9-4247-B884-ED3ACED42450}" srcOrd="1" destOrd="0" presId="urn:microsoft.com/office/officeart/2016/7/layout/BasicLinearProcessNumbered"/>
    <dgm:cxn modelId="{AE6C2F66-5BEB-437C-AA77-C61E0AC3D00B}" type="presOf" srcId="{B1440B0B-2050-4BD1-95CB-2BC8988F7E76}" destId="{C4C7EA48-7EBA-4A1A-AEDE-485F287D3D74}" srcOrd="0" destOrd="0" presId="urn:microsoft.com/office/officeart/2016/7/layout/BasicLinearProcessNumbered"/>
    <dgm:cxn modelId="{A0F8F946-B92A-41D7-8B1A-5297F7B6BDEB}" type="presOf" srcId="{5B200951-6507-449A-A175-23B57198771E}" destId="{AEB9279F-84ED-4953-A079-FACD95F188AB}" srcOrd="0" destOrd="0" presId="urn:microsoft.com/office/officeart/2016/7/layout/BasicLinearProcessNumbered"/>
    <dgm:cxn modelId="{7EC4D94E-3D98-4E7D-9543-BEE69434C7DB}" srcId="{1ADDA8FE-9383-4169-B31E-61DADB5701F7}" destId="{B1440B0B-2050-4BD1-95CB-2BC8988F7E76}" srcOrd="6" destOrd="0" parTransId="{EE162426-5CC9-4763-B264-64A33A73F3E2}" sibTransId="{E039E923-F387-41C9-8258-7B7B0673744B}"/>
    <dgm:cxn modelId="{C5CEC376-1FD0-4274-A06F-DAFBD4DCB6D7}" type="presOf" srcId="{6E6C4E9A-3B6E-4C13-9AD2-38EA9743CD0B}" destId="{9D334006-5F77-4237-9DE6-18A6B46D0485}" srcOrd="0" destOrd="0" presId="urn:microsoft.com/office/officeart/2016/7/layout/BasicLinearProcessNumbered"/>
    <dgm:cxn modelId="{6BFEA95A-D849-4E41-A4E6-3DD543DE227D}" srcId="{1ADDA8FE-9383-4169-B31E-61DADB5701F7}" destId="{21B65F90-B0A7-4562-B4E7-7E5ADC543347}" srcOrd="4" destOrd="0" parTransId="{44CB3056-DB5B-41CB-B007-CEC80E74D65E}" sibTransId="{4412483A-FEB5-47A0-82F0-CB6ABB5F1048}"/>
    <dgm:cxn modelId="{E9E7687C-E20D-457A-9CD3-C8E03A8E852E}" type="presOf" srcId="{5B200951-6507-449A-A175-23B57198771E}" destId="{F763F144-7A1D-496A-8849-35CB9B41D00F}" srcOrd="1" destOrd="0" presId="urn:microsoft.com/office/officeart/2016/7/layout/BasicLinearProcessNumbered"/>
    <dgm:cxn modelId="{CBEC398A-8D25-4D6B-BC0D-DA31BB1FC8BA}" srcId="{1ADDA8FE-9383-4169-B31E-61DADB5701F7}" destId="{5B200951-6507-449A-A175-23B57198771E}" srcOrd="1" destOrd="0" parTransId="{040F8CC3-8C84-420B-A755-018CA4341FDF}" sibTransId="{E64BC4AA-0ACE-4E27-8AEA-31DDD3F5F4BF}"/>
    <dgm:cxn modelId="{B29F348E-6956-402D-8DA5-79C36D6CF681}" srcId="{1ADDA8FE-9383-4169-B31E-61DADB5701F7}" destId="{6E6C4E9A-3B6E-4C13-9AD2-38EA9743CD0B}" srcOrd="3" destOrd="0" parTransId="{D8B5ABB1-93B2-44F7-82F1-B8BB2BF06A27}" sibTransId="{95344B3D-5594-457F-B422-9897941CC57C}"/>
    <dgm:cxn modelId="{13311995-2C01-464F-BEA1-56DD8DA7976B}" type="presOf" srcId="{41C0D5FB-EE1E-48DD-A4B5-6FA9D05C7446}" destId="{E944E70A-66C7-458E-9AD9-9E7BB87F4CAD}" srcOrd="1" destOrd="0" presId="urn:microsoft.com/office/officeart/2016/7/layout/BasicLinearProcessNumbered"/>
    <dgm:cxn modelId="{CE99729F-8773-408A-B159-12AA55D7B68B}" type="presOf" srcId="{21B65F90-B0A7-4562-B4E7-7E5ADC543347}" destId="{DFCCA1F4-4701-4887-81F4-8FDE5FA73138}" srcOrd="0" destOrd="0" presId="urn:microsoft.com/office/officeart/2016/7/layout/BasicLinearProcessNumbered"/>
    <dgm:cxn modelId="{77C6B1C0-E1E5-4030-A03B-2BF9A9645CA5}" type="presOf" srcId="{E64BC4AA-0ACE-4E27-8AEA-31DDD3F5F4BF}" destId="{924D0094-EF63-4D85-B2D3-BD58EDBC4D35}" srcOrd="0" destOrd="0" presId="urn:microsoft.com/office/officeart/2016/7/layout/BasicLinearProcessNumbered"/>
    <dgm:cxn modelId="{5FA9C6C4-0BEC-40BA-9933-EAC6E5DDE617}" type="presOf" srcId="{2662C552-82CE-467C-B0C8-9DC633D42F2A}" destId="{FCB91500-912C-4165-9501-1FCCA1B086D7}" srcOrd="0" destOrd="0" presId="urn:microsoft.com/office/officeart/2016/7/layout/BasicLinearProcessNumbered"/>
    <dgm:cxn modelId="{7AC395C6-115F-4774-9103-0479BBB9653C}" type="presOf" srcId="{BDAC286B-DA50-43BA-B778-5C98D8D348FF}" destId="{A7469453-877B-48A4-A11B-923AD9B14B6C}" srcOrd="1" destOrd="0" presId="urn:microsoft.com/office/officeart/2016/7/layout/BasicLinearProcessNumbered"/>
    <dgm:cxn modelId="{116034C8-9DA3-42CC-9D81-4F68C1B2661C}" type="presOf" srcId="{E039E923-F387-41C9-8258-7B7B0673744B}" destId="{6A3F546A-F6DD-49FC-B61D-59808369305C}" srcOrd="0" destOrd="0" presId="urn:microsoft.com/office/officeart/2016/7/layout/BasicLinearProcessNumbered"/>
    <dgm:cxn modelId="{55FADEE6-84F8-433B-BF37-9BCDBAC30842}" type="presOf" srcId="{4412483A-FEB5-47A0-82F0-CB6ABB5F1048}" destId="{7F01E149-FA2C-4098-BA3C-CEC58878BBCC}" srcOrd="0" destOrd="0" presId="urn:microsoft.com/office/officeart/2016/7/layout/BasicLinearProcessNumbered"/>
    <dgm:cxn modelId="{D0A39FE7-C908-4941-B88A-65F7648EBDDB}" type="presOf" srcId="{6E6C4E9A-3B6E-4C13-9AD2-38EA9743CD0B}" destId="{6342391F-62C1-470E-86B2-A2454FE2F92E}" srcOrd="1" destOrd="0" presId="urn:microsoft.com/office/officeart/2016/7/layout/BasicLinearProcessNumbered"/>
    <dgm:cxn modelId="{313D31E8-E0F4-434F-B1CF-309FAA0EBB7E}" type="presOf" srcId="{E220F012-0CA3-42FA-AEB9-164557CBDDB6}" destId="{5EAF3BAC-AECF-4CE5-8784-303256B91CE6}" srcOrd="0" destOrd="0" presId="urn:microsoft.com/office/officeart/2016/7/layout/BasicLinearProcessNumbered"/>
    <dgm:cxn modelId="{C3CA0FF0-B3C5-49A5-B86E-37FD57BF9197}" srcId="{1ADDA8FE-9383-4169-B31E-61DADB5701F7}" destId="{BDAC286B-DA50-43BA-B778-5C98D8D348FF}" srcOrd="5" destOrd="0" parTransId="{17C921C2-AC2F-4CAE-8C4E-3DC96EFE2323}" sibTransId="{65B0B483-F94F-437D-86FF-BBA39DA2B6AA}"/>
    <dgm:cxn modelId="{C3DCA7F2-DAE4-440D-BBF2-2565A1E29BDC}" type="presOf" srcId="{95344B3D-5594-457F-B422-9897941CC57C}" destId="{6D243A5F-1B92-4521-BE3D-AA99FB91B7F5}" srcOrd="0" destOrd="0" presId="urn:microsoft.com/office/officeart/2016/7/layout/BasicLinearProcessNumbered"/>
    <dgm:cxn modelId="{F63B0F2C-0040-4A6D-BACA-9CC041B0C906}" type="presParOf" srcId="{DE4F1ED7-F72A-427C-A12E-0FFA9B476B09}" destId="{F9F91BC6-232D-43AF-B0AD-CEAB93FCABF3}" srcOrd="0" destOrd="0" presId="urn:microsoft.com/office/officeart/2016/7/layout/BasicLinearProcessNumbered"/>
    <dgm:cxn modelId="{98C4628E-FF26-427F-9DAE-42600672734C}" type="presParOf" srcId="{F9F91BC6-232D-43AF-B0AD-CEAB93FCABF3}" destId="{5EAF3BAC-AECF-4CE5-8784-303256B91CE6}" srcOrd="0" destOrd="0" presId="urn:microsoft.com/office/officeart/2016/7/layout/BasicLinearProcessNumbered"/>
    <dgm:cxn modelId="{08689AB3-982A-42A9-9AA8-784CD8AB13D4}" type="presParOf" srcId="{F9F91BC6-232D-43AF-B0AD-CEAB93FCABF3}" destId="{FCB91500-912C-4165-9501-1FCCA1B086D7}" srcOrd="1" destOrd="0" presId="urn:microsoft.com/office/officeart/2016/7/layout/BasicLinearProcessNumbered"/>
    <dgm:cxn modelId="{5178CFFA-D663-45D5-803D-A68225C8D266}" type="presParOf" srcId="{F9F91BC6-232D-43AF-B0AD-CEAB93FCABF3}" destId="{EE2CCB47-1EFB-4DAE-8222-F879B65FDDB6}" srcOrd="2" destOrd="0" presId="urn:microsoft.com/office/officeart/2016/7/layout/BasicLinearProcessNumbered"/>
    <dgm:cxn modelId="{A1EEB7BF-919B-403C-9DB0-02E3FAAC3C9D}" type="presParOf" srcId="{F9F91BC6-232D-43AF-B0AD-CEAB93FCABF3}" destId="{3C398BA8-ECC7-4958-BE5F-8244D3DA5A39}" srcOrd="3" destOrd="0" presId="urn:microsoft.com/office/officeart/2016/7/layout/BasicLinearProcessNumbered"/>
    <dgm:cxn modelId="{8A073D84-D6C2-4DEE-B24A-81D18CB98746}" type="presParOf" srcId="{DE4F1ED7-F72A-427C-A12E-0FFA9B476B09}" destId="{E6553288-4C17-4282-8DD7-355412FA3A67}" srcOrd="1" destOrd="0" presId="urn:microsoft.com/office/officeart/2016/7/layout/BasicLinearProcessNumbered"/>
    <dgm:cxn modelId="{4860829C-8405-4BCF-87A5-A96B15EA6FD5}" type="presParOf" srcId="{DE4F1ED7-F72A-427C-A12E-0FFA9B476B09}" destId="{51DECF57-05FD-424C-9203-9DAD0858CDB1}" srcOrd="2" destOrd="0" presId="urn:microsoft.com/office/officeart/2016/7/layout/BasicLinearProcessNumbered"/>
    <dgm:cxn modelId="{2648191E-F5E7-43A6-99D7-9F5061B0753D}" type="presParOf" srcId="{51DECF57-05FD-424C-9203-9DAD0858CDB1}" destId="{AEB9279F-84ED-4953-A079-FACD95F188AB}" srcOrd="0" destOrd="0" presId="urn:microsoft.com/office/officeart/2016/7/layout/BasicLinearProcessNumbered"/>
    <dgm:cxn modelId="{8FE3F10F-6EA1-4413-961E-8D6969056CB7}" type="presParOf" srcId="{51DECF57-05FD-424C-9203-9DAD0858CDB1}" destId="{924D0094-EF63-4D85-B2D3-BD58EDBC4D35}" srcOrd="1" destOrd="0" presId="urn:microsoft.com/office/officeart/2016/7/layout/BasicLinearProcessNumbered"/>
    <dgm:cxn modelId="{160F7B8A-FB2F-4615-80A2-D3F6E63A4D9D}" type="presParOf" srcId="{51DECF57-05FD-424C-9203-9DAD0858CDB1}" destId="{44AEAA38-3D1E-42F0-A14A-45F591DABEB6}" srcOrd="2" destOrd="0" presId="urn:microsoft.com/office/officeart/2016/7/layout/BasicLinearProcessNumbered"/>
    <dgm:cxn modelId="{6497F498-1073-4D06-9B6F-85518D4238F6}" type="presParOf" srcId="{51DECF57-05FD-424C-9203-9DAD0858CDB1}" destId="{F763F144-7A1D-496A-8849-35CB9B41D00F}" srcOrd="3" destOrd="0" presId="urn:microsoft.com/office/officeart/2016/7/layout/BasicLinearProcessNumbered"/>
    <dgm:cxn modelId="{6A6B2D33-86F1-41BA-9E65-2E6F34DB2ED9}" type="presParOf" srcId="{DE4F1ED7-F72A-427C-A12E-0FFA9B476B09}" destId="{7E910C69-7F62-4BA3-B8D0-39128C3E94E4}" srcOrd="3" destOrd="0" presId="urn:microsoft.com/office/officeart/2016/7/layout/BasicLinearProcessNumbered"/>
    <dgm:cxn modelId="{A2DDB0C5-883F-4A60-9099-F7D8C4C08B42}" type="presParOf" srcId="{DE4F1ED7-F72A-427C-A12E-0FFA9B476B09}" destId="{C825B4AE-346A-45E9-AFDB-73DBB74F8502}" srcOrd="4" destOrd="0" presId="urn:microsoft.com/office/officeart/2016/7/layout/BasicLinearProcessNumbered"/>
    <dgm:cxn modelId="{8FD07461-E6E9-494D-A129-0760F36169C3}" type="presParOf" srcId="{C825B4AE-346A-45E9-AFDB-73DBB74F8502}" destId="{2D7B1B5C-F170-4A79-B9AA-BBACF97E3E49}" srcOrd="0" destOrd="0" presId="urn:microsoft.com/office/officeart/2016/7/layout/BasicLinearProcessNumbered"/>
    <dgm:cxn modelId="{590029D8-7469-4708-B880-CEF2A7A949E2}" type="presParOf" srcId="{C825B4AE-346A-45E9-AFDB-73DBB74F8502}" destId="{37A0AA91-66BF-4C8D-8043-132EB9AD3DAD}" srcOrd="1" destOrd="0" presId="urn:microsoft.com/office/officeart/2016/7/layout/BasicLinearProcessNumbered"/>
    <dgm:cxn modelId="{FBFEA629-6377-4B2E-B391-A4139E22701F}" type="presParOf" srcId="{C825B4AE-346A-45E9-AFDB-73DBB74F8502}" destId="{7189D497-E54E-489B-945E-6F0B6B17588A}" srcOrd="2" destOrd="0" presId="urn:microsoft.com/office/officeart/2016/7/layout/BasicLinearProcessNumbered"/>
    <dgm:cxn modelId="{30739CD1-90C1-4DC0-87CD-F1D17977563E}" type="presParOf" srcId="{C825B4AE-346A-45E9-AFDB-73DBB74F8502}" destId="{E944E70A-66C7-458E-9AD9-9E7BB87F4CAD}" srcOrd="3" destOrd="0" presId="urn:microsoft.com/office/officeart/2016/7/layout/BasicLinearProcessNumbered"/>
    <dgm:cxn modelId="{F49DE135-4A85-47A9-B1EB-312B285708A1}" type="presParOf" srcId="{DE4F1ED7-F72A-427C-A12E-0FFA9B476B09}" destId="{A31490D2-C8FC-4A54-AFAE-54E1ED0F037F}" srcOrd="5" destOrd="0" presId="urn:microsoft.com/office/officeart/2016/7/layout/BasicLinearProcessNumbered"/>
    <dgm:cxn modelId="{CBDD0E67-5313-4032-8B55-E0181ABE861B}" type="presParOf" srcId="{DE4F1ED7-F72A-427C-A12E-0FFA9B476B09}" destId="{F3DF749B-0B05-4FF9-A059-89F7FB01020B}" srcOrd="6" destOrd="0" presId="urn:microsoft.com/office/officeart/2016/7/layout/BasicLinearProcessNumbered"/>
    <dgm:cxn modelId="{5788F6B8-B020-491B-AE2C-C10E8DA537E4}" type="presParOf" srcId="{F3DF749B-0B05-4FF9-A059-89F7FB01020B}" destId="{9D334006-5F77-4237-9DE6-18A6B46D0485}" srcOrd="0" destOrd="0" presId="urn:microsoft.com/office/officeart/2016/7/layout/BasicLinearProcessNumbered"/>
    <dgm:cxn modelId="{E825E3C0-A91C-4094-9BDD-13F3F38D7F41}" type="presParOf" srcId="{F3DF749B-0B05-4FF9-A059-89F7FB01020B}" destId="{6D243A5F-1B92-4521-BE3D-AA99FB91B7F5}" srcOrd="1" destOrd="0" presId="urn:microsoft.com/office/officeart/2016/7/layout/BasicLinearProcessNumbered"/>
    <dgm:cxn modelId="{DDA8A24A-827B-4889-93B7-03B2E6C730EC}" type="presParOf" srcId="{F3DF749B-0B05-4FF9-A059-89F7FB01020B}" destId="{09DEB870-8474-43AB-8453-E59C54B171A3}" srcOrd="2" destOrd="0" presId="urn:microsoft.com/office/officeart/2016/7/layout/BasicLinearProcessNumbered"/>
    <dgm:cxn modelId="{BA74DB59-6B5B-4DBC-A268-9ED24F43646E}" type="presParOf" srcId="{F3DF749B-0B05-4FF9-A059-89F7FB01020B}" destId="{6342391F-62C1-470E-86B2-A2454FE2F92E}" srcOrd="3" destOrd="0" presId="urn:microsoft.com/office/officeart/2016/7/layout/BasicLinearProcessNumbered"/>
    <dgm:cxn modelId="{2D4B5B99-4640-45EE-AAE6-62130330F4C8}" type="presParOf" srcId="{DE4F1ED7-F72A-427C-A12E-0FFA9B476B09}" destId="{2A97330E-0138-4CAE-910E-D65FA5D65C22}" srcOrd="7" destOrd="0" presId="urn:microsoft.com/office/officeart/2016/7/layout/BasicLinearProcessNumbered"/>
    <dgm:cxn modelId="{08D4BA72-7761-46BF-BE97-B47BB22A37BB}" type="presParOf" srcId="{DE4F1ED7-F72A-427C-A12E-0FFA9B476B09}" destId="{D5DB99FC-E01A-4AAB-BA20-133360ABEC58}" srcOrd="8" destOrd="0" presId="urn:microsoft.com/office/officeart/2016/7/layout/BasicLinearProcessNumbered"/>
    <dgm:cxn modelId="{5170BDDF-9A3A-4129-99AF-F17198558D50}" type="presParOf" srcId="{D5DB99FC-E01A-4AAB-BA20-133360ABEC58}" destId="{DFCCA1F4-4701-4887-81F4-8FDE5FA73138}" srcOrd="0" destOrd="0" presId="urn:microsoft.com/office/officeart/2016/7/layout/BasicLinearProcessNumbered"/>
    <dgm:cxn modelId="{AE1E9879-2E00-4483-BFF1-0AA1B708D761}" type="presParOf" srcId="{D5DB99FC-E01A-4AAB-BA20-133360ABEC58}" destId="{7F01E149-FA2C-4098-BA3C-CEC58878BBCC}" srcOrd="1" destOrd="0" presId="urn:microsoft.com/office/officeart/2016/7/layout/BasicLinearProcessNumbered"/>
    <dgm:cxn modelId="{F78B37BC-D7B9-4370-966F-7749A0599F0D}" type="presParOf" srcId="{D5DB99FC-E01A-4AAB-BA20-133360ABEC58}" destId="{65BE92FB-53AB-4B35-8952-1196629908B5}" srcOrd="2" destOrd="0" presId="urn:microsoft.com/office/officeart/2016/7/layout/BasicLinearProcessNumbered"/>
    <dgm:cxn modelId="{F2AEE65E-45A5-4915-ACF9-5219260D98FF}" type="presParOf" srcId="{D5DB99FC-E01A-4AAB-BA20-133360ABEC58}" destId="{25A45E4C-A8C3-4466-836A-9369FA020F89}" srcOrd="3" destOrd="0" presId="urn:microsoft.com/office/officeart/2016/7/layout/BasicLinearProcessNumbered"/>
    <dgm:cxn modelId="{D6DD4AB5-7733-45D7-9660-5D9EDA3F1C3D}" type="presParOf" srcId="{DE4F1ED7-F72A-427C-A12E-0FFA9B476B09}" destId="{344D921C-F8C0-46AD-A149-3BF052397B7B}" srcOrd="9" destOrd="0" presId="urn:microsoft.com/office/officeart/2016/7/layout/BasicLinearProcessNumbered"/>
    <dgm:cxn modelId="{F74E60EA-3E73-4831-96FE-4C0B378713A2}" type="presParOf" srcId="{DE4F1ED7-F72A-427C-A12E-0FFA9B476B09}" destId="{1C03E625-C1AF-4B49-9916-F6C3FA0AC741}" srcOrd="10" destOrd="0" presId="urn:microsoft.com/office/officeart/2016/7/layout/BasicLinearProcessNumbered"/>
    <dgm:cxn modelId="{A46B8E35-B9FF-48BB-873F-9DE57A20029F}" type="presParOf" srcId="{1C03E625-C1AF-4B49-9916-F6C3FA0AC741}" destId="{040081B6-46AF-411C-BC53-F3D330A53931}" srcOrd="0" destOrd="0" presId="urn:microsoft.com/office/officeart/2016/7/layout/BasicLinearProcessNumbered"/>
    <dgm:cxn modelId="{F8617BB2-7F4C-48E8-8B33-ECBA981CBB24}" type="presParOf" srcId="{1C03E625-C1AF-4B49-9916-F6C3FA0AC741}" destId="{FA7D9498-8640-4B93-85DF-691C24269093}" srcOrd="1" destOrd="0" presId="urn:microsoft.com/office/officeart/2016/7/layout/BasicLinearProcessNumbered"/>
    <dgm:cxn modelId="{7A9ED64B-985E-41E0-8606-91810660383A}" type="presParOf" srcId="{1C03E625-C1AF-4B49-9916-F6C3FA0AC741}" destId="{1D354FF4-B4CC-4E04-B797-2041261EE7BD}" srcOrd="2" destOrd="0" presId="urn:microsoft.com/office/officeart/2016/7/layout/BasicLinearProcessNumbered"/>
    <dgm:cxn modelId="{9EB5E574-06D3-4698-8BE7-055E75FB932F}" type="presParOf" srcId="{1C03E625-C1AF-4B49-9916-F6C3FA0AC741}" destId="{A7469453-877B-48A4-A11B-923AD9B14B6C}" srcOrd="3" destOrd="0" presId="urn:microsoft.com/office/officeart/2016/7/layout/BasicLinearProcessNumbered"/>
    <dgm:cxn modelId="{A026BF3E-7CB1-47B2-956D-989C266FF1B7}" type="presParOf" srcId="{DE4F1ED7-F72A-427C-A12E-0FFA9B476B09}" destId="{9F31B277-6A96-462A-A440-9C74F083ED47}" srcOrd="11" destOrd="0" presId="urn:microsoft.com/office/officeart/2016/7/layout/BasicLinearProcessNumbered"/>
    <dgm:cxn modelId="{A685E3DC-D1A6-400F-8762-A0037464E0F1}" type="presParOf" srcId="{DE4F1ED7-F72A-427C-A12E-0FFA9B476B09}" destId="{B17E008B-DE59-4986-9347-876914FB1FC1}" srcOrd="12" destOrd="0" presId="urn:microsoft.com/office/officeart/2016/7/layout/BasicLinearProcessNumbered"/>
    <dgm:cxn modelId="{A7043157-25AD-464D-AB51-85C619B33C3C}" type="presParOf" srcId="{B17E008B-DE59-4986-9347-876914FB1FC1}" destId="{C4C7EA48-7EBA-4A1A-AEDE-485F287D3D74}" srcOrd="0" destOrd="0" presId="urn:microsoft.com/office/officeart/2016/7/layout/BasicLinearProcessNumbered"/>
    <dgm:cxn modelId="{C4579DD0-9C99-436A-9254-CF90731F86F2}" type="presParOf" srcId="{B17E008B-DE59-4986-9347-876914FB1FC1}" destId="{6A3F546A-F6DD-49FC-B61D-59808369305C}" srcOrd="1" destOrd="0" presId="urn:microsoft.com/office/officeart/2016/7/layout/BasicLinearProcessNumbered"/>
    <dgm:cxn modelId="{B00E67B6-B729-42E9-BF9A-F3EE1FF67D3F}" type="presParOf" srcId="{B17E008B-DE59-4986-9347-876914FB1FC1}" destId="{7C93CC61-5986-41F7-8DAA-8304F53F66B4}" srcOrd="2" destOrd="0" presId="urn:microsoft.com/office/officeart/2016/7/layout/BasicLinearProcessNumbered"/>
    <dgm:cxn modelId="{34172ACC-49CB-47AF-965F-120E198BDA43}" type="presParOf" srcId="{B17E008B-DE59-4986-9347-876914FB1FC1}" destId="{03F8FEEC-C3E9-4247-B884-ED3ACED42450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30F7FC-D921-44A1-9243-53518EF616EE}" type="doc">
      <dgm:prSet loTypeId="urn:microsoft.com/office/officeart/2005/8/layout/process4" loCatId="process" qsTypeId="urn:microsoft.com/office/officeart/2005/8/quickstyle/simple1#44" qsCatId="simple" csTypeId="urn:microsoft.com/office/officeart/2005/8/colors/colorful2#10" csCatId="colorful"/>
      <dgm:spPr/>
      <dgm:t>
        <a:bodyPr/>
        <a:lstStyle/>
        <a:p>
          <a:endParaRPr lang="en-US"/>
        </a:p>
      </dgm:t>
    </dgm:pt>
    <dgm:pt modelId="{4C26E30D-52D2-4DF5-BD6A-9ED0B6A5483A}">
      <dgm:prSet/>
      <dgm:spPr/>
      <dgm:t>
        <a:bodyPr/>
        <a:lstStyle/>
        <a:p>
          <a:r>
            <a:rPr lang="en-US"/>
            <a:t>Banks create </a:t>
          </a:r>
          <a:r>
            <a:rPr lang="en-US" b="1"/>
            <a:t>deposit money</a:t>
          </a:r>
          <a:r>
            <a:rPr lang="en-US"/>
            <a:t>, which is the kind of money most people use through checking accounts and electronic payments. </a:t>
          </a:r>
        </a:p>
      </dgm:t>
    </dgm:pt>
    <dgm:pt modelId="{01270E50-1F23-4F58-83F7-764D90A2E22A}" type="parTrans" cxnId="{6624266B-359C-4156-9C2E-F8E82B2F7094}">
      <dgm:prSet/>
      <dgm:spPr/>
      <dgm:t>
        <a:bodyPr/>
        <a:lstStyle/>
        <a:p>
          <a:endParaRPr lang="en-US"/>
        </a:p>
      </dgm:t>
    </dgm:pt>
    <dgm:pt modelId="{CF5D3AC4-5A16-4459-AEF0-8AE8613FD468}" type="sibTrans" cxnId="{6624266B-359C-4156-9C2E-F8E82B2F7094}">
      <dgm:prSet/>
      <dgm:spPr/>
      <dgm:t>
        <a:bodyPr/>
        <a:lstStyle/>
        <a:p>
          <a:endParaRPr lang="en-US"/>
        </a:p>
      </dgm:t>
    </dgm:pt>
    <dgm:pt modelId="{C9963294-B8AE-487E-9341-90E2E715C0CC}">
      <dgm:prSet/>
      <dgm:spPr/>
      <dgm:t>
        <a:bodyPr/>
        <a:lstStyle/>
        <a:p>
          <a:r>
            <a:rPr lang="en-US"/>
            <a:t>They cannot create unlimited money because they are constrained by:</a:t>
          </a:r>
        </a:p>
      </dgm:t>
    </dgm:pt>
    <dgm:pt modelId="{8B9CFF25-ED7B-4E5E-95BF-48CB34A1DDC1}" type="parTrans" cxnId="{65BD2359-B07A-41A0-AFE0-4CC0B092B3C1}">
      <dgm:prSet/>
      <dgm:spPr/>
      <dgm:t>
        <a:bodyPr/>
        <a:lstStyle/>
        <a:p>
          <a:endParaRPr lang="en-US"/>
        </a:p>
      </dgm:t>
    </dgm:pt>
    <dgm:pt modelId="{21F841F0-96BD-44D0-A821-D9AA2C675A37}" type="sibTrans" cxnId="{65BD2359-B07A-41A0-AFE0-4CC0B092B3C1}">
      <dgm:prSet/>
      <dgm:spPr/>
      <dgm:t>
        <a:bodyPr/>
        <a:lstStyle/>
        <a:p>
          <a:endParaRPr lang="en-US"/>
        </a:p>
      </dgm:t>
    </dgm:pt>
    <dgm:pt modelId="{67476F21-9E57-4E2B-8BF0-C1040E4473FB}">
      <dgm:prSet/>
      <dgm:spPr/>
      <dgm:t>
        <a:bodyPr/>
        <a:lstStyle/>
        <a:p>
          <a:r>
            <a:rPr lang="en-US" b="1"/>
            <a:t>Capital requirements</a:t>
          </a:r>
          <a:r>
            <a:rPr lang="en-US"/>
            <a:t> (they need enough shareholder capital). </a:t>
          </a:r>
        </a:p>
      </dgm:t>
    </dgm:pt>
    <dgm:pt modelId="{D2F951A1-25EE-4B8D-B837-4627BB0F6904}" type="parTrans" cxnId="{655F052A-8ABE-49B2-9294-A740CEA69263}">
      <dgm:prSet/>
      <dgm:spPr/>
      <dgm:t>
        <a:bodyPr/>
        <a:lstStyle/>
        <a:p>
          <a:endParaRPr lang="en-US"/>
        </a:p>
      </dgm:t>
    </dgm:pt>
    <dgm:pt modelId="{D81FFC11-2372-4428-A82D-48EFC75254C3}" type="sibTrans" cxnId="{655F052A-8ABE-49B2-9294-A740CEA69263}">
      <dgm:prSet/>
      <dgm:spPr/>
      <dgm:t>
        <a:bodyPr/>
        <a:lstStyle/>
        <a:p>
          <a:endParaRPr lang="en-US"/>
        </a:p>
      </dgm:t>
    </dgm:pt>
    <dgm:pt modelId="{BAB50F37-B142-49A1-8C83-4050A02902B9}">
      <dgm:prSet/>
      <dgm:spPr/>
      <dgm:t>
        <a:bodyPr/>
        <a:lstStyle/>
        <a:p>
          <a:r>
            <a:rPr lang="en-US" b="1"/>
            <a:t>Liquidity requirements</a:t>
          </a:r>
          <a:r>
            <a:rPr lang="en-US"/>
            <a:t> (they must have enough liquid assets to meet withdrawals). </a:t>
          </a:r>
        </a:p>
      </dgm:t>
    </dgm:pt>
    <dgm:pt modelId="{F59CBC70-175B-410C-9732-7FA64545837E}" type="parTrans" cxnId="{06DCFCA7-C1AA-4477-971E-797EB9644C3E}">
      <dgm:prSet/>
      <dgm:spPr/>
      <dgm:t>
        <a:bodyPr/>
        <a:lstStyle/>
        <a:p>
          <a:endParaRPr lang="en-US"/>
        </a:p>
      </dgm:t>
    </dgm:pt>
    <dgm:pt modelId="{8380C7F4-0844-4160-8911-F4F754F1F474}" type="sibTrans" cxnId="{06DCFCA7-C1AA-4477-971E-797EB9644C3E}">
      <dgm:prSet/>
      <dgm:spPr/>
      <dgm:t>
        <a:bodyPr/>
        <a:lstStyle/>
        <a:p>
          <a:endParaRPr lang="en-US"/>
        </a:p>
      </dgm:t>
    </dgm:pt>
    <dgm:pt modelId="{22971D50-D662-4E4E-8FB6-11082C19D3FD}">
      <dgm:prSet/>
      <dgm:spPr/>
      <dgm:t>
        <a:bodyPr/>
        <a:lstStyle/>
        <a:p>
          <a:r>
            <a:rPr lang="en-US" b="1"/>
            <a:t>Borrowers' ability to repay</a:t>
          </a:r>
          <a:r>
            <a:rPr lang="en-US"/>
            <a:t> (banks won't lend if loans are too risky). </a:t>
          </a:r>
        </a:p>
      </dgm:t>
    </dgm:pt>
    <dgm:pt modelId="{B22CD524-2451-48A8-9620-4BC8ED935A9C}" type="parTrans" cxnId="{5866DCDC-D59F-4587-83FF-1811CA6F9E0E}">
      <dgm:prSet/>
      <dgm:spPr/>
      <dgm:t>
        <a:bodyPr/>
        <a:lstStyle/>
        <a:p>
          <a:endParaRPr lang="en-US"/>
        </a:p>
      </dgm:t>
    </dgm:pt>
    <dgm:pt modelId="{241084D3-E16C-46F3-81CA-8E09F1782ACF}" type="sibTrans" cxnId="{5866DCDC-D59F-4587-83FF-1811CA6F9E0E}">
      <dgm:prSet/>
      <dgm:spPr/>
      <dgm:t>
        <a:bodyPr/>
        <a:lstStyle/>
        <a:p>
          <a:endParaRPr lang="en-US"/>
        </a:p>
      </dgm:t>
    </dgm:pt>
    <dgm:pt modelId="{837AD59B-E32B-4F20-943B-4EB604443F59}">
      <dgm:prSet/>
      <dgm:spPr/>
      <dgm:t>
        <a:bodyPr/>
        <a:lstStyle/>
        <a:p>
          <a:r>
            <a:rPr lang="en-US" b="1"/>
            <a:t>Central bank policies</a:t>
          </a:r>
          <a:r>
            <a:rPr lang="en-US"/>
            <a:t>, such as interest rates and reserve availability.</a:t>
          </a:r>
        </a:p>
      </dgm:t>
    </dgm:pt>
    <dgm:pt modelId="{E4A4CAAA-A5F0-44B6-B858-58E36994B15E}" type="parTrans" cxnId="{113CCE08-3356-440A-9349-E375740F343A}">
      <dgm:prSet/>
      <dgm:spPr/>
      <dgm:t>
        <a:bodyPr/>
        <a:lstStyle/>
        <a:p>
          <a:endParaRPr lang="en-US"/>
        </a:p>
      </dgm:t>
    </dgm:pt>
    <dgm:pt modelId="{FABFA839-8403-4F65-98B5-F07D41CC31D6}" type="sibTrans" cxnId="{113CCE08-3356-440A-9349-E375740F343A}">
      <dgm:prSet/>
      <dgm:spPr/>
      <dgm:t>
        <a:bodyPr/>
        <a:lstStyle/>
        <a:p>
          <a:endParaRPr lang="en-US"/>
        </a:p>
      </dgm:t>
    </dgm:pt>
    <dgm:pt modelId="{591A3A7A-EF30-45B9-BBDF-5BE89E536B0F}" type="pres">
      <dgm:prSet presAssocID="{B730F7FC-D921-44A1-9243-53518EF616EE}" presName="Name0" presStyleCnt="0">
        <dgm:presLayoutVars>
          <dgm:dir/>
          <dgm:animLvl val="lvl"/>
          <dgm:resizeHandles val="exact"/>
        </dgm:presLayoutVars>
      </dgm:prSet>
      <dgm:spPr/>
    </dgm:pt>
    <dgm:pt modelId="{DD915B89-E0FE-44C7-9AF6-EA41A34E19BB}" type="pres">
      <dgm:prSet presAssocID="{C9963294-B8AE-487E-9341-90E2E715C0CC}" presName="boxAndChildren" presStyleCnt="0"/>
      <dgm:spPr/>
    </dgm:pt>
    <dgm:pt modelId="{54436E55-E270-4F44-8C14-67DC23F031B6}" type="pres">
      <dgm:prSet presAssocID="{C9963294-B8AE-487E-9341-90E2E715C0CC}" presName="parentTextBox" presStyleLbl="node1" presStyleIdx="0" presStyleCnt="2"/>
      <dgm:spPr/>
    </dgm:pt>
    <dgm:pt modelId="{7C415078-5926-400E-B661-97968ADB10E6}" type="pres">
      <dgm:prSet presAssocID="{C9963294-B8AE-487E-9341-90E2E715C0CC}" presName="entireBox" presStyleLbl="node1" presStyleIdx="0" presStyleCnt="2"/>
      <dgm:spPr/>
    </dgm:pt>
    <dgm:pt modelId="{237BBAA3-2B20-4AAC-AB45-575D1129CFD4}" type="pres">
      <dgm:prSet presAssocID="{C9963294-B8AE-487E-9341-90E2E715C0CC}" presName="descendantBox" presStyleCnt="0"/>
      <dgm:spPr/>
    </dgm:pt>
    <dgm:pt modelId="{1EE6C0F3-3A54-4F0A-95B4-A9C0F561D413}" type="pres">
      <dgm:prSet presAssocID="{67476F21-9E57-4E2B-8BF0-C1040E4473FB}" presName="childTextBox" presStyleLbl="fgAccFollowNode1" presStyleIdx="0" presStyleCnt="4">
        <dgm:presLayoutVars>
          <dgm:bulletEnabled val="1"/>
        </dgm:presLayoutVars>
      </dgm:prSet>
      <dgm:spPr/>
    </dgm:pt>
    <dgm:pt modelId="{E02D3B6C-41CC-43B0-A7E2-75623FC34BC8}" type="pres">
      <dgm:prSet presAssocID="{BAB50F37-B142-49A1-8C83-4050A02902B9}" presName="childTextBox" presStyleLbl="fgAccFollowNode1" presStyleIdx="1" presStyleCnt="4">
        <dgm:presLayoutVars>
          <dgm:bulletEnabled val="1"/>
        </dgm:presLayoutVars>
      </dgm:prSet>
      <dgm:spPr/>
    </dgm:pt>
    <dgm:pt modelId="{D67C191A-F0DB-4645-96D6-404F9E6B8846}" type="pres">
      <dgm:prSet presAssocID="{22971D50-D662-4E4E-8FB6-11082C19D3FD}" presName="childTextBox" presStyleLbl="fgAccFollowNode1" presStyleIdx="2" presStyleCnt="4">
        <dgm:presLayoutVars>
          <dgm:bulletEnabled val="1"/>
        </dgm:presLayoutVars>
      </dgm:prSet>
      <dgm:spPr/>
    </dgm:pt>
    <dgm:pt modelId="{09CE58F9-28BE-47A7-AE93-10FE0A538C58}" type="pres">
      <dgm:prSet presAssocID="{837AD59B-E32B-4F20-943B-4EB604443F59}" presName="childTextBox" presStyleLbl="fgAccFollowNode1" presStyleIdx="3" presStyleCnt="4">
        <dgm:presLayoutVars>
          <dgm:bulletEnabled val="1"/>
        </dgm:presLayoutVars>
      </dgm:prSet>
      <dgm:spPr/>
    </dgm:pt>
    <dgm:pt modelId="{8FC53682-D9C3-482C-B47B-7D5F4AA5D26F}" type="pres">
      <dgm:prSet presAssocID="{CF5D3AC4-5A16-4459-AEF0-8AE8613FD468}" presName="sp" presStyleCnt="0"/>
      <dgm:spPr/>
    </dgm:pt>
    <dgm:pt modelId="{6DF1090B-866C-4D44-89DF-2D7602DC8359}" type="pres">
      <dgm:prSet presAssocID="{4C26E30D-52D2-4DF5-BD6A-9ED0B6A5483A}" presName="arrowAndChildren" presStyleCnt="0"/>
      <dgm:spPr/>
    </dgm:pt>
    <dgm:pt modelId="{AECB0CD7-28B5-40AF-A34E-5714C4ACA8B2}" type="pres">
      <dgm:prSet presAssocID="{4C26E30D-52D2-4DF5-BD6A-9ED0B6A5483A}" presName="parentTextArrow" presStyleLbl="node1" presStyleIdx="1" presStyleCnt="2"/>
      <dgm:spPr/>
    </dgm:pt>
  </dgm:ptLst>
  <dgm:cxnLst>
    <dgm:cxn modelId="{113CCE08-3356-440A-9349-E375740F343A}" srcId="{C9963294-B8AE-487E-9341-90E2E715C0CC}" destId="{837AD59B-E32B-4F20-943B-4EB604443F59}" srcOrd="3" destOrd="0" parTransId="{E4A4CAAA-A5F0-44B6-B858-58E36994B15E}" sibTransId="{FABFA839-8403-4F65-98B5-F07D41CC31D6}"/>
    <dgm:cxn modelId="{655F052A-8ABE-49B2-9294-A740CEA69263}" srcId="{C9963294-B8AE-487E-9341-90E2E715C0CC}" destId="{67476F21-9E57-4E2B-8BF0-C1040E4473FB}" srcOrd="0" destOrd="0" parTransId="{D2F951A1-25EE-4B8D-B837-4627BB0F6904}" sibTransId="{D81FFC11-2372-4428-A82D-48EFC75254C3}"/>
    <dgm:cxn modelId="{06399637-DF6D-4540-AAF0-69078A27F895}" type="presOf" srcId="{67476F21-9E57-4E2B-8BF0-C1040E4473FB}" destId="{1EE6C0F3-3A54-4F0A-95B4-A9C0F561D413}" srcOrd="0" destOrd="0" presId="urn:microsoft.com/office/officeart/2005/8/layout/process4"/>
    <dgm:cxn modelId="{510C303A-B3CD-4952-8DBB-64CD76D5A9BE}" type="presOf" srcId="{22971D50-D662-4E4E-8FB6-11082C19D3FD}" destId="{D67C191A-F0DB-4645-96D6-404F9E6B8846}" srcOrd="0" destOrd="0" presId="urn:microsoft.com/office/officeart/2005/8/layout/process4"/>
    <dgm:cxn modelId="{661D2C5C-608D-4C2B-B2E8-334B32E06F61}" type="presOf" srcId="{BAB50F37-B142-49A1-8C83-4050A02902B9}" destId="{E02D3B6C-41CC-43B0-A7E2-75623FC34BC8}" srcOrd="0" destOrd="0" presId="urn:microsoft.com/office/officeart/2005/8/layout/process4"/>
    <dgm:cxn modelId="{FF569D4A-1D55-4723-809B-56EAD15989C8}" type="presOf" srcId="{837AD59B-E32B-4F20-943B-4EB604443F59}" destId="{09CE58F9-28BE-47A7-AE93-10FE0A538C58}" srcOrd="0" destOrd="0" presId="urn:microsoft.com/office/officeart/2005/8/layout/process4"/>
    <dgm:cxn modelId="{6624266B-359C-4156-9C2E-F8E82B2F7094}" srcId="{B730F7FC-D921-44A1-9243-53518EF616EE}" destId="{4C26E30D-52D2-4DF5-BD6A-9ED0B6A5483A}" srcOrd="0" destOrd="0" parTransId="{01270E50-1F23-4F58-83F7-764D90A2E22A}" sibTransId="{CF5D3AC4-5A16-4459-AEF0-8AE8613FD468}"/>
    <dgm:cxn modelId="{65BD2359-B07A-41A0-AFE0-4CC0B092B3C1}" srcId="{B730F7FC-D921-44A1-9243-53518EF616EE}" destId="{C9963294-B8AE-487E-9341-90E2E715C0CC}" srcOrd="1" destOrd="0" parTransId="{8B9CFF25-ED7B-4E5E-95BF-48CB34A1DDC1}" sibTransId="{21F841F0-96BD-44D0-A821-D9AA2C675A37}"/>
    <dgm:cxn modelId="{7995E095-28AC-4428-8497-81AEE5D8B3C3}" type="presOf" srcId="{C9963294-B8AE-487E-9341-90E2E715C0CC}" destId="{54436E55-E270-4F44-8C14-67DC23F031B6}" srcOrd="0" destOrd="0" presId="urn:microsoft.com/office/officeart/2005/8/layout/process4"/>
    <dgm:cxn modelId="{06DCFCA7-C1AA-4477-971E-797EB9644C3E}" srcId="{C9963294-B8AE-487E-9341-90E2E715C0CC}" destId="{BAB50F37-B142-49A1-8C83-4050A02902B9}" srcOrd="1" destOrd="0" parTransId="{F59CBC70-175B-410C-9732-7FA64545837E}" sibTransId="{8380C7F4-0844-4160-8911-F4F754F1F474}"/>
    <dgm:cxn modelId="{F02B96B6-3C17-4353-886B-18D18CBCEE5A}" type="presOf" srcId="{C9963294-B8AE-487E-9341-90E2E715C0CC}" destId="{7C415078-5926-400E-B661-97968ADB10E6}" srcOrd="1" destOrd="0" presId="urn:microsoft.com/office/officeart/2005/8/layout/process4"/>
    <dgm:cxn modelId="{AA4371D4-2E22-47EC-BEB8-A5366F97E676}" type="presOf" srcId="{4C26E30D-52D2-4DF5-BD6A-9ED0B6A5483A}" destId="{AECB0CD7-28B5-40AF-A34E-5714C4ACA8B2}" srcOrd="0" destOrd="0" presId="urn:microsoft.com/office/officeart/2005/8/layout/process4"/>
    <dgm:cxn modelId="{5866DCDC-D59F-4587-83FF-1811CA6F9E0E}" srcId="{C9963294-B8AE-487E-9341-90E2E715C0CC}" destId="{22971D50-D662-4E4E-8FB6-11082C19D3FD}" srcOrd="2" destOrd="0" parTransId="{B22CD524-2451-48A8-9620-4BC8ED935A9C}" sibTransId="{241084D3-E16C-46F3-81CA-8E09F1782ACF}"/>
    <dgm:cxn modelId="{21ED12E7-FDF3-478B-8FE8-251C8BAA0657}" type="presOf" srcId="{B730F7FC-D921-44A1-9243-53518EF616EE}" destId="{591A3A7A-EF30-45B9-BBDF-5BE89E536B0F}" srcOrd="0" destOrd="0" presId="urn:microsoft.com/office/officeart/2005/8/layout/process4"/>
    <dgm:cxn modelId="{23003A4F-22BD-417C-911E-221795829322}" type="presParOf" srcId="{591A3A7A-EF30-45B9-BBDF-5BE89E536B0F}" destId="{DD915B89-E0FE-44C7-9AF6-EA41A34E19BB}" srcOrd="0" destOrd="0" presId="urn:microsoft.com/office/officeart/2005/8/layout/process4"/>
    <dgm:cxn modelId="{311E635B-B15D-4389-A1E1-6FB6132DB19B}" type="presParOf" srcId="{DD915B89-E0FE-44C7-9AF6-EA41A34E19BB}" destId="{54436E55-E270-4F44-8C14-67DC23F031B6}" srcOrd="0" destOrd="0" presId="urn:microsoft.com/office/officeart/2005/8/layout/process4"/>
    <dgm:cxn modelId="{AB0A7CA5-A86D-4A76-80CB-02FF5246F6C2}" type="presParOf" srcId="{DD915B89-E0FE-44C7-9AF6-EA41A34E19BB}" destId="{7C415078-5926-400E-B661-97968ADB10E6}" srcOrd="1" destOrd="0" presId="urn:microsoft.com/office/officeart/2005/8/layout/process4"/>
    <dgm:cxn modelId="{76D9A2EC-D627-4ED0-9DCD-7A6F81A0EE05}" type="presParOf" srcId="{DD915B89-E0FE-44C7-9AF6-EA41A34E19BB}" destId="{237BBAA3-2B20-4AAC-AB45-575D1129CFD4}" srcOrd="2" destOrd="0" presId="urn:microsoft.com/office/officeart/2005/8/layout/process4"/>
    <dgm:cxn modelId="{7E52850C-0BCA-4EDF-A942-A16B5E538EC6}" type="presParOf" srcId="{237BBAA3-2B20-4AAC-AB45-575D1129CFD4}" destId="{1EE6C0F3-3A54-4F0A-95B4-A9C0F561D413}" srcOrd="0" destOrd="0" presId="urn:microsoft.com/office/officeart/2005/8/layout/process4"/>
    <dgm:cxn modelId="{D8478470-6379-4A80-AD15-F548912F3035}" type="presParOf" srcId="{237BBAA3-2B20-4AAC-AB45-575D1129CFD4}" destId="{E02D3B6C-41CC-43B0-A7E2-75623FC34BC8}" srcOrd="1" destOrd="0" presId="urn:microsoft.com/office/officeart/2005/8/layout/process4"/>
    <dgm:cxn modelId="{6393012B-EEC1-411D-AE45-FA8A0545F101}" type="presParOf" srcId="{237BBAA3-2B20-4AAC-AB45-575D1129CFD4}" destId="{D67C191A-F0DB-4645-96D6-404F9E6B8846}" srcOrd="2" destOrd="0" presId="urn:microsoft.com/office/officeart/2005/8/layout/process4"/>
    <dgm:cxn modelId="{F51332C5-D737-40CB-9DF5-3C1922E2A188}" type="presParOf" srcId="{237BBAA3-2B20-4AAC-AB45-575D1129CFD4}" destId="{09CE58F9-28BE-47A7-AE93-10FE0A538C58}" srcOrd="3" destOrd="0" presId="urn:microsoft.com/office/officeart/2005/8/layout/process4"/>
    <dgm:cxn modelId="{282A2454-2590-434F-9E54-1568F8A185FA}" type="presParOf" srcId="{591A3A7A-EF30-45B9-BBDF-5BE89E536B0F}" destId="{8FC53682-D9C3-482C-B47B-7D5F4AA5D26F}" srcOrd="1" destOrd="0" presId="urn:microsoft.com/office/officeart/2005/8/layout/process4"/>
    <dgm:cxn modelId="{DD75AF1C-423D-4687-8577-C774E4C4D33C}" type="presParOf" srcId="{591A3A7A-EF30-45B9-BBDF-5BE89E536B0F}" destId="{6DF1090B-866C-4D44-89DF-2D7602DC8359}" srcOrd="2" destOrd="0" presId="urn:microsoft.com/office/officeart/2005/8/layout/process4"/>
    <dgm:cxn modelId="{B2FF7F2C-B1C1-4EB8-9606-4E4B281F8312}" type="presParOf" srcId="{6DF1090B-866C-4D44-89DF-2D7602DC8359}" destId="{AECB0CD7-28B5-40AF-A34E-5714C4ACA8B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5CA9CD0-1186-4C8A-A8E2-B453491C1D52}" type="doc">
      <dgm:prSet loTypeId="urn:microsoft.com/office/officeart/2005/8/layout/vList2" loCatId="list" qsTypeId="urn:microsoft.com/office/officeart/2005/8/quickstyle/simple1#16" qsCatId="simple" csTypeId="urn:microsoft.com/office/officeart/2005/8/colors/accent1_2#18" csCatId="accent1"/>
      <dgm:spPr/>
      <dgm:t>
        <a:bodyPr/>
        <a:lstStyle/>
        <a:p>
          <a:endParaRPr lang="en-US"/>
        </a:p>
      </dgm:t>
    </dgm:pt>
    <dgm:pt modelId="{7CB77EF9-2016-4A13-8C56-D08BD9324134}">
      <dgm:prSet/>
      <dgm:spPr/>
      <dgm:t>
        <a:bodyPr/>
        <a:lstStyle/>
        <a:p>
          <a:r>
            <a:rPr lang="en-US" i="1"/>
            <a:t>Possible Options might be:</a:t>
          </a:r>
          <a:endParaRPr lang="en-US"/>
        </a:p>
      </dgm:t>
    </dgm:pt>
    <dgm:pt modelId="{BB43FC52-65BC-4585-AF36-BDC376D1E124}" type="parTrans" cxnId="{7DA4BE38-8FD2-4CC2-9E4B-833FB0B2E544}">
      <dgm:prSet/>
      <dgm:spPr/>
      <dgm:t>
        <a:bodyPr/>
        <a:lstStyle/>
        <a:p>
          <a:endParaRPr lang="en-US"/>
        </a:p>
      </dgm:t>
    </dgm:pt>
    <dgm:pt modelId="{FD207749-A04A-4A5E-83AB-926C5EC52BD4}" type="sibTrans" cxnId="{7DA4BE38-8FD2-4CC2-9E4B-833FB0B2E544}">
      <dgm:prSet/>
      <dgm:spPr/>
      <dgm:t>
        <a:bodyPr/>
        <a:lstStyle/>
        <a:p>
          <a:endParaRPr lang="en-US"/>
        </a:p>
      </dgm:t>
    </dgm:pt>
    <dgm:pt modelId="{68E54680-D460-4B64-B273-6AB0C9E2A34C}">
      <dgm:prSet/>
      <dgm:spPr/>
      <dgm:t>
        <a:bodyPr/>
        <a:lstStyle/>
        <a:p>
          <a:r>
            <a:rPr lang="en-US"/>
            <a:t>Retained earnings </a:t>
          </a:r>
        </a:p>
      </dgm:t>
    </dgm:pt>
    <dgm:pt modelId="{11D52DD9-F2A9-424C-9726-D301F7405698}" type="parTrans" cxnId="{F6989BC4-995F-4684-8226-3AFE23AE77A0}">
      <dgm:prSet/>
      <dgm:spPr/>
      <dgm:t>
        <a:bodyPr/>
        <a:lstStyle/>
        <a:p>
          <a:endParaRPr lang="en-US"/>
        </a:p>
      </dgm:t>
    </dgm:pt>
    <dgm:pt modelId="{7D19709F-91A8-486E-AE04-EFE28A57B79F}" type="sibTrans" cxnId="{F6989BC4-995F-4684-8226-3AFE23AE77A0}">
      <dgm:prSet/>
      <dgm:spPr/>
      <dgm:t>
        <a:bodyPr/>
        <a:lstStyle/>
        <a:p>
          <a:endParaRPr lang="en-US"/>
        </a:p>
      </dgm:t>
    </dgm:pt>
    <dgm:pt modelId="{D2C9B5E6-31C1-4589-93C5-242B4B23D857}">
      <dgm:prSet/>
      <dgm:spPr/>
      <dgm:t>
        <a:bodyPr/>
        <a:lstStyle/>
        <a:p>
          <a:r>
            <a:rPr lang="en-US"/>
            <a:t>Bank loans </a:t>
          </a:r>
        </a:p>
      </dgm:t>
    </dgm:pt>
    <dgm:pt modelId="{7FE69AED-B34E-4584-99E0-0F8C36ED4A1D}" type="parTrans" cxnId="{E2B30619-7E72-45B9-9B8A-76BEEE27C656}">
      <dgm:prSet/>
      <dgm:spPr/>
      <dgm:t>
        <a:bodyPr/>
        <a:lstStyle/>
        <a:p>
          <a:endParaRPr lang="en-US"/>
        </a:p>
      </dgm:t>
    </dgm:pt>
    <dgm:pt modelId="{1D89E1A0-382A-49C0-9DF0-3431DC8AB149}" type="sibTrans" cxnId="{E2B30619-7E72-45B9-9B8A-76BEEE27C656}">
      <dgm:prSet/>
      <dgm:spPr/>
      <dgm:t>
        <a:bodyPr/>
        <a:lstStyle/>
        <a:p>
          <a:endParaRPr lang="en-US"/>
        </a:p>
      </dgm:t>
    </dgm:pt>
    <dgm:pt modelId="{7213DD78-3CBC-4702-85D4-D33B3DAFF46C}">
      <dgm:prSet/>
      <dgm:spPr/>
      <dgm:t>
        <a:bodyPr/>
        <a:lstStyle/>
        <a:p>
          <a:r>
            <a:rPr lang="en-US"/>
            <a:t>Issuing bonds </a:t>
          </a:r>
        </a:p>
      </dgm:t>
    </dgm:pt>
    <dgm:pt modelId="{5AB2E7DA-BFB8-42AA-ADD1-82B4B63CCD07}" type="parTrans" cxnId="{E671E425-9B6A-48B3-B1D4-445988ACEC0B}">
      <dgm:prSet/>
      <dgm:spPr/>
      <dgm:t>
        <a:bodyPr/>
        <a:lstStyle/>
        <a:p>
          <a:endParaRPr lang="en-US"/>
        </a:p>
      </dgm:t>
    </dgm:pt>
    <dgm:pt modelId="{16FAF556-9D78-4C03-82F6-D2D8FBED1CC7}" type="sibTrans" cxnId="{E671E425-9B6A-48B3-B1D4-445988ACEC0B}">
      <dgm:prSet/>
      <dgm:spPr/>
      <dgm:t>
        <a:bodyPr/>
        <a:lstStyle/>
        <a:p>
          <a:endParaRPr lang="en-US"/>
        </a:p>
      </dgm:t>
    </dgm:pt>
    <dgm:pt modelId="{330ED9C9-645B-4C1F-B396-B8EE9E1EF0CB}">
      <dgm:prSet/>
      <dgm:spPr/>
      <dgm:t>
        <a:bodyPr/>
        <a:lstStyle/>
        <a:p>
          <a:r>
            <a:rPr lang="en-US"/>
            <a:t>Issuing shares </a:t>
          </a:r>
        </a:p>
      </dgm:t>
    </dgm:pt>
    <dgm:pt modelId="{EC877146-F3BA-4AB4-9FE3-A7A84CAE9E8E}" type="parTrans" cxnId="{DFED7972-9719-4961-B038-2C057C33BB24}">
      <dgm:prSet/>
      <dgm:spPr/>
      <dgm:t>
        <a:bodyPr/>
        <a:lstStyle/>
        <a:p>
          <a:endParaRPr lang="en-US"/>
        </a:p>
      </dgm:t>
    </dgm:pt>
    <dgm:pt modelId="{619BAD88-F8AF-4F1C-B671-3EB2A2C61353}" type="sibTrans" cxnId="{DFED7972-9719-4961-B038-2C057C33BB24}">
      <dgm:prSet/>
      <dgm:spPr/>
      <dgm:t>
        <a:bodyPr/>
        <a:lstStyle/>
        <a:p>
          <a:endParaRPr lang="en-US"/>
        </a:p>
      </dgm:t>
    </dgm:pt>
    <dgm:pt modelId="{F61CE4AE-A76C-4C6F-BA6B-AD82758726F9}">
      <dgm:prSet/>
      <dgm:spPr/>
      <dgm:t>
        <a:bodyPr/>
        <a:lstStyle/>
        <a:p>
          <a:r>
            <a:rPr lang="en-US"/>
            <a:t>Other financial institutions </a:t>
          </a:r>
        </a:p>
      </dgm:t>
    </dgm:pt>
    <dgm:pt modelId="{7EE20F24-417C-437B-8607-A2A1146571C9}" type="parTrans" cxnId="{D95CCCDB-44B3-4602-BA36-01CD7384D885}">
      <dgm:prSet/>
      <dgm:spPr/>
      <dgm:t>
        <a:bodyPr/>
        <a:lstStyle/>
        <a:p>
          <a:endParaRPr lang="en-US"/>
        </a:p>
      </dgm:t>
    </dgm:pt>
    <dgm:pt modelId="{1C8CB620-C97C-4D32-BA44-F453F91F8F07}" type="sibTrans" cxnId="{D95CCCDB-44B3-4602-BA36-01CD7384D885}">
      <dgm:prSet/>
      <dgm:spPr/>
      <dgm:t>
        <a:bodyPr/>
        <a:lstStyle/>
        <a:p>
          <a:endParaRPr lang="en-US"/>
        </a:p>
      </dgm:t>
    </dgm:pt>
    <dgm:pt modelId="{C861D4C6-FB9B-4952-BC22-018D6CBBB10C}">
      <dgm:prSet/>
      <dgm:spPr/>
      <dgm:t>
        <a:bodyPr/>
        <a:lstStyle/>
        <a:p>
          <a:r>
            <a:rPr lang="en-US"/>
            <a:t>Foreign capital</a:t>
          </a:r>
        </a:p>
      </dgm:t>
    </dgm:pt>
    <dgm:pt modelId="{0A726461-16DA-4E66-AD3A-CA2E4A455587}" type="parTrans" cxnId="{D1C67F34-A427-47C9-88CD-A3DF0CD808AE}">
      <dgm:prSet/>
      <dgm:spPr/>
      <dgm:t>
        <a:bodyPr/>
        <a:lstStyle/>
        <a:p>
          <a:endParaRPr lang="en-US"/>
        </a:p>
      </dgm:t>
    </dgm:pt>
    <dgm:pt modelId="{3F90442E-41F1-4D09-9268-00EC869754EF}" type="sibTrans" cxnId="{D1C67F34-A427-47C9-88CD-A3DF0CD808AE}">
      <dgm:prSet/>
      <dgm:spPr/>
      <dgm:t>
        <a:bodyPr/>
        <a:lstStyle/>
        <a:p>
          <a:endParaRPr lang="en-US"/>
        </a:p>
      </dgm:t>
    </dgm:pt>
    <dgm:pt modelId="{DCD506D0-1C7C-47C5-8E1B-C00109DE7673}" type="pres">
      <dgm:prSet presAssocID="{F5CA9CD0-1186-4C8A-A8E2-B453491C1D52}" presName="linear" presStyleCnt="0">
        <dgm:presLayoutVars>
          <dgm:animLvl val="lvl"/>
          <dgm:resizeHandles val="exact"/>
        </dgm:presLayoutVars>
      </dgm:prSet>
      <dgm:spPr/>
    </dgm:pt>
    <dgm:pt modelId="{C05FB501-5FDA-4AED-BA51-57CA0B74025C}" type="pres">
      <dgm:prSet presAssocID="{7CB77EF9-2016-4A13-8C56-D08BD9324134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2DA55C30-3616-4EE4-8C99-36B0D6B80A2E}" type="pres">
      <dgm:prSet presAssocID="{7CB77EF9-2016-4A13-8C56-D08BD932413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B259F17-AF73-43B6-A509-8FA20F73728E}" type="presOf" srcId="{330ED9C9-645B-4C1F-B396-B8EE9E1EF0CB}" destId="{2DA55C30-3616-4EE4-8C99-36B0D6B80A2E}" srcOrd="0" destOrd="3" presId="urn:microsoft.com/office/officeart/2005/8/layout/vList2"/>
    <dgm:cxn modelId="{E2B30619-7E72-45B9-9B8A-76BEEE27C656}" srcId="{7CB77EF9-2016-4A13-8C56-D08BD9324134}" destId="{D2C9B5E6-31C1-4589-93C5-242B4B23D857}" srcOrd="1" destOrd="0" parTransId="{7FE69AED-B34E-4584-99E0-0F8C36ED4A1D}" sibTransId="{1D89E1A0-382A-49C0-9DF0-3431DC8AB149}"/>
    <dgm:cxn modelId="{E671E425-9B6A-48B3-B1D4-445988ACEC0B}" srcId="{7CB77EF9-2016-4A13-8C56-D08BD9324134}" destId="{7213DD78-3CBC-4702-85D4-D33B3DAFF46C}" srcOrd="2" destOrd="0" parTransId="{5AB2E7DA-BFB8-42AA-ADD1-82B4B63CCD07}" sibTransId="{16FAF556-9D78-4C03-82F6-D2D8FBED1CC7}"/>
    <dgm:cxn modelId="{D1C67F34-A427-47C9-88CD-A3DF0CD808AE}" srcId="{7CB77EF9-2016-4A13-8C56-D08BD9324134}" destId="{C861D4C6-FB9B-4952-BC22-018D6CBBB10C}" srcOrd="5" destOrd="0" parTransId="{0A726461-16DA-4E66-AD3A-CA2E4A455587}" sibTransId="{3F90442E-41F1-4D09-9268-00EC869754EF}"/>
    <dgm:cxn modelId="{4E3F4638-208C-4986-8F56-8C4AC67D61A6}" type="presOf" srcId="{68E54680-D460-4B64-B273-6AB0C9E2A34C}" destId="{2DA55C30-3616-4EE4-8C99-36B0D6B80A2E}" srcOrd="0" destOrd="0" presId="urn:microsoft.com/office/officeart/2005/8/layout/vList2"/>
    <dgm:cxn modelId="{7DA4BE38-8FD2-4CC2-9E4B-833FB0B2E544}" srcId="{F5CA9CD0-1186-4C8A-A8E2-B453491C1D52}" destId="{7CB77EF9-2016-4A13-8C56-D08BD9324134}" srcOrd="0" destOrd="0" parTransId="{BB43FC52-65BC-4585-AF36-BDC376D1E124}" sibTransId="{FD207749-A04A-4A5E-83AB-926C5EC52BD4}"/>
    <dgm:cxn modelId="{6C30E03F-D7FB-4776-B292-B4120BC50963}" type="presOf" srcId="{7213DD78-3CBC-4702-85D4-D33B3DAFF46C}" destId="{2DA55C30-3616-4EE4-8C99-36B0D6B80A2E}" srcOrd="0" destOrd="2" presId="urn:microsoft.com/office/officeart/2005/8/layout/vList2"/>
    <dgm:cxn modelId="{D526524F-DCB4-4626-A89B-8E3BDB36EC5D}" type="presOf" srcId="{D2C9B5E6-31C1-4589-93C5-242B4B23D857}" destId="{2DA55C30-3616-4EE4-8C99-36B0D6B80A2E}" srcOrd="0" destOrd="1" presId="urn:microsoft.com/office/officeart/2005/8/layout/vList2"/>
    <dgm:cxn modelId="{DFED7972-9719-4961-B038-2C057C33BB24}" srcId="{7CB77EF9-2016-4A13-8C56-D08BD9324134}" destId="{330ED9C9-645B-4C1F-B396-B8EE9E1EF0CB}" srcOrd="3" destOrd="0" parTransId="{EC877146-F3BA-4AB4-9FE3-A7A84CAE9E8E}" sibTransId="{619BAD88-F8AF-4F1C-B671-3EB2A2C61353}"/>
    <dgm:cxn modelId="{A7BEAA95-0694-4884-89E7-F6F9AE904B61}" type="presOf" srcId="{C861D4C6-FB9B-4952-BC22-018D6CBBB10C}" destId="{2DA55C30-3616-4EE4-8C99-36B0D6B80A2E}" srcOrd="0" destOrd="5" presId="urn:microsoft.com/office/officeart/2005/8/layout/vList2"/>
    <dgm:cxn modelId="{CBB04FA5-460D-4069-AB0F-14E32F73A89D}" type="presOf" srcId="{F61CE4AE-A76C-4C6F-BA6B-AD82758726F9}" destId="{2DA55C30-3616-4EE4-8C99-36B0D6B80A2E}" srcOrd="0" destOrd="4" presId="urn:microsoft.com/office/officeart/2005/8/layout/vList2"/>
    <dgm:cxn modelId="{F6989BC4-995F-4684-8226-3AFE23AE77A0}" srcId="{7CB77EF9-2016-4A13-8C56-D08BD9324134}" destId="{68E54680-D460-4B64-B273-6AB0C9E2A34C}" srcOrd="0" destOrd="0" parTransId="{11D52DD9-F2A9-424C-9726-D301F7405698}" sibTransId="{7D19709F-91A8-486E-AE04-EFE28A57B79F}"/>
    <dgm:cxn modelId="{78FB90D3-CF84-4557-A379-6297D2265263}" type="presOf" srcId="{7CB77EF9-2016-4A13-8C56-D08BD9324134}" destId="{C05FB501-5FDA-4AED-BA51-57CA0B74025C}" srcOrd="0" destOrd="0" presId="urn:microsoft.com/office/officeart/2005/8/layout/vList2"/>
    <dgm:cxn modelId="{D95CCCDB-44B3-4602-BA36-01CD7384D885}" srcId="{7CB77EF9-2016-4A13-8C56-D08BD9324134}" destId="{F61CE4AE-A76C-4C6F-BA6B-AD82758726F9}" srcOrd="4" destOrd="0" parTransId="{7EE20F24-417C-437B-8607-A2A1146571C9}" sibTransId="{1C8CB620-C97C-4D32-BA44-F453F91F8F07}"/>
    <dgm:cxn modelId="{765B4BFA-0432-49F3-AE2C-A0D8F6B53D54}" type="presOf" srcId="{F5CA9CD0-1186-4C8A-A8E2-B453491C1D52}" destId="{DCD506D0-1C7C-47C5-8E1B-C00109DE7673}" srcOrd="0" destOrd="0" presId="urn:microsoft.com/office/officeart/2005/8/layout/vList2"/>
    <dgm:cxn modelId="{240D18E5-E380-4111-987E-090066F77A27}" type="presParOf" srcId="{DCD506D0-1C7C-47C5-8E1B-C00109DE7673}" destId="{C05FB501-5FDA-4AED-BA51-57CA0B74025C}" srcOrd="0" destOrd="0" presId="urn:microsoft.com/office/officeart/2005/8/layout/vList2"/>
    <dgm:cxn modelId="{182BB27D-879E-4726-A511-18408EF021CF}" type="presParOf" srcId="{DCD506D0-1C7C-47C5-8E1B-C00109DE7673}" destId="{2DA55C30-3616-4EE4-8C99-36B0D6B80A2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420A76-BC5E-4345-A72E-8DF0F0CD374C}">
      <dsp:nvSpPr>
        <dsp:cNvPr id="0" name=""/>
        <dsp:cNvSpPr/>
      </dsp:nvSpPr>
      <dsp:spPr>
        <a:xfrm>
          <a:off x="0" y="162252"/>
          <a:ext cx="6666833" cy="12331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Money is anything that is generally accepted as a means of payment.</a:t>
          </a:r>
          <a:endParaRPr lang="en-US" sz="3100" kern="1200"/>
        </a:p>
      </dsp:txBody>
      <dsp:txXfrm>
        <a:off x="60199" y="222451"/>
        <a:ext cx="6546435" cy="1112781"/>
      </dsp:txXfrm>
    </dsp:sp>
    <dsp:sp modelId="{680C70E4-E940-44DC-87A5-F4C2752A30C5}">
      <dsp:nvSpPr>
        <dsp:cNvPr id="0" name=""/>
        <dsp:cNvSpPr/>
      </dsp:nvSpPr>
      <dsp:spPr>
        <a:xfrm>
          <a:off x="0" y="1484712"/>
          <a:ext cx="6666833" cy="1233179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 </a:t>
          </a:r>
          <a:r>
            <a:rPr lang="en-US" sz="3100" b="1" kern="1200"/>
            <a:t>means of payment</a:t>
          </a:r>
          <a:r>
            <a:rPr lang="en-US" sz="3100" kern="1200"/>
            <a:t> is something used to settle a debt or transaction.</a:t>
          </a:r>
        </a:p>
      </dsp:txBody>
      <dsp:txXfrm>
        <a:off x="60199" y="1544911"/>
        <a:ext cx="6546435" cy="1112781"/>
      </dsp:txXfrm>
    </dsp:sp>
    <dsp:sp modelId="{23C66304-9469-4F96-B734-DA41BB4CF016}">
      <dsp:nvSpPr>
        <dsp:cNvPr id="0" name=""/>
        <dsp:cNvSpPr/>
      </dsp:nvSpPr>
      <dsp:spPr>
        <a:xfrm>
          <a:off x="0" y="2807172"/>
          <a:ext cx="6666833" cy="123317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Money performs three major economic functions:</a:t>
          </a:r>
        </a:p>
      </dsp:txBody>
      <dsp:txXfrm>
        <a:off x="60199" y="2867371"/>
        <a:ext cx="6546435" cy="1112781"/>
      </dsp:txXfrm>
    </dsp:sp>
    <dsp:sp modelId="{544801DF-E828-495B-978C-3B771856909E}">
      <dsp:nvSpPr>
        <dsp:cNvPr id="0" name=""/>
        <dsp:cNvSpPr/>
      </dsp:nvSpPr>
      <dsp:spPr>
        <a:xfrm>
          <a:off x="0" y="4040352"/>
          <a:ext cx="6666833" cy="1251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Medium of Exchange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Unit of Account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Store of Value</a:t>
          </a:r>
        </a:p>
      </dsp:txBody>
      <dsp:txXfrm>
        <a:off x="0" y="4040352"/>
        <a:ext cx="6666833" cy="12513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B7B480-4493-461B-A983-E545BCA87405}">
      <dsp:nvSpPr>
        <dsp:cNvPr id="0" name=""/>
        <dsp:cNvSpPr/>
      </dsp:nvSpPr>
      <dsp:spPr>
        <a:xfrm rot="5400000">
          <a:off x="6816183" y="-2945049"/>
          <a:ext cx="668848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Money.</a:t>
          </a:r>
        </a:p>
      </dsp:txBody>
      <dsp:txXfrm rot="-5400000">
        <a:off x="3785615" y="118169"/>
        <a:ext cx="6697334" cy="603548"/>
      </dsp:txXfrm>
    </dsp:sp>
    <dsp:sp modelId="{A40666F0-E0B4-4238-BCA3-83198120BA61}">
      <dsp:nvSpPr>
        <dsp:cNvPr id="0" name=""/>
        <dsp:cNvSpPr/>
      </dsp:nvSpPr>
      <dsp:spPr>
        <a:xfrm>
          <a:off x="0" y="1912"/>
          <a:ext cx="3785616" cy="8360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/>
            <a:t>Currency</a:t>
          </a:r>
          <a:endParaRPr lang="en-US" sz="4100" kern="1200"/>
        </a:p>
      </dsp:txBody>
      <dsp:txXfrm>
        <a:off x="40813" y="42725"/>
        <a:ext cx="3703990" cy="754434"/>
      </dsp:txXfrm>
    </dsp:sp>
    <dsp:sp modelId="{6BA7FE91-4B36-4EB1-8BD2-7291BDEB32A6}">
      <dsp:nvSpPr>
        <dsp:cNvPr id="0" name=""/>
        <dsp:cNvSpPr/>
      </dsp:nvSpPr>
      <dsp:spPr>
        <a:xfrm rot="5400000">
          <a:off x="6816183" y="-2067186"/>
          <a:ext cx="668848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Generally considered money because they can be used to make payments.</a:t>
          </a:r>
        </a:p>
      </dsp:txBody>
      <dsp:txXfrm rot="-5400000">
        <a:off x="3785615" y="996032"/>
        <a:ext cx="6697334" cy="603548"/>
      </dsp:txXfrm>
    </dsp:sp>
    <dsp:sp modelId="{03530EDF-CD40-4592-8364-2DBA8C8C401B}">
      <dsp:nvSpPr>
        <dsp:cNvPr id="0" name=""/>
        <dsp:cNvSpPr/>
      </dsp:nvSpPr>
      <dsp:spPr>
        <a:xfrm>
          <a:off x="0" y="879775"/>
          <a:ext cx="3785616" cy="8360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/>
            <a:t>Bank deposits</a:t>
          </a:r>
          <a:endParaRPr lang="en-US" sz="4100" kern="1200"/>
        </a:p>
      </dsp:txBody>
      <dsp:txXfrm>
        <a:off x="40813" y="920588"/>
        <a:ext cx="3703990" cy="754434"/>
      </dsp:txXfrm>
    </dsp:sp>
    <dsp:sp modelId="{B8335FE7-4D42-4D34-8D44-69FBB73926C7}">
      <dsp:nvSpPr>
        <dsp:cNvPr id="0" name=""/>
        <dsp:cNvSpPr/>
      </dsp:nvSpPr>
      <dsp:spPr>
        <a:xfrm rot="5400000">
          <a:off x="6816183" y="-1189323"/>
          <a:ext cx="668848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Not money. </a:t>
          </a:r>
          <a:r>
            <a:rPr lang="en-US" sz="1800" kern="1200"/>
            <a:t>A credit card provides access to borrowing; it is not itself a means of payment in the economic sense.</a:t>
          </a:r>
        </a:p>
      </dsp:txBody>
      <dsp:txXfrm rot="-5400000">
        <a:off x="3785615" y="1873895"/>
        <a:ext cx="6697334" cy="603548"/>
      </dsp:txXfrm>
    </dsp:sp>
    <dsp:sp modelId="{B93AD97A-ED3D-4254-8BEA-178DFC577EA1}">
      <dsp:nvSpPr>
        <dsp:cNvPr id="0" name=""/>
        <dsp:cNvSpPr/>
      </dsp:nvSpPr>
      <dsp:spPr>
        <a:xfrm>
          <a:off x="0" y="1757638"/>
          <a:ext cx="3785616" cy="8360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/>
            <a:t>Credit card</a:t>
          </a:r>
          <a:endParaRPr lang="en-US" sz="4100" kern="1200"/>
        </a:p>
      </dsp:txBody>
      <dsp:txXfrm>
        <a:off x="40813" y="1798451"/>
        <a:ext cx="3703990" cy="754434"/>
      </dsp:txXfrm>
    </dsp:sp>
    <dsp:sp modelId="{D2C819E4-EAAD-4F83-9244-1F6CBF250067}">
      <dsp:nvSpPr>
        <dsp:cNvPr id="0" name=""/>
        <dsp:cNvSpPr/>
      </dsp:nvSpPr>
      <dsp:spPr>
        <a:xfrm rot="5400000">
          <a:off x="6816183" y="-311459"/>
          <a:ext cx="668848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Not money. </a:t>
          </a:r>
          <a:r>
            <a:rPr lang="en-US" sz="1800" kern="1200"/>
            <a:t>It is an asset and store of wealth but is not generally accepted as a means of payment.</a:t>
          </a:r>
        </a:p>
      </dsp:txBody>
      <dsp:txXfrm rot="-5400000">
        <a:off x="3785615" y="2751759"/>
        <a:ext cx="6697334" cy="603548"/>
      </dsp:txXfrm>
    </dsp:sp>
    <dsp:sp modelId="{3E540155-0825-465B-8AC9-8992C1454870}">
      <dsp:nvSpPr>
        <dsp:cNvPr id="0" name=""/>
        <dsp:cNvSpPr/>
      </dsp:nvSpPr>
      <dsp:spPr>
        <a:xfrm>
          <a:off x="0" y="2635502"/>
          <a:ext cx="3785616" cy="8360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/>
            <a:t>House</a:t>
          </a:r>
          <a:endParaRPr lang="en-US" sz="4100" kern="1200"/>
        </a:p>
      </dsp:txBody>
      <dsp:txXfrm>
        <a:off x="40813" y="2676315"/>
        <a:ext cx="3703990" cy="754434"/>
      </dsp:txXfrm>
    </dsp:sp>
    <dsp:sp modelId="{82B8987B-4B5E-49CE-B1A3-9E21581968D3}">
      <dsp:nvSpPr>
        <dsp:cNvPr id="0" name=""/>
        <dsp:cNvSpPr/>
      </dsp:nvSpPr>
      <dsp:spPr>
        <a:xfrm rot="5400000">
          <a:off x="6816183" y="566403"/>
          <a:ext cx="668848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Can function as a store of value, but modern gold is generally not money because it is not the normal means of payment.</a:t>
          </a:r>
        </a:p>
      </dsp:txBody>
      <dsp:txXfrm rot="-5400000">
        <a:off x="3785615" y="3629621"/>
        <a:ext cx="6697334" cy="603548"/>
      </dsp:txXfrm>
    </dsp:sp>
    <dsp:sp modelId="{172052E7-8A97-4A0F-8182-43AB2B5F9AB6}">
      <dsp:nvSpPr>
        <dsp:cNvPr id="0" name=""/>
        <dsp:cNvSpPr/>
      </dsp:nvSpPr>
      <dsp:spPr>
        <a:xfrm>
          <a:off x="0" y="3513365"/>
          <a:ext cx="3785616" cy="8360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/>
            <a:t>Gold</a:t>
          </a:r>
          <a:endParaRPr lang="en-US" sz="4100" kern="1200"/>
        </a:p>
      </dsp:txBody>
      <dsp:txXfrm>
        <a:off x="40813" y="3554178"/>
        <a:ext cx="3703990" cy="7544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AF3BAC-AECF-4CE5-8784-303256B91CE6}">
      <dsp:nvSpPr>
        <dsp:cNvPr id="0" name=""/>
        <dsp:cNvSpPr/>
      </dsp:nvSpPr>
      <dsp:spPr>
        <a:xfrm>
          <a:off x="9604" y="839961"/>
          <a:ext cx="1435344" cy="200948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905" tIns="330200" rIns="111905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issuing currency; </a:t>
          </a:r>
        </a:p>
      </dsp:txBody>
      <dsp:txXfrm>
        <a:off x="9604" y="1603564"/>
        <a:ext cx="1435344" cy="1205689"/>
      </dsp:txXfrm>
    </dsp:sp>
    <dsp:sp modelId="{FCB91500-912C-4165-9501-1FCCA1B086D7}">
      <dsp:nvSpPr>
        <dsp:cNvPr id="0" name=""/>
        <dsp:cNvSpPr/>
      </dsp:nvSpPr>
      <dsp:spPr>
        <a:xfrm>
          <a:off x="425854" y="1040909"/>
          <a:ext cx="602844" cy="60284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000" tIns="12700" rIns="47000" bIns="127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1</a:t>
          </a:r>
        </a:p>
      </dsp:txBody>
      <dsp:txXfrm>
        <a:off x="514138" y="1129193"/>
        <a:ext cx="426276" cy="426276"/>
      </dsp:txXfrm>
    </dsp:sp>
    <dsp:sp modelId="{EE2CCB47-1EFB-4DAE-8222-F879B65FDDB6}">
      <dsp:nvSpPr>
        <dsp:cNvPr id="0" name=""/>
        <dsp:cNvSpPr/>
      </dsp:nvSpPr>
      <dsp:spPr>
        <a:xfrm>
          <a:off x="9604" y="2849371"/>
          <a:ext cx="1435344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B9279F-84ED-4953-A079-FACD95F188AB}">
      <dsp:nvSpPr>
        <dsp:cNvPr id="0" name=""/>
        <dsp:cNvSpPr/>
      </dsp:nvSpPr>
      <dsp:spPr>
        <a:xfrm>
          <a:off x="1588483" y="839961"/>
          <a:ext cx="1435344" cy="200948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905" tIns="330200" rIns="111905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acting as banker to the government; </a:t>
          </a:r>
        </a:p>
      </dsp:txBody>
      <dsp:txXfrm>
        <a:off x="1588483" y="1603564"/>
        <a:ext cx="1435344" cy="1205689"/>
      </dsp:txXfrm>
    </dsp:sp>
    <dsp:sp modelId="{924D0094-EF63-4D85-B2D3-BD58EDBC4D35}">
      <dsp:nvSpPr>
        <dsp:cNvPr id="0" name=""/>
        <dsp:cNvSpPr/>
      </dsp:nvSpPr>
      <dsp:spPr>
        <a:xfrm>
          <a:off x="2004733" y="1040909"/>
          <a:ext cx="602844" cy="60284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000" tIns="12700" rIns="47000" bIns="127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2</a:t>
          </a:r>
        </a:p>
      </dsp:txBody>
      <dsp:txXfrm>
        <a:off x="2093017" y="1129193"/>
        <a:ext cx="426276" cy="426276"/>
      </dsp:txXfrm>
    </dsp:sp>
    <dsp:sp modelId="{44AEAA38-3D1E-42F0-A14A-45F591DABEB6}">
      <dsp:nvSpPr>
        <dsp:cNvPr id="0" name=""/>
        <dsp:cNvSpPr/>
      </dsp:nvSpPr>
      <dsp:spPr>
        <a:xfrm>
          <a:off x="1588483" y="2849371"/>
          <a:ext cx="1435344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7B1B5C-F170-4A79-B9AA-BBACF97E3E49}">
      <dsp:nvSpPr>
        <dsp:cNvPr id="0" name=""/>
        <dsp:cNvSpPr/>
      </dsp:nvSpPr>
      <dsp:spPr>
        <a:xfrm>
          <a:off x="3167362" y="839961"/>
          <a:ext cx="1435344" cy="200948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905" tIns="330200" rIns="111905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acting as banker to commercial banks; </a:t>
          </a:r>
        </a:p>
      </dsp:txBody>
      <dsp:txXfrm>
        <a:off x="3167362" y="1603564"/>
        <a:ext cx="1435344" cy="1205689"/>
      </dsp:txXfrm>
    </dsp:sp>
    <dsp:sp modelId="{37A0AA91-66BF-4C8D-8043-132EB9AD3DAD}">
      <dsp:nvSpPr>
        <dsp:cNvPr id="0" name=""/>
        <dsp:cNvSpPr/>
      </dsp:nvSpPr>
      <dsp:spPr>
        <a:xfrm>
          <a:off x="3583612" y="1040909"/>
          <a:ext cx="602844" cy="60284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000" tIns="12700" rIns="47000" bIns="127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3</a:t>
          </a:r>
        </a:p>
      </dsp:txBody>
      <dsp:txXfrm>
        <a:off x="3671896" y="1129193"/>
        <a:ext cx="426276" cy="426276"/>
      </dsp:txXfrm>
    </dsp:sp>
    <dsp:sp modelId="{7189D497-E54E-489B-945E-6F0B6B17588A}">
      <dsp:nvSpPr>
        <dsp:cNvPr id="0" name=""/>
        <dsp:cNvSpPr/>
      </dsp:nvSpPr>
      <dsp:spPr>
        <a:xfrm>
          <a:off x="3167362" y="2849371"/>
          <a:ext cx="1435344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34006-5F77-4237-9DE6-18A6B46D0485}">
      <dsp:nvSpPr>
        <dsp:cNvPr id="0" name=""/>
        <dsp:cNvSpPr/>
      </dsp:nvSpPr>
      <dsp:spPr>
        <a:xfrm>
          <a:off x="4746242" y="839961"/>
          <a:ext cx="1435344" cy="200948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905" tIns="330200" rIns="111905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maintaining financial stability; </a:t>
          </a:r>
        </a:p>
      </dsp:txBody>
      <dsp:txXfrm>
        <a:off x="4746242" y="1603564"/>
        <a:ext cx="1435344" cy="1205689"/>
      </dsp:txXfrm>
    </dsp:sp>
    <dsp:sp modelId="{6D243A5F-1B92-4521-BE3D-AA99FB91B7F5}">
      <dsp:nvSpPr>
        <dsp:cNvPr id="0" name=""/>
        <dsp:cNvSpPr/>
      </dsp:nvSpPr>
      <dsp:spPr>
        <a:xfrm>
          <a:off x="5162492" y="1040909"/>
          <a:ext cx="602844" cy="60284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000" tIns="12700" rIns="47000" bIns="127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4</a:t>
          </a:r>
        </a:p>
      </dsp:txBody>
      <dsp:txXfrm>
        <a:off x="5250776" y="1129193"/>
        <a:ext cx="426276" cy="426276"/>
      </dsp:txXfrm>
    </dsp:sp>
    <dsp:sp modelId="{09DEB870-8474-43AB-8453-E59C54B171A3}">
      <dsp:nvSpPr>
        <dsp:cNvPr id="0" name=""/>
        <dsp:cNvSpPr/>
      </dsp:nvSpPr>
      <dsp:spPr>
        <a:xfrm>
          <a:off x="4746242" y="2849371"/>
          <a:ext cx="1435344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CCA1F4-4701-4887-81F4-8FDE5FA73138}">
      <dsp:nvSpPr>
        <dsp:cNvPr id="0" name=""/>
        <dsp:cNvSpPr/>
      </dsp:nvSpPr>
      <dsp:spPr>
        <a:xfrm>
          <a:off x="6325121" y="839961"/>
          <a:ext cx="1435344" cy="2009482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905" tIns="330200" rIns="111905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influencing the money supply; </a:t>
          </a:r>
        </a:p>
      </dsp:txBody>
      <dsp:txXfrm>
        <a:off x="6325121" y="1603564"/>
        <a:ext cx="1435344" cy="1205689"/>
      </dsp:txXfrm>
    </dsp:sp>
    <dsp:sp modelId="{7F01E149-FA2C-4098-BA3C-CEC58878BBCC}">
      <dsp:nvSpPr>
        <dsp:cNvPr id="0" name=""/>
        <dsp:cNvSpPr/>
      </dsp:nvSpPr>
      <dsp:spPr>
        <a:xfrm>
          <a:off x="6741371" y="1040909"/>
          <a:ext cx="602844" cy="60284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000" tIns="12700" rIns="47000" bIns="127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5</a:t>
          </a:r>
        </a:p>
      </dsp:txBody>
      <dsp:txXfrm>
        <a:off x="6829655" y="1129193"/>
        <a:ext cx="426276" cy="426276"/>
      </dsp:txXfrm>
    </dsp:sp>
    <dsp:sp modelId="{65BE92FB-53AB-4B35-8952-1196629908B5}">
      <dsp:nvSpPr>
        <dsp:cNvPr id="0" name=""/>
        <dsp:cNvSpPr/>
      </dsp:nvSpPr>
      <dsp:spPr>
        <a:xfrm>
          <a:off x="6325121" y="2849371"/>
          <a:ext cx="1435344" cy="7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0081B6-46AF-411C-BC53-F3D330A53931}">
      <dsp:nvSpPr>
        <dsp:cNvPr id="0" name=""/>
        <dsp:cNvSpPr/>
      </dsp:nvSpPr>
      <dsp:spPr>
        <a:xfrm>
          <a:off x="7904000" y="839961"/>
          <a:ext cx="1435344" cy="200948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905" tIns="330200" rIns="111905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conducting monetary policy; </a:t>
          </a:r>
        </a:p>
      </dsp:txBody>
      <dsp:txXfrm>
        <a:off x="7904000" y="1603564"/>
        <a:ext cx="1435344" cy="1205689"/>
      </dsp:txXfrm>
    </dsp:sp>
    <dsp:sp modelId="{FA7D9498-8640-4B93-85DF-691C24269093}">
      <dsp:nvSpPr>
        <dsp:cNvPr id="0" name=""/>
        <dsp:cNvSpPr/>
      </dsp:nvSpPr>
      <dsp:spPr>
        <a:xfrm>
          <a:off x="8320250" y="1040909"/>
          <a:ext cx="602844" cy="60284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000" tIns="12700" rIns="47000" bIns="127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6</a:t>
          </a:r>
        </a:p>
      </dsp:txBody>
      <dsp:txXfrm>
        <a:off x="8408534" y="1129193"/>
        <a:ext cx="426276" cy="426276"/>
      </dsp:txXfrm>
    </dsp:sp>
    <dsp:sp modelId="{1D354FF4-B4CC-4E04-B797-2041261EE7BD}">
      <dsp:nvSpPr>
        <dsp:cNvPr id="0" name=""/>
        <dsp:cNvSpPr/>
      </dsp:nvSpPr>
      <dsp:spPr>
        <a:xfrm>
          <a:off x="7904000" y="2849371"/>
          <a:ext cx="1435344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C7EA48-7EBA-4A1A-AEDE-485F287D3D74}">
      <dsp:nvSpPr>
        <dsp:cNvPr id="0" name=""/>
        <dsp:cNvSpPr/>
      </dsp:nvSpPr>
      <dsp:spPr>
        <a:xfrm>
          <a:off x="9482879" y="839961"/>
          <a:ext cx="1435344" cy="200948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905" tIns="330200" rIns="111905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acting as lender of last resort.</a:t>
          </a:r>
        </a:p>
      </dsp:txBody>
      <dsp:txXfrm>
        <a:off x="9482879" y="1603564"/>
        <a:ext cx="1435344" cy="1205689"/>
      </dsp:txXfrm>
    </dsp:sp>
    <dsp:sp modelId="{6A3F546A-F6DD-49FC-B61D-59808369305C}">
      <dsp:nvSpPr>
        <dsp:cNvPr id="0" name=""/>
        <dsp:cNvSpPr/>
      </dsp:nvSpPr>
      <dsp:spPr>
        <a:xfrm>
          <a:off x="9899129" y="1040909"/>
          <a:ext cx="602844" cy="60284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000" tIns="12700" rIns="47000" bIns="127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7</a:t>
          </a:r>
        </a:p>
      </dsp:txBody>
      <dsp:txXfrm>
        <a:off x="9987413" y="1129193"/>
        <a:ext cx="426276" cy="426276"/>
      </dsp:txXfrm>
    </dsp:sp>
    <dsp:sp modelId="{7C93CC61-5986-41F7-8DAA-8304F53F66B4}">
      <dsp:nvSpPr>
        <dsp:cNvPr id="0" name=""/>
        <dsp:cNvSpPr/>
      </dsp:nvSpPr>
      <dsp:spPr>
        <a:xfrm>
          <a:off x="9482879" y="2849371"/>
          <a:ext cx="1435344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15078-5926-400E-B661-97968ADB10E6}">
      <dsp:nvSpPr>
        <dsp:cNvPr id="0" name=""/>
        <dsp:cNvSpPr/>
      </dsp:nvSpPr>
      <dsp:spPr>
        <a:xfrm>
          <a:off x="0" y="2530579"/>
          <a:ext cx="10927829" cy="16603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They cannot create unlimited money because they are constrained by:</a:t>
          </a:r>
        </a:p>
      </dsp:txBody>
      <dsp:txXfrm>
        <a:off x="0" y="2530579"/>
        <a:ext cx="10927829" cy="896580"/>
      </dsp:txXfrm>
    </dsp:sp>
    <dsp:sp modelId="{1EE6C0F3-3A54-4F0A-95B4-A9C0F561D413}">
      <dsp:nvSpPr>
        <dsp:cNvPr id="0" name=""/>
        <dsp:cNvSpPr/>
      </dsp:nvSpPr>
      <dsp:spPr>
        <a:xfrm>
          <a:off x="0" y="3393953"/>
          <a:ext cx="2731957" cy="76375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Capital requirements</a:t>
          </a:r>
          <a:r>
            <a:rPr lang="en-US" sz="1500" kern="1200"/>
            <a:t> (they need enough shareholder capital). </a:t>
          </a:r>
        </a:p>
      </dsp:txBody>
      <dsp:txXfrm>
        <a:off x="0" y="3393953"/>
        <a:ext cx="2731957" cy="763753"/>
      </dsp:txXfrm>
    </dsp:sp>
    <dsp:sp modelId="{E02D3B6C-41CC-43B0-A7E2-75623FC34BC8}">
      <dsp:nvSpPr>
        <dsp:cNvPr id="0" name=""/>
        <dsp:cNvSpPr/>
      </dsp:nvSpPr>
      <dsp:spPr>
        <a:xfrm>
          <a:off x="2731957" y="3393953"/>
          <a:ext cx="2731957" cy="763753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Liquidity requirements</a:t>
          </a:r>
          <a:r>
            <a:rPr lang="en-US" sz="1500" kern="1200"/>
            <a:t> (they must have enough liquid assets to meet withdrawals). </a:t>
          </a:r>
        </a:p>
      </dsp:txBody>
      <dsp:txXfrm>
        <a:off x="2731957" y="3393953"/>
        <a:ext cx="2731957" cy="763753"/>
      </dsp:txXfrm>
    </dsp:sp>
    <dsp:sp modelId="{D67C191A-F0DB-4645-96D6-404F9E6B8846}">
      <dsp:nvSpPr>
        <dsp:cNvPr id="0" name=""/>
        <dsp:cNvSpPr/>
      </dsp:nvSpPr>
      <dsp:spPr>
        <a:xfrm>
          <a:off x="5463914" y="3393953"/>
          <a:ext cx="2731957" cy="763753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Borrowers' ability to repay</a:t>
          </a:r>
          <a:r>
            <a:rPr lang="en-US" sz="1500" kern="1200"/>
            <a:t> (banks won't lend if loans are too risky). </a:t>
          </a:r>
        </a:p>
      </dsp:txBody>
      <dsp:txXfrm>
        <a:off x="5463914" y="3393953"/>
        <a:ext cx="2731957" cy="763753"/>
      </dsp:txXfrm>
    </dsp:sp>
    <dsp:sp modelId="{09CE58F9-28BE-47A7-AE93-10FE0A538C58}">
      <dsp:nvSpPr>
        <dsp:cNvPr id="0" name=""/>
        <dsp:cNvSpPr/>
      </dsp:nvSpPr>
      <dsp:spPr>
        <a:xfrm>
          <a:off x="8195871" y="3393953"/>
          <a:ext cx="2731957" cy="763753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Central bank policies</a:t>
          </a:r>
          <a:r>
            <a:rPr lang="en-US" sz="1500" kern="1200"/>
            <a:t>, such as interest rates and reserve availability.</a:t>
          </a:r>
        </a:p>
      </dsp:txBody>
      <dsp:txXfrm>
        <a:off x="8195871" y="3393953"/>
        <a:ext cx="2731957" cy="763753"/>
      </dsp:txXfrm>
    </dsp:sp>
    <dsp:sp modelId="{AECB0CD7-28B5-40AF-A34E-5714C4ACA8B2}">
      <dsp:nvSpPr>
        <dsp:cNvPr id="0" name=""/>
        <dsp:cNvSpPr/>
      </dsp:nvSpPr>
      <dsp:spPr>
        <a:xfrm rot="10800000">
          <a:off x="0" y="1890"/>
          <a:ext cx="10927829" cy="2553594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Banks create </a:t>
          </a:r>
          <a:r>
            <a:rPr lang="en-US" sz="2700" b="1" kern="1200"/>
            <a:t>deposit money</a:t>
          </a:r>
          <a:r>
            <a:rPr lang="en-US" sz="2700" kern="1200"/>
            <a:t>, which is the kind of money most people use through checking accounts and electronic payments. </a:t>
          </a:r>
        </a:p>
      </dsp:txBody>
      <dsp:txXfrm rot="10800000">
        <a:off x="0" y="1890"/>
        <a:ext cx="10927829" cy="16592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5FB501-5FDA-4AED-BA51-57CA0B74025C}">
      <dsp:nvSpPr>
        <dsp:cNvPr id="0" name=""/>
        <dsp:cNvSpPr/>
      </dsp:nvSpPr>
      <dsp:spPr>
        <a:xfrm>
          <a:off x="0" y="39469"/>
          <a:ext cx="7555374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i="1" kern="1200"/>
            <a:t>Possible Options might be:</a:t>
          </a:r>
          <a:endParaRPr lang="en-US" sz="2100" kern="1200"/>
        </a:p>
      </dsp:txBody>
      <dsp:txXfrm>
        <a:off x="25188" y="64657"/>
        <a:ext cx="7504998" cy="465594"/>
      </dsp:txXfrm>
    </dsp:sp>
    <dsp:sp modelId="{2DA55C30-3616-4EE4-8C99-36B0D6B80A2E}">
      <dsp:nvSpPr>
        <dsp:cNvPr id="0" name=""/>
        <dsp:cNvSpPr/>
      </dsp:nvSpPr>
      <dsp:spPr>
        <a:xfrm>
          <a:off x="0" y="555439"/>
          <a:ext cx="7555374" cy="1651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883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Retained earnings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Bank loans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Issuing bonds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Issuing shares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Other financial institutions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Foreign capital</a:t>
          </a:r>
        </a:p>
      </dsp:txBody>
      <dsp:txXfrm>
        <a:off x="0" y="555439"/>
        <a:ext cx="7555374" cy="16518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5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1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D9C4-EEA1-5A7E-81D8-49D27EF3A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F4C332-538B-2DE4-4C8F-F6AA6465D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E5C5E-2AC3-7030-7395-7BE45054D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407F2-9EC8-4F1D-AC90-DD0E42660AA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F0443-F462-4BB0-7C56-511B782DA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7C0BE-7293-CE8E-46C8-1F291C1D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48DA-291F-4A82-886A-22E7A6B41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66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A3514-F3B4-2A1F-B103-0FA67428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8E5BB-0641-FB68-3D20-88B2E86B5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668D9-2261-17EB-BC19-FF97B8DE3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407F2-9EC8-4F1D-AC90-DD0E42660AA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78B1E-7576-25D5-2E8C-80F14E50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651F1-EF4D-B644-D4AB-BDEFF28A0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48DA-291F-4A82-886A-22E7A6B41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480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1E9BC-7118-E2AD-DBA4-502FE4891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DFF24-AE90-6BAE-2A53-9609D6521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FE382-F35F-C16D-8D12-AFA83C9B8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407F2-9EC8-4F1D-AC90-DD0E42660AA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116EB-338A-DEC2-A31E-09CF76064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FADC8-76E7-AEBF-BCEB-9750DBFF8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48DA-291F-4A82-886A-22E7A6B41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48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96A2A-4AA5-4704-797A-6E79EF41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0FDBF-B7C9-7DDC-BFE0-B7B2BDD10B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FE94F-4D31-23FA-9994-B7A00E503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53907-395B-D597-183D-C55501D77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407F2-9EC8-4F1D-AC90-DD0E42660AA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0BAE8-A205-D96A-ED9B-C59FBE588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84680-07A9-67C9-95A1-18DB4C173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48DA-291F-4A82-886A-22E7A6B41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3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77B20-4FA6-0D2F-476E-94F65FC23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B8F3C-9B87-5B83-1808-B8181CF4E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09DFF-74A5-2E57-8E75-94E590C75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A49F7-9FB9-AB85-7D03-47112477C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D2FD67-2BBE-C339-F9A7-F7B6555A4D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80D973-7A9F-B24E-CF39-EB237CCF5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407F2-9EC8-4F1D-AC90-DD0E42660AA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F491D3-CC0D-C4A1-B599-62E4C782A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B9CBD8-A649-9294-F986-22ABF72DE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48DA-291F-4A82-886A-22E7A6B41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84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98A3C-F26C-8F3E-5718-7F7B39462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24C0CD-E7CF-8393-5423-947C3936E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407F2-9EC8-4F1D-AC90-DD0E42660AA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6F121A-EBEA-88F4-DA31-4E57F1577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76B73-C442-1A2C-04FB-1B3A3EE42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48DA-291F-4A82-886A-22E7A6B41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00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B21A5D-0ED1-0FC4-FC7C-4EEFA3E0A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407F2-9EC8-4F1D-AC90-DD0E42660AA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72C710-2408-0E03-CFD3-C6DE9E5A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4982F-5133-1ED7-105B-448952DC2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48DA-291F-4A82-886A-22E7A6B41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50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036C-FACC-76DB-3ACA-3B26D4B49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107A7-742E-85A2-C3CF-6EFE32AAA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45754A-D6A3-6A91-E3D8-E7EEC8F8C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BF57C-D836-0331-AFEE-96FD98DF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407F2-9EC8-4F1D-AC90-DD0E42660AA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8C8A6-27B1-69C4-8E42-ACE274B10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ADA56-0B76-D893-B5A6-F95D240E2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48DA-291F-4A82-886A-22E7A6B41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12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E683-BBC3-116A-5F7D-46762FAA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4EBE72-6050-5309-469F-FC81E05814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7EF89-2626-B21A-A908-2A846E1DE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1ADAF-90E8-B53C-3E32-C703B8A01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407F2-9EC8-4F1D-AC90-DD0E42660AA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C1C02-93D8-A743-978C-60EE0D41B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781A3-643D-BEAA-F8BB-F76E41C93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48DA-291F-4A82-886A-22E7A6B41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0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A7E3F-2718-C11D-DE07-9D385789F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1A1295-9462-1704-FDC8-9545BEAAC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F8C33-8B6B-A4BA-C2DC-EEFEFF585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407F2-9EC8-4F1D-AC90-DD0E42660AA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9D26B-43D7-61FA-DF16-01125828E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53DDF-794F-08BA-D6AD-71392596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48DA-291F-4A82-886A-22E7A6B41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8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01DD89-4490-71A7-F512-50849B43F1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4A3B0-BE8E-910A-4600-26B7FA493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75DCB-BABD-8DC5-D1FB-48210D4D0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407F2-9EC8-4F1D-AC90-DD0E42660AA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45864-A971-381E-ED58-DB5CDB4DF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0A8CE-C0A3-2E42-FC21-6DEB0D8EB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48DA-291F-4A82-886A-22E7A6B41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01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79BBD2-5F65-3458-62E0-251EB713C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06141-DB1D-C2C0-0C3B-2133129FE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499A3-E19C-2FFA-4BB1-38F178EDAE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6407F2-9EC8-4F1D-AC90-DD0E42660AA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53B36-4D10-F0F0-BF83-6637565BD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FBFB0-B156-B821-9FDE-E809E7C3E5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648DA-291F-4A82-886A-22E7A6B41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592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E43C6D-2BEC-0284-B968-11F237A457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766" y="1146412"/>
            <a:ext cx="9014348" cy="2402006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Money, Price Level and Inflation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7393B-A560-0EBC-C026-608279082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9765" y="4892722"/>
            <a:ext cx="6387155" cy="1078173"/>
          </a:xfrm>
        </p:spPr>
        <p:txBody>
          <a:bodyPr anchor="ctr">
            <a:normAutofit fontScale="40000" lnSpcReduction="2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4500" b="1" dirty="0">
                <a:solidFill>
                  <a:srgbClr val="FFFFFF"/>
                </a:solidFill>
              </a:rPr>
              <a:t>Syed A. Mamun, PhD, FCMA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3400" dirty="0">
                <a:solidFill>
                  <a:srgbClr val="FFFFFF"/>
                </a:solidFill>
              </a:rPr>
              <a:t>Professor of Finance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3400" dirty="0">
                <a:solidFill>
                  <a:srgbClr val="FFFFFF"/>
                </a:solidFill>
              </a:rPr>
              <a:t>Department of ESS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3400" dirty="0">
                <a:solidFill>
                  <a:srgbClr val="FFFFFF"/>
                </a:solidFill>
              </a:rPr>
              <a:t>BRAC University </a:t>
            </a:r>
          </a:p>
        </p:txBody>
      </p:sp>
    </p:spTree>
    <p:extLst>
      <p:ext uri="{BB962C8B-B14F-4D97-AF65-F5344CB8AC3E}">
        <p14:creationId xmlns:p14="http://schemas.microsoft.com/office/powerpoint/2010/main" val="1968586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91D8AE-1C28-F316-3B01-EBBB38D8E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is money?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F227B8-4266-5804-D353-245EEF8AA9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575403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6668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3D5D66-C519-F754-67F1-31C1B93F277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2420" b="331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A6346F-D1C2-9A1C-6F4A-8FDF29585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Examples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8CFDCF-7A7F-310F-0ED9-2FA53AF93E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963119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19342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903BF0-69A1-7BEB-52A3-732751C70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6600"/>
              <a:t>Why Do We Need Banks?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7BAD8-E9DC-49A9-9C6A-132D12549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200"/>
              <a:t>Depository institutions perform important economic functions.</a:t>
            </a:r>
          </a:p>
          <a:p>
            <a:pPr lvl="1"/>
            <a:r>
              <a:rPr lang="en-US" sz="2200"/>
              <a:t>Major functions include:</a:t>
            </a:r>
          </a:p>
          <a:p>
            <a:pPr lvl="1"/>
            <a:r>
              <a:rPr lang="en-US" sz="2200"/>
              <a:t>Creating liquidity </a:t>
            </a:r>
          </a:p>
          <a:p>
            <a:pPr lvl="1"/>
            <a:r>
              <a:rPr lang="en-US" sz="2200"/>
              <a:t>Pooling financial resources </a:t>
            </a:r>
          </a:p>
          <a:p>
            <a:pPr lvl="1"/>
            <a:r>
              <a:rPr lang="en-US" sz="2200"/>
              <a:t>Reducing transaction costs </a:t>
            </a:r>
          </a:p>
          <a:p>
            <a:pPr lvl="1"/>
            <a:r>
              <a:rPr lang="en-US" sz="2200"/>
              <a:t>Monitoring borrowers </a:t>
            </a:r>
          </a:p>
          <a:p>
            <a:pPr lvl="1"/>
            <a:r>
              <a:rPr lang="en-US" sz="2200"/>
              <a:t>Managing and diversifying risk </a:t>
            </a:r>
          </a:p>
          <a:p>
            <a:pPr lvl="1"/>
            <a:r>
              <a:rPr lang="en-US" sz="2200"/>
              <a:t>Transforming deposits into loans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16026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FD4BA2-3A5C-8D0D-6B12-64E6A32C6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Functions of Central Bank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11663E-1DEF-1C78-DB5F-A0EE094040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379993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3283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F785FB-C30C-02B6-6E44-F6A6CDB27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How banks create money (cont..)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3E009-43DA-69FA-4CDA-A5DEBC7A9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1400" dirty="0"/>
              <a:t>Banks create money primarily by </a:t>
            </a:r>
            <a:r>
              <a:rPr lang="en-US" sz="1400" b="1" dirty="0"/>
              <a:t>making loans</a:t>
            </a:r>
            <a:r>
              <a:rPr lang="en-US" sz="1400" dirty="0"/>
              <a:t>, not by printing cash. This process is often called </a:t>
            </a:r>
            <a:r>
              <a:rPr lang="en-US" sz="1400" b="1" dirty="0"/>
              <a:t>money creation through fractional-reserve banking</a:t>
            </a:r>
            <a:r>
              <a:rPr lang="en-US" sz="1400" dirty="0"/>
              <a:t> or </a:t>
            </a:r>
            <a:r>
              <a:rPr lang="en-US" sz="1400" b="1" dirty="0"/>
              <a:t>deposit creation</a:t>
            </a:r>
            <a:r>
              <a:rPr lang="en-US" sz="1400" dirty="0"/>
              <a:t>.</a:t>
            </a:r>
          </a:p>
          <a:p>
            <a:r>
              <a:rPr lang="en-US" sz="1400" dirty="0"/>
              <a:t>Three steps</a:t>
            </a:r>
          </a:p>
          <a:p>
            <a:pPr lvl="1"/>
            <a:r>
              <a:rPr lang="en-US" sz="1400" dirty="0"/>
              <a:t>Deposit money in a bank</a:t>
            </a:r>
          </a:p>
          <a:p>
            <a:pPr lvl="1"/>
            <a:r>
              <a:rPr lang="en-US" sz="1400" dirty="0"/>
              <a:t>The Bank makes a loan after meeting its reserve requirement </a:t>
            </a:r>
          </a:p>
          <a:p>
            <a:pPr lvl="1"/>
            <a:r>
              <a:rPr lang="en-US" sz="1400" dirty="0"/>
              <a:t>The process repeats </a:t>
            </a:r>
          </a:p>
          <a:p>
            <a:pPr lvl="0"/>
            <a:r>
              <a:rPr lang="en-US" sz="1400" b="1" dirty="0"/>
              <a:t>Central banks create base money</a:t>
            </a:r>
            <a:r>
              <a:rPr lang="en-US" sz="1400" dirty="0"/>
              <a:t> (cash and reserves). </a:t>
            </a:r>
          </a:p>
          <a:p>
            <a:pPr lvl="0"/>
            <a:r>
              <a:rPr lang="en-US" sz="1400" b="1" dirty="0"/>
              <a:t>Commercial banks create most everyday money</a:t>
            </a:r>
            <a:r>
              <a:rPr lang="en-US" sz="1400" dirty="0"/>
              <a:t> by making loans that simultaneously create matching deposits. </a:t>
            </a:r>
          </a:p>
          <a:p>
            <a:pPr lvl="0"/>
            <a:r>
              <a:rPr lang="en-US" sz="1400" dirty="0"/>
              <a:t>Money is also </a:t>
            </a:r>
            <a:r>
              <a:rPr lang="en-US" sz="1400" b="1" dirty="0"/>
              <a:t>destroyed</a:t>
            </a:r>
            <a:r>
              <a:rPr lang="en-US" sz="1400" dirty="0"/>
              <a:t> when loans are repaid: as the borrower repays the principal, the corresponding bank deposit is extinguished, reducing the money supply.</a:t>
            </a:r>
          </a:p>
          <a:p>
            <a:endParaRPr lang="en-US" sz="1400" dirty="0"/>
          </a:p>
          <a:p>
            <a:endParaRPr lang="en-US" sz="1400" dirty="0"/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5556723B-49B8-F48C-F58B-E98DDD217B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16" r="24496" b="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2082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F787D9-5351-8099-C3A5-19536A2C4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Bank’s Balance Sheet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F6A2EE-0936-D085-2332-B7BB08DB58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5327132"/>
              </p:ext>
            </p:extLst>
          </p:nvPr>
        </p:nvGraphicFramePr>
        <p:xfrm>
          <a:off x="1841590" y="2364941"/>
          <a:ext cx="8532761" cy="3688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2327">
                  <a:extLst>
                    <a:ext uri="{9D8B030D-6E8A-4147-A177-3AD203B41FA5}">
                      <a16:colId xmlns:a16="http://schemas.microsoft.com/office/drawing/2014/main" val="3403114813"/>
                    </a:ext>
                  </a:extLst>
                </a:gridCol>
                <a:gridCol w="5580434">
                  <a:extLst>
                    <a:ext uri="{9D8B030D-6E8A-4147-A177-3AD203B41FA5}">
                      <a16:colId xmlns:a16="http://schemas.microsoft.com/office/drawing/2014/main" val="97975043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Assets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Liabilities + Owners' Equity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366026530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Reserves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Deposits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330816513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Loans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Borrowings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385060260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Securities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Bank capital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294605175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Other assets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Other liabilities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1298170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443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A6AB4-C992-E830-9194-7203DFB3C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US" dirty="0"/>
              <a:t>How banks create money (cont..)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2DB1D-54AB-5B1F-129D-D3047548D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rmAutofit/>
          </a:bodyPr>
          <a:lstStyle/>
          <a:p>
            <a:r>
              <a:rPr lang="en-US" dirty="0"/>
              <a:t>New loan leads to new bank deposit</a:t>
            </a:r>
          </a:p>
          <a:p>
            <a:r>
              <a:rPr lang="en-US" dirty="0"/>
              <a:t>Suppose a customer deposits </a:t>
            </a:r>
            <a:r>
              <a:rPr lang="en-US" b="1" dirty="0"/>
              <a:t>Tk.1,000</a:t>
            </a:r>
            <a:r>
              <a:rPr lang="en-US" dirty="0"/>
              <a:t> into Bank A, and its required reserve ratio is 10%.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A0BCB5-88DA-03AF-F3C2-2EE0A90AB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230087"/>
              </p:ext>
            </p:extLst>
          </p:nvPr>
        </p:nvGraphicFramePr>
        <p:xfrm>
          <a:off x="6541053" y="1535372"/>
          <a:ext cx="4777383" cy="3614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338">
                  <a:extLst>
                    <a:ext uri="{9D8B030D-6E8A-4147-A177-3AD203B41FA5}">
                      <a16:colId xmlns:a16="http://schemas.microsoft.com/office/drawing/2014/main" val="4051280890"/>
                    </a:ext>
                  </a:extLst>
                </a:gridCol>
                <a:gridCol w="1293249">
                  <a:extLst>
                    <a:ext uri="{9D8B030D-6E8A-4147-A177-3AD203B41FA5}">
                      <a16:colId xmlns:a16="http://schemas.microsoft.com/office/drawing/2014/main" val="529088002"/>
                    </a:ext>
                  </a:extLst>
                </a:gridCol>
                <a:gridCol w="1334175">
                  <a:extLst>
                    <a:ext uri="{9D8B030D-6E8A-4147-A177-3AD203B41FA5}">
                      <a16:colId xmlns:a16="http://schemas.microsoft.com/office/drawing/2014/main" val="1516416923"/>
                    </a:ext>
                  </a:extLst>
                </a:gridCol>
                <a:gridCol w="1088621">
                  <a:extLst>
                    <a:ext uri="{9D8B030D-6E8A-4147-A177-3AD203B41FA5}">
                      <a16:colId xmlns:a16="http://schemas.microsoft.com/office/drawing/2014/main" val="3589052143"/>
                    </a:ext>
                  </a:extLst>
                </a:gridCol>
              </a:tblGrid>
              <a:tr h="102150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Round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New Deposit (Tk.)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Required Reserve 10%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New Loan (Tk.)</a:t>
                      </a:r>
                    </a:p>
                  </a:txBody>
                  <a:tcPr marL="98221" marR="98221" marT="49111" marB="49111" anchor="ctr"/>
                </a:tc>
                <a:extLst>
                  <a:ext uri="{0D108BD9-81ED-4DB2-BD59-A6C34878D82A}">
                    <a16:rowId xmlns:a16="http://schemas.microsoft.com/office/drawing/2014/main" val="3264446464"/>
                  </a:ext>
                </a:extLst>
              </a:tr>
              <a:tr h="4321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1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1,000.00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100.00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900.00</a:t>
                      </a:r>
                    </a:p>
                  </a:txBody>
                  <a:tcPr marL="98221" marR="98221" marT="49111" marB="49111" anchor="ctr"/>
                </a:tc>
                <a:extLst>
                  <a:ext uri="{0D108BD9-81ED-4DB2-BD59-A6C34878D82A}">
                    <a16:rowId xmlns:a16="http://schemas.microsoft.com/office/drawing/2014/main" val="2857853114"/>
                  </a:ext>
                </a:extLst>
              </a:tr>
              <a:tr h="4321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2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900.00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90.00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810.00</a:t>
                      </a:r>
                    </a:p>
                  </a:txBody>
                  <a:tcPr marL="98221" marR="98221" marT="49111" marB="49111" anchor="ctr"/>
                </a:tc>
                <a:extLst>
                  <a:ext uri="{0D108BD9-81ED-4DB2-BD59-A6C34878D82A}">
                    <a16:rowId xmlns:a16="http://schemas.microsoft.com/office/drawing/2014/main" val="771822875"/>
                  </a:ext>
                </a:extLst>
              </a:tr>
              <a:tr h="4321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3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810.00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81.00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729.00</a:t>
                      </a:r>
                    </a:p>
                  </a:txBody>
                  <a:tcPr marL="98221" marR="98221" marT="49111" marB="49111" anchor="ctr"/>
                </a:tc>
                <a:extLst>
                  <a:ext uri="{0D108BD9-81ED-4DB2-BD59-A6C34878D82A}">
                    <a16:rowId xmlns:a16="http://schemas.microsoft.com/office/drawing/2014/main" val="818644244"/>
                  </a:ext>
                </a:extLst>
              </a:tr>
              <a:tr h="4321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4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729.00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72.90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656.10</a:t>
                      </a:r>
                    </a:p>
                  </a:txBody>
                  <a:tcPr marL="98221" marR="98221" marT="49111" marB="49111" anchor="ctr"/>
                </a:tc>
                <a:extLst>
                  <a:ext uri="{0D108BD9-81ED-4DB2-BD59-A6C34878D82A}">
                    <a16:rowId xmlns:a16="http://schemas.microsoft.com/office/drawing/2014/main" val="2860866497"/>
                  </a:ext>
                </a:extLst>
              </a:tr>
              <a:tr h="4321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5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656.10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65.61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590.49</a:t>
                      </a:r>
                    </a:p>
                  </a:txBody>
                  <a:tcPr marL="98221" marR="98221" marT="49111" marB="49111" anchor="ctr"/>
                </a:tc>
                <a:extLst>
                  <a:ext uri="{0D108BD9-81ED-4DB2-BD59-A6C34878D82A}">
                    <a16:rowId xmlns:a16="http://schemas.microsoft.com/office/drawing/2014/main" val="713384004"/>
                  </a:ext>
                </a:extLst>
              </a:tr>
              <a:tr h="4321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...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...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...</a:t>
                      </a:r>
                    </a:p>
                  </a:txBody>
                  <a:tcPr marL="98221" marR="98221" marT="49111" marB="4911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900"/>
                        <a:t>...</a:t>
                      </a:r>
                    </a:p>
                  </a:txBody>
                  <a:tcPr marL="98221" marR="98221" marT="49111" marB="49111" anchor="ctr"/>
                </a:tc>
                <a:extLst>
                  <a:ext uri="{0D108BD9-81ED-4DB2-BD59-A6C34878D82A}">
                    <a16:rowId xmlns:a16="http://schemas.microsoft.com/office/drawing/2014/main" val="396895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17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8B6409-B96F-1983-C6BA-9B62C20F5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5600" dirty="0"/>
              <a:t>Money Multiplier and Money Creation 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6B8D0-0AE4-05E0-725F-6E1C3975A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1700"/>
              <a:t>The money multiplier is an economic concept that shows how an initial bank deposit creates a larger total increase in the country's money supply through repeated rounds of lending.</a:t>
            </a:r>
          </a:p>
          <a:p>
            <a:r>
              <a:rPr lang="en-US" sz="1700"/>
              <a:t>Money Multiplier (m) = 1/ Reserve ratio </a:t>
            </a:r>
          </a:p>
          <a:p>
            <a:r>
              <a:rPr lang="en-US" sz="1700"/>
              <a:t>Total money creation ( deposit) = Initial deposit ( bank reserve) x m</a:t>
            </a:r>
          </a:p>
          <a:p>
            <a:r>
              <a:rPr lang="en-US" sz="1700"/>
              <a:t>Or, change of deposit =  m x initial change of reserve</a:t>
            </a:r>
          </a:p>
          <a:p>
            <a:r>
              <a:rPr lang="en-US" sz="1700"/>
              <a:t>Here, Money Multiplier = 1/.10 = 10,</a:t>
            </a:r>
          </a:p>
          <a:p>
            <a:r>
              <a:rPr lang="en-US" sz="1700"/>
              <a:t>So, Total deposit creation = Tk 1000 x 10 = 10,000.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428101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43FC99-0485-628B-60F9-16F26F090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Does the bank create money "out of thin air"?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C310CD36-D9E3-26C3-BC81-695231D709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164165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8218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B21B0F-4A10-4316-4091-391F903927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US" sz="5200" dirty="0"/>
              <a:t>Loanable Fund Market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BCB9F1D-83E8-45A3-7988-710F50AF3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/>
          </a:bodyPr>
          <a:lstStyle/>
          <a:p>
            <a:pPr algn="l"/>
            <a:endParaRPr lang="en-US"/>
          </a:p>
        </p:txBody>
      </p:sp>
      <p:pic>
        <p:nvPicPr>
          <p:cNvPr id="9" name="Graphic 8" descr="Upward trend">
            <a:extLst>
              <a:ext uri="{FF2B5EF4-FFF2-40B4-BE49-F238E27FC236}">
                <a16:creationId xmlns:a16="http://schemas.microsoft.com/office/drawing/2014/main" id="{F9167899-43FE-3478-AC8D-2E6D2F09E3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11" name="Graphic 10" descr="Upward trend">
            <a:extLst>
              <a:ext uri="{FF2B5EF4-FFF2-40B4-BE49-F238E27FC236}">
                <a16:creationId xmlns:a16="http://schemas.microsoft.com/office/drawing/2014/main" id="{9EF8F9F2-6B94-4584-9554-EDEE6A181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673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5CD02B-C873-F8BF-63D0-FB099A7A5805}"/>
              </a:ext>
            </a:extLst>
          </p:cNvPr>
          <p:cNvSpPr txBox="1"/>
          <p:nvPr/>
        </p:nvSpPr>
        <p:spPr>
          <a:xfrm>
            <a:off x="1288648" y="770797"/>
            <a:ext cx="98114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If a company wants Tk. 500 crore to build a new factory, where does the money come from?</a:t>
            </a:r>
            <a:endParaRPr 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E64818-0CA6-4668-A131-F4F5D5F95123}"/>
              </a:ext>
            </a:extLst>
          </p:cNvPr>
          <p:cNvSpPr txBox="1"/>
          <p:nvPr/>
        </p:nvSpPr>
        <p:spPr>
          <a:xfrm>
            <a:off x="1437190" y="4186829"/>
            <a:ext cx="95143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At the economy-wide level, these transactions can be represented</a:t>
            </a:r>
          </a:p>
          <a:p>
            <a:r>
              <a:rPr lang="en-US" dirty="0"/>
              <a:t> through the </a:t>
            </a:r>
            <a:r>
              <a:rPr lang="en-US" b="1" dirty="0"/>
              <a:t>loanable funds market</a:t>
            </a:r>
            <a:r>
              <a:rPr lang="en-US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169625-77B5-12E0-AA6B-B366FF30C46F}"/>
              </a:ext>
            </a:extLst>
          </p:cNvPr>
          <p:cNvSpPr txBox="1"/>
          <p:nvPr/>
        </p:nvSpPr>
        <p:spPr>
          <a:xfrm>
            <a:off x="1585732" y="5134298"/>
            <a:ext cx="7893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Household saving → Bank → Business loan → Factory investment</a:t>
            </a:r>
          </a:p>
        </p:txBody>
      </p:sp>
      <p:graphicFrame>
        <p:nvGraphicFramePr>
          <p:cNvPr id="13" name="TextBox 6">
            <a:extLst>
              <a:ext uri="{FF2B5EF4-FFF2-40B4-BE49-F238E27FC236}">
                <a16:creationId xmlns:a16="http://schemas.microsoft.com/office/drawing/2014/main" id="{DF363C04-A8F2-A2A5-DC20-35F048E67DED}"/>
              </a:ext>
            </a:extLst>
          </p:cNvPr>
          <p:cNvGraphicFramePr/>
          <p:nvPr/>
        </p:nvGraphicFramePr>
        <p:xfrm>
          <a:off x="1585732" y="1770927"/>
          <a:ext cx="7555374" cy="22467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3928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7C2EEF-F125-7F5E-3892-BF38B288A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What Are Loanable Funds?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D3C83-0944-B15C-909C-13C97072B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700" b="1"/>
              <a:t>Loanable funds</a:t>
            </a:r>
            <a:r>
              <a:rPr lang="en-US" sz="1700"/>
              <a:t> are financial resources available for borrowing and lending.</a:t>
            </a:r>
          </a:p>
          <a:p>
            <a:endParaRPr lang="en-US" sz="1700"/>
          </a:p>
          <a:p>
            <a:endParaRPr lang="en-US" sz="1700"/>
          </a:p>
          <a:p>
            <a:endParaRPr lang="en-US" sz="1700"/>
          </a:p>
          <a:p>
            <a:endParaRPr lang="en-US" sz="1700"/>
          </a:p>
          <a:p>
            <a:endParaRPr lang="en-US" sz="1700"/>
          </a:p>
          <a:p>
            <a:r>
              <a:rPr lang="en-US" sz="1700"/>
              <a:t>The real interest rate is particularly important because it represents the real cost of borrowing and the real return to saving.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8439CF-3978-5FD0-5AE1-CE1D4A5F1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616972"/>
              </p:ext>
            </p:extLst>
          </p:nvPr>
        </p:nvGraphicFramePr>
        <p:xfrm>
          <a:off x="5911532" y="2496388"/>
          <a:ext cx="5150278" cy="368998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63338">
                  <a:extLst>
                    <a:ext uri="{9D8B030D-6E8A-4147-A177-3AD203B41FA5}">
                      <a16:colId xmlns:a16="http://schemas.microsoft.com/office/drawing/2014/main" val="1644878126"/>
                    </a:ext>
                  </a:extLst>
                </a:gridCol>
                <a:gridCol w="3286940">
                  <a:extLst>
                    <a:ext uri="{9D8B030D-6E8A-4147-A177-3AD203B41FA5}">
                      <a16:colId xmlns:a16="http://schemas.microsoft.com/office/drawing/2014/main" val="13390990"/>
                    </a:ext>
                  </a:extLst>
                </a:gridCol>
              </a:tblGrid>
              <a:tr h="8427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/>
                        <a:t>Market element</a:t>
                      </a:r>
                    </a:p>
                  </a:txBody>
                  <a:tcPr marL="113888" marR="113888" marT="56944" marB="569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/>
                        <a:t>Loanable funds market</a:t>
                      </a:r>
                    </a:p>
                  </a:txBody>
                  <a:tcPr marL="113888" marR="113888" marT="56944" marB="56944" anchor="ctr"/>
                </a:tc>
                <a:extLst>
                  <a:ext uri="{0D108BD9-81ED-4DB2-BD59-A6C34878D82A}">
                    <a16:rowId xmlns:a16="http://schemas.microsoft.com/office/drawing/2014/main" val="496640795"/>
                  </a:ext>
                </a:extLst>
              </a:tr>
              <a:tr h="501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Product</a:t>
                      </a:r>
                    </a:p>
                  </a:txBody>
                  <a:tcPr marL="113888" marR="113888" marT="56944" marB="56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Loanable funds</a:t>
                      </a:r>
                    </a:p>
                  </a:txBody>
                  <a:tcPr marL="113888" marR="113888" marT="56944" marB="56944" anchor="ctr"/>
                </a:tc>
                <a:extLst>
                  <a:ext uri="{0D108BD9-81ED-4DB2-BD59-A6C34878D82A}">
                    <a16:rowId xmlns:a16="http://schemas.microsoft.com/office/drawing/2014/main" val="2254304039"/>
                  </a:ext>
                </a:extLst>
              </a:tr>
              <a:tr h="501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Suppliers</a:t>
                      </a:r>
                    </a:p>
                  </a:txBody>
                  <a:tcPr marL="113888" marR="113888" marT="56944" marB="56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Savers/lenders</a:t>
                      </a:r>
                    </a:p>
                  </a:txBody>
                  <a:tcPr marL="113888" marR="113888" marT="56944" marB="56944" anchor="ctr"/>
                </a:tc>
                <a:extLst>
                  <a:ext uri="{0D108BD9-81ED-4DB2-BD59-A6C34878D82A}">
                    <a16:rowId xmlns:a16="http://schemas.microsoft.com/office/drawing/2014/main" val="3339727311"/>
                  </a:ext>
                </a:extLst>
              </a:tr>
              <a:tr h="501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Demanders</a:t>
                      </a:r>
                    </a:p>
                  </a:txBody>
                  <a:tcPr marL="113888" marR="113888" marT="56944" marB="56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Borrowers/investors</a:t>
                      </a:r>
                    </a:p>
                  </a:txBody>
                  <a:tcPr marL="113888" marR="113888" marT="56944" marB="56944" anchor="ctr"/>
                </a:tc>
                <a:extLst>
                  <a:ext uri="{0D108BD9-81ED-4DB2-BD59-A6C34878D82A}">
                    <a16:rowId xmlns:a16="http://schemas.microsoft.com/office/drawing/2014/main" val="1061078723"/>
                  </a:ext>
                </a:extLst>
              </a:tr>
              <a:tr h="501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Price</a:t>
                      </a:r>
                    </a:p>
                  </a:txBody>
                  <a:tcPr marL="113888" marR="113888" marT="56944" marB="56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Real interest rate</a:t>
                      </a:r>
                    </a:p>
                  </a:txBody>
                  <a:tcPr marL="113888" marR="113888" marT="56944" marB="56944" anchor="ctr"/>
                </a:tc>
                <a:extLst>
                  <a:ext uri="{0D108BD9-81ED-4DB2-BD59-A6C34878D82A}">
                    <a16:rowId xmlns:a16="http://schemas.microsoft.com/office/drawing/2014/main" val="3133931296"/>
                  </a:ext>
                </a:extLst>
              </a:tr>
              <a:tr h="842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Quantity</a:t>
                      </a:r>
                    </a:p>
                  </a:txBody>
                  <a:tcPr marL="113888" marR="113888" marT="56944" marB="56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Amount of funds borrowed/lent</a:t>
                      </a:r>
                    </a:p>
                  </a:txBody>
                  <a:tcPr marL="113888" marR="113888" marT="56944" marB="56944" anchor="ctr"/>
                </a:tc>
                <a:extLst>
                  <a:ext uri="{0D108BD9-81ED-4DB2-BD59-A6C34878D82A}">
                    <a16:rowId xmlns:a16="http://schemas.microsoft.com/office/drawing/2014/main" val="1608582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314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595230-664D-61CE-5A59-E134AF7E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Who supplies loanable funds?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2C10C-5A93-8CE6-7B7B-61AA48866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400" b="1"/>
              <a:t>Households</a:t>
            </a:r>
          </a:p>
          <a:p>
            <a:pPr lvl="1"/>
            <a:r>
              <a:rPr lang="en-US" sz="1400"/>
              <a:t>Households save part of their disposable income.</a:t>
            </a:r>
          </a:p>
          <a:p>
            <a:r>
              <a:rPr lang="en-US" sz="1400" b="1"/>
              <a:t>Firms</a:t>
            </a:r>
          </a:p>
          <a:p>
            <a:pPr lvl="1"/>
            <a:r>
              <a:rPr lang="en-US" sz="1400"/>
              <a:t>Firms may have retained earnings or excess cash.</a:t>
            </a:r>
          </a:p>
          <a:p>
            <a:r>
              <a:rPr lang="en-US" sz="1400" b="1"/>
              <a:t>Government</a:t>
            </a:r>
          </a:p>
          <a:p>
            <a:pPr lvl="1"/>
            <a:r>
              <a:rPr lang="en-US" sz="1400"/>
              <a:t>A government budget surplus can provide additional saving.</a:t>
            </a:r>
          </a:p>
          <a:p>
            <a:r>
              <a:rPr lang="en-US" sz="1400" b="1"/>
              <a:t>Foreign investors</a:t>
            </a:r>
          </a:p>
          <a:p>
            <a:pPr lvl="1"/>
            <a:r>
              <a:rPr lang="en-US" sz="1400"/>
              <a:t>International capital can flow into the domestic financial system.</a:t>
            </a:r>
          </a:p>
          <a:p>
            <a:r>
              <a:rPr lang="en-US" sz="1400" b="1"/>
              <a:t>Real interest rate ↑ → Reward for saving ↑ → Saving ↑ → Supply of Fund ↑</a:t>
            </a:r>
          </a:p>
        </p:txBody>
      </p:sp>
      <p:pic>
        <p:nvPicPr>
          <p:cNvPr id="7" name="Graphic 6" descr="Money">
            <a:extLst>
              <a:ext uri="{FF2B5EF4-FFF2-40B4-BE49-F238E27FC236}">
                <a16:creationId xmlns:a16="http://schemas.microsoft.com/office/drawing/2014/main" id="{CDCAA11E-F143-8B3F-4ACE-E9AA28045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548" y="2484255"/>
            <a:ext cx="3714244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435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73D882-AE47-5229-A947-F02B65755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Who demands loanable funds?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9F4A1-CAEB-B427-8437-51EA1A995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1"/>
            <a:r>
              <a:rPr lang="en-US" dirty="0"/>
              <a:t>Businesses </a:t>
            </a:r>
          </a:p>
          <a:p>
            <a:pPr lvl="1"/>
            <a:r>
              <a:rPr lang="en-US" dirty="0"/>
              <a:t>Households </a:t>
            </a:r>
          </a:p>
          <a:p>
            <a:pPr lvl="1"/>
            <a:r>
              <a:rPr lang="en-US" dirty="0"/>
              <a:t>Government </a:t>
            </a:r>
          </a:p>
          <a:p>
            <a:pPr lvl="1"/>
            <a:r>
              <a:rPr lang="en-US" dirty="0"/>
              <a:t>Foreign borrowers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Real interest rate ↑ → Cost of borrowing ↑ → Investment becomes less attractive → Borrowing ↓ → Quantity demanded of loanable funds ↓</a:t>
            </a:r>
          </a:p>
          <a:p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325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D571B-D071-5E21-CE1A-F2FF51642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400"/>
              <a:t>Equilibrium in the Loanable Funds Market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40A54-862D-AA2D-B91F-6A0DE7678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2000"/>
              <a:t>Savings = Investment</a:t>
            </a:r>
          </a:p>
          <a:p>
            <a:endParaRPr lang="en-US" sz="20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E1BB5D-784A-4D50-AF2D-16A8D6BE61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" b="1339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597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D3E941-71C0-3A79-E761-BD372F94A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Government in the Loanable Fund</a:t>
            </a:r>
          </a:p>
        </p:txBody>
      </p:sp>
      <p:pic>
        <p:nvPicPr>
          <p:cNvPr id="9" name="Graphic 8" descr="Bank">
            <a:extLst>
              <a:ext uri="{FF2B5EF4-FFF2-40B4-BE49-F238E27FC236}">
                <a16:creationId xmlns:a16="http://schemas.microsoft.com/office/drawing/2014/main" id="{A5389081-1DDB-4039-D5C0-0076B0B9F9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58044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7EB0-1565-705A-3004-E44796AFA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Government Budget Balance and Deman of Loan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A0941-9A42-3230-548C-5F0F5278F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Budget Balance=Government Revenue−Government Expenditure</a:t>
            </a:r>
          </a:p>
          <a:p>
            <a:pPr lvl="0"/>
            <a:r>
              <a:rPr lang="en-US" dirty="0"/>
              <a:t>Budget surplus </a:t>
            </a:r>
          </a:p>
          <a:p>
            <a:pPr lvl="0"/>
            <a:r>
              <a:rPr lang="en-US" dirty="0"/>
              <a:t>Balanced budget </a:t>
            </a:r>
          </a:p>
          <a:p>
            <a:pPr lvl="0"/>
            <a:r>
              <a:rPr lang="en-US" dirty="0"/>
              <a:t>Budget deficit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605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6B319F-86FE-4754-878E-06F0804D8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32385" cy="6858000"/>
          </a:xfrm>
          <a:prstGeom prst="rect">
            <a:avLst/>
          </a:prstGeom>
          <a:solidFill>
            <a:schemeClr val="accent5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F7D1B5-3477-499F-ACC5-2C8B07F4E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2385" y="0"/>
            <a:ext cx="3218914" cy="6858000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CF52BE-E5C8-CDE9-8608-F448F4829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206" y="1608667"/>
            <a:ext cx="2823275" cy="4501127"/>
          </a:xfrm>
        </p:spPr>
        <p:txBody>
          <a:bodyPr anchor="t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Budget Deficit and Surplus Budget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33C1B-A5DE-6C35-FAD1-2A56832791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47698" y="1608667"/>
            <a:ext cx="3421958" cy="4501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Budget surplus</a:t>
            </a:r>
          </a:p>
          <a:p>
            <a:pPr marL="0" indent="0">
              <a:buNone/>
            </a:pPr>
            <a:r>
              <a:rPr lang="en-US" sz="2000"/>
              <a:t>↓</a:t>
            </a:r>
          </a:p>
          <a:p>
            <a:pPr marL="0" indent="0">
              <a:buNone/>
            </a:pPr>
            <a:r>
              <a:rPr lang="en-US" sz="2000"/>
              <a:t>National saving ↑</a:t>
            </a:r>
          </a:p>
          <a:p>
            <a:pPr marL="0" indent="0">
              <a:buNone/>
            </a:pPr>
            <a:r>
              <a:rPr lang="en-US" sz="2000"/>
              <a:t>↓</a:t>
            </a:r>
          </a:p>
          <a:p>
            <a:pPr marL="0" indent="0">
              <a:buNone/>
            </a:pPr>
            <a:r>
              <a:rPr lang="en-US" sz="2000"/>
              <a:t>Supply of loanable funds ↑</a:t>
            </a:r>
          </a:p>
          <a:p>
            <a:pPr marL="0" indent="0">
              <a:buNone/>
            </a:pPr>
            <a:r>
              <a:rPr lang="en-US" sz="2000"/>
              <a:t>↓</a:t>
            </a:r>
          </a:p>
          <a:p>
            <a:pPr marL="0" indent="0">
              <a:buNone/>
            </a:pPr>
            <a:r>
              <a:rPr lang="en-US" sz="2000"/>
              <a:t>Real interest rate ↓</a:t>
            </a:r>
          </a:p>
          <a:p>
            <a:pPr marL="0" indent="0">
              <a:buNone/>
            </a:pPr>
            <a:r>
              <a:rPr lang="en-US" sz="2000"/>
              <a:t>↓</a:t>
            </a:r>
          </a:p>
          <a:p>
            <a:pPr marL="0" indent="0">
              <a:buNone/>
            </a:pPr>
            <a:r>
              <a:rPr lang="en-US" sz="2000"/>
              <a:t>Investment ↑</a:t>
            </a:r>
          </a:p>
          <a:p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CE448CA-E86B-93E4-0671-0D8B21AFD63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289696" y="1608667"/>
                <a:ext cx="3421957" cy="4501127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000" dirty="0"/>
                  <a:t>Government deficit↑ 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↓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Government</m:t>
                      </m:r>
                      <m:r>
                        <m:rPr>
                          <m:nor/>
                        </m:rPr>
                        <a:rPr lang="en-US" sz="2000" i="0"/>
                        <m:t> 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borrowing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en-US" sz="2000" b="0" dirty="0"/>
              </a:p>
              <a:p>
                <a:pPr marL="0" indent="0" algn="ctr">
                  <a:buNone/>
                </a:pPr>
                <a:r>
                  <a:rPr lang="en-US" sz="2000" dirty="0"/>
                  <a:t>↓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Demand</m:t>
                      </m:r>
                      <m:r>
                        <m:rPr>
                          <m:nor/>
                        </m:rPr>
                        <a:rPr lang="en-US" sz="2000" i="0"/>
                        <m:t> 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sz="2000" i="0"/>
                        <m:t> 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loanable</m:t>
                      </m:r>
                      <m:r>
                        <m:rPr>
                          <m:nor/>
                        </m:rPr>
                        <a:rPr lang="en-US" sz="2000" i="0"/>
                        <m:t> 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funds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en-US" sz="2000" b="0" dirty="0"/>
              </a:p>
              <a:p>
                <a:pPr marL="0" indent="0" algn="ctr">
                  <a:buNone/>
                </a:pPr>
                <a:r>
                  <a:rPr lang="en-US" sz="2000" dirty="0"/>
                  <a:t>↓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Real</m:t>
                      </m:r>
                      <m:r>
                        <m:rPr>
                          <m:nor/>
                        </m:rPr>
                        <a:rPr lang="en-US" sz="2000" i="0"/>
                        <m:t> 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interest</m:t>
                      </m:r>
                      <m:r>
                        <m:rPr>
                          <m:nor/>
                        </m:rPr>
                        <a:rPr lang="en-US" sz="2000" i="0"/>
                        <m:t> 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rate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en-US" sz="2000" b="0" dirty="0"/>
              </a:p>
              <a:p>
                <a:pPr marL="0" indent="0" algn="ctr">
                  <a:buNone/>
                </a:pPr>
                <a:r>
                  <a:rPr lang="en-US" sz="2000" dirty="0"/>
                  <a:t>↓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	Private investment↓ </a:t>
                </a:r>
              </a:p>
              <a:p>
                <a:pPr marL="0" indent="0">
                  <a:buNone/>
                </a:pPr>
                <a:r>
                  <a:rPr lang="en-US" sz="2000" b="1" i="1" dirty="0"/>
                  <a:t>Crowding Out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CE448CA-E86B-93E4-0671-0D8B21AFD6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289696" y="1608667"/>
                <a:ext cx="3421957" cy="4501127"/>
              </a:xfrm>
              <a:blipFill>
                <a:blip r:embed="rId2"/>
                <a:stretch>
                  <a:fillRect l="-1961" t="-1355" r="-7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2007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306105-004A-EEE4-E554-E81BF566A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Exercise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2738A4E-18C4-DB85-89A1-E0DF3E03B7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45028" y="3017522"/>
                <a:ext cx="9941319" cy="3124658"/>
              </a:xfrm>
            </p:spPr>
            <p:txBody>
              <a:bodyPr anchor="ctr">
                <a:normAutofit/>
              </a:bodyPr>
              <a:lstStyle/>
              <a:p>
                <a:r>
                  <a:rPr lang="en-US" sz="2200"/>
                  <a:t>Suppose the loanable funds market is described by: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2200">
                        <a:latin typeface="Cambria Math" panose="02040503050406030204" pitchFamily="18" charset="0"/>
                      </a:rPr>
                      <m:t>=20+10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20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200">
                        <a:latin typeface="Cambria Math" panose="02040503050406030204" pitchFamily="18" charset="0"/>
                      </a:rPr>
                      <m:t>=80−10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200"/>
              </a:p>
              <a:p>
                <a:pPr lvl="0"/>
                <a:r>
                  <a:rPr lang="en-US" sz="2200"/>
                  <a:t>Required </a:t>
                </a:r>
              </a:p>
              <a:p>
                <a:pPr lvl="1"/>
                <a:r>
                  <a:rPr lang="en-US" sz="2200"/>
                  <a:t>Calculate Equilibrium real interest rate </a:t>
                </a:r>
              </a:p>
              <a:p>
                <a:pPr lvl="1"/>
                <a:r>
                  <a:rPr lang="en-US" sz="2200"/>
                  <a:t>Calculate Equilibrium quantity of loanable funds </a:t>
                </a:r>
              </a:p>
              <a:p>
                <a:pPr lvl="1"/>
                <a:r>
                  <a:rPr lang="en-US" sz="2200"/>
                  <a:t>What happens if government borrowing increases demand by 15 units?</a:t>
                </a:r>
              </a:p>
              <a:p>
                <a:endParaRPr lang="en-US" sz="220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2738A4E-18C4-DB85-89A1-E0DF3E03B7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5028" y="3017522"/>
                <a:ext cx="9941319" cy="3124658"/>
              </a:xfrm>
              <a:blipFill>
                <a:blip r:embed="rId2"/>
                <a:stretch>
                  <a:fillRect l="-674" t="-1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450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B5ED9C-098E-D04D-E9C9-772B39A42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Ricardo–Barro Effect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7BD2C4-2926-511E-0BED-8C20C2F28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Budget deficits may have little or no effect on interest rates and investment, although the full neutrality assumption is generally regarded as a strong one.</a:t>
            </a:r>
          </a:p>
          <a:p>
            <a:pPr marL="0" indent="0">
              <a:buNone/>
            </a:pPr>
            <a:r>
              <a:rPr lang="en-US" sz="2000" b="1" dirty="0"/>
              <a:t>	</a:t>
            </a:r>
          </a:p>
          <a:p>
            <a:pPr marL="0" indent="0" algn="ctr">
              <a:buNone/>
            </a:pPr>
            <a:r>
              <a:rPr lang="en-US" sz="2000" b="1" dirty="0"/>
              <a:t>Budget deficit ↑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/>
              <a:t>Future taxes expected ↑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/>
              <a:t> Private saving ↑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/>
              <a:t>Supply of loanable funds ↑</a:t>
            </a:r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/>
              <a:t> Interest-rate pressure may be offset.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55561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1046</Words>
  <Application>Microsoft Office PowerPoint</Application>
  <PresentationFormat>Widescreen</PresentationFormat>
  <Paragraphs>210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Cambria Math</vt:lpstr>
      <vt:lpstr>Office Theme</vt:lpstr>
      <vt:lpstr>Money, Price Level and Inflation</vt:lpstr>
      <vt:lpstr>What is money?</vt:lpstr>
      <vt:lpstr>Examples </vt:lpstr>
      <vt:lpstr>Why Do We Need Banks?</vt:lpstr>
      <vt:lpstr>Functions of Central Bank</vt:lpstr>
      <vt:lpstr>How banks create money (cont..)</vt:lpstr>
      <vt:lpstr>Bank’s Balance Sheet </vt:lpstr>
      <vt:lpstr>How banks create money (cont..)</vt:lpstr>
      <vt:lpstr>Money Multiplier and Money Creation </vt:lpstr>
      <vt:lpstr>Does the bank create money "out of thin air"?</vt:lpstr>
      <vt:lpstr>Loanable Fund Market</vt:lpstr>
      <vt:lpstr>PowerPoint Presentation</vt:lpstr>
      <vt:lpstr>What Are Loanable Funds?</vt:lpstr>
      <vt:lpstr>Who supplies loanable funds?</vt:lpstr>
      <vt:lpstr>Who demands loanable funds?</vt:lpstr>
      <vt:lpstr>Equilibrium in the Loanable Funds Market</vt:lpstr>
      <vt:lpstr>Government in the Loanable Fund</vt:lpstr>
      <vt:lpstr>Government Budget Balance and Deman of Loan </vt:lpstr>
      <vt:lpstr>Budget Deficit and Surplus Budget</vt:lpstr>
      <vt:lpstr>Exercise </vt:lpstr>
      <vt:lpstr>Ricardo–Barro Effect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A Mamun, PhD, FCMA</dc:creator>
  <cp:lastModifiedBy>Syed A Mamun, PhD, FCMA</cp:lastModifiedBy>
  <cp:revision>3</cp:revision>
  <dcterms:created xsi:type="dcterms:W3CDTF">2026-08-24T07:31:56Z</dcterms:created>
  <dcterms:modified xsi:type="dcterms:W3CDTF">2026-08-31T08:28:13Z</dcterms:modified>
</cp:coreProperties>
</file>