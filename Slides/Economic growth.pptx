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2" r:id="rId7"/>
    <p:sldId id="279" r:id="rId8"/>
    <p:sldId id="263" r:id="rId9"/>
    <p:sldId id="261" r:id="rId10"/>
    <p:sldId id="264" r:id="rId11"/>
    <p:sldId id="265" r:id="rId12"/>
    <p:sldId id="266" r:id="rId13"/>
    <p:sldId id="267" r:id="rId14"/>
    <p:sldId id="283" r:id="rId15"/>
    <p:sldId id="268" r:id="rId16"/>
    <p:sldId id="269" r:id="rId17"/>
    <p:sldId id="270" r:id="rId18"/>
    <p:sldId id="271" r:id="rId19"/>
    <p:sldId id="272" r:id="rId20"/>
    <p:sldId id="273" r:id="rId21"/>
    <p:sldId id="274" r:id="rId22"/>
    <p:sldId id="275" r:id="rId23"/>
    <p:sldId id="276" r:id="rId24"/>
    <p:sldId id="277" r:id="rId25"/>
    <p:sldId id="278" r:id="rId26"/>
    <p:sldId id="280" r:id="rId27"/>
    <p:sldId id="281"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ata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svg"/><Relationship Id="rId1" Type="http://schemas.openxmlformats.org/officeDocument/2006/relationships/image" Target="../media/image10.svg"/><Relationship Id="rId5" Type="http://schemas.openxmlformats.org/officeDocument/2006/relationships/image" Target="../media/image13.svg"/><Relationship Id="rId4" Type="http://schemas.openxmlformats.org/officeDocument/2006/relationships/image" Target="../media/image12.svg"/></Relationships>
</file>

<file path=ppt/diagrams/_rels/data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diagrams/_rels/data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9.svg"/><Relationship Id="rId1" Type="http://schemas.openxmlformats.org/officeDocument/2006/relationships/image" Target="../media/image22.svg"/><Relationship Id="rId4" Type="http://schemas.openxmlformats.org/officeDocument/2006/relationships/image" Target="../media/image24.svg"/></Relationships>
</file>

<file path=ppt/diagrams/_rels/data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 Id="rId5" Type="http://schemas.openxmlformats.org/officeDocument/2006/relationships/image" Target="../media/image9.sv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svg"/><Relationship Id="rId1" Type="http://schemas.openxmlformats.org/officeDocument/2006/relationships/image" Target="../media/image10.svg"/><Relationship Id="rId5" Type="http://schemas.openxmlformats.org/officeDocument/2006/relationships/image" Target="../media/image13.svg"/><Relationship Id="rId4" Type="http://schemas.openxmlformats.org/officeDocument/2006/relationships/image" Target="../media/image1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9.svg"/><Relationship Id="rId1" Type="http://schemas.openxmlformats.org/officeDocument/2006/relationships/image" Target="../media/image22.svg"/><Relationship Id="rId4" Type="http://schemas.openxmlformats.org/officeDocument/2006/relationships/image" Target="../media/image24.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 Id="rId5" Type="http://schemas.openxmlformats.org/officeDocument/2006/relationships/image" Target="../media/image9.sv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0BB3F8-0C80-4EF4-BBDB-0B63944D6E6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9C16C9E-9B37-4F1E-B094-7CE680944A6E}">
      <dgm:prSet/>
      <dgm:spPr/>
      <dgm:t>
        <a:bodyPr/>
        <a:lstStyle/>
        <a:p>
          <a:r>
            <a:rPr lang="en-US"/>
            <a:t>Capital accumulation occurs when businesses invest in:</a:t>
          </a:r>
        </a:p>
      </dgm:t>
    </dgm:pt>
    <dgm:pt modelId="{920161B3-FC7F-4233-A66D-C6F1A9066FDF}" type="parTrans" cxnId="{06DA9D42-207A-4684-93BC-A7F2BA47DCA7}">
      <dgm:prSet/>
      <dgm:spPr/>
      <dgm:t>
        <a:bodyPr/>
        <a:lstStyle/>
        <a:p>
          <a:endParaRPr lang="en-US"/>
        </a:p>
      </dgm:t>
    </dgm:pt>
    <dgm:pt modelId="{AB364741-C016-4A1F-91C3-6ED1384F70EB}" type="sibTrans" cxnId="{06DA9D42-207A-4684-93BC-A7F2BA47DCA7}">
      <dgm:prSet/>
      <dgm:spPr/>
      <dgm:t>
        <a:bodyPr/>
        <a:lstStyle/>
        <a:p>
          <a:endParaRPr lang="en-US"/>
        </a:p>
      </dgm:t>
    </dgm:pt>
    <dgm:pt modelId="{ED1EAC28-0330-4376-8DA8-82ACA2B2B29A}">
      <dgm:prSet/>
      <dgm:spPr/>
      <dgm:t>
        <a:bodyPr/>
        <a:lstStyle/>
        <a:p>
          <a:r>
            <a:rPr lang="en-US"/>
            <a:t>Machinery </a:t>
          </a:r>
        </a:p>
      </dgm:t>
    </dgm:pt>
    <dgm:pt modelId="{864DC587-5BBF-421C-97CE-F444BC78C19C}" type="parTrans" cxnId="{93B1C17D-93EB-4FBC-9448-20A9327732A7}">
      <dgm:prSet/>
      <dgm:spPr/>
      <dgm:t>
        <a:bodyPr/>
        <a:lstStyle/>
        <a:p>
          <a:endParaRPr lang="en-US"/>
        </a:p>
      </dgm:t>
    </dgm:pt>
    <dgm:pt modelId="{110DA98E-7AFB-473C-9B72-81DBC4001D63}" type="sibTrans" cxnId="{93B1C17D-93EB-4FBC-9448-20A9327732A7}">
      <dgm:prSet/>
      <dgm:spPr/>
      <dgm:t>
        <a:bodyPr/>
        <a:lstStyle/>
        <a:p>
          <a:endParaRPr lang="en-US"/>
        </a:p>
      </dgm:t>
    </dgm:pt>
    <dgm:pt modelId="{442246EA-CBCD-448A-B836-9518C3E8A4DA}">
      <dgm:prSet/>
      <dgm:spPr/>
      <dgm:t>
        <a:bodyPr/>
        <a:lstStyle/>
        <a:p>
          <a:r>
            <a:rPr lang="en-US"/>
            <a:t>Factories </a:t>
          </a:r>
        </a:p>
      </dgm:t>
    </dgm:pt>
    <dgm:pt modelId="{18939DC3-5BCF-42A5-87E1-6C34BBE1E1D4}" type="parTrans" cxnId="{66A2C5B3-6A31-473D-8CB5-66C1F84C6FCD}">
      <dgm:prSet/>
      <dgm:spPr/>
      <dgm:t>
        <a:bodyPr/>
        <a:lstStyle/>
        <a:p>
          <a:endParaRPr lang="en-US"/>
        </a:p>
      </dgm:t>
    </dgm:pt>
    <dgm:pt modelId="{2D24D552-DD7B-4AB7-8348-E25397A360B8}" type="sibTrans" cxnId="{66A2C5B3-6A31-473D-8CB5-66C1F84C6FCD}">
      <dgm:prSet/>
      <dgm:spPr/>
      <dgm:t>
        <a:bodyPr/>
        <a:lstStyle/>
        <a:p>
          <a:endParaRPr lang="en-US"/>
        </a:p>
      </dgm:t>
    </dgm:pt>
    <dgm:pt modelId="{8207452A-5BCE-4408-AFC1-BEAAC1CB1DC9}">
      <dgm:prSet/>
      <dgm:spPr/>
      <dgm:t>
        <a:bodyPr/>
        <a:lstStyle/>
        <a:p>
          <a:r>
            <a:rPr lang="en-US"/>
            <a:t>Roads </a:t>
          </a:r>
        </a:p>
      </dgm:t>
    </dgm:pt>
    <dgm:pt modelId="{AA32185B-24F4-4AB4-9B1B-5B3AAED8EF38}" type="parTrans" cxnId="{1B23783F-1B55-4D64-A15E-FCAAA4E413EC}">
      <dgm:prSet/>
      <dgm:spPr/>
      <dgm:t>
        <a:bodyPr/>
        <a:lstStyle/>
        <a:p>
          <a:endParaRPr lang="en-US"/>
        </a:p>
      </dgm:t>
    </dgm:pt>
    <dgm:pt modelId="{43CC0BC3-555D-4B00-8911-4FEE8426A202}" type="sibTrans" cxnId="{1B23783F-1B55-4D64-A15E-FCAAA4E413EC}">
      <dgm:prSet/>
      <dgm:spPr/>
      <dgm:t>
        <a:bodyPr/>
        <a:lstStyle/>
        <a:p>
          <a:endParaRPr lang="en-US"/>
        </a:p>
      </dgm:t>
    </dgm:pt>
    <dgm:pt modelId="{C0B84333-D63C-4533-BD25-1EA7FA7B9339}">
      <dgm:prSet/>
      <dgm:spPr/>
      <dgm:t>
        <a:bodyPr/>
        <a:lstStyle/>
        <a:p>
          <a:r>
            <a:rPr lang="en-US"/>
            <a:t>Ports </a:t>
          </a:r>
        </a:p>
      </dgm:t>
    </dgm:pt>
    <dgm:pt modelId="{873CCACC-A25E-48C5-8A95-7842176F43E5}" type="parTrans" cxnId="{3C1607C7-3BEB-49F3-840F-7B732D95964C}">
      <dgm:prSet/>
      <dgm:spPr/>
      <dgm:t>
        <a:bodyPr/>
        <a:lstStyle/>
        <a:p>
          <a:endParaRPr lang="en-US"/>
        </a:p>
      </dgm:t>
    </dgm:pt>
    <dgm:pt modelId="{A9752A75-4CB1-49A9-BBCC-523FDD36F787}" type="sibTrans" cxnId="{3C1607C7-3BEB-49F3-840F-7B732D95964C}">
      <dgm:prSet/>
      <dgm:spPr/>
      <dgm:t>
        <a:bodyPr/>
        <a:lstStyle/>
        <a:p>
          <a:endParaRPr lang="en-US"/>
        </a:p>
      </dgm:t>
    </dgm:pt>
    <dgm:pt modelId="{84BE398B-D8F1-4FE8-ACFF-61127D377B81}">
      <dgm:prSet/>
      <dgm:spPr/>
      <dgm:t>
        <a:bodyPr/>
        <a:lstStyle/>
        <a:p>
          <a:r>
            <a:rPr lang="en-US"/>
            <a:t>Computers </a:t>
          </a:r>
        </a:p>
      </dgm:t>
    </dgm:pt>
    <dgm:pt modelId="{DDB05A5C-5EF4-4506-99DA-887254E87736}" type="parTrans" cxnId="{5448034F-ACFB-4795-9B2F-15AC0AE3C77F}">
      <dgm:prSet/>
      <dgm:spPr/>
      <dgm:t>
        <a:bodyPr/>
        <a:lstStyle/>
        <a:p>
          <a:endParaRPr lang="en-US"/>
        </a:p>
      </dgm:t>
    </dgm:pt>
    <dgm:pt modelId="{46FB21B9-FB8C-4552-BB65-0840D73B5892}" type="sibTrans" cxnId="{5448034F-ACFB-4795-9B2F-15AC0AE3C77F}">
      <dgm:prSet/>
      <dgm:spPr/>
      <dgm:t>
        <a:bodyPr/>
        <a:lstStyle/>
        <a:p>
          <a:endParaRPr lang="en-US"/>
        </a:p>
      </dgm:t>
    </dgm:pt>
    <dgm:pt modelId="{815FC09A-7165-4C96-BB87-A3A4CE489EE7}">
      <dgm:prSet/>
      <dgm:spPr/>
      <dgm:t>
        <a:bodyPr/>
        <a:lstStyle/>
        <a:p>
          <a:r>
            <a:rPr lang="en-US"/>
            <a:t>Communication networks </a:t>
          </a:r>
        </a:p>
      </dgm:t>
    </dgm:pt>
    <dgm:pt modelId="{8B956ADA-DDC2-4D6C-B190-67B4D14A955B}" type="parTrans" cxnId="{FA8E5817-A9B2-4117-983B-EE3E3289648C}">
      <dgm:prSet/>
      <dgm:spPr/>
      <dgm:t>
        <a:bodyPr/>
        <a:lstStyle/>
        <a:p>
          <a:endParaRPr lang="en-US"/>
        </a:p>
      </dgm:t>
    </dgm:pt>
    <dgm:pt modelId="{0B57ACE2-B2A2-4AA2-90BE-453B54AF63FD}" type="sibTrans" cxnId="{FA8E5817-A9B2-4117-983B-EE3E3289648C}">
      <dgm:prSet/>
      <dgm:spPr/>
      <dgm:t>
        <a:bodyPr/>
        <a:lstStyle/>
        <a:p>
          <a:endParaRPr lang="en-US"/>
        </a:p>
      </dgm:t>
    </dgm:pt>
    <dgm:pt modelId="{D6715C85-CAB3-44ED-BC60-03923645F26E}">
      <dgm:prSet/>
      <dgm:spPr/>
      <dgm:t>
        <a:bodyPr/>
        <a:lstStyle/>
        <a:p>
          <a:r>
            <a:rPr lang="en-US"/>
            <a:t>Greater capital per worker increases productivity and expands productive capacity.</a:t>
          </a:r>
        </a:p>
      </dgm:t>
    </dgm:pt>
    <dgm:pt modelId="{DF5E40E7-ECED-4FAC-AA26-EEDECDBC65B5}" type="parTrans" cxnId="{CEB3D086-9ADF-477B-A788-0530E40C8CB2}">
      <dgm:prSet/>
      <dgm:spPr/>
      <dgm:t>
        <a:bodyPr/>
        <a:lstStyle/>
        <a:p>
          <a:endParaRPr lang="en-US"/>
        </a:p>
      </dgm:t>
    </dgm:pt>
    <dgm:pt modelId="{4BC77218-2FA7-498D-9ED5-39D4C43B5599}" type="sibTrans" cxnId="{CEB3D086-9ADF-477B-A788-0530E40C8CB2}">
      <dgm:prSet/>
      <dgm:spPr/>
      <dgm:t>
        <a:bodyPr/>
        <a:lstStyle/>
        <a:p>
          <a:endParaRPr lang="en-US"/>
        </a:p>
      </dgm:t>
    </dgm:pt>
    <dgm:pt modelId="{ECC5001B-B4D3-4230-BAAF-1299718294D5}">
      <dgm:prSet/>
      <dgm:spPr/>
      <dgm:t>
        <a:bodyPr/>
        <a:lstStyle/>
        <a:p>
          <a:r>
            <a:rPr lang="en-US" b="1"/>
            <a:t>Example: </a:t>
          </a:r>
          <a:r>
            <a:rPr lang="en-US"/>
            <a:t>A garment factory installs automated sewing machines, enabling workers to produce twice as many garments each day.</a:t>
          </a:r>
        </a:p>
      </dgm:t>
    </dgm:pt>
    <dgm:pt modelId="{9FC5791B-532B-471F-8B6D-4CAA8202D1E8}" type="parTrans" cxnId="{7601FE1E-3341-403D-8488-AB27A2D711A2}">
      <dgm:prSet/>
      <dgm:spPr/>
      <dgm:t>
        <a:bodyPr/>
        <a:lstStyle/>
        <a:p>
          <a:endParaRPr lang="en-US"/>
        </a:p>
      </dgm:t>
    </dgm:pt>
    <dgm:pt modelId="{B6A015DE-B74A-4AF0-8110-3F3D5F375AA5}" type="sibTrans" cxnId="{7601FE1E-3341-403D-8488-AB27A2D711A2}">
      <dgm:prSet/>
      <dgm:spPr/>
      <dgm:t>
        <a:bodyPr/>
        <a:lstStyle/>
        <a:p>
          <a:endParaRPr lang="en-US"/>
        </a:p>
      </dgm:t>
    </dgm:pt>
    <dgm:pt modelId="{9DA25AA5-9331-430A-8668-17E52E52A14E}" type="pres">
      <dgm:prSet presAssocID="{EA0BB3F8-0C80-4EF4-BBDB-0B63944D6E62}" presName="root" presStyleCnt="0">
        <dgm:presLayoutVars>
          <dgm:dir/>
          <dgm:resizeHandles val="exact"/>
        </dgm:presLayoutVars>
      </dgm:prSet>
      <dgm:spPr/>
    </dgm:pt>
    <dgm:pt modelId="{422F713E-A536-4E86-B064-95E3A6AD0EA8}" type="pres">
      <dgm:prSet presAssocID="{A9C16C9E-9B37-4F1E-B094-7CE680944A6E}" presName="compNode" presStyleCnt="0"/>
      <dgm:spPr/>
    </dgm:pt>
    <dgm:pt modelId="{53282F5F-4526-4C6F-BB8A-6E1334479EF8}" type="pres">
      <dgm:prSet presAssocID="{A9C16C9E-9B37-4F1E-B094-7CE680944A6E}" presName="bgRect" presStyleLbl="bgShp" presStyleIdx="0" presStyleCnt="3"/>
      <dgm:spPr/>
    </dgm:pt>
    <dgm:pt modelId="{266FEFF1-93B9-4D48-8CBC-132ABF4E8EA1}" type="pres">
      <dgm:prSet presAssocID="{A9C16C9E-9B37-4F1E-B094-7CE680944A6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actory"/>
        </a:ext>
      </dgm:extLst>
    </dgm:pt>
    <dgm:pt modelId="{92429E40-7635-4561-8062-82C768750848}" type="pres">
      <dgm:prSet presAssocID="{A9C16C9E-9B37-4F1E-B094-7CE680944A6E}" presName="spaceRect" presStyleCnt="0"/>
      <dgm:spPr/>
    </dgm:pt>
    <dgm:pt modelId="{56906927-7EFB-43F7-B6C4-E93B41550846}" type="pres">
      <dgm:prSet presAssocID="{A9C16C9E-9B37-4F1E-B094-7CE680944A6E}" presName="parTx" presStyleLbl="revTx" presStyleIdx="0" presStyleCnt="4">
        <dgm:presLayoutVars>
          <dgm:chMax val="0"/>
          <dgm:chPref val="0"/>
        </dgm:presLayoutVars>
      </dgm:prSet>
      <dgm:spPr/>
    </dgm:pt>
    <dgm:pt modelId="{F06BC506-070E-44A2-ADD6-75F0DB02B069}" type="pres">
      <dgm:prSet presAssocID="{A9C16C9E-9B37-4F1E-B094-7CE680944A6E}" presName="desTx" presStyleLbl="revTx" presStyleIdx="1" presStyleCnt="4">
        <dgm:presLayoutVars/>
      </dgm:prSet>
      <dgm:spPr/>
    </dgm:pt>
    <dgm:pt modelId="{2B3776DA-CCBE-4B68-9DC5-6120AC77407C}" type="pres">
      <dgm:prSet presAssocID="{AB364741-C016-4A1F-91C3-6ED1384F70EB}" presName="sibTrans" presStyleCnt="0"/>
      <dgm:spPr/>
    </dgm:pt>
    <dgm:pt modelId="{9BFA8712-0A8E-4AA1-A35A-83E820B12F8B}" type="pres">
      <dgm:prSet presAssocID="{D6715C85-CAB3-44ED-BC60-03923645F26E}" presName="compNode" presStyleCnt="0"/>
      <dgm:spPr/>
    </dgm:pt>
    <dgm:pt modelId="{AD2B30C2-1036-4DB0-8EB8-837A02BB5E4F}" type="pres">
      <dgm:prSet presAssocID="{D6715C85-CAB3-44ED-BC60-03923645F26E}" presName="bgRect" presStyleLbl="bgShp" presStyleIdx="1" presStyleCnt="3"/>
      <dgm:spPr/>
    </dgm:pt>
    <dgm:pt modelId="{B1E92183-7E03-457B-888C-E71E66E5DAED}" type="pres">
      <dgm:prSet presAssocID="{D6715C85-CAB3-44ED-BC60-03923645F26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9FB6ADB6-8440-4632-A328-A5D052E69CFE}" type="pres">
      <dgm:prSet presAssocID="{D6715C85-CAB3-44ED-BC60-03923645F26E}" presName="spaceRect" presStyleCnt="0"/>
      <dgm:spPr/>
    </dgm:pt>
    <dgm:pt modelId="{7B9BC7F0-D06F-419A-A214-3F87817E7705}" type="pres">
      <dgm:prSet presAssocID="{D6715C85-CAB3-44ED-BC60-03923645F26E}" presName="parTx" presStyleLbl="revTx" presStyleIdx="2" presStyleCnt="4">
        <dgm:presLayoutVars>
          <dgm:chMax val="0"/>
          <dgm:chPref val="0"/>
        </dgm:presLayoutVars>
      </dgm:prSet>
      <dgm:spPr/>
    </dgm:pt>
    <dgm:pt modelId="{9EC91BFD-C477-4648-8DB7-DE22A992BFD8}" type="pres">
      <dgm:prSet presAssocID="{4BC77218-2FA7-498D-9ED5-39D4C43B5599}" presName="sibTrans" presStyleCnt="0"/>
      <dgm:spPr/>
    </dgm:pt>
    <dgm:pt modelId="{EDA012D1-6AA9-4E73-92A7-DF6E3FFDEF8D}" type="pres">
      <dgm:prSet presAssocID="{ECC5001B-B4D3-4230-BAAF-1299718294D5}" presName="compNode" presStyleCnt="0"/>
      <dgm:spPr/>
    </dgm:pt>
    <dgm:pt modelId="{F4B19C36-EB7B-4E15-8292-9672241A0CB6}" type="pres">
      <dgm:prSet presAssocID="{ECC5001B-B4D3-4230-BAAF-1299718294D5}" presName="bgRect" presStyleLbl="bgShp" presStyleIdx="2" presStyleCnt="3"/>
      <dgm:spPr/>
    </dgm:pt>
    <dgm:pt modelId="{0461759D-6345-4E0C-B6E7-624FD9D1D118}" type="pres">
      <dgm:prSet presAssocID="{ECC5001B-B4D3-4230-BAAF-1299718294D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ger"/>
        </a:ext>
      </dgm:extLst>
    </dgm:pt>
    <dgm:pt modelId="{CF7B47AE-A86B-4B86-AAEA-E4CBC5A37F0F}" type="pres">
      <dgm:prSet presAssocID="{ECC5001B-B4D3-4230-BAAF-1299718294D5}" presName="spaceRect" presStyleCnt="0"/>
      <dgm:spPr/>
    </dgm:pt>
    <dgm:pt modelId="{A495FCA6-A799-44A5-9F8B-CF8AE7FD23EA}" type="pres">
      <dgm:prSet presAssocID="{ECC5001B-B4D3-4230-BAAF-1299718294D5}" presName="parTx" presStyleLbl="revTx" presStyleIdx="3" presStyleCnt="4">
        <dgm:presLayoutVars>
          <dgm:chMax val="0"/>
          <dgm:chPref val="0"/>
        </dgm:presLayoutVars>
      </dgm:prSet>
      <dgm:spPr/>
    </dgm:pt>
  </dgm:ptLst>
  <dgm:cxnLst>
    <dgm:cxn modelId="{FA8E5817-A9B2-4117-983B-EE3E3289648C}" srcId="{A9C16C9E-9B37-4F1E-B094-7CE680944A6E}" destId="{815FC09A-7165-4C96-BB87-A3A4CE489EE7}" srcOrd="5" destOrd="0" parTransId="{8B956ADA-DDC2-4D6C-B190-67B4D14A955B}" sibTransId="{0B57ACE2-B2A2-4AA2-90BE-453B54AF63FD}"/>
    <dgm:cxn modelId="{7601FE1E-3341-403D-8488-AB27A2D711A2}" srcId="{EA0BB3F8-0C80-4EF4-BBDB-0B63944D6E62}" destId="{ECC5001B-B4D3-4230-BAAF-1299718294D5}" srcOrd="2" destOrd="0" parTransId="{9FC5791B-532B-471F-8B6D-4CAA8202D1E8}" sibTransId="{B6A015DE-B74A-4AF0-8110-3F3D5F375AA5}"/>
    <dgm:cxn modelId="{9C70B628-ABD4-4DCE-9125-2E2D48F5BBB7}" type="presOf" srcId="{ECC5001B-B4D3-4230-BAAF-1299718294D5}" destId="{A495FCA6-A799-44A5-9F8B-CF8AE7FD23EA}" srcOrd="0" destOrd="0" presId="urn:microsoft.com/office/officeart/2018/2/layout/IconVerticalSolidList"/>
    <dgm:cxn modelId="{60919439-AB99-484A-80B6-3CA2CA1ECD66}" type="presOf" srcId="{84BE398B-D8F1-4FE8-ACFF-61127D377B81}" destId="{F06BC506-070E-44A2-ADD6-75F0DB02B069}" srcOrd="0" destOrd="4" presId="urn:microsoft.com/office/officeart/2018/2/layout/IconVerticalSolidList"/>
    <dgm:cxn modelId="{4C852D3B-4DF9-4B1F-BA82-EDF741C549FF}" type="presOf" srcId="{442246EA-CBCD-448A-B836-9518C3E8A4DA}" destId="{F06BC506-070E-44A2-ADD6-75F0DB02B069}" srcOrd="0" destOrd="1" presId="urn:microsoft.com/office/officeart/2018/2/layout/IconVerticalSolidList"/>
    <dgm:cxn modelId="{1B23783F-1B55-4D64-A15E-FCAAA4E413EC}" srcId="{A9C16C9E-9B37-4F1E-B094-7CE680944A6E}" destId="{8207452A-5BCE-4408-AFC1-BEAAC1CB1DC9}" srcOrd="2" destOrd="0" parTransId="{AA32185B-24F4-4AB4-9B1B-5B3AAED8EF38}" sibTransId="{43CC0BC3-555D-4B00-8911-4FEE8426A202}"/>
    <dgm:cxn modelId="{2E554760-599F-432B-8B34-76501FDD71BC}" type="presOf" srcId="{EA0BB3F8-0C80-4EF4-BBDB-0B63944D6E62}" destId="{9DA25AA5-9331-430A-8668-17E52E52A14E}" srcOrd="0" destOrd="0" presId="urn:microsoft.com/office/officeart/2018/2/layout/IconVerticalSolidList"/>
    <dgm:cxn modelId="{62B10041-CC48-4932-8F31-056D6790EEC9}" type="presOf" srcId="{ED1EAC28-0330-4376-8DA8-82ACA2B2B29A}" destId="{F06BC506-070E-44A2-ADD6-75F0DB02B069}" srcOrd="0" destOrd="0" presId="urn:microsoft.com/office/officeart/2018/2/layout/IconVerticalSolidList"/>
    <dgm:cxn modelId="{06DA9D42-207A-4684-93BC-A7F2BA47DCA7}" srcId="{EA0BB3F8-0C80-4EF4-BBDB-0B63944D6E62}" destId="{A9C16C9E-9B37-4F1E-B094-7CE680944A6E}" srcOrd="0" destOrd="0" parTransId="{920161B3-FC7F-4233-A66D-C6F1A9066FDF}" sibTransId="{AB364741-C016-4A1F-91C3-6ED1384F70EB}"/>
    <dgm:cxn modelId="{5448034F-ACFB-4795-9B2F-15AC0AE3C77F}" srcId="{A9C16C9E-9B37-4F1E-B094-7CE680944A6E}" destId="{84BE398B-D8F1-4FE8-ACFF-61127D377B81}" srcOrd="4" destOrd="0" parTransId="{DDB05A5C-5EF4-4506-99DA-887254E87736}" sibTransId="{46FB21B9-FB8C-4552-BB65-0840D73B5892}"/>
    <dgm:cxn modelId="{C4D76151-2E6C-400A-83DD-AEED375C84C0}" type="presOf" srcId="{C0B84333-D63C-4533-BD25-1EA7FA7B9339}" destId="{F06BC506-070E-44A2-ADD6-75F0DB02B069}" srcOrd="0" destOrd="3" presId="urn:microsoft.com/office/officeart/2018/2/layout/IconVerticalSolidList"/>
    <dgm:cxn modelId="{93B1C17D-93EB-4FBC-9448-20A9327732A7}" srcId="{A9C16C9E-9B37-4F1E-B094-7CE680944A6E}" destId="{ED1EAC28-0330-4376-8DA8-82ACA2B2B29A}" srcOrd="0" destOrd="0" parTransId="{864DC587-5BBF-421C-97CE-F444BC78C19C}" sibTransId="{110DA98E-7AFB-473C-9B72-81DBC4001D63}"/>
    <dgm:cxn modelId="{CEB3D086-9ADF-477B-A788-0530E40C8CB2}" srcId="{EA0BB3F8-0C80-4EF4-BBDB-0B63944D6E62}" destId="{D6715C85-CAB3-44ED-BC60-03923645F26E}" srcOrd="1" destOrd="0" parTransId="{DF5E40E7-ECED-4FAC-AA26-EEDECDBC65B5}" sibTransId="{4BC77218-2FA7-498D-9ED5-39D4C43B5599}"/>
    <dgm:cxn modelId="{A4075989-BFE7-48C5-907A-370F893275DE}" type="presOf" srcId="{815FC09A-7165-4C96-BB87-A3A4CE489EE7}" destId="{F06BC506-070E-44A2-ADD6-75F0DB02B069}" srcOrd="0" destOrd="5" presId="urn:microsoft.com/office/officeart/2018/2/layout/IconVerticalSolidList"/>
    <dgm:cxn modelId="{66A2C5B3-6A31-473D-8CB5-66C1F84C6FCD}" srcId="{A9C16C9E-9B37-4F1E-B094-7CE680944A6E}" destId="{442246EA-CBCD-448A-B836-9518C3E8A4DA}" srcOrd="1" destOrd="0" parTransId="{18939DC3-5BCF-42A5-87E1-6C34BBE1E1D4}" sibTransId="{2D24D552-DD7B-4AB7-8348-E25397A360B8}"/>
    <dgm:cxn modelId="{BA105FBA-BD5E-474B-B6D5-32DC256DD765}" type="presOf" srcId="{A9C16C9E-9B37-4F1E-B094-7CE680944A6E}" destId="{56906927-7EFB-43F7-B6C4-E93B41550846}" srcOrd="0" destOrd="0" presId="urn:microsoft.com/office/officeart/2018/2/layout/IconVerticalSolidList"/>
    <dgm:cxn modelId="{3C1607C7-3BEB-49F3-840F-7B732D95964C}" srcId="{A9C16C9E-9B37-4F1E-B094-7CE680944A6E}" destId="{C0B84333-D63C-4533-BD25-1EA7FA7B9339}" srcOrd="3" destOrd="0" parTransId="{873CCACC-A25E-48C5-8A95-7842176F43E5}" sibTransId="{A9752A75-4CB1-49A9-BBCC-523FDD36F787}"/>
    <dgm:cxn modelId="{F9C68ED8-C945-4D5C-9E0C-6887DECE69F8}" type="presOf" srcId="{8207452A-5BCE-4408-AFC1-BEAAC1CB1DC9}" destId="{F06BC506-070E-44A2-ADD6-75F0DB02B069}" srcOrd="0" destOrd="2" presId="urn:microsoft.com/office/officeart/2018/2/layout/IconVerticalSolidList"/>
    <dgm:cxn modelId="{8F1FD5F2-6B7C-482C-8D9E-0E2629E3D7F0}" type="presOf" srcId="{D6715C85-CAB3-44ED-BC60-03923645F26E}" destId="{7B9BC7F0-D06F-419A-A214-3F87817E7705}" srcOrd="0" destOrd="0" presId="urn:microsoft.com/office/officeart/2018/2/layout/IconVerticalSolidList"/>
    <dgm:cxn modelId="{C6365899-9C63-4BDB-9A18-66C81B422E88}" type="presParOf" srcId="{9DA25AA5-9331-430A-8668-17E52E52A14E}" destId="{422F713E-A536-4E86-B064-95E3A6AD0EA8}" srcOrd="0" destOrd="0" presId="urn:microsoft.com/office/officeart/2018/2/layout/IconVerticalSolidList"/>
    <dgm:cxn modelId="{70CC0358-5BBB-4907-B0B7-50A9F808E0CE}" type="presParOf" srcId="{422F713E-A536-4E86-B064-95E3A6AD0EA8}" destId="{53282F5F-4526-4C6F-BB8A-6E1334479EF8}" srcOrd="0" destOrd="0" presId="urn:microsoft.com/office/officeart/2018/2/layout/IconVerticalSolidList"/>
    <dgm:cxn modelId="{060847AF-6973-4C00-BF0A-3FD96C3E592D}" type="presParOf" srcId="{422F713E-A536-4E86-B064-95E3A6AD0EA8}" destId="{266FEFF1-93B9-4D48-8CBC-132ABF4E8EA1}" srcOrd="1" destOrd="0" presId="urn:microsoft.com/office/officeart/2018/2/layout/IconVerticalSolidList"/>
    <dgm:cxn modelId="{1B2AD13A-7494-4164-A206-235AA9742547}" type="presParOf" srcId="{422F713E-A536-4E86-B064-95E3A6AD0EA8}" destId="{92429E40-7635-4561-8062-82C768750848}" srcOrd="2" destOrd="0" presId="urn:microsoft.com/office/officeart/2018/2/layout/IconVerticalSolidList"/>
    <dgm:cxn modelId="{8CD43E8E-64EC-4596-835D-B6029ABFAB3E}" type="presParOf" srcId="{422F713E-A536-4E86-B064-95E3A6AD0EA8}" destId="{56906927-7EFB-43F7-B6C4-E93B41550846}" srcOrd="3" destOrd="0" presId="urn:microsoft.com/office/officeart/2018/2/layout/IconVerticalSolidList"/>
    <dgm:cxn modelId="{925DA543-19E9-4A7E-8EB6-0FB19C2A73E7}" type="presParOf" srcId="{422F713E-A536-4E86-B064-95E3A6AD0EA8}" destId="{F06BC506-070E-44A2-ADD6-75F0DB02B069}" srcOrd="4" destOrd="0" presId="urn:microsoft.com/office/officeart/2018/2/layout/IconVerticalSolidList"/>
    <dgm:cxn modelId="{CAFE10D0-13BA-47E7-8175-286E378F6729}" type="presParOf" srcId="{9DA25AA5-9331-430A-8668-17E52E52A14E}" destId="{2B3776DA-CCBE-4B68-9DC5-6120AC77407C}" srcOrd="1" destOrd="0" presId="urn:microsoft.com/office/officeart/2018/2/layout/IconVerticalSolidList"/>
    <dgm:cxn modelId="{3B16C488-D6AD-45E9-A4E9-C5A563DD8D39}" type="presParOf" srcId="{9DA25AA5-9331-430A-8668-17E52E52A14E}" destId="{9BFA8712-0A8E-4AA1-A35A-83E820B12F8B}" srcOrd="2" destOrd="0" presId="urn:microsoft.com/office/officeart/2018/2/layout/IconVerticalSolidList"/>
    <dgm:cxn modelId="{4DF2EAA6-519E-45C4-B590-4C124794E74A}" type="presParOf" srcId="{9BFA8712-0A8E-4AA1-A35A-83E820B12F8B}" destId="{AD2B30C2-1036-4DB0-8EB8-837A02BB5E4F}" srcOrd="0" destOrd="0" presId="urn:microsoft.com/office/officeart/2018/2/layout/IconVerticalSolidList"/>
    <dgm:cxn modelId="{AC8EA4FA-1F8A-43FA-A034-7189C6C5590E}" type="presParOf" srcId="{9BFA8712-0A8E-4AA1-A35A-83E820B12F8B}" destId="{B1E92183-7E03-457B-888C-E71E66E5DAED}" srcOrd="1" destOrd="0" presId="urn:microsoft.com/office/officeart/2018/2/layout/IconVerticalSolidList"/>
    <dgm:cxn modelId="{FE5A6FDC-7522-41DE-A9B8-D25856B396D8}" type="presParOf" srcId="{9BFA8712-0A8E-4AA1-A35A-83E820B12F8B}" destId="{9FB6ADB6-8440-4632-A328-A5D052E69CFE}" srcOrd="2" destOrd="0" presId="urn:microsoft.com/office/officeart/2018/2/layout/IconVerticalSolidList"/>
    <dgm:cxn modelId="{84EBDCCE-ECFE-4681-A385-436B3AA1028B}" type="presParOf" srcId="{9BFA8712-0A8E-4AA1-A35A-83E820B12F8B}" destId="{7B9BC7F0-D06F-419A-A214-3F87817E7705}" srcOrd="3" destOrd="0" presId="urn:microsoft.com/office/officeart/2018/2/layout/IconVerticalSolidList"/>
    <dgm:cxn modelId="{D5C1ED0B-6BEE-47FF-9BE4-C7C935609032}" type="presParOf" srcId="{9DA25AA5-9331-430A-8668-17E52E52A14E}" destId="{9EC91BFD-C477-4648-8DB7-DE22A992BFD8}" srcOrd="3" destOrd="0" presId="urn:microsoft.com/office/officeart/2018/2/layout/IconVerticalSolidList"/>
    <dgm:cxn modelId="{0290E883-2FE8-4A1D-A512-A7E28D08CD32}" type="presParOf" srcId="{9DA25AA5-9331-430A-8668-17E52E52A14E}" destId="{EDA012D1-6AA9-4E73-92A7-DF6E3FFDEF8D}" srcOrd="4" destOrd="0" presId="urn:microsoft.com/office/officeart/2018/2/layout/IconVerticalSolidList"/>
    <dgm:cxn modelId="{35DDEAAE-04BA-460C-BDFE-0F173B35D909}" type="presParOf" srcId="{EDA012D1-6AA9-4E73-92A7-DF6E3FFDEF8D}" destId="{F4B19C36-EB7B-4E15-8292-9672241A0CB6}" srcOrd="0" destOrd="0" presId="urn:microsoft.com/office/officeart/2018/2/layout/IconVerticalSolidList"/>
    <dgm:cxn modelId="{2F6652D7-A2BC-4C94-A13B-DD440757EC10}" type="presParOf" srcId="{EDA012D1-6AA9-4E73-92A7-DF6E3FFDEF8D}" destId="{0461759D-6345-4E0C-B6E7-624FD9D1D118}" srcOrd="1" destOrd="0" presId="urn:microsoft.com/office/officeart/2018/2/layout/IconVerticalSolidList"/>
    <dgm:cxn modelId="{FC8C29ED-3B20-4B85-A3DB-7ABCCDABBD14}" type="presParOf" srcId="{EDA012D1-6AA9-4E73-92A7-DF6E3FFDEF8D}" destId="{CF7B47AE-A86B-4B86-AAEA-E4CBC5A37F0F}" srcOrd="2" destOrd="0" presId="urn:microsoft.com/office/officeart/2018/2/layout/IconVerticalSolidList"/>
    <dgm:cxn modelId="{AF76F975-333A-4477-A108-1140DD133B2C}" type="presParOf" srcId="{EDA012D1-6AA9-4E73-92A7-DF6E3FFDEF8D}" destId="{A495FCA6-A799-44A5-9F8B-CF8AE7FD23E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E04CF7-95CD-4BC2-94BB-BA4CF9F37408}"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BB540708-DC64-45F8-9A86-60B1D95C0A65}">
      <dgm:prSet/>
      <dgm:spPr/>
      <dgm:t>
        <a:bodyPr/>
        <a:lstStyle/>
        <a:p>
          <a:pPr>
            <a:defRPr b="1"/>
          </a:pPr>
          <a:r>
            <a:rPr lang="en-US"/>
            <a:t>Technology is the </a:t>
          </a:r>
          <a:r>
            <a:rPr lang="en-US" b="1"/>
            <a:t>most important long-run driver</a:t>
          </a:r>
          <a:r>
            <a:rPr lang="en-US"/>
            <a:t> of potential GDP growth.</a:t>
          </a:r>
        </a:p>
      </dgm:t>
    </dgm:pt>
    <dgm:pt modelId="{65B9530E-CF1E-4681-827E-AE745DBB3D06}" type="parTrans" cxnId="{2400F477-9899-47FD-89CE-21D05F11085E}">
      <dgm:prSet/>
      <dgm:spPr/>
      <dgm:t>
        <a:bodyPr/>
        <a:lstStyle/>
        <a:p>
          <a:endParaRPr lang="en-US"/>
        </a:p>
      </dgm:t>
    </dgm:pt>
    <dgm:pt modelId="{5FC022DE-B306-4189-B89A-17E12CAFA43C}" type="sibTrans" cxnId="{2400F477-9899-47FD-89CE-21D05F11085E}">
      <dgm:prSet/>
      <dgm:spPr/>
      <dgm:t>
        <a:bodyPr/>
        <a:lstStyle/>
        <a:p>
          <a:endParaRPr lang="en-US"/>
        </a:p>
      </dgm:t>
    </dgm:pt>
    <dgm:pt modelId="{403DF3DC-6361-4D22-8842-2AC826F28B0D}">
      <dgm:prSet/>
      <dgm:spPr/>
      <dgm:t>
        <a:bodyPr/>
        <a:lstStyle/>
        <a:p>
          <a:pPr>
            <a:defRPr b="1"/>
          </a:pPr>
          <a:r>
            <a:rPr lang="en-US"/>
            <a:t>Technological progress enables firms to produce more output from the same quantities of labor and capital.</a:t>
          </a:r>
        </a:p>
      </dgm:t>
    </dgm:pt>
    <dgm:pt modelId="{1E505327-31EB-4DAC-A0D1-F972E4C3778E}" type="parTrans" cxnId="{62D623D6-7F79-4104-B0D8-1E7495D4D467}">
      <dgm:prSet/>
      <dgm:spPr/>
      <dgm:t>
        <a:bodyPr/>
        <a:lstStyle/>
        <a:p>
          <a:endParaRPr lang="en-US"/>
        </a:p>
      </dgm:t>
    </dgm:pt>
    <dgm:pt modelId="{2DFB17C6-F287-40DC-BDC1-FE9E327DE472}" type="sibTrans" cxnId="{62D623D6-7F79-4104-B0D8-1E7495D4D467}">
      <dgm:prSet/>
      <dgm:spPr/>
      <dgm:t>
        <a:bodyPr/>
        <a:lstStyle/>
        <a:p>
          <a:endParaRPr lang="en-US"/>
        </a:p>
      </dgm:t>
    </dgm:pt>
    <dgm:pt modelId="{CD130D7D-6D2C-4843-841D-D7429E5CB107}">
      <dgm:prSet/>
      <dgm:spPr/>
      <dgm:t>
        <a:bodyPr/>
        <a:lstStyle/>
        <a:p>
          <a:pPr>
            <a:defRPr b="1"/>
          </a:pPr>
          <a:r>
            <a:rPr lang="en-US" b="1"/>
            <a:t>Examples</a:t>
          </a:r>
          <a:endParaRPr lang="en-US"/>
        </a:p>
      </dgm:t>
    </dgm:pt>
    <dgm:pt modelId="{2F4E3812-D463-410B-B1C7-32F552E491A9}" type="parTrans" cxnId="{ADF8FF70-7F61-4950-92EC-354331EBAA1B}">
      <dgm:prSet/>
      <dgm:spPr/>
      <dgm:t>
        <a:bodyPr/>
        <a:lstStyle/>
        <a:p>
          <a:endParaRPr lang="en-US"/>
        </a:p>
      </dgm:t>
    </dgm:pt>
    <dgm:pt modelId="{4790BC32-C90E-4C38-939F-758BCE6F7176}" type="sibTrans" cxnId="{ADF8FF70-7F61-4950-92EC-354331EBAA1B}">
      <dgm:prSet/>
      <dgm:spPr/>
      <dgm:t>
        <a:bodyPr/>
        <a:lstStyle/>
        <a:p>
          <a:endParaRPr lang="en-US"/>
        </a:p>
      </dgm:t>
    </dgm:pt>
    <dgm:pt modelId="{F1EA7F04-9782-49B8-93FD-BB009BB64926}">
      <dgm:prSet/>
      <dgm:spPr/>
      <dgm:t>
        <a:bodyPr/>
        <a:lstStyle/>
        <a:p>
          <a:r>
            <a:rPr lang="en-US"/>
            <a:t>Artificial intelligence (AI) </a:t>
          </a:r>
        </a:p>
      </dgm:t>
    </dgm:pt>
    <dgm:pt modelId="{7AF67354-E3E7-4B75-B7F4-B4A53DB58E7A}" type="parTrans" cxnId="{B8F98273-A120-4191-9232-EB5B2822A7FD}">
      <dgm:prSet/>
      <dgm:spPr/>
      <dgm:t>
        <a:bodyPr/>
        <a:lstStyle/>
        <a:p>
          <a:endParaRPr lang="en-US"/>
        </a:p>
      </dgm:t>
    </dgm:pt>
    <dgm:pt modelId="{65CFC20C-1735-4DBF-9081-A8B010D6ACBB}" type="sibTrans" cxnId="{B8F98273-A120-4191-9232-EB5B2822A7FD}">
      <dgm:prSet/>
      <dgm:spPr/>
      <dgm:t>
        <a:bodyPr/>
        <a:lstStyle/>
        <a:p>
          <a:endParaRPr lang="en-US"/>
        </a:p>
      </dgm:t>
    </dgm:pt>
    <dgm:pt modelId="{AEE88DC3-0647-426D-A770-E1ABC3FB3300}">
      <dgm:prSet/>
      <dgm:spPr/>
      <dgm:t>
        <a:bodyPr/>
        <a:lstStyle/>
        <a:p>
          <a:r>
            <a:rPr lang="en-US"/>
            <a:t>Robotics </a:t>
          </a:r>
        </a:p>
      </dgm:t>
    </dgm:pt>
    <dgm:pt modelId="{678CE9A0-C882-45DB-A7F0-86A22B281A85}" type="parTrans" cxnId="{2533742C-9C2B-4F04-9508-48FE65269873}">
      <dgm:prSet/>
      <dgm:spPr/>
      <dgm:t>
        <a:bodyPr/>
        <a:lstStyle/>
        <a:p>
          <a:endParaRPr lang="en-US"/>
        </a:p>
      </dgm:t>
    </dgm:pt>
    <dgm:pt modelId="{190FC4B7-46B2-4D8F-A136-89AF7B1D5A73}" type="sibTrans" cxnId="{2533742C-9C2B-4F04-9508-48FE65269873}">
      <dgm:prSet/>
      <dgm:spPr/>
      <dgm:t>
        <a:bodyPr/>
        <a:lstStyle/>
        <a:p>
          <a:endParaRPr lang="en-US"/>
        </a:p>
      </dgm:t>
    </dgm:pt>
    <dgm:pt modelId="{0806FE91-6F5B-4F9C-9B6D-B586182B5065}">
      <dgm:prSet/>
      <dgm:spPr/>
      <dgm:t>
        <a:bodyPr/>
        <a:lstStyle/>
        <a:p>
          <a:r>
            <a:rPr lang="en-US"/>
            <a:t>Cloud computing </a:t>
          </a:r>
        </a:p>
      </dgm:t>
    </dgm:pt>
    <dgm:pt modelId="{CE203F3E-7022-4C2A-9286-904A53E614A0}" type="parTrans" cxnId="{14C6950A-E682-4EF9-B34F-C3DDDC3FDAD8}">
      <dgm:prSet/>
      <dgm:spPr/>
      <dgm:t>
        <a:bodyPr/>
        <a:lstStyle/>
        <a:p>
          <a:endParaRPr lang="en-US"/>
        </a:p>
      </dgm:t>
    </dgm:pt>
    <dgm:pt modelId="{A2DF1312-8027-4E0D-BD99-5425762027DD}" type="sibTrans" cxnId="{14C6950A-E682-4EF9-B34F-C3DDDC3FDAD8}">
      <dgm:prSet/>
      <dgm:spPr/>
      <dgm:t>
        <a:bodyPr/>
        <a:lstStyle/>
        <a:p>
          <a:endParaRPr lang="en-US"/>
        </a:p>
      </dgm:t>
    </dgm:pt>
    <dgm:pt modelId="{14AE4C66-6A34-4C5A-B278-DE8A6BDC0C34}">
      <dgm:prSet/>
      <dgm:spPr/>
      <dgm:t>
        <a:bodyPr/>
        <a:lstStyle/>
        <a:p>
          <a:r>
            <a:rPr lang="en-US"/>
            <a:t>Renewable energy technologies </a:t>
          </a:r>
        </a:p>
      </dgm:t>
    </dgm:pt>
    <dgm:pt modelId="{7F6D5AF6-D49A-4AC4-ADDC-B6A529DA7D80}" type="parTrans" cxnId="{FE76644C-B7CF-4FC9-9F22-852BD3C8CA7E}">
      <dgm:prSet/>
      <dgm:spPr/>
      <dgm:t>
        <a:bodyPr/>
        <a:lstStyle/>
        <a:p>
          <a:endParaRPr lang="en-US"/>
        </a:p>
      </dgm:t>
    </dgm:pt>
    <dgm:pt modelId="{2509DB24-0A26-4BA9-9491-A75609A95F4F}" type="sibTrans" cxnId="{FE76644C-B7CF-4FC9-9F22-852BD3C8CA7E}">
      <dgm:prSet/>
      <dgm:spPr/>
      <dgm:t>
        <a:bodyPr/>
        <a:lstStyle/>
        <a:p>
          <a:endParaRPr lang="en-US"/>
        </a:p>
      </dgm:t>
    </dgm:pt>
    <dgm:pt modelId="{9D79320F-C1B6-46CF-B813-133B1F50C945}">
      <dgm:prSet/>
      <dgm:spPr/>
      <dgm:t>
        <a:bodyPr/>
        <a:lstStyle/>
        <a:p>
          <a:r>
            <a:rPr lang="en-US"/>
            <a:t>Precision agriculture </a:t>
          </a:r>
        </a:p>
      </dgm:t>
    </dgm:pt>
    <dgm:pt modelId="{FA4D0F9F-658E-4A2B-ADF5-D3197240CA9C}" type="parTrans" cxnId="{1D79758E-859F-40E2-A3BE-7661E6D0E0FD}">
      <dgm:prSet/>
      <dgm:spPr/>
      <dgm:t>
        <a:bodyPr/>
        <a:lstStyle/>
        <a:p>
          <a:endParaRPr lang="en-US"/>
        </a:p>
      </dgm:t>
    </dgm:pt>
    <dgm:pt modelId="{5FA9950D-F11E-40D1-8C44-A96F741A8247}" type="sibTrans" cxnId="{1D79758E-859F-40E2-A3BE-7661E6D0E0FD}">
      <dgm:prSet/>
      <dgm:spPr/>
      <dgm:t>
        <a:bodyPr/>
        <a:lstStyle/>
        <a:p>
          <a:endParaRPr lang="en-US"/>
        </a:p>
      </dgm:t>
    </dgm:pt>
    <dgm:pt modelId="{D49E35F3-593F-45B9-8FB3-96792731EC4F}">
      <dgm:prSet/>
      <dgm:spPr/>
      <dgm:t>
        <a:bodyPr/>
        <a:lstStyle/>
        <a:p>
          <a:pPr>
            <a:defRPr b="1"/>
          </a:pPr>
          <a:r>
            <a:rPr lang="en-US" b="1"/>
            <a:t>Impact</a:t>
          </a:r>
          <a:br>
            <a:rPr lang="en-US"/>
          </a:br>
          <a:r>
            <a:rPr lang="en-US"/>
            <a:t>	More efficient production lowers costs and raises the economy's sustainable output.</a:t>
          </a:r>
        </a:p>
      </dgm:t>
    </dgm:pt>
    <dgm:pt modelId="{D074F58E-412E-4733-AFEA-AEE4F54920D7}" type="parTrans" cxnId="{6034E903-ED6C-4C88-BA70-3AD4B0C72603}">
      <dgm:prSet/>
      <dgm:spPr/>
      <dgm:t>
        <a:bodyPr/>
        <a:lstStyle/>
        <a:p>
          <a:endParaRPr lang="en-US"/>
        </a:p>
      </dgm:t>
    </dgm:pt>
    <dgm:pt modelId="{862412C0-1E8A-4A7A-B9B5-347562A63A6A}" type="sibTrans" cxnId="{6034E903-ED6C-4C88-BA70-3AD4B0C72603}">
      <dgm:prSet/>
      <dgm:spPr/>
      <dgm:t>
        <a:bodyPr/>
        <a:lstStyle/>
        <a:p>
          <a:endParaRPr lang="en-US"/>
        </a:p>
      </dgm:t>
    </dgm:pt>
    <dgm:pt modelId="{AC5C2596-A8A1-4E59-8422-A79E6F9767CC}" type="pres">
      <dgm:prSet presAssocID="{6EE04CF7-95CD-4BC2-94BB-BA4CF9F37408}" presName="root" presStyleCnt="0">
        <dgm:presLayoutVars>
          <dgm:dir/>
          <dgm:resizeHandles val="exact"/>
        </dgm:presLayoutVars>
      </dgm:prSet>
      <dgm:spPr/>
    </dgm:pt>
    <dgm:pt modelId="{AB5FD38D-A016-4369-833A-E09D79F1471D}" type="pres">
      <dgm:prSet presAssocID="{BB540708-DC64-45F8-9A86-60B1D95C0A65}" presName="compNode" presStyleCnt="0"/>
      <dgm:spPr/>
    </dgm:pt>
    <dgm:pt modelId="{079636D4-228A-41BF-93A6-69D95E38BE61}" type="pres">
      <dgm:prSet presAssocID="{BB540708-DC64-45F8-9A86-60B1D95C0A6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siness Growth"/>
        </a:ext>
      </dgm:extLst>
    </dgm:pt>
    <dgm:pt modelId="{F11ACB07-6EC6-4F37-8934-E0BB271ED177}" type="pres">
      <dgm:prSet presAssocID="{BB540708-DC64-45F8-9A86-60B1D95C0A65}" presName="iconSpace" presStyleCnt="0"/>
      <dgm:spPr/>
    </dgm:pt>
    <dgm:pt modelId="{3062AA5B-4E72-469B-A1EC-90096E2D640D}" type="pres">
      <dgm:prSet presAssocID="{BB540708-DC64-45F8-9A86-60B1D95C0A65}" presName="parTx" presStyleLbl="revTx" presStyleIdx="0" presStyleCnt="8">
        <dgm:presLayoutVars>
          <dgm:chMax val="0"/>
          <dgm:chPref val="0"/>
        </dgm:presLayoutVars>
      </dgm:prSet>
      <dgm:spPr/>
    </dgm:pt>
    <dgm:pt modelId="{578805A5-A893-444C-ABAB-EFC886A25853}" type="pres">
      <dgm:prSet presAssocID="{BB540708-DC64-45F8-9A86-60B1D95C0A65}" presName="txSpace" presStyleCnt="0"/>
      <dgm:spPr/>
    </dgm:pt>
    <dgm:pt modelId="{478E9271-61D2-4944-A2ED-95C067053C9B}" type="pres">
      <dgm:prSet presAssocID="{BB540708-DC64-45F8-9A86-60B1D95C0A65}" presName="desTx" presStyleLbl="revTx" presStyleIdx="1" presStyleCnt="8">
        <dgm:presLayoutVars/>
      </dgm:prSet>
      <dgm:spPr/>
    </dgm:pt>
    <dgm:pt modelId="{8BA86A76-9B05-46EA-A4B9-2E42CD46C048}" type="pres">
      <dgm:prSet presAssocID="{5FC022DE-B306-4189-B89A-17E12CAFA43C}" presName="sibTrans" presStyleCnt="0"/>
      <dgm:spPr/>
    </dgm:pt>
    <dgm:pt modelId="{C598EDA0-651D-4F04-8969-396B19607854}" type="pres">
      <dgm:prSet presAssocID="{403DF3DC-6361-4D22-8842-2AC826F28B0D}" presName="compNode" presStyleCnt="0"/>
      <dgm:spPr/>
    </dgm:pt>
    <dgm:pt modelId="{322C81AD-27A5-47C9-966B-A3B212FAB8A6}" type="pres">
      <dgm:prSet presAssocID="{403DF3DC-6361-4D22-8842-2AC826F28B0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ctory"/>
        </a:ext>
      </dgm:extLst>
    </dgm:pt>
    <dgm:pt modelId="{B92582EC-9C6D-4F33-B4C5-3B33B818CA07}" type="pres">
      <dgm:prSet presAssocID="{403DF3DC-6361-4D22-8842-2AC826F28B0D}" presName="iconSpace" presStyleCnt="0"/>
      <dgm:spPr/>
    </dgm:pt>
    <dgm:pt modelId="{BD62A2A4-A9A5-46AB-82C7-6F9685C23B4A}" type="pres">
      <dgm:prSet presAssocID="{403DF3DC-6361-4D22-8842-2AC826F28B0D}" presName="parTx" presStyleLbl="revTx" presStyleIdx="2" presStyleCnt="8">
        <dgm:presLayoutVars>
          <dgm:chMax val="0"/>
          <dgm:chPref val="0"/>
        </dgm:presLayoutVars>
      </dgm:prSet>
      <dgm:spPr/>
    </dgm:pt>
    <dgm:pt modelId="{19E03167-7226-4A75-94ED-64D23098D140}" type="pres">
      <dgm:prSet presAssocID="{403DF3DC-6361-4D22-8842-2AC826F28B0D}" presName="txSpace" presStyleCnt="0"/>
      <dgm:spPr/>
    </dgm:pt>
    <dgm:pt modelId="{4E600FA3-D314-4E02-B064-436E0071355B}" type="pres">
      <dgm:prSet presAssocID="{403DF3DC-6361-4D22-8842-2AC826F28B0D}" presName="desTx" presStyleLbl="revTx" presStyleIdx="3" presStyleCnt="8">
        <dgm:presLayoutVars/>
      </dgm:prSet>
      <dgm:spPr/>
    </dgm:pt>
    <dgm:pt modelId="{70412BCB-2EAF-453C-B338-9E072475C6B4}" type="pres">
      <dgm:prSet presAssocID="{2DFB17C6-F287-40DC-BDC1-FE9E327DE472}" presName="sibTrans" presStyleCnt="0"/>
      <dgm:spPr/>
    </dgm:pt>
    <dgm:pt modelId="{A433D9F2-A76B-4AF6-80B4-4E7DB559A847}" type="pres">
      <dgm:prSet presAssocID="{CD130D7D-6D2C-4843-841D-D7429E5CB107}" presName="compNode" presStyleCnt="0"/>
      <dgm:spPr/>
    </dgm:pt>
    <dgm:pt modelId="{A3B50050-4365-43D7-BB20-A137C953A870}" type="pres">
      <dgm:prSet presAssocID="{CD130D7D-6D2C-4843-841D-D7429E5CB10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obot"/>
        </a:ext>
      </dgm:extLst>
    </dgm:pt>
    <dgm:pt modelId="{6FFBFAD4-11D5-4AC2-AD6E-66593CE08E11}" type="pres">
      <dgm:prSet presAssocID="{CD130D7D-6D2C-4843-841D-D7429E5CB107}" presName="iconSpace" presStyleCnt="0"/>
      <dgm:spPr/>
    </dgm:pt>
    <dgm:pt modelId="{F498CE0E-EA97-4A65-8ABA-19BA67B05631}" type="pres">
      <dgm:prSet presAssocID="{CD130D7D-6D2C-4843-841D-D7429E5CB107}" presName="parTx" presStyleLbl="revTx" presStyleIdx="4" presStyleCnt="8">
        <dgm:presLayoutVars>
          <dgm:chMax val="0"/>
          <dgm:chPref val="0"/>
        </dgm:presLayoutVars>
      </dgm:prSet>
      <dgm:spPr/>
    </dgm:pt>
    <dgm:pt modelId="{27BCDEA9-1E89-4767-B0B2-C34555C5C712}" type="pres">
      <dgm:prSet presAssocID="{CD130D7D-6D2C-4843-841D-D7429E5CB107}" presName="txSpace" presStyleCnt="0"/>
      <dgm:spPr/>
    </dgm:pt>
    <dgm:pt modelId="{82D1262F-9742-47E1-AC14-9EE79839F48E}" type="pres">
      <dgm:prSet presAssocID="{CD130D7D-6D2C-4843-841D-D7429E5CB107}" presName="desTx" presStyleLbl="revTx" presStyleIdx="5" presStyleCnt="8">
        <dgm:presLayoutVars/>
      </dgm:prSet>
      <dgm:spPr/>
    </dgm:pt>
    <dgm:pt modelId="{68F97313-53C9-4973-AA6C-6664EFC50437}" type="pres">
      <dgm:prSet presAssocID="{4790BC32-C90E-4C38-939F-758BCE6F7176}" presName="sibTrans" presStyleCnt="0"/>
      <dgm:spPr/>
    </dgm:pt>
    <dgm:pt modelId="{E0FA5D77-5CBF-4F14-898C-3CE3594E6C09}" type="pres">
      <dgm:prSet presAssocID="{D49E35F3-593F-45B9-8FB3-96792731EC4F}" presName="compNode" presStyleCnt="0"/>
      <dgm:spPr/>
    </dgm:pt>
    <dgm:pt modelId="{0FB8F97B-4B2E-4E5C-93AD-656AD1FAF50C}" type="pres">
      <dgm:prSet presAssocID="{D49E35F3-593F-45B9-8FB3-96792731EC4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18BB2FFD-41F5-4F75-B962-E733CFC473C4}" type="pres">
      <dgm:prSet presAssocID="{D49E35F3-593F-45B9-8FB3-96792731EC4F}" presName="iconSpace" presStyleCnt="0"/>
      <dgm:spPr/>
    </dgm:pt>
    <dgm:pt modelId="{DA72138C-2A01-4735-82FA-02A8CB0855A9}" type="pres">
      <dgm:prSet presAssocID="{D49E35F3-593F-45B9-8FB3-96792731EC4F}" presName="parTx" presStyleLbl="revTx" presStyleIdx="6" presStyleCnt="8">
        <dgm:presLayoutVars>
          <dgm:chMax val="0"/>
          <dgm:chPref val="0"/>
        </dgm:presLayoutVars>
      </dgm:prSet>
      <dgm:spPr/>
    </dgm:pt>
    <dgm:pt modelId="{B9C73F1C-0894-4112-855C-2978C43811F3}" type="pres">
      <dgm:prSet presAssocID="{D49E35F3-593F-45B9-8FB3-96792731EC4F}" presName="txSpace" presStyleCnt="0"/>
      <dgm:spPr/>
    </dgm:pt>
    <dgm:pt modelId="{6E1410D6-8764-43EB-906B-C8E7D9B03A0D}" type="pres">
      <dgm:prSet presAssocID="{D49E35F3-593F-45B9-8FB3-96792731EC4F}" presName="desTx" presStyleLbl="revTx" presStyleIdx="7" presStyleCnt="8">
        <dgm:presLayoutVars/>
      </dgm:prSet>
      <dgm:spPr/>
    </dgm:pt>
  </dgm:ptLst>
  <dgm:cxnLst>
    <dgm:cxn modelId="{6034E903-ED6C-4C88-BA70-3AD4B0C72603}" srcId="{6EE04CF7-95CD-4BC2-94BB-BA4CF9F37408}" destId="{D49E35F3-593F-45B9-8FB3-96792731EC4F}" srcOrd="3" destOrd="0" parTransId="{D074F58E-412E-4733-AFEA-AEE4F54920D7}" sibTransId="{862412C0-1E8A-4A7A-B9B5-347562A63A6A}"/>
    <dgm:cxn modelId="{14C6950A-E682-4EF9-B34F-C3DDDC3FDAD8}" srcId="{CD130D7D-6D2C-4843-841D-D7429E5CB107}" destId="{0806FE91-6F5B-4F9C-9B6D-B586182B5065}" srcOrd="2" destOrd="0" parTransId="{CE203F3E-7022-4C2A-9286-904A53E614A0}" sibTransId="{A2DF1312-8027-4E0D-BD99-5425762027DD}"/>
    <dgm:cxn modelId="{CE081718-6904-41C9-9F5A-CF9A07642445}" type="presOf" srcId="{6EE04CF7-95CD-4BC2-94BB-BA4CF9F37408}" destId="{AC5C2596-A8A1-4E59-8422-A79E6F9767CC}" srcOrd="0" destOrd="0" presId="urn:microsoft.com/office/officeart/2018/5/layout/CenteredIconLabelDescriptionList"/>
    <dgm:cxn modelId="{E3457B21-BC15-44D5-A4AD-90F84B5C4939}" type="presOf" srcId="{14AE4C66-6A34-4C5A-B278-DE8A6BDC0C34}" destId="{82D1262F-9742-47E1-AC14-9EE79839F48E}" srcOrd="0" destOrd="3" presId="urn:microsoft.com/office/officeart/2018/5/layout/CenteredIconLabelDescriptionList"/>
    <dgm:cxn modelId="{56016A2B-D835-421E-A97E-464D352E2F49}" type="presOf" srcId="{F1EA7F04-9782-49B8-93FD-BB009BB64926}" destId="{82D1262F-9742-47E1-AC14-9EE79839F48E}" srcOrd="0" destOrd="0" presId="urn:microsoft.com/office/officeart/2018/5/layout/CenteredIconLabelDescriptionList"/>
    <dgm:cxn modelId="{2533742C-9C2B-4F04-9508-48FE65269873}" srcId="{CD130D7D-6D2C-4843-841D-D7429E5CB107}" destId="{AEE88DC3-0647-426D-A770-E1ABC3FB3300}" srcOrd="1" destOrd="0" parTransId="{678CE9A0-C882-45DB-A7F0-86A22B281A85}" sibTransId="{190FC4B7-46B2-4D8F-A136-89AF7B1D5A73}"/>
    <dgm:cxn modelId="{FE76644C-B7CF-4FC9-9F22-852BD3C8CA7E}" srcId="{CD130D7D-6D2C-4843-841D-D7429E5CB107}" destId="{14AE4C66-6A34-4C5A-B278-DE8A6BDC0C34}" srcOrd="3" destOrd="0" parTransId="{7F6D5AF6-D49A-4AC4-ADDC-B6A529DA7D80}" sibTransId="{2509DB24-0A26-4BA9-9491-A75609A95F4F}"/>
    <dgm:cxn modelId="{993C016E-9AE8-4613-A6BE-F0CDD4FAD2DA}" type="presOf" srcId="{AEE88DC3-0647-426D-A770-E1ABC3FB3300}" destId="{82D1262F-9742-47E1-AC14-9EE79839F48E}" srcOrd="0" destOrd="1" presId="urn:microsoft.com/office/officeart/2018/5/layout/CenteredIconLabelDescriptionList"/>
    <dgm:cxn modelId="{ADF8FF70-7F61-4950-92EC-354331EBAA1B}" srcId="{6EE04CF7-95CD-4BC2-94BB-BA4CF9F37408}" destId="{CD130D7D-6D2C-4843-841D-D7429E5CB107}" srcOrd="2" destOrd="0" parTransId="{2F4E3812-D463-410B-B1C7-32F552E491A9}" sibTransId="{4790BC32-C90E-4C38-939F-758BCE6F7176}"/>
    <dgm:cxn modelId="{B8F98273-A120-4191-9232-EB5B2822A7FD}" srcId="{CD130D7D-6D2C-4843-841D-D7429E5CB107}" destId="{F1EA7F04-9782-49B8-93FD-BB009BB64926}" srcOrd="0" destOrd="0" parTransId="{7AF67354-E3E7-4B75-B7F4-B4A53DB58E7A}" sibTransId="{65CFC20C-1735-4DBF-9081-A8B010D6ACBB}"/>
    <dgm:cxn modelId="{2400F477-9899-47FD-89CE-21D05F11085E}" srcId="{6EE04CF7-95CD-4BC2-94BB-BA4CF9F37408}" destId="{BB540708-DC64-45F8-9A86-60B1D95C0A65}" srcOrd="0" destOrd="0" parTransId="{65B9530E-CF1E-4681-827E-AE745DBB3D06}" sibTransId="{5FC022DE-B306-4189-B89A-17E12CAFA43C}"/>
    <dgm:cxn modelId="{1D79758E-859F-40E2-A3BE-7661E6D0E0FD}" srcId="{CD130D7D-6D2C-4843-841D-D7429E5CB107}" destId="{9D79320F-C1B6-46CF-B813-133B1F50C945}" srcOrd="4" destOrd="0" parTransId="{FA4D0F9F-658E-4A2B-ADF5-D3197240CA9C}" sibTransId="{5FA9950D-F11E-40D1-8C44-A96F741A8247}"/>
    <dgm:cxn modelId="{3D10C293-9AAD-4234-B840-E53647684873}" type="presOf" srcId="{BB540708-DC64-45F8-9A86-60B1D95C0A65}" destId="{3062AA5B-4E72-469B-A1EC-90096E2D640D}" srcOrd="0" destOrd="0" presId="urn:microsoft.com/office/officeart/2018/5/layout/CenteredIconLabelDescriptionList"/>
    <dgm:cxn modelId="{0F012D9C-696A-447B-9D5C-DBBC064BC3FD}" type="presOf" srcId="{403DF3DC-6361-4D22-8842-2AC826F28B0D}" destId="{BD62A2A4-A9A5-46AB-82C7-6F9685C23B4A}" srcOrd="0" destOrd="0" presId="urn:microsoft.com/office/officeart/2018/5/layout/CenteredIconLabelDescriptionList"/>
    <dgm:cxn modelId="{079013A2-3150-4D8C-B904-1E0D9B32C922}" type="presOf" srcId="{9D79320F-C1B6-46CF-B813-133B1F50C945}" destId="{82D1262F-9742-47E1-AC14-9EE79839F48E}" srcOrd="0" destOrd="4" presId="urn:microsoft.com/office/officeart/2018/5/layout/CenteredIconLabelDescriptionList"/>
    <dgm:cxn modelId="{B5979EAB-30C6-4A58-979F-9436CAB6888E}" type="presOf" srcId="{0806FE91-6F5B-4F9C-9B6D-B586182B5065}" destId="{82D1262F-9742-47E1-AC14-9EE79839F48E}" srcOrd="0" destOrd="2" presId="urn:microsoft.com/office/officeart/2018/5/layout/CenteredIconLabelDescriptionList"/>
    <dgm:cxn modelId="{2C8A59AC-2890-41ED-8E2A-F027E8DFCD83}" type="presOf" srcId="{CD130D7D-6D2C-4843-841D-D7429E5CB107}" destId="{F498CE0E-EA97-4A65-8ABA-19BA67B05631}" srcOrd="0" destOrd="0" presId="urn:microsoft.com/office/officeart/2018/5/layout/CenteredIconLabelDescriptionList"/>
    <dgm:cxn modelId="{8B838FCE-4DFA-4F2D-B5F7-A322A115E344}" type="presOf" srcId="{D49E35F3-593F-45B9-8FB3-96792731EC4F}" destId="{DA72138C-2A01-4735-82FA-02A8CB0855A9}" srcOrd="0" destOrd="0" presId="urn:microsoft.com/office/officeart/2018/5/layout/CenteredIconLabelDescriptionList"/>
    <dgm:cxn modelId="{62D623D6-7F79-4104-B0D8-1E7495D4D467}" srcId="{6EE04CF7-95CD-4BC2-94BB-BA4CF9F37408}" destId="{403DF3DC-6361-4D22-8842-2AC826F28B0D}" srcOrd="1" destOrd="0" parTransId="{1E505327-31EB-4DAC-A0D1-F972E4C3778E}" sibTransId="{2DFB17C6-F287-40DC-BDC1-FE9E327DE472}"/>
    <dgm:cxn modelId="{21BE3431-69EC-4149-BE8F-860B10D304EF}" type="presParOf" srcId="{AC5C2596-A8A1-4E59-8422-A79E6F9767CC}" destId="{AB5FD38D-A016-4369-833A-E09D79F1471D}" srcOrd="0" destOrd="0" presId="urn:microsoft.com/office/officeart/2018/5/layout/CenteredIconLabelDescriptionList"/>
    <dgm:cxn modelId="{B03E54FC-67E2-498F-9A27-28C37FCDA661}" type="presParOf" srcId="{AB5FD38D-A016-4369-833A-E09D79F1471D}" destId="{079636D4-228A-41BF-93A6-69D95E38BE61}" srcOrd="0" destOrd="0" presId="urn:microsoft.com/office/officeart/2018/5/layout/CenteredIconLabelDescriptionList"/>
    <dgm:cxn modelId="{16921732-D625-4AF5-80C9-5F80F0A302FF}" type="presParOf" srcId="{AB5FD38D-A016-4369-833A-E09D79F1471D}" destId="{F11ACB07-6EC6-4F37-8934-E0BB271ED177}" srcOrd="1" destOrd="0" presId="urn:microsoft.com/office/officeart/2018/5/layout/CenteredIconLabelDescriptionList"/>
    <dgm:cxn modelId="{9C155CCF-99DE-4B30-9ABC-DBFF78895629}" type="presParOf" srcId="{AB5FD38D-A016-4369-833A-E09D79F1471D}" destId="{3062AA5B-4E72-469B-A1EC-90096E2D640D}" srcOrd="2" destOrd="0" presId="urn:microsoft.com/office/officeart/2018/5/layout/CenteredIconLabelDescriptionList"/>
    <dgm:cxn modelId="{74B47595-FF77-4B21-A7E4-9328BD11D4AD}" type="presParOf" srcId="{AB5FD38D-A016-4369-833A-E09D79F1471D}" destId="{578805A5-A893-444C-ABAB-EFC886A25853}" srcOrd="3" destOrd="0" presId="urn:microsoft.com/office/officeart/2018/5/layout/CenteredIconLabelDescriptionList"/>
    <dgm:cxn modelId="{240ABC90-79DE-4182-9848-D88E997B0494}" type="presParOf" srcId="{AB5FD38D-A016-4369-833A-E09D79F1471D}" destId="{478E9271-61D2-4944-A2ED-95C067053C9B}" srcOrd="4" destOrd="0" presId="urn:microsoft.com/office/officeart/2018/5/layout/CenteredIconLabelDescriptionList"/>
    <dgm:cxn modelId="{20EF0FD6-5EAB-490A-A7E5-2E231A4B2351}" type="presParOf" srcId="{AC5C2596-A8A1-4E59-8422-A79E6F9767CC}" destId="{8BA86A76-9B05-46EA-A4B9-2E42CD46C048}" srcOrd="1" destOrd="0" presId="urn:microsoft.com/office/officeart/2018/5/layout/CenteredIconLabelDescriptionList"/>
    <dgm:cxn modelId="{298B7276-3EDB-4C6C-9FEF-523578D21D1F}" type="presParOf" srcId="{AC5C2596-A8A1-4E59-8422-A79E6F9767CC}" destId="{C598EDA0-651D-4F04-8969-396B19607854}" srcOrd="2" destOrd="0" presId="urn:microsoft.com/office/officeart/2018/5/layout/CenteredIconLabelDescriptionList"/>
    <dgm:cxn modelId="{1F2DC830-6586-41C9-8B4A-65C62992E435}" type="presParOf" srcId="{C598EDA0-651D-4F04-8969-396B19607854}" destId="{322C81AD-27A5-47C9-966B-A3B212FAB8A6}" srcOrd="0" destOrd="0" presId="urn:microsoft.com/office/officeart/2018/5/layout/CenteredIconLabelDescriptionList"/>
    <dgm:cxn modelId="{B6E1C8B0-CBEE-465E-9DB3-889D0A84DE44}" type="presParOf" srcId="{C598EDA0-651D-4F04-8969-396B19607854}" destId="{B92582EC-9C6D-4F33-B4C5-3B33B818CA07}" srcOrd="1" destOrd="0" presId="urn:microsoft.com/office/officeart/2018/5/layout/CenteredIconLabelDescriptionList"/>
    <dgm:cxn modelId="{568BA0F4-FB93-47AB-99E3-A31015054830}" type="presParOf" srcId="{C598EDA0-651D-4F04-8969-396B19607854}" destId="{BD62A2A4-A9A5-46AB-82C7-6F9685C23B4A}" srcOrd="2" destOrd="0" presId="urn:microsoft.com/office/officeart/2018/5/layout/CenteredIconLabelDescriptionList"/>
    <dgm:cxn modelId="{3929E2B4-D5CA-4972-8645-E56AE1DE6586}" type="presParOf" srcId="{C598EDA0-651D-4F04-8969-396B19607854}" destId="{19E03167-7226-4A75-94ED-64D23098D140}" srcOrd="3" destOrd="0" presId="urn:microsoft.com/office/officeart/2018/5/layout/CenteredIconLabelDescriptionList"/>
    <dgm:cxn modelId="{CCE43EF9-47FC-42F7-94C8-AE11B204939D}" type="presParOf" srcId="{C598EDA0-651D-4F04-8969-396B19607854}" destId="{4E600FA3-D314-4E02-B064-436E0071355B}" srcOrd="4" destOrd="0" presId="urn:microsoft.com/office/officeart/2018/5/layout/CenteredIconLabelDescriptionList"/>
    <dgm:cxn modelId="{A5F62BFD-4B30-494B-AB18-21ED47275093}" type="presParOf" srcId="{AC5C2596-A8A1-4E59-8422-A79E6F9767CC}" destId="{70412BCB-2EAF-453C-B338-9E072475C6B4}" srcOrd="3" destOrd="0" presId="urn:microsoft.com/office/officeart/2018/5/layout/CenteredIconLabelDescriptionList"/>
    <dgm:cxn modelId="{0607C9DC-0440-4D92-84A1-608C97B73A0C}" type="presParOf" srcId="{AC5C2596-A8A1-4E59-8422-A79E6F9767CC}" destId="{A433D9F2-A76B-4AF6-80B4-4E7DB559A847}" srcOrd="4" destOrd="0" presId="urn:microsoft.com/office/officeart/2018/5/layout/CenteredIconLabelDescriptionList"/>
    <dgm:cxn modelId="{06B536B6-4C91-4B7F-B621-3A69B86AF063}" type="presParOf" srcId="{A433D9F2-A76B-4AF6-80B4-4E7DB559A847}" destId="{A3B50050-4365-43D7-BB20-A137C953A870}" srcOrd="0" destOrd="0" presId="urn:microsoft.com/office/officeart/2018/5/layout/CenteredIconLabelDescriptionList"/>
    <dgm:cxn modelId="{831ADFD4-8372-45DB-845E-F2FC9CC937F8}" type="presParOf" srcId="{A433D9F2-A76B-4AF6-80B4-4E7DB559A847}" destId="{6FFBFAD4-11D5-4AC2-AD6E-66593CE08E11}" srcOrd="1" destOrd="0" presId="urn:microsoft.com/office/officeart/2018/5/layout/CenteredIconLabelDescriptionList"/>
    <dgm:cxn modelId="{6896B77D-52A0-4ADF-AE80-54DF604CC922}" type="presParOf" srcId="{A433D9F2-A76B-4AF6-80B4-4E7DB559A847}" destId="{F498CE0E-EA97-4A65-8ABA-19BA67B05631}" srcOrd="2" destOrd="0" presId="urn:microsoft.com/office/officeart/2018/5/layout/CenteredIconLabelDescriptionList"/>
    <dgm:cxn modelId="{9EDC0E34-A3E4-4CF8-9CD2-702E25B5CE09}" type="presParOf" srcId="{A433D9F2-A76B-4AF6-80B4-4E7DB559A847}" destId="{27BCDEA9-1E89-4767-B0B2-C34555C5C712}" srcOrd="3" destOrd="0" presId="urn:microsoft.com/office/officeart/2018/5/layout/CenteredIconLabelDescriptionList"/>
    <dgm:cxn modelId="{8BC232D2-E73C-48B2-9000-D7F8823F9550}" type="presParOf" srcId="{A433D9F2-A76B-4AF6-80B4-4E7DB559A847}" destId="{82D1262F-9742-47E1-AC14-9EE79839F48E}" srcOrd="4" destOrd="0" presId="urn:microsoft.com/office/officeart/2018/5/layout/CenteredIconLabelDescriptionList"/>
    <dgm:cxn modelId="{2812E035-6E77-4105-A7FA-2C2B4091D61A}" type="presParOf" srcId="{AC5C2596-A8A1-4E59-8422-A79E6F9767CC}" destId="{68F97313-53C9-4973-AA6C-6664EFC50437}" srcOrd="5" destOrd="0" presId="urn:microsoft.com/office/officeart/2018/5/layout/CenteredIconLabelDescriptionList"/>
    <dgm:cxn modelId="{09C08B70-217C-4BDC-83F5-AB45A71393AF}" type="presParOf" srcId="{AC5C2596-A8A1-4E59-8422-A79E6F9767CC}" destId="{E0FA5D77-5CBF-4F14-898C-3CE3594E6C09}" srcOrd="6" destOrd="0" presId="urn:microsoft.com/office/officeart/2018/5/layout/CenteredIconLabelDescriptionList"/>
    <dgm:cxn modelId="{3E99F0A5-4CC2-4E82-AA06-E15C42FA6882}" type="presParOf" srcId="{E0FA5D77-5CBF-4F14-898C-3CE3594E6C09}" destId="{0FB8F97B-4B2E-4E5C-93AD-656AD1FAF50C}" srcOrd="0" destOrd="0" presId="urn:microsoft.com/office/officeart/2018/5/layout/CenteredIconLabelDescriptionList"/>
    <dgm:cxn modelId="{3AB90195-E38F-4B70-AD44-91BDDE1C31F9}" type="presParOf" srcId="{E0FA5D77-5CBF-4F14-898C-3CE3594E6C09}" destId="{18BB2FFD-41F5-4F75-B962-E733CFC473C4}" srcOrd="1" destOrd="0" presId="urn:microsoft.com/office/officeart/2018/5/layout/CenteredIconLabelDescriptionList"/>
    <dgm:cxn modelId="{EEFFE2B2-4FFE-4570-8245-8EADDF8169F6}" type="presParOf" srcId="{E0FA5D77-5CBF-4F14-898C-3CE3594E6C09}" destId="{DA72138C-2A01-4735-82FA-02A8CB0855A9}" srcOrd="2" destOrd="0" presId="urn:microsoft.com/office/officeart/2018/5/layout/CenteredIconLabelDescriptionList"/>
    <dgm:cxn modelId="{C1196209-D951-4F8B-95A7-260C94ADBD89}" type="presParOf" srcId="{E0FA5D77-5CBF-4F14-898C-3CE3594E6C09}" destId="{B9C73F1C-0894-4112-855C-2978C43811F3}" srcOrd="3" destOrd="0" presId="urn:microsoft.com/office/officeart/2018/5/layout/CenteredIconLabelDescriptionList"/>
    <dgm:cxn modelId="{53798E1D-7FC3-4A6E-B546-EFEFED7CE407}" type="presParOf" srcId="{E0FA5D77-5CBF-4F14-898C-3CE3594E6C09}" destId="{6E1410D6-8764-43EB-906B-C8E7D9B03A0D}"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B331E5-C734-40CB-89D8-838EE124D1A9}"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0F00672-88DB-40BE-8663-8C4754F12E91}">
      <dgm:prSet/>
      <dgm:spPr/>
      <dgm:t>
        <a:bodyPr/>
        <a:lstStyle/>
        <a:p>
          <a:r>
            <a:rPr lang="en-US"/>
            <a:t>The </a:t>
          </a:r>
          <a:r>
            <a:rPr lang="en-US" b="1"/>
            <a:t>Classical Growth Theory</a:t>
          </a:r>
          <a:r>
            <a:rPr lang="en-US"/>
            <a:t> was developed by classical economists during the late 18th and early 19th centuries.</a:t>
          </a:r>
        </a:p>
      </dgm:t>
    </dgm:pt>
    <dgm:pt modelId="{8136FC50-1F31-4387-A7D1-6C4DFB3A2288}" type="parTrans" cxnId="{B942FD40-5AD7-43AD-8F40-F0DEC67D44D8}">
      <dgm:prSet/>
      <dgm:spPr/>
      <dgm:t>
        <a:bodyPr/>
        <a:lstStyle/>
        <a:p>
          <a:endParaRPr lang="en-US"/>
        </a:p>
      </dgm:t>
    </dgm:pt>
    <dgm:pt modelId="{F250E9E4-E9C6-49CF-8408-836DA7554103}" type="sibTrans" cxnId="{B942FD40-5AD7-43AD-8F40-F0DEC67D44D8}">
      <dgm:prSet/>
      <dgm:spPr/>
      <dgm:t>
        <a:bodyPr/>
        <a:lstStyle/>
        <a:p>
          <a:endParaRPr lang="en-US"/>
        </a:p>
      </dgm:t>
    </dgm:pt>
    <dgm:pt modelId="{EAC78CBF-FB53-40A0-A960-BE272D16B388}">
      <dgm:prSet/>
      <dgm:spPr/>
      <dgm:t>
        <a:bodyPr/>
        <a:lstStyle/>
        <a:p>
          <a:r>
            <a:rPr lang="en-US" b="1"/>
            <a:t>Major Contributors</a:t>
          </a:r>
          <a:endParaRPr lang="en-US"/>
        </a:p>
      </dgm:t>
    </dgm:pt>
    <dgm:pt modelId="{9E2283EC-3B81-4DDD-97E8-6359F1387ED4}" type="parTrans" cxnId="{B8F0EB54-12B1-4FEB-BAE8-7C54D2F1F05A}">
      <dgm:prSet/>
      <dgm:spPr/>
      <dgm:t>
        <a:bodyPr/>
        <a:lstStyle/>
        <a:p>
          <a:endParaRPr lang="en-US"/>
        </a:p>
      </dgm:t>
    </dgm:pt>
    <dgm:pt modelId="{2DE9E00D-A771-4DE9-BFE3-9F98F41F7EA7}" type="sibTrans" cxnId="{B8F0EB54-12B1-4FEB-BAE8-7C54D2F1F05A}">
      <dgm:prSet/>
      <dgm:spPr/>
      <dgm:t>
        <a:bodyPr/>
        <a:lstStyle/>
        <a:p>
          <a:endParaRPr lang="en-US"/>
        </a:p>
      </dgm:t>
    </dgm:pt>
    <dgm:pt modelId="{4712852D-2A94-4A45-BD6E-D65833B241B7}">
      <dgm:prSet/>
      <dgm:spPr/>
      <dgm:t>
        <a:bodyPr/>
        <a:lstStyle/>
        <a:p>
          <a:r>
            <a:rPr lang="en-US"/>
            <a:t>Adam Smith </a:t>
          </a:r>
        </a:p>
      </dgm:t>
    </dgm:pt>
    <dgm:pt modelId="{F6D777CC-7C07-4C74-A8C7-3362B64D85B8}" type="parTrans" cxnId="{FC9E068E-EB22-47AA-999C-F4DDAE4035BD}">
      <dgm:prSet/>
      <dgm:spPr/>
      <dgm:t>
        <a:bodyPr/>
        <a:lstStyle/>
        <a:p>
          <a:endParaRPr lang="en-US"/>
        </a:p>
      </dgm:t>
    </dgm:pt>
    <dgm:pt modelId="{9F1A8C8B-2C22-4FE8-A290-D9AE02B1373B}" type="sibTrans" cxnId="{FC9E068E-EB22-47AA-999C-F4DDAE4035BD}">
      <dgm:prSet/>
      <dgm:spPr/>
      <dgm:t>
        <a:bodyPr/>
        <a:lstStyle/>
        <a:p>
          <a:endParaRPr lang="en-US"/>
        </a:p>
      </dgm:t>
    </dgm:pt>
    <dgm:pt modelId="{36A65F2A-2FB8-42A2-BFF1-A618F8064F13}">
      <dgm:prSet/>
      <dgm:spPr/>
      <dgm:t>
        <a:bodyPr/>
        <a:lstStyle/>
        <a:p>
          <a:r>
            <a:rPr lang="en-US"/>
            <a:t>Thomas Robert Malthus </a:t>
          </a:r>
        </a:p>
      </dgm:t>
    </dgm:pt>
    <dgm:pt modelId="{42E071E3-60A7-4DA7-9280-CF8AE0252B0A}" type="parTrans" cxnId="{11808821-08E1-4468-BA31-27D498F4D472}">
      <dgm:prSet/>
      <dgm:spPr/>
      <dgm:t>
        <a:bodyPr/>
        <a:lstStyle/>
        <a:p>
          <a:endParaRPr lang="en-US"/>
        </a:p>
      </dgm:t>
    </dgm:pt>
    <dgm:pt modelId="{6BA01457-B8BF-4EDD-99DB-E2E3592A80B5}" type="sibTrans" cxnId="{11808821-08E1-4468-BA31-27D498F4D472}">
      <dgm:prSet/>
      <dgm:spPr/>
      <dgm:t>
        <a:bodyPr/>
        <a:lstStyle/>
        <a:p>
          <a:endParaRPr lang="en-US"/>
        </a:p>
      </dgm:t>
    </dgm:pt>
    <dgm:pt modelId="{08BC6466-8A60-4336-8033-55FB75B93F5F}">
      <dgm:prSet/>
      <dgm:spPr/>
      <dgm:t>
        <a:bodyPr/>
        <a:lstStyle/>
        <a:p>
          <a:r>
            <a:rPr lang="en-US"/>
            <a:t>David Ricardo </a:t>
          </a:r>
        </a:p>
      </dgm:t>
    </dgm:pt>
    <dgm:pt modelId="{33B7FCC5-EEF2-4E6C-B8F7-6C497D839F29}" type="parTrans" cxnId="{4EE397FD-AF6B-45F4-9E80-24ED5ED49103}">
      <dgm:prSet/>
      <dgm:spPr/>
      <dgm:t>
        <a:bodyPr/>
        <a:lstStyle/>
        <a:p>
          <a:endParaRPr lang="en-US"/>
        </a:p>
      </dgm:t>
    </dgm:pt>
    <dgm:pt modelId="{71A6A1C7-3B35-4336-BA22-915EAAFB921D}" type="sibTrans" cxnId="{4EE397FD-AF6B-45F4-9E80-24ED5ED49103}">
      <dgm:prSet/>
      <dgm:spPr/>
      <dgm:t>
        <a:bodyPr/>
        <a:lstStyle/>
        <a:p>
          <a:endParaRPr lang="en-US"/>
        </a:p>
      </dgm:t>
    </dgm:pt>
    <dgm:pt modelId="{9B79BF1A-609A-4094-9A8B-09DACE28E830}">
      <dgm:prSet/>
      <dgm:spPr/>
      <dgm:t>
        <a:bodyPr/>
        <a:lstStyle/>
        <a:p>
          <a:r>
            <a:rPr lang="en-US"/>
            <a:t>John Stuart Mill </a:t>
          </a:r>
        </a:p>
      </dgm:t>
    </dgm:pt>
    <dgm:pt modelId="{D93FF2E3-757E-4947-B6A8-2EFA1DBF4356}" type="parTrans" cxnId="{E7616894-0075-4A44-AD68-789E0836969B}">
      <dgm:prSet/>
      <dgm:spPr/>
      <dgm:t>
        <a:bodyPr/>
        <a:lstStyle/>
        <a:p>
          <a:endParaRPr lang="en-US"/>
        </a:p>
      </dgm:t>
    </dgm:pt>
    <dgm:pt modelId="{F49CB365-7B06-4CB8-A88D-5B9B34AB0066}" type="sibTrans" cxnId="{E7616894-0075-4A44-AD68-789E0836969B}">
      <dgm:prSet/>
      <dgm:spPr/>
      <dgm:t>
        <a:bodyPr/>
        <a:lstStyle/>
        <a:p>
          <a:endParaRPr lang="en-US"/>
        </a:p>
      </dgm:t>
    </dgm:pt>
    <dgm:pt modelId="{95C3272A-D1FF-4A4C-AFE1-7DBE1D8AE529}">
      <dgm:prSet/>
      <dgm:spPr/>
      <dgm:t>
        <a:bodyPr/>
        <a:lstStyle/>
        <a:p>
          <a:r>
            <a:rPr lang="en-US"/>
            <a:t>The theory argues that economic growth is </a:t>
          </a:r>
          <a:r>
            <a:rPr lang="en-US" b="1"/>
            <a:t>temporary</a:t>
          </a:r>
          <a:r>
            <a:rPr lang="en-US"/>
            <a:t> because population growth eventually outpaces increases in food production and other resources.</a:t>
          </a:r>
        </a:p>
      </dgm:t>
    </dgm:pt>
    <dgm:pt modelId="{0DE2219F-9BCE-4077-BA62-E0E0633061EE}" type="parTrans" cxnId="{4E3ABEDC-E8B6-4389-8D3A-EAB0A45AEC02}">
      <dgm:prSet/>
      <dgm:spPr/>
      <dgm:t>
        <a:bodyPr/>
        <a:lstStyle/>
        <a:p>
          <a:endParaRPr lang="en-US"/>
        </a:p>
      </dgm:t>
    </dgm:pt>
    <dgm:pt modelId="{0B8C1CB6-D93F-40F8-9831-878EA0AA1080}" type="sibTrans" cxnId="{4E3ABEDC-E8B6-4389-8D3A-EAB0A45AEC02}">
      <dgm:prSet/>
      <dgm:spPr/>
      <dgm:t>
        <a:bodyPr/>
        <a:lstStyle/>
        <a:p>
          <a:endParaRPr lang="en-US"/>
        </a:p>
      </dgm:t>
    </dgm:pt>
    <dgm:pt modelId="{B2442A5E-0240-4813-9543-C40E7FC7AC4E}" type="pres">
      <dgm:prSet presAssocID="{FBB331E5-C734-40CB-89D8-838EE124D1A9}" presName="linear" presStyleCnt="0">
        <dgm:presLayoutVars>
          <dgm:animLvl val="lvl"/>
          <dgm:resizeHandles val="exact"/>
        </dgm:presLayoutVars>
      </dgm:prSet>
      <dgm:spPr/>
    </dgm:pt>
    <dgm:pt modelId="{DB9F6CF3-0097-470C-BBD3-CA5B2468EEE7}" type="pres">
      <dgm:prSet presAssocID="{00F00672-88DB-40BE-8663-8C4754F12E91}" presName="parentText" presStyleLbl="node1" presStyleIdx="0" presStyleCnt="3">
        <dgm:presLayoutVars>
          <dgm:chMax val="0"/>
          <dgm:bulletEnabled val="1"/>
        </dgm:presLayoutVars>
      </dgm:prSet>
      <dgm:spPr/>
    </dgm:pt>
    <dgm:pt modelId="{2657B334-4332-4B91-92E6-7C324A5D0144}" type="pres">
      <dgm:prSet presAssocID="{F250E9E4-E9C6-49CF-8408-836DA7554103}" presName="spacer" presStyleCnt="0"/>
      <dgm:spPr/>
    </dgm:pt>
    <dgm:pt modelId="{34A9C8EC-FD71-48B7-BE2C-17DBE3790642}" type="pres">
      <dgm:prSet presAssocID="{EAC78CBF-FB53-40A0-A960-BE272D16B388}" presName="parentText" presStyleLbl="node1" presStyleIdx="1" presStyleCnt="3">
        <dgm:presLayoutVars>
          <dgm:chMax val="0"/>
          <dgm:bulletEnabled val="1"/>
        </dgm:presLayoutVars>
      </dgm:prSet>
      <dgm:spPr/>
    </dgm:pt>
    <dgm:pt modelId="{F68FD262-2508-41B3-9309-D61C55B9A904}" type="pres">
      <dgm:prSet presAssocID="{EAC78CBF-FB53-40A0-A960-BE272D16B388}" presName="childText" presStyleLbl="revTx" presStyleIdx="0" presStyleCnt="1">
        <dgm:presLayoutVars>
          <dgm:bulletEnabled val="1"/>
        </dgm:presLayoutVars>
      </dgm:prSet>
      <dgm:spPr/>
    </dgm:pt>
    <dgm:pt modelId="{BF0F78CC-B6EF-4024-A71B-25148F0EB870}" type="pres">
      <dgm:prSet presAssocID="{95C3272A-D1FF-4A4C-AFE1-7DBE1D8AE529}" presName="parentText" presStyleLbl="node1" presStyleIdx="2" presStyleCnt="3">
        <dgm:presLayoutVars>
          <dgm:chMax val="0"/>
          <dgm:bulletEnabled val="1"/>
        </dgm:presLayoutVars>
      </dgm:prSet>
      <dgm:spPr/>
    </dgm:pt>
  </dgm:ptLst>
  <dgm:cxnLst>
    <dgm:cxn modelId="{11808821-08E1-4468-BA31-27D498F4D472}" srcId="{EAC78CBF-FB53-40A0-A960-BE272D16B388}" destId="{36A65F2A-2FB8-42A2-BFF1-A618F8064F13}" srcOrd="1" destOrd="0" parTransId="{42E071E3-60A7-4DA7-9280-CF8AE0252B0A}" sibTransId="{6BA01457-B8BF-4EDD-99DB-E2E3592A80B5}"/>
    <dgm:cxn modelId="{B942FD40-5AD7-43AD-8F40-F0DEC67D44D8}" srcId="{FBB331E5-C734-40CB-89D8-838EE124D1A9}" destId="{00F00672-88DB-40BE-8663-8C4754F12E91}" srcOrd="0" destOrd="0" parTransId="{8136FC50-1F31-4387-A7D1-6C4DFB3A2288}" sibTransId="{F250E9E4-E9C6-49CF-8408-836DA7554103}"/>
    <dgm:cxn modelId="{E3578A5D-284D-4474-B90C-10FB5FA5CF06}" type="presOf" srcId="{95C3272A-D1FF-4A4C-AFE1-7DBE1D8AE529}" destId="{BF0F78CC-B6EF-4024-A71B-25148F0EB870}" srcOrd="0" destOrd="0" presId="urn:microsoft.com/office/officeart/2005/8/layout/vList2"/>
    <dgm:cxn modelId="{D41D325E-49AF-49DC-A9D7-23A5B5647B56}" type="presOf" srcId="{EAC78CBF-FB53-40A0-A960-BE272D16B388}" destId="{34A9C8EC-FD71-48B7-BE2C-17DBE3790642}" srcOrd="0" destOrd="0" presId="urn:microsoft.com/office/officeart/2005/8/layout/vList2"/>
    <dgm:cxn modelId="{6D9A2861-D94A-428A-885E-F113B1026870}" type="presOf" srcId="{36A65F2A-2FB8-42A2-BFF1-A618F8064F13}" destId="{F68FD262-2508-41B3-9309-D61C55B9A904}" srcOrd="0" destOrd="1" presId="urn:microsoft.com/office/officeart/2005/8/layout/vList2"/>
    <dgm:cxn modelId="{A3F24448-750E-4F90-98EC-CC3C1AE3B314}" type="presOf" srcId="{FBB331E5-C734-40CB-89D8-838EE124D1A9}" destId="{B2442A5E-0240-4813-9543-C40E7FC7AC4E}" srcOrd="0" destOrd="0" presId="urn:microsoft.com/office/officeart/2005/8/layout/vList2"/>
    <dgm:cxn modelId="{B8F0EB54-12B1-4FEB-BAE8-7C54D2F1F05A}" srcId="{FBB331E5-C734-40CB-89D8-838EE124D1A9}" destId="{EAC78CBF-FB53-40A0-A960-BE272D16B388}" srcOrd="1" destOrd="0" parTransId="{9E2283EC-3B81-4DDD-97E8-6359F1387ED4}" sibTransId="{2DE9E00D-A771-4DE9-BFE3-9F98F41F7EA7}"/>
    <dgm:cxn modelId="{503F0B5A-AB37-40E7-8068-3A3C85D61A67}" type="presOf" srcId="{9B79BF1A-609A-4094-9A8B-09DACE28E830}" destId="{F68FD262-2508-41B3-9309-D61C55B9A904}" srcOrd="0" destOrd="3" presId="urn:microsoft.com/office/officeart/2005/8/layout/vList2"/>
    <dgm:cxn modelId="{8804A97D-42A6-4A5E-9918-4EE02A9ACE89}" type="presOf" srcId="{00F00672-88DB-40BE-8663-8C4754F12E91}" destId="{DB9F6CF3-0097-470C-BBD3-CA5B2468EEE7}" srcOrd="0" destOrd="0" presId="urn:microsoft.com/office/officeart/2005/8/layout/vList2"/>
    <dgm:cxn modelId="{FC9E068E-EB22-47AA-999C-F4DDAE4035BD}" srcId="{EAC78CBF-FB53-40A0-A960-BE272D16B388}" destId="{4712852D-2A94-4A45-BD6E-D65833B241B7}" srcOrd="0" destOrd="0" parTransId="{F6D777CC-7C07-4C74-A8C7-3362B64D85B8}" sibTransId="{9F1A8C8B-2C22-4FE8-A290-D9AE02B1373B}"/>
    <dgm:cxn modelId="{E7616894-0075-4A44-AD68-789E0836969B}" srcId="{EAC78CBF-FB53-40A0-A960-BE272D16B388}" destId="{9B79BF1A-609A-4094-9A8B-09DACE28E830}" srcOrd="3" destOrd="0" parTransId="{D93FF2E3-757E-4947-B6A8-2EFA1DBF4356}" sibTransId="{F49CB365-7B06-4CB8-A88D-5B9B34AB0066}"/>
    <dgm:cxn modelId="{4E3ABEDC-E8B6-4389-8D3A-EAB0A45AEC02}" srcId="{FBB331E5-C734-40CB-89D8-838EE124D1A9}" destId="{95C3272A-D1FF-4A4C-AFE1-7DBE1D8AE529}" srcOrd="2" destOrd="0" parTransId="{0DE2219F-9BCE-4077-BA62-E0E0633061EE}" sibTransId="{0B8C1CB6-D93F-40F8-9831-878EA0AA1080}"/>
    <dgm:cxn modelId="{870A35E8-E9E2-4AB6-A77E-DCD4748FB200}" type="presOf" srcId="{08BC6466-8A60-4336-8033-55FB75B93F5F}" destId="{F68FD262-2508-41B3-9309-D61C55B9A904}" srcOrd="0" destOrd="2" presId="urn:microsoft.com/office/officeart/2005/8/layout/vList2"/>
    <dgm:cxn modelId="{C301B0F5-7D49-4C4E-8C8A-5761CA726464}" type="presOf" srcId="{4712852D-2A94-4A45-BD6E-D65833B241B7}" destId="{F68FD262-2508-41B3-9309-D61C55B9A904}" srcOrd="0" destOrd="0" presId="urn:microsoft.com/office/officeart/2005/8/layout/vList2"/>
    <dgm:cxn modelId="{4EE397FD-AF6B-45F4-9E80-24ED5ED49103}" srcId="{EAC78CBF-FB53-40A0-A960-BE272D16B388}" destId="{08BC6466-8A60-4336-8033-55FB75B93F5F}" srcOrd="2" destOrd="0" parTransId="{33B7FCC5-EEF2-4E6C-B8F7-6C497D839F29}" sibTransId="{71A6A1C7-3B35-4336-BA22-915EAAFB921D}"/>
    <dgm:cxn modelId="{938CA6DB-FB91-44C5-BCBF-6B8373A375DF}" type="presParOf" srcId="{B2442A5E-0240-4813-9543-C40E7FC7AC4E}" destId="{DB9F6CF3-0097-470C-BBD3-CA5B2468EEE7}" srcOrd="0" destOrd="0" presId="urn:microsoft.com/office/officeart/2005/8/layout/vList2"/>
    <dgm:cxn modelId="{B6B9C338-D2C7-4120-9DEA-C28B560C5E71}" type="presParOf" srcId="{B2442A5E-0240-4813-9543-C40E7FC7AC4E}" destId="{2657B334-4332-4B91-92E6-7C324A5D0144}" srcOrd="1" destOrd="0" presId="urn:microsoft.com/office/officeart/2005/8/layout/vList2"/>
    <dgm:cxn modelId="{634E76A7-7656-4C53-8329-C11243EA01C7}" type="presParOf" srcId="{B2442A5E-0240-4813-9543-C40E7FC7AC4E}" destId="{34A9C8EC-FD71-48B7-BE2C-17DBE3790642}" srcOrd="2" destOrd="0" presId="urn:microsoft.com/office/officeart/2005/8/layout/vList2"/>
    <dgm:cxn modelId="{54F6CE45-44F6-42B6-B145-B1FE457E74EA}" type="presParOf" srcId="{B2442A5E-0240-4813-9543-C40E7FC7AC4E}" destId="{F68FD262-2508-41B3-9309-D61C55B9A904}" srcOrd="3" destOrd="0" presId="urn:microsoft.com/office/officeart/2005/8/layout/vList2"/>
    <dgm:cxn modelId="{A7408CE3-F9F0-413F-8CFE-0E9DA4B0A19F}" type="presParOf" srcId="{B2442A5E-0240-4813-9543-C40E7FC7AC4E}" destId="{BF0F78CC-B6EF-4024-A71B-25148F0EB87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9C4BFE-CA76-4BEB-98AB-0625025FFF0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D9C809E-D51C-448A-9A96-EAD900CEC4DF}">
      <dgm:prSet/>
      <dgm:spPr/>
      <dgm:t>
        <a:bodyPr/>
        <a:lstStyle/>
        <a:p>
          <a:r>
            <a:rPr lang="en-US"/>
            <a:t>Land is fixed in supply. </a:t>
          </a:r>
        </a:p>
      </dgm:t>
    </dgm:pt>
    <dgm:pt modelId="{59302F55-C2D2-439C-9D1F-378546E976D9}" type="parTrans" cxnId="{74451E5B-A53D-4FEF-A144-EC67779D21AF}">
      <dgm:prSet/>
      <dgm:spPr/>
      <dgm:t>
        <a:bodyPr/>
        <a:lstStyle/>
        <a:p>
          <a:endParaRPr lang="en-US"/>
        </a:p>
      </dgm:t>
    </dgm:pt>
    <dgm:pt modelId="{E8E13BD0-64ED-47C8-9DF0-1A5B073AE09D}" type="sibTrans" cxnId="{74451E5B-A53D-4FEF-A144-EC67779D21AF}">
      <dgm:prSet/>
      <dgm:spPr/>
      <dgm:t>
        <a:bodyPr/>
        <a:lstStyle/>
        <a:p>
          <a:endParaRPr lang="en-US"/>
        </a:p>
      </dgm:t>
    </dgm:pt>
    <dgm:pt modelId="{E14A76ED-D318-48D4-A4AD-499A51A3E951}">
      <dgm:prSet/>
      <dgm:spPr/>
      <dgm:t>
        <a:bodyPr/>
        <a:lstStyle/>
        <a:p>
          <a:r>
            <a:rPr lang="en-US"/>
            <a:t>Population grows when incomes rise. </a:t>
          </a:r>
        </a:p>
      </dgm:t>
    </dgm:pt>
    <dgm:pt modelId="{6919D6CF-BC1F-493B-9C6F-7C148319B0B2}" type="parTrans" cxnId="{94FA5000-F226-46BA-A2D9-A378583EFFB8}">
      <dgm:prSet/>
      <dgm:spPr/>
      <dgm:t>
        <a:bodyPr/>
        <a:lstStyle/>
        <a:p>
          <a:endParaRPr lang="en-US"/>
        </a:p>
      </dgm:t>
    </dgm:pt>
    <dgm:pt modelId="{949D0E67-051D-4C9E-9102-1234D2984F5D}" type="sibTrans" cxnId="{94FA5000-F226-46BA-A2D9-A378583EFFB8}">
      <dgm:prSet/>
      <dgm:spPr/>
      <dgm:t>
        <a:bodyPr/>
        <a:lstStyle/>
        <a:p>
          <a:endParaRPr lang="en-US"/>
        </a:p>
      </dgm:t>
    </dgm:pt>
    <dgm:pt modelId="{8A5ED9FA-DCF5-4943-BB6D-C3BC0EC71BCE}">
      <dgm:prSet/>
      <dgm:spPr/>
      <dgm:t>
        <a:bodyPr/>
        <a:lstStyle/>
        <a:p>
          <a:r>
            <a:rPr lang="en-US"/>
            <a:t>Capital accumulation increases output. </a:t>
          </a:r>
        </a:p>
      </dgm:t>
    </dgm:pt>
    <dgm:pt modelId="{0B0443C8-9446-4765-BC89-C55A3BCB08A1}" type="parTrans" cxnId="{E7953188-F882-4079-81B0-F372F130A01F}">
      <dgm:prSet/>
      <dgm:spPr/>
      <dgm:t>
        <a:bodyPr/>
        <a:lstStyle/>
        <a:p>
          <a:endParaRPr lang="en-US"/>
        </a:p>
      </dgm:t>
    </dgm:pt>
    <dgm:pt modelId="{99C39E5A-6577-454E-9BCC-152C91645084}" type="sibTrans" cxnId="{E7953188-F882-4079-81B0-F372F130A01F}">
      <dgm:prSet/>
      <dgm:spPr/>
      <dgm:t>
        <a:bodyPr/>
        <a:lstStyle/>
        <a:p>
          <a:endParaRPr lang="en-US"/>
        </a:p>
      </dgm:t>
    </dgm:pt>
    <dgm:pt modelId="{058F5F80-8114-456E-9B24-737F91CAD60F}">
      <dgm:prSet/>
      <dgm:spPr/>
      <dgm:t>
        <a:bodyPr/>
        <a:lstStyle/>
        <a:p>
          <a:r>
            <a:rPr lang="en-US"/>
            <a:t>Diminishing returns to land eventually occur. </a:t>
          </a:r>
        </a:p>
      </dgm:t>
    </dgm:pt>
    <dgm:pt modelId="{73A11DCE-E7D0-48A0-9343-DB32EDC2AAA0}" type="parTrans" cxnId="{F720BEE7-DB16-42F5-A987-B697EAD430E4}">
      <dgm:prSet/>
      <dgm:spPr/>
      <dgm:t>
        <a:bodyPr/>
        <a:lstStyle/>
        <a:p>
          <a:endParaRPr lang="en-US"/>
        </a:p>
      </dgm:t>
    </dgm:pt>
    <dgm:pt modelId="{6D267565-6297-45F8-A438-5C4EBF2B22F8}" type="sibTrans" cxnId="{F720BEE7-DB16-42F5-A987-B697EAD430E4}">
      <dgm:prSet/>
      <dgm:spPr/>
      <dgm:t>
        <a:bodyPr/>
        <a:lstStyle/>
        <a:p>
          <a:endParaRPr lang="en-US"/>
        </a:p>
      </dgm:t>
    </dgm:pt>
    <dgm:pt modelId="{C6A4B786-7057-44E1-A3ED-7C0391BD762C}">
      <dgm:prSet/>
      <dgm:spPr/>
      <dgm:t>
        <a:bodyPr/>
        <a:lstStyle/>
        <a:p>
          <a:r>
            <a:rPr lang="en-US"/>
            <a:t>Technological progress is slow.</a:t>
          </a:r>
        </a:p>
      </dgm:t>
    </dgm:pt>
    <dgm:pt modelId="{646CF66E-FF9B-4F59-9B26-5FE28E0E5BC3}" type="parTrans" cxnId="{677E2454-2FD6-4D6C-AEBF-795888B8F4A5}">
      <dgm:prSet/>
      <dgm:spPr/>
      <dgm:t>
        <a:bodyPr/>
        <a:lstStyle/>
        <a:p>
          <a:endParaRPr lang="en-US"/>
        </a:p>
      </dgm:t>
    </dgm:pt>
    <dgm:pt modelId="{1DC41A11-2D3D-4940-B2B2-80B8FD7360E3}" type="sibTrans" cxnId="{677E2454-2FD6-4D6C-AEBF-795888B8F4A5}">
      <dgm:prSet/>
      <dgm:spPr/>
      <dgm:t>
        <a:bodyPr/>
        <a:lstStyle/>
        <a:p>
          <a:endParaRPr lang="en-US"/>
        </a:p>
      </dgm:t>
    </dgm:pt>
    <dgm:pt modelId="{32B5C04D-4C13-4307-B471-EE41607C6F6A}" type="pres">
      <dgm:prSet presAssocID="{5F9C4BFE-CA76-4BEB-98AB-0625025FFF00}" presName="root" presStyleCnt="0">
        <dgm:presLayoutVars>
          <dgm:dir/>
          <dgm:resizeHandles val="exact"/>
        </dgm:presLayoutVars>
      </dgm:prSet>
      <dgm:spPr/>
    </dgm:pt>
    <dgm:pt modelId="{E013418F-A466-4506-A63F-74C55A8CED61}" type="pres">
      <dgm:prSet presAssocID="{9D9C809E-D51C-448A-9A96-EAD900CEC4DF}" presName="compNode" presStyleCnt="0"/>
      <dgm:spPr/>
    </dgm:pt>
    <dgm:pt modelId="{F48BD819-155D-4491-95BB-1FE82680043B}" type="pres">
      <dgm:prSet presAssocID="{9D9C809E-D51C-448A-9A96-EAD900CEC4DF}" presName="bgRect" presStyleLbl="bgShp" presStyleIdx="0" presStyleCnt="5"/>
      <dgm:spPr/>
    </dgm:pt>
    <dgm:pt modelId="{D223AB70-23A9-41EB-AE2F-6A52F83FF40A}" type="pres">
      <dgm:prSet presAssocID="{9D9C809E-D51C-448A-9A96-EAD900CEC4DF}"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ilo"/>
        </a:ext>
      </dgm:extLst>
    </dgm:pt>
    <dgm:pt modelId="{676DB345-9DCF-4F1A-9F2E-06AC8FDD38B6}" type="pres">
      <dgm:prSet presAssocID="{9D9C809E-D51C-448A-9A96-EAD900CEC4DF}" presName="spaceRect" presStyleCnt="0"/>
      <dgm:spPr/>
    </dgm:pt>
    <dgm:pt modelId="{0D7BB0D7-67AD-41CB-A29E-68E376C16F15}" type="pres">
      <dgm:prSet presAssocID="{9D9C809E-D51C-448A-9A96-EAD900CEC4DF}" presName="parTx" presStyleLbl="revTx" presStyleIdx="0" presStyleCnt="5">
        <dgm:presLayoutVars>
          <dgm:chMax val="0"/>
          <dgm:chPref val="0"/>
        </dgm:presLayoutVars>
      </dgm:prSet>
      <dgm:spPr/>
    </dgm:pt>
    <dgm:pt modelId="{7F71ADCD-A3A4-4E0B-A550-048421E3042E}" type="pres">
      <dgm:prSet presAssocID="{E8E13BD0-64ED-47C8-9DF0-1A5B073AE09D}" presName="sibTrans" presStyleCnt="0"/>
      <dgm:spPr/>
    </dgm:pt>
    <dgm:pt modelId="{5FE9A941-B296-4EB8-9A1D-A6163430572C}" type="pres">
      <dgm:prSet presAssocID="{E14A76ED-D318-48D4-A4AD-499A51A3E951}" presName="compNode" presStyleCnt="0"/>
      <dgm:spPr/>
    </dgm:pt>
    <dgm:pt modelId="{BF82C3D2-3478-4F9B-80CB-F3F546D32550}" type="pres">
      <dgm:prSet presAssocID="{E14A76ED-D318-48D4-A4AD-499A51A3E951}" presName="bgRect" presStyleLbl="bgShp" presStyleIdx="1" presStyleCnt="5"/>
      <dgm:spPr/>
    </dgm:pt>
    <dgm:pt modelId="{B3CD7AAC-E03A-4201-88EC-CB470F53D3B5}" type="pres">
      <dgm:prSet presAssocID="{E14A76ED-D318-48D4-A4AD-499A51A3E951}"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402152D1-F38B-4FE8-A253-4ED318F6011C}" type="pres">
      <dgm:prSet presAssocID="{E14A76ED-D318-48D4-A4AD-499A51A3E951}" presName="spaceRect" presStyleCnt="0"/>
      <dgm:spPr/>
    </dgm:pt>
    <dgm:pt modelId="{8D98ECDF-A1EF-480F-AFA9-D23B09EBAECD}" type="pres">
      <dgm:prSet presAssocID="{E14A76ED-D318-48D4-A4AD-499A51A3E951}" presName="parTx" presStyleLbl="revTx" presStyleIdx="1" presStyleCnt="5">
        <dgm:presLayoutVars>
          <dgm:chMax val="0"/>
          <dgm:chPref val="0"/>
        </dgm:presLayoutVars>
      </dgm:prSet>
      <dgm:spPr/>
    </dgm:pt>
    <dgm:pt modelId="{FE2B5CCD-59E4-48E0-AD76-421FA99BB7EB}" type="pres">
      <dgm:prSet presAssocID="{949D0E67-051D-4C9E-9102-1234D2984F5D}" presName="sibTrans" presStyleCnt="0"/>
      <dgm:spPr/>
    </dgm:pt>
    <dgm:pt modelId="{60121FAA-7377-4084-B7C1-0ED82171D58C}" type="pres">
      <dgm:prSet presAssocID="{8A5ED9FA-DCF5-4943-BB6D-C3BC0EC71BCE}" presName="compNode" presStyleCnt="0"/>
      <dgm:spPr/>
    </dgm:pt>
    <dgm:pt modelId="{E7836445-B77C-448F-B53B-C966B6187AE5}" type="pres">
      <dgm:prSet presAssocID="{8A5ED9FA-DCF5-4943-BB6D-C3BC0EC71BCE}" presName="bgRect" presStyleLbl="bgShp" presStyleIdx="2" presStyleCnt="5"/>
      <dgm:spPr/>
    </dgm:pt>
    <dgm:pt modelId="{9637747F-7685-445B-8231-B6FB24555AA4}" type="pres">
      <dgm:prSet presAssocID="{8A5ED9FA-DCF5-4943-BB6D-C3BC0EC71BCE}"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ney"/>
        </a:ext>
      </dgm:extLst>
    </dgm:pt>
    <dgm:pt modelId="{B98F86CE-89B3-4F82-9D43-7BCB3CB0AC15}" type="pres">
      <dgm:prSet presAssocID="{8A5ED9FA-DCF5-4943-BB6D-C3BC0EC71BCE}" presName="spaceRect" presStyleCnt="0"/>
      <dgm:spPr/>
    </dgm:pt>
    <dgm:pt modelId="{5A8776F0-10AA-444E-ADA4-8A24EE9D0756}" type="pres">
      <dgm:prSet presAssocID="{8A5ED9FA-DCF5-4943-BB6D-C3BC0EC71BCE}" presName="parTx" presStyleLbl="revTx" presStyleIdx="2" presStyleCnt="5">
        <dgm:presLayoutVars>
          <dgm:chMax val="0"/>
          <dgm:chPref val="0"/>
        </dgm:presLayoutVars>
      </dgm:prSet>
      <dgm:spPr/>
    </dgm:pt>
    <dgm:pt modelId="{DB04CF52-4B4F-4638-AD65-86699EB200B4}" type="pres">
      <dgm:prSet presAssocID="{99C39E5A-6577-454E-9BCC-152C91645084}" presName="sibTrans" presStyleCnt="0"/>
      <dgm:spPr/>
    </dgm:pt>
    <dgm:pt modelId="{5246EF52-5A7F-418E-9661-7874B6A8D27E}" type="pres">
      <dgm:prSet presAssocID="{058F5F80-8114-456E-9B24-737F91CAD60F}" presName="compNode" presStyleCnt="0"/>
      <dgm:spPr/>
    </dgm:pt>
    <dgm:pt modelId="{266B2589-CD48-488D-B047-F0C84EEBB371}" type="pres">
      <dgm:prSet presAssocID="{058F5F80-8114-456E-9B24-737F91CAD60F}" presName="bgRect" presStyleLbl="bgShp" presStyleIdx="3" presStyleCnt="5"/>
      <dgm:spPr/>
    </dgm:pt>
    <dgm:pt modelId="{9896F3B8-C102-41E7-BD5E-EE07BD13AB53}" type="pres">
      <dgm:prSet presAssocID="{058F5F80-8114-456E-9B24-737F91CAD60F}"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nimize"/>
        </a:ext>
      </dgm:extLst>
    </dgm:pt>
    <dgm:pt modelId="{229CA917-97E5-47AD-AC6F-77CECFF98FA5}" type="pres">
      <dgm:prSet presAssocID="{058F5F80-8114-456E-9B24-737F91CAD60F}" presName="spaceRect" presStyleCnt="0"/>
      <dgm:spPr/>
    </dgm:pt>
    <dgm:pt modelId="{598A7FD3-71D6-48A8-AD69-2664F57E8589}" type="pres">
      <dgm:prSet presAssocID="{058F5F80-8114-456E-9B24-737F91CAD60F}" presName="parTx" presStyleLbl="revTx" presStyleIdx="3" presStyleCnt="5">
        <dgm:presLayoutVars>
          <dgm:chMax val="0"/>
          <dgm:chPref val="0"/>
        </dgm:presLayoutVars>
      </dgm:prSet>
      <dgm:spPr/>
    </dgm:pt>
    <dgm:pt modelId="{32E98DEE-1B04-430D-91DF-8E966F5D36CF}" type="pres">
      <dgm:prSet presAssocID="{6D267565-6297-45F8-A438-5C4EBF2B22F8}" presName="sibTrans" presStyleCnt="0"/>
      <dgm:spPr/>
    </dgm:pt>
    <dgm:pt modelId="{7308E671-0D91-45DD-8622-BA10DDDAEE99}" type="pres">
      <dgm:prSet presAssocID="{C6A4B786-7057-44E1-A3ED-7C0391BD762C}" presName="compNode" presStyleCnt="0"/>
      <dgm:spPr/>
    </dgm:pt>
    <dgm:pt modelId="{FDF12E78-1E39-4D58-BAAB-0BB730CCA59B}" type="pres">
      <dgm:prSet presAssocID="{C6A4B786-7057-44E1-A3ED-7C0391BD762C}" presName="bgRect" presStyleLbl="bgShp" presStyleIdx="4" presStyleCnt="5"/>
      <dgm:spPr/>
    </dgm:pt>
    <dgm:pt modelId="{8F8E5333-8C0B-411C-B0E7-DA02AEDDA092}" type="pres">
      <dgm:prSet presAssocID="{C6A4B786-7057-44E1-A3ED-7C0391BD762C}"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urtle"/>
        </a:ext>
      </dgm:extLst>
    </dgm:pt>
    <dgm:pt modelId="{270EDC0D-66BD-4AF7-8C36-35928780BC63}" type="pres">
      <dgm:prSet presAssocID="{C6A4B786-7057-44E1-A3ED-7C0391BD762C}" presName="spaceRect" presStyleCnt="0"/>
      <dgm:spPr/>
    </dgm:pt>
    <dgm:pt modelId="{BFADC088-A5D7-475B-BD83-1A7F976652B9}" type="pres">
      <dgm:prSet presAssocID="{C6A4B786-7057-44E1-A3ED-7C0391BD762C}" presName="parTx" presStyleLbl="revTx" presStyleIdx="4" presStyleCnt="5">
        <dgm:presLayoutVars>
          <dgm:chMax val="0"/>
          <dgm:chPref val="0"/>
        </dgm:presLayoutVars>
      </dgm:prSet>
      <dgm:spPr/>
    </dgm:pt>
  </dgm:ptLst>
  <dgm:cxnLst>
    <dgm:cxn modelId="{94FA5000-F226-46BA-A2D9-A378583EFFB8}" srcId="{5F9C4BFE-CA76-4BEB-98AB-0625025FFF00}" destId="{E14A76ED-D318-48D4-A4AD-499A51A3E951}" srcOrd="1" destOrd="0" parTransId="{6919D6CF-BC1F-493B-9C6F-7C148319B0B2}" sibTransId="{949D0E67-051D-4C9E-9102-1234D2984F5D}"/>
    <dgm:cxn modelId="{4DC0FC39-0D8C-4D1C-9195-BC6FB9E1A0AC}" type="presOf" srcId="{058F5F80-8114-456E-9B24-737F91CAD60F}" destId="{598A7FD3-71D6-48A8-AD69-2664F57E8589}" srcOrd="0" destOrd="0" presId="urn:microsoft.com/office/officeart/2018/2/layout/IconVerticalSolidList"/>
    <dgm:cxn modelId="{74451E5B-A53D-4FEF-A144-EC67779D21AF}" srcId="{5F9C4BFE-CA76-4BEB-98AB-0625025FFF00}" destId="{9D9C809E-D51C-448A-9A96-EAD900CEC4DF}" srcOrd="0" destOrd="0" parTransId="{59302F55-C2D2-439C-9D1F-378546E976D9}" sibTransId="{E8E13BD0-64ED-47C8-9DF0-1A5B073AE09D}"/>
    <dgm:cxn modelId="{609EEA6E-1263-43D2-B4F4-E8CE4D0412DE}" type="presOf" srcId="{C6A4B786-7057-44E1-A3ED-7C0391BD762C}" destId="{BFADC088-A5D7-475B-BD83-1A7F976652B9}" srcOrd="0" destOrd="0" presId="urn:microsoft.com/office/officeart/2018/2/layout/IconVerticalSolidList"/>
    <dgm:cxn modelId="{1C8EBA52-B745-42F0-943A-328269D32821}" type="presOf" srcId="{E14A76ED-D318-48D4-A4AD-499A51A3E951}" destId="{8D98ECDF-A1EF-480F-AFA9-D23B09EBAECD}" srcOrd="0" destOrd="0" presId="urn:microsoft.com/office/officeart/2018/2/layout/IconVerticalSolidList"/>
    <dgm:cxn modelId="{677E2454-2FD6-4D6C-AEBF-795888B8F4A5}" srcId="{5F9C4BFE-CA76-4BEB-98AB-0625025FFF00}" destId="{C6A4B786-7057-44E1-A3ED-7C0391BD762C}" srcOrd="4" destOrd="0" parTransId="{646CF66E-FF9B-4F59-9B26-5FE28E0E5BC3}" sibTransId="{1DC41A11-2D3D-4940-B2B2-80B8FD7360E3}"/>
    <dgm:cxn modelId="{E7953188-F882-4079-81B0-F372F130A01F}" srcId="{5F9C4BFE-CA76-4BEB-98AB-0625025FFF00}" destId="{8A5ED9FA-DCF5-4943-BB6D-C3BC0EC71BCE}" srcOrd="2" destOrd="0" parTransId="{0B0443C8-9446-4765-BC89-C55A3BCB08A1}" sibTransId="{99C39E5A-6577-454E-9BCC-152C91645084}"/>
    <dgm:cxn modelId="{418766A4-F2C1-4DAE-BC63-4A0E99C73108}" type="presOf" srcId="{8A5ED9FA-DCF5-4943-BB6D-C3BC0EC71BCE}" destId="{5A8776F0-10AA-444E-ADA4-8A24EE9D0756}" srcOrd="0" destOrd="0" presId="urn:microsoft.com/office/officeart/2018/2/layout/IconVerticalSolidList"/>
    <dgm:cxn modelId="{E7EEAFC9-A5C9-4865-BD60-127E472927AC}" type="presOf" srcId="{9D9C809E-D51C-448A-9A96-EAD900CEC4DF}" destId="{0D7BB0D7-67AD-41CB-A29E-68E376C16F15}" srcOrd="0" destOrd="0" presId="urn:microsoft.com/office/officeart/2018/2/layout/IconVerticalSolidList"/>
    <dgm:cxn modelId="{5DB444E4-C01E-40CF-825E-39B213720C00}" type="presOf" srcId="{5F9C4BFE-CA76-4BEB-98AB-0625025FFF00}" destId="{32B5C04D-4C13-4307-B471-EE41607C6F6A}" srcOrd="0" destOrd="0" presId="urn:microsoft.com/office/officeart/2018/2/layout/IconVerticalSolidList"/>
    <dgm:cxn modelId="{F720BEE7-DB16-42F5-A987-B697EAD430E4}" srcId="{5F9C4BFE-CA76-4BEB-98AB-0625025FFF00}" destId="{058F5F80-8114-456E-9B24-737F91CAD60F}" srcOrd="3" destOrd="0" parTransId="{73A11DCE-E7D0-48A0-9343-DB32EDC2AAA0}" sibTransId="{6D267565-6297-45F8-A438-5C4EBF2B22F8}"/>
    <dgm:cxn modelId="{29BAC6CC-9981-4B3D-8861-AC8539C4912F}" type="presParOf" srcId="{32B5C04D-4C13-4307-B471-EE41607C6F6A}" destId="{E013418F-A466-4506-A63F-74C55A8CED61}" srcOrd="0" destOrd="0" presId="urn:microsoft.com/office/officeart/2018/2/layout/IconVerticalSolidList"/>
    <dgm:cxn modelId="{3C1B8F58-24AA-4E71-A6CA-CA68E481D158}" type="presParOf" srcId="{E013418F-A466-4506-A63F-74C55A8CED61}" destId="{F48BD819-155D-4491-95BB-1FE82680043B}" srcOrd="0" destOrd="0" presId="urn:microsoft.com/office/officeart/2018/2/layout/IconVerticalSolidList"/>
    <dgm:cxn modelId="{617896E5-90FF-4BD9-B2F6-5685B288BF17}" type="presParOf" srcId="{E013418F-A466-4506-A63F-74C55A8CED61}" destId="{D223AB70-23A9-41EB-AE2F-6A52F83FF40A}" srcOrd="1" destOrd="0" presId="urn:microsoft.com/office/officeart/2018/2/layout/IconVerticalSolidList"/>
    <dgm:cxn modelId="{A8C6611D-AE60-4595-B437-7A4536E13F00}" type="presParOf" srcId="{E013418F-A466-4506-A63F-74C55A8CED61}" destId="{676DB345-9DCF-4F1A-9F2E-06AC8FDD38B6}" srcOrd="2" destOrd="0" presId="urn:microsoft.com/office/officeart/2018/2/layout/IconVerticalSolidList"/>
    <dgm:cxn modelId="{E1A43A13-BC12-45F7-92B9-85AD85E53626}" type="presParOf" srcId="{E013418F-A466-4506-A63F-74C55A8CED61}" destId="{0D7BB0D7-67AD-41CB-A29E-68E376C16F15}" srcOrd="3" destOrd="0" presId="urn:microsoft.com/office/officeart/2018/2/layout/IconVerticalSolidList"/>
    <dgm:cxn modelId="{3295DE28-C88E-4EDC-A26C-9928CA15A495}" type="presParOf" srcId="{32B5C04D-4C13-4307-B471-EE41607C6F6A}" destId="{7F71ADCD-A3A4-4E0B-A550-048421E3042E}" srcOrd="1" destOrd="0" presId="urn:microsoft.com/office/officeart/2018/2/layout/IconVerticalSolidList"/>
    <dgm:cxn modelId="{3B56C9DE-F5C0-4E68-933B-04DEEA1A9164}" type="presParOf" srcId="{32B5C04D-4C13-4307-B471-EE41607C6F6A}" destId="{5FE9A941-B296-4EB8-9A1D-A6163430572C}" srcOrd="2" destOrd="0" presId="urn:microsoft.com/office/officeart/2018/2/layout/IconVerticalSolidList"/>
    <dgm:cxn modelId="{0E192E89-E925-461E-9EAD-BA3E07B8E3E4}" type="presParOf" srcId="{5FE9A941-B296-4EB8-9A1D-A6163430572C}" destId="{BF82C3D2-3478-4F9B-80CB-F3F546D32550}" srcOrd="0" destOrd="0" presId="urn:microsoft.com/office/officeart/2018/2/layout/IconVerticalSolidList"/>
    <dgm:cxn modelId="{3427A8DB-E739-44C0-8F08-724D84132998}" type="presParOf" srcId="{5FE9A941-B296-4EB8-9A1D-A6163430572C}" destId="{B3CD7AAC-E03A-4201-88EC-CB470F53D3B5}" srcOrd="1" destOrd="0" presId="urn:microsoft.com/office/officeart/2018/2/layout/IconVerticalSolidList"/>
    <dgm:cxn modelId="{4AEC1197-2D22-4E24-92A1-D63AF07BF0D2}" type="presParOf" srcId="{5FE9A941-B296-4EB8-9A1D-A6163430572C}" destId="{402152D1-F38B-4FE8-A253-4ED318F6011C}" srcOrd="2" destOrd="0" presId="urn:microsoft.com/office/officeart/2018/2/layout/IconVerticalSolidList"/>
    <dgm:cxn modelId="{AFD230F5-C99D-4359-A7CA-7BCFE75D4F22}" type="presParOf" srcId="{5FE9A941-B296-4EB8-9A1D-A6163430572C}" destId="{8D98ECDF-A1EF-480F-AFA9-D23B09EBAECD}" srcOrd="3" destOrd="0" presId="urn:microsoft.com/office/officeart/2018/2/layout/IconVerticalSolidList"/>
    <dgm:cxn modelId="{8693D8DF-471B-4644-BCD3-E87FAA69A6ED}" type="presParOf" srcId="{32B5C04D-4C13-4307-B471-EE41607C6F6A}" destId="{FE2B5CCD-59E4-48E0-AD76-421FA99BB7EB}" srcOrd="3" destOrd="0" presId="urn:microsoft.com/office/officeart/2018/2/layout/IconVerticalSolidList"/>
    <dgm:cxn modelId="{58221AF1-7404-43F1-AC78-7EAC18DA4E78}" type="presParOf" srcId="{32B5C04D-4C13-4307-B471-EE41607C6F6A}" destId="{60121FAA-7377-4084-B7C1-0ED82171D58C}" srcOrd="4" destOrd="0" presId="urn:microsoft.com/office/officeart/2018/2/layout/IconVerticalSolidList"/>
    <dgm:cxn modelId="{FD6C8892-278E-479A-8C68-F3F11E7C2800}" type="presParOf" srcId="{60121FAA-7377-4084-B7C1-0ED82171D58C}" destId="{E7836445-B77C-448F-B53B-C966B6187AE5}" srcOrd="0" destOrd="0" presId="urn:microsoft.com/office/officeart/2018/2/layout/IconVerticalSolidList"/>
    <dgm:cxn modelId="{188B83FA-14B0-49D0-B882-659353533B27}" type="presParOf" srcId="{60121FAA-7377-4084-B7C1-0ED82171D58C}" destId="{9637747F-7685-445B-8231-B6FB24555AA4}" srcOrd="1" destOrd="0" presId="urn:microsoft.com/office/officeart/2018/2/layout/IconVerticalSolidList"/>
    <dgm:cxn modelId="{346C762F-CE66-4486-B090-91BDA693C543}" type="presParOf" srcId="{60121FAA-7377-4084-B7C1-0ED82171D58C}" destId="{B98F86CE-89B3-4F82-9D43-7BCB3CB0AC15}" srcOrd="2" destOrd="0" presId="urn:microsoft.com/office/officeart/2018/2/layout/IconVerticalSolidList"/>
    <dgm:cxn modelId="{DFF7E96C-7EC5-4F11-9F21-61E2E9758820}" type="presParOf" srcId="{60121FAA-7377-4084-B7C1-0ED82171D58C}" destId="{5A8776F0-10AA-444E-ADA4-8A24EE9D0756}" srcOrd="3" destOrd="0" presId="urn:microsoft.com/office/officeart/2018/2/layout/IconVerticalSolidList"/>
    <dgm:cxn modelId="{6CC1FB8F-7559-41E4-8DC1-4451E781B432}" type="presParOf" srcId="{32B5C04D-4C13-4307-B471-EE41607C6F6A}" destId="{DB04CF52-4B4F-4638-AD65-86699EB200B4}" srcOrd="5" destOrd="0" presId="urn:microsoft.com/office/officeart/2018/2/layout/IconVerticalSolidList"/>
    <dgm:cxn modelId="{96143DBB-00B6-438B-9AF0-9C31B4032982}" type="presParOf" srcId="{32B5C04D-4C13-4307-B471-EE41607C6F6A}" destId="{5246EF52-5A7F-418E-9661-7874B6A8D27E}" srcOrd="6" destOrd="0" presId="urn:microsoft.com/office/officeart/2018/2/layout/IconVerticalSolidList"/>
    <dgm:cxn modelId="{F4348AE2-98C6-4D56-BD13-79B9B89944AA}" type="presParOf" srcId="{5246EF52-5A7F-418E-9661-7874B6A8D27E}" destId="{266B2589-CD48-488D-B047-F0C84EEBB371}" srcOrd="0" destOrd="0" presId="urn:microsoft.com/office/officeart/2018/2/layout/IconVerticalSolidList"/>
    <dgm:cxn modelId="{A3CDEB21-6E32-4078-A6A6-9A07D4B59E51}" type="presParOf" srcId="{5246EF52-5A7F-418E-9661-7874B6A8D27E}" destId="{9896F3B8-C102-41E7-BD5E-EE07BD13AB53}" srcOrd="1" destOrd="0" presId="urn:microsoft.com/office/officeart/2018/2/layout/IconVerticalSolidList"/>
    <dgm:cxn modelId="{D1168E8A-9CF3-44A4-9ABC-AAB66CE5C6DC}" type="presParOf" srcId="{5246EF52-5A7F-418E-9661-7874B6A8D27E}" destId="{229CA917-97E5-47AD-AC6F-77CECFF98FA5}" srcOrd="2" destOrd="0" presId="urn:microsoft.com/office/officeart/2018/2/layout/IconVerticalSolidList"/>
    <dgm:cxn modelId="{243543FB-D90F-421F-87F5-549EE1DA9103}" type="presParOf" srcId="{5246EF52-5A7F-418E-9661-7874B6A8D27E}" destId="{598A7FD3-71D6-48A8-AD69-2664F57E8589}" srcOrd="3" destOrd="0" presId="urn:microsoft.com/office/officeart/2018/2/layout/IconVerticalSolidList"/>
    <dgm:cxn modelId="{53BAC5A0-67DE-4B49-8BE1-28555F9BC40D}" type="presParOf" srcId="{32B5C04D-4C13-4307-B471-EE41607C6F6A}" destId="{32E98DEE-1B04-430D-91DF-8E966F5D36CF}" srcOrd="7" destOrd="0" presId="urn:microsoft.com/office/officeart/2018/2/layout/IconVerticalSolidList"/>
    <dgm:cxn modelId="{266A460B-04BE-4E59-A8B5-F5A671E9B6AF}" type="presParOf" srcId="{32B5C04D-4C13-4307-B471-EE41607C6F6A}" destId="{7308E671-0D91-45DD-8622-BA10DDDAEE99}" srcOrd="8" destOrd="0" presId="urn:microsoft.com/office/officeart/2018/2/layout/IconVerticalSolidList"/>
    <dgm:cxn modelId="{42DB3DF3-4533-4AD8-B562-DC6F0D852519}" type="presParOf" srcId="{7308E671-0D91-45DD-8622-BA10DDDAEE99}" destId="{FDF12E78-1E39-4D58-BAAB-0BB730CCA59B}" srcOrd="0" destOrd="0" presId="urn:microsoft.com/office/officeart/2018/2/layout/IconVerticalSolidList"/>
    <dgm:cxn modelId="{95C8478A-EBB6-4DD5-8ECA-C2BFC140E96D}" type="presParOf" srcId="{7308E671-0D91-45DD-8622-BA10DDDAEE99}" destId="{8F8E5333-8C0B-411C-B0E7-DA02AEDDA092}" srcOrd="1" destOrd="0" presId="urn:microsoft.com/office/officeart/2018/2/layout/IconVerticalSolidList"/>
    <dgm:cxn modelId="{D4B04655-7B89-48AD-A901-E0F6EFC561F2}" type="presParOf" srcId="{7308E671-0D91-45DD-8622-BA10DDDAEE99}" destId="{270EDC0D-66BD-4AF7-8C36-35928780BC63}" srcOrd="2" destOrd="0" presId="urn:microsoft.com/office/officeart/2018/2/layout/IconVerticalSolidList"/>
    <dgm:cxn modelId="{27ABEAE5-AF38-4A04-B6A5-D5B6E5B2391A}" type="presParOf" srcId="{7308E671-0D91-45DD-8622-BA10DDDAEE99}" destId="{BFADC088-A5D7-475B-BD83-1A7F976652B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B8493B-1438-4C09-9FCB-0AD7439222FB}" type="doc">
      <dgm:prSet loTypeId="urn:microsoft.com/office/officeart/2005/8/layout/hList1" loCatId="list" qsTypeId="urn:microsoft.com/office/officeart/2005/8/quickstyle/simple5" qsCatId="simple" csTypeId="urn:microsoft.com/office/officeart/2005/8/colors/accent0_3" csCatId="mainScheme" phldr="1"/>
      <dgm:spPr/>
      <dgm:t>
        <a:bodyPr/>
        <a:lstStyle/>
        <a:p>
          <a:endParaRPr lang="en-US"/>
        </a:p>
      </dgm:t>
    </dgm:pt>
    <dgm:pt modelId="{82947AAB-1841-4D9D-B87C-15967175DCAD}">
      <dgm:prSet/>
      <dgm:spPr/>
      <dgm:t>
        <a:bodyPr/>
        <a:lstStyle/>
        <a:p>
          <a:pPr>
            <a:lnSpc>
              <a:spcPct val="100000"/>
            </a:lnSpc>
          </a:pPr>
          <a:r>
            <a:rPr lang="en-US" dirty="0"/>
            <a:t>A country has the following characteristics</a:t>
          </a:r>
        </a:p>
      </dgm:t>
    </dgm:pt>
    <dgm:pt modelId="{54F5EB7B-4B14-40F7-A286-44E9936B9C8F}" type="parTrans" cxnId="{B27D48A2-BA0A-4E09-860B-9EB54828DAA3}">
      <dgm:prSet/>
      <dgm:spPr/>
      <dgm:t>
        <a:bodyPr/>
        <a:lstStyle/>
        <a:p>
          <a:endParaRPr lang="en-US"/>
        </a:p>
      </dgm:t>
    </dgm:pt>
    <dgm:pt modelId="{D7F6A256-90E1-48D3-86E7-50D1EC492C8A}" type="sibTrans" cxnId="{B27D48A2-BA0A-4E09-860B-9EB54828DAA3}">
      <dgm:prSet/>
      <dgm:spPr/>
      <dgm:t>
        <a:bodyPr/>
        <a:lstStyle/>
        <a:p>
          <a:endParaRPr lang="en-US"/>
        </a:p>
      </dgm:t>
    </dgm:pt>
    <dgm:pt modelId="{E41A09FB-00D7-464B-8608-CE1AD729D278}">
      <dgm:prSet/>
      <dgm:spPr/>
      <dgm:t>
        <a:bodyPr/>
        <a:lstStyle/>
        <a:p>
          <a:pPr>
            <a:lnSpc>
              <a:spcPct val="100000"/>
            </a:lnSpc>
          </a:pPr>
          <a:r>
            <a:rPr lang="en-US"/>
            <a:t>Population grows by </a:t>
          </a:r>
          <a:r>
            <a:rPr lang="en-US" b="1"/>
            <a:t>2.5%</a:t>
          </a:r>
          <a:r>
            <a:rPr lang="en-US"/>
            <a:t> per year. </a:t>
          </a:r>
        </a:p>
      </dgm:t>
    </dgm:pt>
    <dgm:pt modelId="{79219F8F-2190-4C3E-B55E-EA4559FE86FB}" type="parTrans" cxnId="{FF0B19C4-626F-4EEE-AAB7-118604FFEB54}">
      <dgm:prSet/>
      <dgm:spPr/>
      <dgm:t>
        <a:bodyPr/>
        <a:lstStyle/>
        <a:p>
          <a:endParaRPr lang="en-US"/>
        </a:p>
      </dgm:t>
    </dgm:pt>
    <dgm:pt modelId="{991A6F00-2521-42A2-9809-E45382045307}" type="sibTrans" cxnId="{FF0B19C4-626F-4EEE-AAB7-118604FFEB54}">
      <dgm:prSet/>
      <dgm:spPr/>
      <dgm:t>
        <a:bodyPr/>
        <a:lstStyle/>
        <a:p>
          <a:endParaRPr lang="en-US"/>
        </a:p>
      </dgm:t>
    </dgm:pt>
    <dgm:pt modelId="{754C8D34-65E8-44EE-BA47-A506AF50C482}">
      <dgm:prSet/>
      <dgm:spPr/>
      <dgm:t>
        <a:bodyPr/>
        <a:lstStyle/>
        <a:p>
          <a:pPr>
            <a:lnSpc>
              <a:spcPct val="100000"/>
            </a:lnSpc>
          </a:pPr>
          <a:r>
            <a:rPr lang="en-US"/>
            <a:t>Agricultural land remains fixed. </a:t>
          </a:r>
        </a:p>
      </dgm:t>
    </dgm:pt>
    <dgm:pt modelId="{D4E7C492-473D-4827-9B6E-B06E4E639859}" type="parTrans" cxnId="{596B5117-BB48-447A-A886-815E9D015E24}">
      <dgm:prSet/>
      <dgm:spPr/>
      <dgm:t>
        <a:bodyPr/>
        <a:lstStyle/>
        <a:p>
          <a:endParaRPr lang="en-US"/>
        </a:p>
      </dgm:t>
    </dgm:pt>
    <dgm:pt modelId="{E67ACC26-A319-476D-8E85-C18C21A31071}" type="sibTrans" cxnId="{596B5117-BB48-447A-A886-815E9D015E24}">
      <dgm:prSet/>
      <dgm:spPr/>
      <dgm:t>
        <a:bodyPr/>
        <a:lstStyle/>
        <a:p>
          <a:endParaRPr lang="en-US"/>
        </a:p>
      </dgm:t>
    </dgm:pt>
    <dgm:pt modelId="{ED661443-E7C5-4020-A374-AEE526BC3A6D}">
      <dgm:prSet/>
      <dgm:spPr/>
      <dgm:t>
        <a:bodyPr/>
        <a:lstStyle/>
        <a:p>
          <a:pPr>
            <a:lnSpc>
              <a:spcPct val="100000"/>
            </a:lnSpc>
          </a:pPr>
          <a:r>
            <a:rPr lang="en-US" dirty="0"/>
            <a:t>Investment only replaces depreciated machinery. </a:t>
          </a:r>
        </a:p>
      </dgm:t>
    </dgm:pt>
    <dgm:pt modelId="{F5F3BACC-1EA4-4D7D-9393-96C461AB26B2}" type="parTrans" cxnId="{43FB5D2A-88AE-4D21-B70B-FDB91B4E118A}">
      <dgm:prSet/>
      <dgm:spPr/>
      <dgm:t>
        <a:bodyPr/>
        <a:lstStyle/>
        <a:p>
          <a:endParaRPr lang="en-US"/>
        </a:p>
      </dgm:t>
    </dgm:pt>
    <dgm:pt modelId="{D1304751-4040-4AC3-A283-37D92D00EE30}" type="sibTrans" cxnId="{43FB5D2A-88AE-4D21-B70B-FDB91B4E118A}">
      <dgm:prSet/>
      <dgm:spPr/>
      <dgm:t>
        <a:bodyPr/>
        <a:lstStyle/>
        <a:p>
          <a:endParaRPr lang="en-US"/>
        </a:p>
      </dgm:t>
    </dgm:pt>
    <dgm:pt modelId="{E6EFD28F-8FB8-447C-AB17-BB204AE2CBF9}">
      <dgm:prSet/>
      <dgm:spPr/>
      <dgm:t>
        <a:bodyPr/>
        <a:lstStyle/>
        <a:p>
          <a:pPr>
            <a:lnSpc>
              <a:spcPct val="100000"/>
            </a:lnSpc>
          </a:pPr>
          <a:r>
            <a:rPr lang="en-US"/>
            <a:t>There is almost no technological innovation. </a:t>
          </a:r>
        </a:p>
      </dgm:t>
    </dgm:pt>
    <dgm:pt modelId="{8E402088-7C0C-4ACC-8952-9B5307D88C5A}" type="parTrans" cxnId="{70C2CE89-D4ED-4AA0-8C27-C65E3DB3455F}">
      <dgm:prSet/>
      <dgm:spPr/>
      <dgm:t>
        <a:bodyPr/>
        <a:lstStyle/>
        <a:p>
          <a:endParaRPr lang="en-US"/>
        </a:p>
      </dgm:t>
    </dgm:pt>
    <dgm:pt modelId="{A7AAC052-6812-4CB7-8A33-98B4ACCAAE6F}" type="sibTrans" cxnId="{70C2CE89-D4ED-4AA0-8C27-C65E3DB3455F}">
      <dgm:prSet/>
      <dgm:spPr/>
      <dgm:t>
        <a:bodyPr/>
        <a:lstStyle/>
        <a:p>
          <a:endParaRPr lang="en-US"/>
        </a:p>
      </dgm:t>
    </dgm:pt>
    <dgm:pt modelId="{AD755996-16FE-4FA9-BC33-6575CA627E03}">
      <dgm:prSet/>
      <dgm:spPr/>
      <dgm:t>
        <a:bodyPr/>
        <a:lstStyle/>
        <a:p>
          <a:pPr>
            <a:lnSpc>
              <a:spcPct val="100000"/>
            </a:lnSpc>
          </a:pPr>
          <a:r>
            <a:rPr lang="en-US"/>
            <a:t>Real GDP grows by </a:t>
          </a:r>
          <a:r>
            <a:rPr lang="en-US" b="1"/>
            <a:t>2.4%</a:t>
          </a:r>
          <a:r>
            <a:rPr lang="en-US"/>
            <a:t> per year. </a:t>
          </a:r>
        </a:p>
      </dgm:t>
    </dgm:pt>
    <dgm:pt modelId="{ABA863CA-8158-4E5F-A47B-398CF1F59F62}" type="parTrans" cxnId="{FEC329E3-6C85-4D7C-A4EE-46500958EFEA}">
      <dgm:prSet/>
      <dgm:spPr/>
      <dgm:t>
        <a:bodyPr/>
        <a:lstStyle/>
        <a:p>
          <a:endParaRPr lang="en-US"/>
        </a:p>
      </dgm:t>
    </dgm:pt>
    <dgm:pt modelId="{511AC684-667B-45AA-BBA6-A8D398B4F33E}" type="sibTrans" cxnId="{FEC329E3-6C85-4D7C-A4EE-46500958EFEA}">
      <dgm:prSet/>
      <dgm:spPr/>
      <dgm:t>
        <a:bodyPr/>
        <a:lstStyle/>
        <a:p>
          <a:endParaRPr lang="en-US"/>
        </a:p>
      </dgm:t>
    </dgm:pt>
    <dgm:pt modelId="{CBD074C4-AA79-4485-91CF-5D795827469C}">
      <dgm:prSet/>
      <dgm:spPr/>
      <dgm:t>
        <a:bodyPr/>
        <a:lstStyle/>
        <a:p>
          <a:pPr>
            <a:lnSpc>
              <a:spcPct val="100000"/>
            </a:lnSpc>
          </a:pPr>
          <a:r>
            <a:rPr lang="en-US" b="1"/>
            <a:t>Questions </a:t>
          </a:r>
          <a:endParaRPr lang="en-US"/>
        </a:p>
      </dgm:t>
    </dgm:pt>
    <dgm:pt modelId="{490B4B28-BF34-47BE-B893-DEA75F9485AD}" type="parTrans" cxnId="{7657CE42-3BC1-4D8C-85AF-80D8EFAE39B6}">
      <dgm:prSet/>
      <dgm:spPr/>
      <dgm:t>
        <a:bodyPr/>
        <a:lstStyle/>
        <a:p>
          <a:endParaRPr lang="en-US"/>
        </a:p>
      </dgm:t>
    </dgm:pt>
    <dgm:pt modelId="{193577E8-BF92-4621-86E4-E84964B8A7E6}" type="sibTrans" cxnId="{7657CE42-3BC1-4D8C-85AF-80D8EFAE39B6}">
      <dgm:prSet/>
      <dgm:spPr/>
      <dgm:t>
        <a:bodyPr/>
        <a:lstStyle/>
        <a:p>
          <a:endParaRPr lang="en-US"/>
        </a:p>
      </dgm:t>
    </dgm:pt>
    <dgm:pt modelId="{9E3435A5-5AA3-45C7-9D22-755540B10500}">
      <dgm:prSet/>
      <dgm:spPr/>
      <dgm:t>
        <a:bodyPr/>
        <a:lstStyle/>
        <a:p>
          <a:pPr>
            <a:lnSpc>
              <a:spcPct val="100000"/>
            </a:lnSpc>
          </a:pPr>
          <a:r>
            <a:rPr lang="en-US"/>
            <a:t>Is this country approaching a stationary state? </a:t>
          </a:r>
        </a:p>
      </dgm:t>
    </dgm:pt>
    <dgm:pt modelId="{90B14DE8-F0F4-4C3F-8628-83673FA7274B}" type="parTrans" cxnId="{B6364678-B044-4607-B370-B02B9149A3CE}">
      <dgm:prSet/>
      <dgm:spPr/>
      <dgm:t>
        <a:bodyPr/>
        <a:lstStyle/>
        <a:p>
          <a:endParaRPr lang="en-US"/>
        </a:p>
      </dgm:t>
    </dgm:pt>
    <dgm:pt modelId="{85CFC912-AE9D-4FF7-AEE6-63595492F58F}" type="sibTrans" cxnId="{B6364678-B044-4607-B370-B02B9149A3CE}">
      <dgm:prSet/>
      <dgm:spPr/>
      <dgm:t>
        <a:bodyPr/>
        <a:lstStyle/>
        <a:p>
          <a:endParaRPr lang="en-US"/>
        </a:p>
      </dgm:t>
    </dgm:pt>
    <dgm:pt modelId="{E16E1A61-6F33-473F-9B32-256BA2FC4C0F}">
      <dgm:prSet/>
      <dgm:spPr/>
      <dgm:t>
        <a:bodyPr/>
        <a:lstStyle/>
        <a:p>
          <a:pPr>
            <a:lnSpc>
              <a:spcPct val="100000"/>
            </a:lnSpc>
          </a:pPr>
          <a:r>
            <a:rPr lang="en-US"/>
            <a:t>Which assumptions of Classical Growth Theory apply? </a:t>
          </a:r>
        </a:p>
      </dgm:t>
    </dgm:pt>
    <dgm:pt modelId="{38BD6A22-8DEC-4C02-AD2A-2587E61B2E00}" type="parTrans" cxnId="{D47921C7-6720-4691-9AB7-F1B2D87E4502}">
      <dgm:prSet/>
      <dgm:spPr/>
      <dgm:t>
        <a:bodyPr/>
        <a:lstStyle/>
        <a:p>
          <a:endParaRPr lang="en-US"/>
        </a:p>
      </dgm:t>
    </dgm:pt>
    <dgm:pt modelId="{06C2EE18-B4AE-4A8F-A43C-7E81F087EAC4}" type="sibTrans" cxnId="{D47921C7-6720-4691-9AB7-F1B2D87E4502}">
      <dgm:prSet/>
      <dgm:spPr/>
      <dgm:t>
        <a:bodyPr/>
        <a:lstStyle/>
        <a:p>
          <a:endParaRPr lang="en-US"/>
        </a:p>
      </dgm:t>
    </dgm:pt>
    <dgm:pt modelId="{58209203-7295-4972-850C-1D48F9BB0F29}">
      <dgm:prSet/>
      <dgm:spPr/>
      <dgm:t>
        <a:bodyPr/>
        <a:lstStyle/>
        <a:p>
          <a:pPr>
            <a:lnSpc>
              <a:spcPct val="100000"/>
            </a:lnSpc>
          </a:pPr>
          <a:r>
            <a:rPr lang="en-US"/>
            <a:t>What policies could help the country escape the stationary state?</a:t>
          </a:r>
        </a:p>
      </dgm:t>
    </dgm:pt>
    <dgm:pt modelId="{9EB93634-5474-40B3-A948-C2BDD3E87039}" type="parTrans" cxnId="{5052ACEF-80DB-479E-A87D-77753823AE36}">
      <dgm:prSet/>
      <dgm:spPr/>
      <dgm:t>
        <a:bodyPr/>
        <a:lstStyle/>
        <a:p>
          <a:endParaRPr lang="en-US"/>
        </a:p>
      </dgm:t>
    </dgm:pt>
    <dgm:pt modelId="{02D17846-FFAD-44F0-88DA-CE2309E14153}" type="sibTrans" cxnId="{5052ACEF-80DB-479E-A87D-77753823AE36}">
      <dgm:prSet/>
      <dgm:spPr/>
      <dgm:t>
        <a:bodyPr/>
        <a:lstStyle/>
        <a:p>
          <a:endParaRPr lang="en-US"/>
        </a:p>
      </dgm:t>
    </dgm:pt>
    <dgm:pt modelId="{F9BABD3D-8E9F-47A0-B209-C2D04CC4DD4C}" type="pres">
      <dgm:prSet presAssocID="{EBB8493B-1438-4C09-9FCB-0AD7439222FB}" presName="Name0" presStyleCnt="0">
        <dgm:presLayoutVars>
          <dgm:dir/>
          <dgm:animLvl val="lvl"/>
          <dgm:resizeHandles val="exact"/>
        </dgm:presLayoutVars>
      </dgm:prSet>
      <dgm:spPr/>
    </dgm:pt>
    <dgm:pt modelId="{285E2F3F-BDFC-4C30-9410-A085AA9277F7}" type="pres">
      <dgm:prSet presAssocID="{82947AAB-1841-4D9D-B87C-15967175DCAD}" presName="composite" presStyleCnt="0"/>
      <dgm:spPr/>
    </dgm:pt>
    <dgm:pt modelId="{FD83A7C0-8194-4D9F-B93D-B942CDBDEC49}" type="pres">
      <dgm:prSet presAssocID="{82947AAB-1841-4D9D-B87C-15967175DCAD}" presName="parTx" presStyleLbl="alignNode1" presStyleIdx="0" presStyleCnt="2">
        <dgm:presLayoutVars>
          <dgm:chMax val="0"/>
          <dgm:chPref val="0"/>
          <dgm:bulletEnabled val="1"/>
        </dgm:presLayoutVars>
      </dgm:prSet>
      <dgm:spPr/>
    </dgm:pt>
    <dgm:pt modelId="{641FA685-C3A9-44D3-A6B1-CE33D405A6CD}" type="pres">
      <dgm:prSet presAssocID="{82947AAB-1841-4D9D-B87C-15967175DCAD}" presName="desTx" presStyleLbl="alignAccFollowNode1" presStyleIdx="0" presStyleCnt="2">
        <dgm:presLayoutVars>
          <dgm:bulletEnabled val="1"/>
        </dgm:presLayoutVars>
      </dgm:prSet>
      <dgm:spPr/>
    </dgm:pt>
    <dgm:pt modelId="{D913ED0A-4830-4966-AA4D-62EC1515FA99}" type="pres">
      <dgm:prSet presAssocID="{D7F6A256-90E1-48D3-86E7-50D1EC492C8A}" presName="space" presStyleCnt="0"/>
      <dgm:spPr/>
    </dgm:pt>
    <dgm:pt modelId="{AE380DA4-66A7-4CB3-90E8-3EAACD560A4D}" type="pres">
      <dgm:prSet presAssocID="{CBD074C4-AA79-4485-91CF-5D795827469C}" presName="composite" presStyleCnt="0"/>
      <dgm:spPr/>
    </dgm:pt>
    <dgm:pt modelId="{D93F876E-EA7A-4175-9B62-79BFEF831BC0}" type="pres">
      <dgm:prSet presAssocID="{CBD074C4-AA79-4485-91CF-5D795827469C}" presName="parTx" presStyleLbl="alignNode1" presStyleIdx="1" presStyleCnt="2">
        <dgm:presLayoutVars>
          <dgm:chMax val="0"/>
          <dgm:chPref val="0"/>
          <dgm:bulletEnabled val="1"/>
        </dgm:presLayoutVars>
      </dgm:prSet>
      <dgm:spPr/>
    </dgm:pt>
    <dgm:pt modelId="{560E34C9-DDE4-4C52-BA7A-080E6B82C9F8}" type="pres">
      <dgm:prSet presAssocID="{CBD074C4-AA79-4485-91CF-5D795827469C}" presName="desTx" presStyleLbl="alignAccFollowNode1" presStyleIdx="1" presStyleCnt="2">
        <dgm:presLayoutVars>
          <dgm:bulletEnabled val="1"/>
        </dgm:presLayoutVars>
      </dgm:prSet>
      <dgm:spPr/>
    </dgm:pt>
  </dgm:ptLst>
  <dgm:cxnLst>
    <dgm:cxn modelId="{F360ED02-775D-48F6-82D5-9EBE6893BF1C}" type="presOf" srcId="{ED661443-E7C5-4020-A374-AEE526BC3A6D}" destId="{641FA685-C3A9-44D3-A6B1-CE33D405A6CD}" srcOrd="0" destOrd="2" presId="urn:microsoft.com/office/officeart/2005/8/layout/hList1"/>
    <dgm:cxn modelId="{596B5117-BB48-447A-A886-815E9D015E24}" srcId="{82947AAB-1841-4D9D-B87C-15967175DCAD}" destId="{754C8D34-65E8-44EE-BA47-A506AF50C482}" srcOrd="1" destOrd="0" parTransId="{D4E7C492-473D-4827-9B6E-B06E4E639859}" sibTransId="{E67ACC26-A319-476D-8E85-C18C21A31071}"/>
    <dgm:cxn modelId="{D88D501B-FB98-4D9E-BB75-EEBB1FCFDF6A}" type="presOf" srcId="{9E3435A5-5AA3-45C7-9D22-755540B10500}" destId="{560E34C9-DDE4-4C52-BA7A-080E6B82C9F8}" srcOrd="0" destOrd="0" presId="urn:microsoft.com/office/officeart/2005/8/layout/hList1"/>
    <dgm:cxn modelId="{7D981D21-055F-4DE7-8A36-36835452F69B}" type="presOf" srcId="{58209203-7295-4972-850C-1D48F9BB0F29}" destId="{560E34C9-DDE4-4C52-BA7A-080E6B82C9F8}" srcOrd="0" destOrd="2" presId="urn:microsoft.com/office/officeart/2005/8/layout/hList1"/>
    <dgm:cxn modelId="{43FB5D2A-88AE-4D21-B70B-FDB91B4E118A}" srcId="{82947AAB-1841-4D9D-B87C-15967175DCAD}" destId="{ED661443-E7C5-4020-A374-AEE526BC3A6D}" srcOrd="2" destOrd="0" parTransId="{F5F3BACC-1EA4-4D7D-9393-96C461AB26B2}" sibTransId="{D1304751-4040-4AC3-A283-37D92D00EE30}"/>
    <dgm:cxn modelId="{5B739061-3C72-42D2-AA4B-93353441BCA6}" type="presOf" srcId="{82947AAB-1841-4D9D-B87C-15967175DCAD}" destId="{FD83A7C0-8194-4D9F-B93D-B942CDBDEC49}" srcOrd="0" destOrd="0" presId="urn:microsoft.com/office/officeart/2005/8/layout/hList1"/>
    <dgm:cxn modelId="{7657CE42-3BC1-4D8C-85AF-80D8EFAE39B6}" srcId="{EBB8493B-1438-4C09-9FCB-0AD7439222FB}" destId="{CBD074C4-AA79-4485-91CF-5D795827469C}" srcOrd="1" destOrd="0" parTransId="{490B4B28-BF34-47BE-B893-DEA75F9485AD}" sibTransId="{193577E8-BF92-4621-86E4-E84964B8A7E6}"/>
    <dgm:cxn modelId="{FD054E77-4B9F-4CBD-BCAC-A4ED99D42DBB}" type="presOf" srcId="{CBD074C4-AA79-4485-91CF-5D795827469C}" destId="{D93F876E-EA7A-4175-9B62-79BFEF831BC0}" srcOrd="0" destOrd="0" presId="urn:microsoft.com/office/officeart/2005/8/layout/hList1"/>
    <dgm:cxn modelId="{B6364678-B044-4607-B370-B02B9149A3CE}" srcId="{CBD074C4-AA79-4485-91CF-5D795827469C}" destId="{9E3435A5-5AA3-45C7-9D22-755540B10500}" srcOrd="0" destOrd="0" parTransId="{90B14DE8-F0F4-4C3F-8628-83673FA7274B}" sibTransId="{85CFC912-AE9D-4FF7-AEE6-63595492F58F}"/>
    <dgm:cxn modelId="{70C2CE89-D4ED-4AA0-8C27-C65E3DB3455F}" srcId="{82947AAB-1841-4D9D-B87C-15967175DCAD}" destId="{E6EFD28F-8FB8-447C-AB17-BB204AE2CBF9}" srcOrd="3" destOrd="0" parTransId="{8E402088-7C0C-4ACC-8952-9B5307D88C5A}" sibTransId="{A7AAC052-6812-4CB7-8A33-98B4ACCAAE6F}"/>
    <dgm:cxn modelId="{B27D48A2-BA0A-4E09-860B-9EB54828DAA3}" srcId="{EBB8493B-1438-4C09-9FCB-0AD7439222FB}" destId="{82947AAB-1841-4D9D-B87C-15967175DCAD}" srcOrd="0" destOrd="0" parTransId="{54F5EB7B-4B14-40F7-A286-44E9936B9C8F}" sibTransId="{D7F6A256-90E1-48D3-86E7-50D1EC492C8A}"/>
    <dgm:cxn modelId="{292617A5-131A-408A-B9D3-5A9B479F0F8A}" type="presOf" srcId="{E16E1A61-6F33-473F-9B32-256BA2FC4C0F}" destId="{560E34C9-DDE4-4C52-BA7A-080E6B82C9F8}" srcOrd="0" destOrd="1" presId="urn:microsoft.com/office/officeart/2005/8/layout/hList1"/>
    <dgm:cxn modelId="{B968BDA7-8A3C-42B3-B5BF-BB9C627405D2}" type="presOf" srcId="{EBB8493B-1438-4C09-9FCB-0AD7439222FB}" destId="{F9BABD3D-8E9F-47A0-B209-C2D04CC4DD4C}" srcOrd="0" destOrd="0" presId="urn:microsoft.com/office/officeart/2005/8/layout/hList1"/>
    <dgm:cxn modelId="{CE6D0FAE-4E75-4795-96E3-959AEF853E83}" type="presOf" srcId="{E41A09FB-00D7-464B-8608-CE1AD729D278}" destId="{641FA685-C3A9-44D3-A6B1-CE33D405A6CD}" srcOrd="0" destOrd="0" presId="urn:microsoft.com/office/officeart/2005/8/layout/hList1"/>
    <dgm:cxn modelId="{103D9CC3-5E0F-4AC8-AFBD-68E5A35FA66E}" type="presOf" srcId="{E6EFD28F-8FB8-447C-AB17-BB204AE2CBF9}" destId="{641FA685-C3A9-44D3-A6B1-CE33D405A6CD}" srcOrd="0" destOrd="3" presId="urn:microsoft.com/office/officeart/2005/8/layout/hList1"/>
    <dgm:cxn modelId="{FF0B19C4-626F-4EEE-AAB7-118604FFEB54}" srcId="{82947AAB-1841-4D9D-B87C-15967175DCAD}" destId="{E41A09FB-00D7-464B-8608-CE1AD729D278}" srcOrd="0" destOrd="0" parTransId="{79219F8F-2190-4C3E-B55E-EA4559FE86FB}" sibTransId="{991A6F00-2521-42A2-9809-E45382045307}"/>
    <dgm:cxn modelId="{D47921C7-6720-4691-9AB7-F1B2D87E4502}" srcId="{CBD074C4-AA79-4485-91CF-5D795827469C}" destId="{E16E1A61-6F33-473F-9B32-256BA2FC4C0F}" srcOrd="1" destOrd="0" parTransId="{38BD6A22-8DEC-4C02-AD2A-2587E61B2E00}" sibTransId="{06C2EE18-B4AE-4A8F-A43C-7E81F087EAC4}"/>
    <dgm:cxn modelId="{0F5E88D7-8EF0-445F-B40F-63968FCC08E9}" type="presOf" srcId="{754C8D34-65E8-44EE-BA47-A506AF50C482}" destId="{641FA685-C3A9-44D3-A6B1-CE33D405A6CD}" srcOrd="0" destOrd="1" presId="urn:microsoft.com/office/officeart/2005/8/layout/hList1"/>
    <dgm:cxn modelId="{FEC329E3-6C85-4D7C-A4EE-46500958EFEA}" srcId="{82947AAB-1841-4D9D-B87C-15967175DCAD}" destId="{AD755996-16FE-4FA9-BC33-6575CA627E03}" srcOrd="4" destOrd="0" parTransId="{ABA863CA-8158-4E5F-A47B-398CF1F59F62}" sibTransId="{511AC684-667B-45AA-BBA6-A8D398B4F33E}"/>
    <dgm:cxn modelId="{3D85FCE9-D134-48ED-9BDF-A4DE96A9B3EE}" type="presOf" srcId="{AD755996-16FE-4FA9-BC33-6575CA627E03}" destId="{641FA685-C3A9-44D3-A6B1-CE33D405A6CD}" srcOrd="0" destOrd="4" presId="urn:microsoft.com/office/officeart/2005/8/layout/hList1"/>
    <dgm:cxn modelId="{5052ACEF-80DB-479E-A87D-77753823AE36}" srcId="{CBD074C4-AA79-4485-91CF-5D795827469C}" destId="{58209203-7295-4972-850C-1D48F9BB0F29}" srcOrd="2" destOrd="0" parTransId="{9EB93634-5474-40B3-A948-C2BDD3E87039}" sibTransId="{02D17846-FFAD-44F0-88DA-CE2309E14153}"/>
    <dgm:cxn modelId="{4B0A6E5A-213C-4A11-A170-B905D5F82AFA}" type="presParOf" srcId="{F9BABD3D-8E9F-47A0-B209-C2D04CC4DD4C}" destId="{285E2F3F-BDFC-4C30-9410-A085AA9277F7}" srcOrd="0" destOrd="0" presId="urn:microsoft.com/office/officeart/2005/8/layout/hList1"/>
    <dgm:cxn modelId="{878B6A14-0A84-487C-BC7D-C0BEFC5C2E25}" type="presParOf" srcId="{285E2F3F-BDFC-4C30-9410-A085AA9277F7}" destId="{FD83A7C0-8194-4D9F-B93D-B942CDBDEC49}" srcOrd="0" destOrd="0" presId="urn:microsoft.com/office/officeart/2005/8/layout/hList1"/>
    <dgm:cxn modelId="{DE670F81-668A-4EE1-A47E-7295FB4A96F2}" type="presParOf" srcId="{285E2F3F-BDFC-4C30-9410-A085AA9277F7}" destId="{641FA685-C3A9-44D3-A6B1-CE33D405A6CD}" srcOrd="1" destOrd="0" presId="urn:microsoft.com/office/officeart/2005/8/layout/hList1"/>
    <dgm:cxn modelId="{98AEBCFB-C02E-4E13-837D-81E76A2D9E02}" type="presParOf" srcId="{F9BABD3D-8E9F-47A0-B209-C2D04CC4DD4C}" destId="{D913ED0A-4830-4966-AA4D-62EC1515FA99}" srcOrd="1" destOrd="0" presId="urn:microsoft.com/office/officeart/2005/8/layout/hList1"/>
    <dgm:cxn modelId="{2B2E2036-CD7D-4B3F-A834-E50088CD42B7}" type="presParOf" srcId="{F9BABD3D-8E9F-47A0-B209-C2D04CC4DD4C}" destId="{AE380DA4-66A7-4CB3-90E8-3EAACD560A4D}" srcOrd="2" destOrd="0" presId="urn:microsoft.com/office/officeart/2005/8/layout/hList1"/>
    <dgm:cxn modelId="{682DDE42-42F6-468C-B9A9-C0ADC8BE3227}" type="presParOf" srcId="{AE380DA4-66A7-4CB3-90E8-3EAACD560A4D}" destId="{D93F876E-EA7A-4175-9B62-79BFEF831BC0}" srcOrd="0" destOrd="0" presId="urn:microsoft.com/office/officeart/2005/8/layout/hList1"/>
    <dgm:cxn modelId="{BD112360-72C2-4779-AD69-2B737F04CE56}" type="presParOf" srcId="{AE380DA4-66A7-4CB3-90E8-3EAACD560A4D}" destId="{560E34C9-DDE4-4C52-BA7A-080E6B82C9F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9370107-9E48-4112-9D5F-6289AEA87D35}"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13E2BBC5-C03C-4A2B-8630-B3009831313D}">
      <dgm:prSet/>
      <dgm:spPr/>
      <dgm:t>
        <a:bodyPr/>
        <a:lstStyle/>
        <a:p>
          <a:pPr>
            <a:defRPr cap="all"/>
          </a:pPr>
          <a:r>
            <a:rPr lang="en-US"/>
            <a:t>Competitive markets </a:t>
          </a:r>
        </a:p>
      </dgm:t>
    </dgm:pt>
    <dgm:pt modelId="{FEB97B3E-4C91-4BDF-B4D4-E4829A5A2661}" type="parTrans" cxnId="{4D46DAAE-B6E3-4ED2-985F-D13C606907F9}">
      <dgm:prSet/>
      <dgm:spPr/>
      <dgm:t>
        <a:bodyPr/>
        <a:lstStyle/>
        <a:p>
          <a:endParaRPr lang="en-US"/>
        </a:p>
      </dgm:t>
    </dgm:pt>
    <dgm:pt modelId="{46D7E48C-2907-42E9-83D9-449D5740A209}" type="sibTrans" cxnId="{4D46DAAE-B6E3-4ED2-985F-D13C606907F9}">
      <dgm:prSet/>
      <dgm:spPr/>
      <dgm:t>
        <a:bodyPr/>
        <a:lstStyle/>
        <a:p>
          <a:endParaRPr lang="en-US"/>
        </a:p>
      </dgm:t>
    </dgm:pt>
    <dgm:pt modelId="{256CD6A1-BB81-41EC-94FE-8E53698CB0DC}">
      <dgm:prSet/>
      <dgm:spPr/>
      <dgm:t>
        <a:bodyPr/>
        <a:lstStyle/>
        <a:p>
          <a:pPr>
            <a:defRPr cap="all"/>
          </a:pPr>
          <a:r>
            <a:rPr lang="en-US"/>
            <a:t>Constant returns to scale </a:t>
          </a:r>
        </a:p>
      </dgm:t>
    </dgm:pt>
    <dgm:pt modelId="{6ED183E4-8D0A-450E-ABB8-91699486AEA1}" type="parTrans" cxnId="{0C26E5BE-CA91-41A0-AA57-6D47B9F16E36}">
      <dgm:prSet/>
      <dgm:spPr/>
      <dgm:t>
        <a:bodyPr/>
        <a:lstStyle/>
        <a:p>
          <a:endParaRPr lang="en-US"/>
        </a:p>
      </dgm:t>
    </dgm:pt>
    <dgm:pt modelId="{564A8B31-BDAA-44E6-9D0B-500E5FB0FAEA}" type="sibTrans" cxnId="{0C26E5BE-CA91-41A0-AA57-6D47B9F16E36}">
      <dgm:prSet/>
      <dgm:spPr/>
      <dgm:t>
        <a:bodyPr/>
        <a:lstStyle/>
        <a:p>
          <a:endParaRPr lang="en-US"/>
        </a:p>
      </dgm:t>
    </dgm:pt>
    <dgm:pt modelId="{9BBDCBFD-5CB9-432F-A79D-C6876A0284BF}">
      <dgm:prSet/>
      <dgm:spPr/>
      <dgm:t>
        <a:bodyPr/>
        <a:lstStyle/>
        <a:p>
          <a:pPr>
            <a:defRPr cap="all"/>
          </a:pPr>
          <a:r>
            <a:rPr lang="en-US"/>
            <a:t>Diminishing returns to capital </a:t>
          </a:r>
        </a:p>
      </dgm:t>
    </dgm:pt>
    <dgm:pt modelId="{DBAC4CD9-62B8-4908-B6C6-103F06385D2A}" type="parTrans" cxnId="{347EB513-AFD6-4B26-BBD3-94781C0B3CD5}">
      <dgm:prSet/>
      <dgm:spPr/>
      <dgm:t>
        <a:bodyPr/>
        <a:lstStyle/>
        <a:p>
          <a:endParaRPr lang="en-US"/>
        </a:p>
      </dgm:t>
    </dgm:pt>
    <dgm:pt modelId="{C5D689CD-9517-49E8-AC16-A6F9205F6F80}" type="sibTrans" cxnId="{347EB513-AFD6-4B26-BBD3-94781C0B3CD5}">
      <dgm:prSet/>
      <dgm:spPr/>
      <dgm:t>
        <a:bodyPr/>
        <a:lstStyle/>
        <a:p>
          <a:endParaRPr lang="en-US"/>
        </a:p>
      </dgm:t>
    </dgm:pt>
    <dgm:pt modelId="{D6140688-1580-40C0-BA33-01B141B69AE4}">
      <dgm:prSet/>
      <dgm:spPr/>
      <dgm:t>
        <a:bodyPr/>
        <a:lstStyle/>
        <a:p>
          <a:pPr>
            <a:defRPr cap="all"/>
          </a:pPr>
          <a:r>
            <a:rPr lang="en-US"/>
            <a:t>Savings finance investment </a:t>
          </a:r>
        </a:p>
      </dgm:t>
    </dgm:pt>
    <dgm:pt modelId="{1D2A17C6-034C-4FBB-9430-C50E11E052B0}" type="parTrans" cxnId="{BB2BC672-381B-4D05-8AEA-8EC44C6D4738}">
      <dgm:prSet/>
      <dgm:spPr/>
      <dgm:t>
        <a:bodyPr/>
        <a:lstStyle/>
        <a:p>
          <a:endParaRPr lang="en-US"/>
        </a:p>
      </dgm:t>
    </dgm:pt>
    <dgm:pt modelId="{C8221712-BE4D-41E4-A2B2-EB002AECA0C8}" type="sibTrans" cxnId="{BB2BC672-381B-4D05-8AEA-8EC44C6D4738}">
      <dgm:prSet/>
      <dgm:spPr/>
      <dgm:t>
        <a:bodyPr/>
        <a:lstStyle/>
        <a:p>
          <a:endParaRPr lang="en-US"/>
        </a:p>
      </dgm:t>
    </dgm:pt>
    <dgm:pt modelId="{5CB7A8A9-4585-4272-9FFB-59D0258FB937}">
      <dgm:prSet/>
      <dgm:spPr/>
      <dgm:t>
        <a:bodyPr/>
        <a:lstStyle/>
        <a:p>
          <a:pPr>
            <a:defRPr cap="all"/>
          </a:pPr>
          <a:r>
            <a:rPr lang="en-US"/>
            <a:t>Technology improves over time </a:t>
          </a:r>
        </a:p>
      </dgm:t>
    </dgm:pt>
    <dgm:pt modelId="{91206C96-AE88-4DDE-A0A0-B2F45620DB9D}" type="parTrans" cxnId="{504869D6-4667-4907-94D9-081F37E5139D}">
      <dgm:prSet/>
      <dgm:spPr/>
      <dgm:t>
        <a:bodyPr/>
        <a:lstStyle/>
        <a:p>
          <a:endParaRPr lang="en-US"/>
        </a:p>
      </dgm:t>
    </dgm:pt>
    <dgm:pt modelId="{D18233FD-F76E-49DD-9207-B9ED6DD538DA}" type="sibTrans" cxnId="{504869D6-4667-4907-94D9-081F37E5139D}">
      <dgm:prSet/>
      <dgm:spPr/>
      <dgm:t>
        <a:bodyPr/>
        <a:lstStyle/>
        <a:p>
          <a:endParaRPr lang="en-US"/>
        </a:p>
      </dgm:t>
    </dgm:pt>
    <dgm:pt modelId="{83B7D9F9-3EE5-46A4-8E5F-CB2927278CED}">
      <dgm:prSet/>
      <dgm:spPr/>
      <dgm:t>
        <a:bodyPr/>
        <a:lstStyle/>
        <a:p>
          <a:pPr>
            <a:defRPr cap="all"/>
          </a:pPr>
          <a:r>
            <a:rPr lang="en-US"/>
            <a:t>Full employment in the long run</a:t>
          </a:r>
        </a:p>
      </dgm:t>
    </dgm:pt>
    <dgm:pt modelId="{3E5A0295-CDBD-455C-8E47-9E4D7A2D4A7C}" type="parTrans" cxnId="{B2EC4C2B-BA9C-4DB4-8BED-F29D6158B548}">
      <dgm:prSet/>
      <dgm:spPr/>
      <dgm:t>
        <a:bodyPr/>
        <a:lstStyle/>
        <a:p>
          <a:endParaRPr lang="en-US"/>
        </a:p>
      </dgm:t>
    </dgm:pt>
    <dgm:pt modelId="{C0A2060F-8A2B-4E1C-9FB7-562DCEF30E3A}" type="sibTrans" cxnId="{B2EC4C2B-BA9C-4DB4-8BED-F29D6158B548}">
      <dgm:prSet/>
      <dgm:spPr/>
      <dgm:t>
        <a:bodyPr/>
        <a:lstStyle/>
        <a:p>
          <a:endParaRPr lang="en-US"/>
        </a:p>
      </dgm:t>
    </dgm:pt>
    <dgm:pt modelId="{3DCE6932-0A82-42D7-8A6C-16BA6EFBFFE3}" type="pres">
      <dgm:prSet presAssocID="{A9370107-9E48-4112-9D5F-6289AEA87D35}" presName="root" presStyleCnt="0">
        <dgm:presLayoutVars>
          <dgm:dir/>
          <dgm:resizeHandles val="exact"/>
        </dgm:presLayoutVars>
      </dgm:prSet>
      <dgm:spPr/>
    </dgm:pt>
    <dgm:pt modelId="{0DAD7342-E84E-4D5C-9F12-918F6C96F91D}" type="pres">
      <dgm:prSet presAssocID="{13E2BBC5-C03C-4A2B-8630-B3009831313D}" presName="compNode" presStyleCnt="0"/>
      <dgm:spPr/>
    </dgm:pt>
    <dgm:pt modelId="{8A5AD1B6-28DC-427D-8121-5AB98CC2A353}" type="pres">
      <dgm:prSet presAssocID="{13E2BBC5-C03C-4A2B-8630-B3009831313D}" presName="iconBgRect" presStyleLbl="bgShp" presStyleIdx="0" presStyleCnt="6"/>
      <dgm:spPr/>
    </dgm:pt>
    <dgm:pt modelId="{BDD12A62-D238-4E00-BA91-52A8BCE396D9}" type="pres">
      <dgm:prSet presAssocID="{13E2BBC5-C03C-4A2B-8630-B3009831313D}"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C844E99B-83A3-401C-B346-86A2D44AF89A}" type="pres">
      <dgm:prSet presAssocID="{13E2BBC5-C03C-4A2B-8630-B3009831313D}" presName="spaceRect" presStyleCnt="0"/>
      <dgm:spPr/>
    </dgm:pt>
    <dgm:pt modelId="{BC7EBAFB-CDF3-4CF1-A105-FE8DCE5260FF}" type="pres">
      <dgm:prSet presAssocID="{13E2BBC5-C03C-4A2B-8630-B3009831313D}" presName="textRect" presStyleLbl="revTx" presStyleIdx="0" presStyleCnt="6">
        <dgm:presLayoutVars>
          <dgm:chMax val="1"/>
          <dgm:chPref val="1"/>
        </dgm:presLayoutVars>
      </dgm:prSet>
      <dgm:spPr/>
    </dgm:pt>
    <dgm:pt modelId="{D5A0A528-F0FB-419A-B975-468AA97081CE}" type="pres">
      <dgm:prSet presAssocID="{46D7E48C-2907-42E9-83D9-449D5740A209}" presName="sibTrans" presStyleCnt="0"/>
      <dgm:spPr/>
    </dgm:pt>
    <dgm:pt modelId="{F68F1E0F-4483-4BE9-8ABA-DE9ACF8515B9}" type="pres">
      <dgm:prSet presAssocID="{256CD6A1-BB81-41EC-94FE-8E53698CB0DC}" presName="compNode" presStyleCnt="0"/>
      <dgm:spPr/>
    </dgm:pt>
    <dgm:pt modelId="{B796837B-F25A-4A26-82D3-05BE87C6A37D}" type="pres">
      <dgm:prSet presAssocID="{256CD6A1-BB81-41EC-94FE-8E53698CB0DC}" presName="iconBgRect" presStyleLbl="bgShp" presStyleIdx="1" presStyleCnt="6"/>
      <dgm:spPr/>
    </dgm:pt>
    <dgm:pt modelId="{997F6F83-BEC0-415B-9AFA-CF312C1E01FE}" type="pres">
      <dgm:prSet presAssocID="{256CD6A1-BB81-41EC-94FE-8E53698CB0DC}"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72F159D4-8F48-4C79-B3CD-5893787F3307}" type="pres">
      <dgm:prSet presAssocID="{256CD6A1-BB81-41EC-94FE-8E53698CB0DC}" presName="spaceRect" presStyleCnt="0"/>
      <dgm:spPr/>
    </dgm:pt>
    <dgm:pt modelId="{36D6049D-8FC0-45F3-BAA5-B2ABDAAB985E}" type="pres">
      <dgm:prSet presAssocID="{256CD6A1-BB81-41EC-94FE-8E53698CB0DC}" presName="textRect" presStyleLbl="revTx" presStyleIdx="1" presStyleCnt="6">
        <dgm:presLayoutVars>
          <dgm:chMax val="1"/>
          <dgm:chPref val="1"/>
        </dgm:presLayoutVars>
      </dgm:prSet>
      <dgm:spPr/>
    </dgm:pt>
    <dgm:pt modelId="{A0D868A6-6CDA-408B-81A9-5B945C4125A0}" type="pres">
      <dgm:prSet presAssocID="{564A8B31-BDAA-44E6-9D0B-500E5FB0FAEA}" presName="sibTrans" presStyleCnt="0"/>
      <dgm:spPr/>
    </dgm:pt>
    <dgm:pt modelId="{732390D7-0720-4B3E-BCA2-3F3A96DD326D}" type="pres">
      <dgm:prSet presAssocID="{9BBDCBFD-5CB9-432F-A79D-C6876A0284BF}" presName="compNode" presStyleCnt="0"/>
      <dgm:spPr/>
    </dgm:pt>
    <dgm:pt modelId="{46A392EF-AC46-4F84-964C-254AA3B15CD3}" type="pres">
      <dgm:prSet presAssocID="{9BBDCBFD-5CB9-432F-A79D-C6876A0284BF}" presName="iconBgRect" presStyleLbl="bgShp" presStyleIdx="2" presStyleCnt="6"/>
      <dgm:spPr/>
    </dgm:pt>
    <dgm:pt modelId="{43410538-BD80-44FB-ADA3-102D2BA6171D}" type="pres">
      <dgm:prSet presAssocID="{9BBDCBFD-5CB9-432F-A79D-C6876A0284BF}"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Graph with Upward Trend"/>
        </a:ext>
      </dgm:extLst>
    </dgm:pt>
    <dgm:pt modelId="{9EB1E52A-CC75-4DDF-B1FB-F7D0855FE5A2}" type="pres">
      <dgm:prSet presAssocID="{9BBDCBFD-5CB9-432F-A79D-C6876A0284BF}" presName="spaceRect" presStyleCnt="0"/>
      <dgm:spPr/>
    </dgm:pt>
    <dgm:pt modelId="{343C4DD2-D256-4F84-97D1-14A1C2B54FEC}" type="pres">
      <dgm:prSet presAssocID="{9BBDCBFD-5CB9-432F-A79D-C6876A0284BF}" presName="textRect" presStyleLbl="revTx" presStyleIdx="2" presStyleCnt="6">
        <dgm:presLayoutVars>
          <dgm:chMax val="1"/>
          <dgm:chPref val="1"/>
        </dgm:presLayoutVars>
      </dgm:prSet>
      <dgm:spPr/>
    </dgm:pt>
    <dgm:pt modelId="{BBB89A88-207C-416B-9FC8-AEED30F7F225}" type="pres">
      <dgm:prSet presAssocID="{C5D689CD-9517-49E8-AC16-A6F9205F6F80}" presName="sibTrans" presStyleCnt="0"/>
      <dgm:spPr/>
    </dgm:pt>
    <dgm:pt modelId="{FAF0CCDA-D7B5-4B46-85D8-175336858CAD}" type="pres">
      <dgm:prSet presAssocID="{D6140688-1580-40C0-BA33-01B141B69AE4}" presName="compNode" presStyleCnt="0"/>
      <dgm:spPr/>
    </dgm:pt>
    <dgm:pt modelId="{C8D0DE7A-BDBC-4E95-9CBE-552E79A7E855}" type="pres">
      <dgm:prSet presAssocID="{D6140688-1580-40C0-BA33-01B141B69AE4}" presName="iconBgRect" presStyleLbl="bgShp" presStyleIdx="3" presStyleCnt="6"/>
      <dgm:spPr/>
    </dgm:pt>
    <dgm:pt modelId="{B536AE3E-4B5E-4DAE-999A-CD453F34C34E}" type="pres">
      <dgm:prSet presAssocID="{D6140688-1580-40C0-BA33-01B141B69AE4}"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ggy Bank"/>
        </a:ext>
      </dgm:extLst>
    </dgm:pt>
    <dgm:pt modelId="{90903173-F085-4AA0-B32A-78213A8530E6}" type="pres">
      <dgm:prSet presAssocID="{D6140688-1580-40C0-BA33-01B141B69AE4}" presName="spaceRect" presStyleCnt="0"/>
      <dgm:spPr/>
    </dgm:pt>
    <dgm:pt modelId="{646F0336-BA83-45B6-874C-A009502C2C09}" type="pres">
      <dgm:prSet presAssocID="{D6140688-1580-40C0-BA33-01B141B69AE4}" presName="textRect" presStyleLbl="revTx" presStyleIdx="3" presStyleCnt="6">
        <dgm:presLayoutVars>
          <dgm:chMax val="1"/>
          <dgm:chPref val="1"/>
        </dgm:presLayoutVars>
      </dgm:prSet>
      <dgm:spPr/>
    </dgm:pt>
    <dgm:pt modelId="{A4FA047B-5018-4DA5-9928-6251B6B63024}" type="pres">
      <dgm:prSet presAssocID="{C8221712-BE4D-41E4-A2B2-EB002AECA0C8}" presName="sibTrans" presStyleCnt="0"/>
      <dgm:spPr/>
    </dgm:pt>
    <dgm:pt modelId="{B676CE21-C083-4F70-BECD-8B685F1F0BB4}" type="pres">
      <dgm:prSet presAssocID="{5CB7A8A9-4585-4272-9FFB-59D0258FB937}" presName="compNode" presStyleCnt="0"/>
      <dgm:spPr/>
    </dgm:pt>
    <dgm:pt modelId="{B129451D-E1D0-4266-8751-2D8E90C152B1}" type="pres">
      <dgm:prSet presAssocID="{5CB7A8A9-4585-4272-9FFB-59D0258FB937}" presName="iconBgRect" presStyleLbl="bgShp" presStyleIdx="4" presStyleCnt="6"/>
      <dgm:spPr/>
    </dgm:pt>
    <dgm:pt modelId="{22F5A4F2-6831-4124-BFA2-ABF0474722AF}" type="pres">
      <dgm:prSet presAssocID="{5CB7A8A9-4585-4272-9FFB-59D0258FB937}"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opwatch"/>
        </a:ext>
      </dgm:extLst>
    </dgm:pt>
    <dgm:pt modelId="{9C27267B-0E60-4AD4-A6A3-1CC5DF2D33E4}" type="pres">
      <dgm:prSet presAssocID="{5CB7A8A9-4585-4272-9FFB-59D0258FB937}" presName="spaceRect" presStyleCnt="0"/>
      <dgm:spPr/>
    </dgm:pt>
    <dgm:pt modelId="{0EC895DD-E8DE-488D-B3E2-2C2B1FC4E494}" type="pres">
      <dgm:prSet presAssocID="{5CB7A8A9-4585-4272-9FFB-59D0258FB937}" presName="textRect" presStyleLbl="revTx" presStyleIdx="4" presStyleCnt="6">
        <dgm:presLayoutVars>
          <dgm:chMax val="1"/>
          <dgm:chPref val="1"/>
        </dgm:presLayoutVars>
      </dgm:prSet>
      <dgm:spPr/>
    </dgm:pt>
    <dgm:pt modelId="{8060F6ED-096D-4F48-B24C-B22EADC1DE69}" type="pres">
      <dgm:prSet presAssocID="{D18233FD-F76E-49DD-9207-B9ED6DD538DA}" presName="sibTrans" presStyleCnt="0"/>
      <dgm:spPr/>
    </dgm:pt>
    <dgm:pt modelId="{FCE65C11-D6E1-4CD8-84E2-0B176EBDF1EB}" type="pres">
      <dgm:prSet presAssocID="{83B7D9F9-3EE5-46A4-8E5F-CB2927278CED}" presName="compNode" presStyleCnt="0"/>
      <dgm:spPr/>
    </dgm:pt>
    <dgm:pt modelId="{8C768B12-E512-4BD3-83BC-8E1FD3985302}" type="pres">
      <dgm:prSet presAssocID="{83B7D9F9-3EE5-46A4-8E5F-CB2927278CED}" presName="iconBgRect" presStyleLbl="bgShp" presStyleIdx="5" presStyleCnt="6"/>
      <dgm:spPr/>
    </dgm:pt>
    <dgm:pt modelId="{29AB69B1-7A4D-44FF-AB28-1E508B2EAA5F}" type="pres">
      <dgm:prSet presAssocID="{83B7D9F9-3EE5-46A4-8E5F-CB2927278CED}"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iefcase"/>
        </a:ext>
      </dgm:extLst>
    </dgm:pt>
    <dgm:pt modelId="{7B956713-25FA-4E7B-B543-1EA39DCCFDEC}" type="pres">
      <dgm:prSet presAssocID="{83B7D9F9-3EE5-46A4-8E5F-CB2927278CED}" presName="spaceRect" presStyleCnt="0"/>
      <dgm:spPr/>
    </dgm:pt>
    <dgm:pt modelId="{BF25EB1A-5EE8-45A7-9F6B-1851BD0E4314}" type="pres">
      <dgm:prSet presAssocID="{83B7D9F9-3EE5-46A4-8E5F-CB2927278CED}" presName="textRect" presStyleLbl="revTx" presStyleIdx="5" presStyleCnt="6">
        <dgm:presLayoutVars>
          <dgm:chMax val="1"/>
          <dgm:chPref val="1"/>
        </dgm:presLayoutVars>
      </dgm:prSet>
      <dgm:spPr/>
    </dgm:pt>
  </dgm:ptLst>
  <dgm:cxnLst>
    <dgm:cxn modelId="{88084403-9F78-4A6B-8B39-C56A66CF5A3A}" type="presOf" srcId="{A9370107-9E48-4112-9D5F-6289AEA87D35}" destId="{3DCE6932-0A82-42D7-8A6C-16BA6EFBFFE3}" srcOrd="0" destOrd="0" presId="urn:microsoft.com/office/officeart/2018/5/layout/IconCircleLabelList"/>
    <dgm:cxn modelId="{347EB513-AFD6-4B26-BBD3-94781C0B3CD5}" srcId="{A9370107-9E48-4112-9D5F-6289AEA87D35}" destId="{9BBDCBFD-5CB9-432F-A79D-C6876A0284BF}" srcOrd="2" destOrd="0" parTransId="{DBAC4CD9-62B8-4908-B6C6-103F06385D2A}" sibTransId="{C5D689CD-9517-49E8-AC16-A6F9205F6F80}"/>
    <dgm:cxn modelId="{B2EC4C2B-BA9C-4DB4-8BED-F29D6158B548}" srcId="{A9370107-9E48-4112-9D5F-6289AEA87D35}" destId="{83B7D9F9-3EE5-46A4-8E5F-CB2927278CED}" srcOrd="5" destOrd="0" parTransId="{3E5A0295-CDBD-455C-8E47-9E4D7A2D4A7C}" sibTransId="{C0A2060F-8A2B-4E1C-9FB7-562DCEF30E3A}"/>
    <dgm:cxn modelId="{3025453B-8B52-45F9-84D2-C59E71200630}" type="presOf" srcId="{D6140688-1580-40C0-BA33-01B141B69AE4}" destId="{646F0336-BA83-45B6-874C-A009502C2C09}" srcOrd="0" destOrd="0" presId="urn:microsoft.com/office/officeart/2018/5/layout/IconCircleLabelList"/>
    <dgm:cxn modelId="{0100665C-6929-4580-9439-29C5EFD27DA5}" type="presOf" srcId="{256CD6A1-BB81-41EC-94FE-8E53698CB0DC}" destId="{36D6049D-8FC0-45F3-BAA5-B2ABDAAB985E}" srcOrd="0" destOrd="0" presId="urn:microsoft.com/office/officeart/2018/5/layout/IconCircleLabelList"/>
    <dgm:cxn modelId="{3D7ED55C-A5E7-4137-A2D8-2EA97810707A}" type="presOf" srcId="{13E2BBC5-C03C-4A2B-8630-B3009831313D}" destId="{BC7EBAFB-CDF3-4CF1-A105-FE8DCE5260FF}" srcOrd="0" destOrd="0" presId="urn:microsoft.com/office/officeart/2018/5/layout/IconCircleLabelList"/>
    <dgm:cxn modelId="{94A5B660-5798-4A42-9C67-0F6D2A635EC6}" type="presOf" srcId="{83B7D9F9-3EE5-46A4-8E5F-CB2927278CED}" destId="{BF25EB1A-5EE8-45A7-9F6B-1851BD0E4314}" srcOrd="0" destOrd="0" presId="urn:microsoft.com/office/officeart/2018/5/layout/IconCircleLabelList"/>
    <dgm:cxn modelId="{3A2DA149-F8AE-401A-91E8-8D9D5F0B6FD0}" type="presOf" srcId="{5CB7A8A9-4585-4272-9FFB-59D0258FB937}" destId="{0EC895DD-E8DE-488D-B3E2-2C2B1FC4E494}" srcOrd="0" destOrd="0" presId="urn:microsoft.com/office/officeart/2018/5/layout/IconCircleLabelList"/>
    <dgm:cxn modelId="{BB2BC672-381B-4D05-8AEA-8EC44C6D4738}" srcId="{A9370107-9E48-4112-9D5F-6289AEA87D35}" destId="{D6140688-1580-40C0-BA33-01B141B69AE4}" srcOrd="3" destOrd="0" parTransId="{1D2A17C6-034C-4FBB-9430-C50E11E052B0}" sibTransId="{C8221712-BE4D-41E4-A2B2-EB002AECA0C8}"/>
    <dgm:cxn modelId="{337AC084-E379-454F-B547-E897A651257D}" type="presOf" srcId="{9BBDCBFD-5CB9-432F-A79D-C6876A0284BF}" destId="{343C4DD2-D256-4F84-97D1-14A1C2B54FEC}" srcOrd="0" destOrd="0" presId="urn:microsoft.com/office/officeart/2018/5/layout/IconCircleLabelList"/>
    <dgm:cxn modelId="{4D46DAAE-B6E3-4ED2-985F-D13C606907F9}" srcId="{A9370107-9E48-4112-9D5F-6289AEA87D35}" destId="{13E2BBC5-C03C-4A2B-8630-B3009831313D}" srcOrd="0" destOrd="0" parTransId="{FEB97B3E-4C91-4BDF-B4D4-E4829A5A2661}" sibTransId="{46D7E48C-2907-42E9-83D9-449D5740A209}"/>
    <dgm:cxn modelId="{0C26E5BE-CA91-41A0-AA57-6D47B9F16E36}" srcId="{A9370107-9E48-4112-9D5F-6289AEA87D35}" destId="{256CD6A1-BB81-41EC-94FE-8E53698CB0DC}" srcOrd="1" destOrd="0" parTransId="{6ED183E4-8D0A-450E-ABB8-91699486AEA1}" sibTransId="{564A8B31-BDAA-44E6-9D0B-500E5FB0FAEA}"/>
    <dgm:cxn modelId="{504869D6-4667-4907-94D9-081F37E5139D}" srcId="{A9370107-9E48-4112-9D5F-6289AEA87D35}" destId="{5CB7A8A9-4585-4272-9FFB-59D0258FB937}" srcOrd="4" destOrd="0" parTransId="{91206C96-AE88-4DDE-A0A0-B2F45620DB9D}" sibTransId="{D18233FD-F76E-49DD-9207-B9ED6DD538DA}"/>
    <dgm:cxn modelId="{57F809DB-FCF9-4644-9580-D8FF6CC8ABB9}" type="presParOf" srcId="{3DCE6932-0A82-42D7-8A6C-16BA6EFBFFE3}" destId="{0DAD7342-E84E-4D5C-9F12-918F6C96F91D}" srcOrd="0" destOrd="0" presId="urn:microsoft.com/office/officeart/2018/5/layout/IconCircleLabelList"/>
    <dgm:cxn modelId="{7D820C06-5EC1-45B5-B1F9-286981CDFEE9}" type="presParOf" srcId="{0DAD7342-E84E-4D5C-9F12-918F6C96F91D}" destId="{8A5AD1B6-28DC-427D-8121-5AB98CC2A353}" srcOrd="0" destOrd="0" presId="urn:microsoft.com/office/officeart/2018/5/layout/IconCircleLabelList"/>
    <dgm:cxn modelId="{969C00A1-17A0-4875-A963-DC106687A29E}" type="presParOf" srcId="{0DAD7342-E84E-4D5C-9F12-918F6C96F91D}" destId="{BDD12A62-D238-4E00-BA91-52A8BCE396D9}" srcOrd="1" destOrd="0" presId="urn:microsoft.com/office/officeart/2018/5/layout/IconCircleLabelList"/>
    <dgm:cxn modelId="{5037D1B5-B7EC-473A-ABC1-E0BB197C2207}" type="presParOf" srcId="{0DAD7342-E84E-4D5C-9F12-918F6C96F91D}" destId="{C844E99B-83A3-401C-B346-86A2D44AF89A}" srcOrd="2" destOrd="0" presId="urn:microsoft.com/office/officeart/2018/5/layout/IconCircleLabelList"/>
    <dgm:cxn modelId="{DA8B9374-1EC0-4438-A2DB-F2F519194B09}" type="presParOf" srcId="{0DAD7342-E84E-4D5C-9F12-918F6C96F91D}" destId="{BC7EBAFB-CDF3-4CF1-A105-FE8DCE5260FF}" srcOrd="3" destOrd="0" presId="urn:microsoft.com/office/officeart/2018/5/layout/IconCircleLabelList"/>
    <dgm:cxn modelId="{3B806D3A-8DA7-4911-8F3A-0CCFF5DCF2F4}" type="presParOf" srcId="{3DCE6932-0A82-42D7-8A6C-16BA6EFBFFE3}" destId="{D5A0A528-F0FB-419A-B975-468AA97081CE}" srcOrd="1" destOrd="0" presId="urn:microsoft.com/office/officeart/2018/5/layout/IconCircleLabelList"/>
    <dgm:cxn modelId="{27B28648-DBFC-4B23-AA71-30D07917363D}" type="presParOf" srcId="{3DCE6932-0A82-42D7-8A6C-16BA6EFBFFE3}" destId="{F68F1E0F-4483-4BE9-8ABA-DE9ACF8515B9}" srcOrd="2" destOrd="0" presId="urn:microsoft.com/office/officeart/2018/5/layout/IconCircleLabelList"/>
    <dgm:cxn modelId="{D37C3281-B100-4468-A22E-03CAA29B5D7B}" type="presParOf" srcId="{F68F1E0F-4483-4BE9-8ABA-DE9ACF8515B9}" destId="{B796837B-F25A-4A26-82D3-05BE87C6A37D}" srcOrd="0" destOrd="0" presId="urn:microsoft.com/office/officeart/2018/5/layout/IconCircleLabelList"/>
    <dgm:cxn modelId="{651A6888-AC75-43BA-A8B5-F2A925B143F9}" type="presParOf" srcId="{F68F1E0F-4483-4BE9-8ABA-DE9ACF8515B9}" destId="{997F6F83-BEC0-415B-9AFA-CF312C1E01FE}" srcOrd="1" destOrd="0" presId="urn:microsoft.com/office/officeart/2018/5/layout/IconCircleLabelList"/>
    <dgm:cxn modelId="{0C2BA918-02A4-4FE4-9846-4A8549B0BA85}" type="presParOf" srcId="{F68F1E0F-4483-4BE9-8ABA-DE9ACF8515B9}" destId="{72F159D4-8F48-4C79-B3CD-5893787F3307}" srcOrd="2" destOrd="0" presId="urn:microsoft.com/office/officeart/2018/5/layout/IconCircleLabelList"/>
    <dgm:cxn modelId="{11349FF5-8EF4-4A3B-A019-407E5DA7983C}" type="presParOf" srcId="{F68F1E0F-4483-4BE9-8ABA-DE9ACF8515B9}" destId="{36D6049D-8FC0-45F3-BAA5-B2ABDAAB985E}" srcOrd="3" destOrd="0" presId="urn:microsoft.com/office/officeart/2018/5/layout/IconCircleLabelList"/>
    <dgm:cxn modelId="{E0CEDCEE-2EE7-47FD-A758-3999E50DD19A}" type="presParOf" srcId="{3DCE6932-0A82-42D7-8A6C-16BA6EFBFFE3}" destId="{A0D868A6-6CDA-408B-81A9-5B945C4125A0}" srcOrd="3" destOrd="0" presId="urn:microsoft.com/office/officeart/2018/5/layout/IconCircleLabelList"/>
    <dgm:cxn modelId="{66A67CB1-FDDD-4F10-8150-85C291471EFD}" type="presParOf" srcId="{3DCE6932-0A82-42D7-8A6C-16BA6EFBFFE3}" destId="{732390D7-0720-4B3E-BCA2-3F3A96DD326D}" srcOrd="4" destOrd="0" presId="urn:microsoft.com/office/officeart/2018/5/layout/IconCircleLabelList"/>
    <dgm:cxn modelId="{CE8A98B0-AD35-4A67-8799-35056AB759A4}" type="presParOf" srcId="{732390D7-0720-4B3E-BCA2-3F3A96DD326D}" destId="{46A392EF-AC46-4F84-964C-254AA3B15CD3}" srcOrd="0" destOrd="0" presId="urn:microsoft.com/office/officeart/2018/5/layout/IconCircleLabelList"/>
    <dgm:cxn modelId="{8A2E4C3B-156F-4948-98EC-77C9C7D728B2}" type="presParOf" srcId="{732390D7-0720-4B3E-BCA2-3F3A96DD326D}" destId="{43410538-BD80-44FB-ADA3-102D2BA6171D}" srcOrd="1" destOrd="0" presId="urn:microsoft.com/office/officeart/2018/5/layout/IconCircleLabelList"/>
    <dgm:cxn modelId="{A7B76C2C-D282-4123-93FA-E839A77610CB}" type="presParOf" srcId="{732390D7-0720-4B3E-BCA2-3F3A96DD326D}" destId="{9EB1E52A-CC75-4DDF-B1FB-F7D0855FE5A2}" srcOrd="2" destOrd="0" presId="urn:microsoft.com/office/officeart/2018/5/layout/IconCircleLabelList"/>
    <dgm:cxn modelId="{F656EB9B-E736-491F-AFD8-E7693B99949E}" type="presParOf" srcId="{732390D7-0720-4B3E-BCA2-3F3A96DD326D}" destId="{343C4DD2-D256-4F84-97D1-14A1C2B54FEC}" srcOrd="3" destOrd="0" presId="urn:microsoft.com/office/officeart/2018/5/layout/IconCircleLabelList"/>
    <dgm:cxn modelId="{4899FCE7-0E6F-43A2-8D70-E860557DF6F4}" type="presParOf" srcId="{3DCE6932-0A82-42D7-8A6C-16BA6EFBFFE3}" destId="{BBB89A88-207C-416B-9FC8-AEED30F7F225}" srcOrd="5" destOrd="0" presId="urn:microsoft.com/office/officeart/2018/5/layout/IconCircleLabelList"/>
    <dgm:cxn modelId="{8B90CFB4-DD8A-4F04-8A67-DB536A4AEDFF}" type="presParOf" srcId="{3DCE6932-0A82-42D7-8A6C-16BA6EFBFFE3}" destId="{FAF0CCDA-D7B5-4B46-85D8-175336858CAD}" srcOrd="6" destOrd="0" presId="urn:microsoft.com/office/officeart/2018/5/layout/IconCircleLabelList"/>
    <dgm:cxn modelId="{05CD7362-7ADB-4329-9B5F-70E7F0E4D463}" type="presParOf" srcId="{FAF0CCDA-D7B5-4B46-85D8-175336858CAD}" destId="{C8D0DE7A-BDBC-4E95-9CBE-552E79A7E855}" srcOrd="0" destOrd="0" presId="urn:microsoft.com/office/officeart/2018/5/layout/IconCircleLabelList"/>
    <dgm:cxn modelId="{1C045FA5-7BDF-4E64-9737-79A4211F1128}" type="presParOf" srcId="{FAF0CCDA-D7B5-4B46-85D8-175336858CAD}" destId="{B536AE3E-4B5E-4DAE-999A-CD453F34C34E}" srcOrd="1" destOrd="0" presId="urn:microsoft.com/office/officeart/2018/5/layout/IconCircleLabelList"/>
    <dgm:cxn modelId="{28108606-0FD2-4EEE-BF75-DA401E78AD18}" type="presParOf" srcId="{FAF0CCDA-D7B5-4B46-85D8-175336858CAD}" destId="{90903173-F085-4AA0-B32A-78213A8530E6}" srcOrd="2" destOrd="0" presId="urn:microsoft.com/office/officeart/2018/5/layout/IconCircleLabelList"/>
    <dgm:cxn modelId="{FF5E7FFA-8248-4366-BA12-1584B2167042}" type="presParOf" srcId="{FAF0CCDA-D7B5-4B46-85D8-175336858CAD}" destId="{646F0336-BA83-45B6-874C-A009502C2C09}" srcOrd="3" destOrd="0" presId="urn:microsoft.com/office/officeart/2018/5/layout/IconCircleLabelList"/>
    <dgm:cxn modelId="{2106001A-57C4-4D2A-9904-78E0EA445C56}" type="presParOf" srcId="{3DCE6932-0A82-42D7-8A6C-16BA6EFBFFE3}" destId="{A4FA047B-5018-4DA5-9928-6251B6B63024}" srcOrd="7" destOrd="0" presId="urn:microsoft.com/office/officeart/2018/5/layout/IconCircleLabelList"/>
    <dgm:cxn modelId="{AA5B8935-CDA3-4FAE-B8E1-C3A242D292C8}" type="presParOf" srcId="{3DCE6932-0A82-42D7-8A6C-16BA6EFBFFE3}" destId="{B676CE21-C083-4F70-BECD-8B685F1F0BB4}" srcOrd="8" destOrd="0" presId="urn:microsoft.com/office/officeart/2018/5/layout/IconCircleLabelList"/>
    <dgm:cxn modelId="{22E5058B-1A70-4B2B-A765-0857EC7EF5D7}" type="presParOf" srcId="{B676CE21-C083-4F70-BECD-8B685F1F0BB4}" destId="{B129451D-E1D0-4266-8751-2D8E90C152B1}" srcOrd="0" destOrd="0" presId="urn:microsoft.com/office/officeart/2018/5/layout/IconCircleLabelList"/>
    <dgm:cxn modelId="{357ABD51-51E3-49D1-88FA-0D6CC79C879E}" type="presParOf" srcId="{B676CE21-C083-4F70-BECD-8B685F1F0BB4}" destId="{22F5A4F2-6831-4124-BFA2-ABF0474722AF}" srcOrd="1" destOrd="0" presId="urn:microsoft.com/office/officeart/2018/5/layout/IconCircleLabelList"/>
    <dgm:cxn modelId="{4C2F7056-CCC6-493B-8424-DDDC41837749}" type="presParOf" srcId="{B676CE21-C083-4F70-BECD-8B685F1F0BB4}" destId="{9C27267B-0E60-4AD4-A6A3-1CC5DF2D33E4}" srcOrd="2" destOrd="0" presId="urn:microsoft.com/office/officeart/2018/5/layout/IconCircleLabelList"/>
    <dgm:cxn modelId="{E20B6929-280C-498E-A4B6-D80C32CCE73E}" type="presParOf" srcId="{B676CE21-C083-4F70-BECD-8B685F1F0BB4}" destId="{0EC895DD-E8DE-488D-B3E2-2C2B1FC4E494}" srcOrd="3" destOrd="0" presId="urn:microsoft.com/office/officeart/2018/5/layout/IconCircleLabelList"/>
    <dgm:cxn modelId="{75A23944-0635-4379-9D97-1D69E27CC36A}" type="presParOf" srcId="{3DCE6932-0A82-42D7-8A6C-16BA6EFBFFE3}" destId="{8060F6ED-096D-4F48-B24C-B22EADC1DE69}" srcOrd="9" destOrd="0" presId="urn:microsoft.com/office/officeart/2018/5/layout/IconCircleLabelList"/>
    <dgm:cxn modelId="{0D0F991E-EF2B-4AC7-B7A7-FDB086E1B400}" type="presParOf" srcId="{3DCE6932-0A82-42D7-8A6C-16BA6EFBFFE3}" destId="{FCE65C11-D6E1-4CD8-84E2-0B176EBDF1EB}" srcOrd="10" destOrd="0" presId="urn:microsoft.com/office/officeart/2018/5/layout/IconCircleLabelList"/>
    <dgm:cxn modelId="{D78DE093-4275-40DB-87BE-D3FD494B6015}" type="presParOf" srcId="{FCE65C11-D6E1-4CD8-84E2-0B176EBDF1EB}" destId="{8C768B12-E512-4BD3-83BC-8E1FD3985302}" srcOrd="0" destOrd="0" presId="urn:microsoft.com/office/officeart/2018/5/layout/IconCircleLabelList"/>
    <dgm:cxn modelId="{36E4C415-BBB0-4283-896C-FDEF79643D16}" type="presParOf" srcId="{FCE65C11-D6E1-4CD8-84E2-0B176EBDF1EB}" destId="{29AB69B1-7A4D-44FF-AB28-1E508B2EAA5F}" srcOrd="1" destOrd="0" presId="urn:microsoft.com/office/officeart/2018/5/layout/IconCircleLabelList"/>
    <dgm:cxn modelId="{7999871D-4A66-446E-8855-710E740B77E5}" type="presParOf" srcId="{FCE65C11-D6E1-4CD8-84E2-0B176EBDF1EB}" destId="{7B956713-25FA-4E7B-B543-1EA39DCCFDEC}" srcOrd="2" destOrd="0" presId="urn:microsoft.com/office/officeart/2018/5/layout/IconCircleLabelList"/>
    <dgm:cxn modelId="{52636FC8-799A-4C41-9ACA-99E9CB0AB63C}" type="presParOf" srcId="{FCE65C11-D6E1-4CD8-84E2-0B176EBDF1EB}" destId="{BF25EB1A-5EE8-45A7-9F6B-1851BD0E431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FDB8200-0BA1-41E9-9910-EE42E0F55B21}"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84219488-183C-4636-8354-F098333C2186}">
      <dgm:prSet/>
      <dgm:spPr/>
      <dgm:t>
        <a:bodyPr/>
        <a:lstStyle/>
        <a:p>
          <a:r>
            <a:rPr lang="en-US"/>
            <a:t>Knowledge creates positive spillovers. </a:t>
          </a:r>
        </a:p>
      </dgm:t>
    </dgm:pt>
    <dgm:pt modelId="{3D443548-585D-4C30-A788-42D6164B3F71}" type="parTrans" cxnId="{0FF8C911-6686-4224-AB77-20AB3ED8F2C6}">
      <dgm:prSet/>
      <dgm:spPr/>
      <dgm:t>
        <a:bodyPr/>
        <a:lstStyle/>
        <a:p>
          <a:endParaRPr lang="en-US"/>
        </a:p>
      </dgm:t>
    </dgm:pt>
    <dgm:pt modelId="{AD6454C9-E214-47AA-B789-EDA51A875086}" type="sibTrans" cxnId="{0FF8C911-6686-4224-AB77-20AB3ED8F2C6}">
      <dgm:prSet/>
      <dgm:spPr/>
      <dgm:t>
        <a:bodyPr/>
        <a:lstStyle/>
        <a:p>
          <a:endParaRPr lang="en-US"/>
        </a:p>
      </dgm:t>
    </dgm:pt>
    <dgm:pt modelId="{301D0847-F6CB-4931-96CE-07EBF77AD225}">
      <dgm:prSet/>
      <dgm:spPr/>
      <dgm:t>
        <a:bodyPr/>
        <a:lstStyle/>
        <a:p>
          <a:r>
            <a:rPr lang="en-US"/>
            <a:t>Human capital is a key source of growth.</a:t>
          </a:r>
        </a:p>
      </dgm:t>
    </dgm:pt>
    <dgm:pt modelId="{68ABFEBA-748B-4C58-B56E-439713E79E26}" type="parTrans" cxnId="{A109EEAE-1A75-4097-866B-4ED05AC43ED2}">
      <dgm:prSet/>
      <dgm:spPr/>
      <dgm:t>
        <a:bodyPr/>
        <a:lstStyle/>
        <a:p>
          <a:endParaRPr lang="en-US"/>
        </a:p>
      </dgm:t>
    </dgm:pt>
    <dgm:pt modelId="{A2A6EC5B-5356-4A4E-B970-E994F2FD9962}" type="sibTrans" cxnId="{A109EEAE-1A75-4097-866B-4ED05AC43ED2}">
      <dgm:prSet/>
      <dgm:spPr/>
      <dgm:t>
        <a:bodyPr/>
        <a:lstStyle/>
        <a:p>
          <a:endParaRPr lang="en-US"/>
        </a:p>
      </dgm:t>
    </dgm:pt>
    <dgm:pt modelId="{8D991989-A9D4-4A8C-96A3-C1497A9D08BB}">
      <dgm:prSet/>
      <dgm:spPr/>
      <dgm:t>
        <a:bodyPr/>
        <a:lstStyle/>
        <a:p>
          <a:r>
            <a:rPr lang="en-US"/>
            <a:t>Innovation results from purposeful investment. </a:t>
          </a:r>
        </a:p>
      </dgm:t>
    </dgm:pt>
    <dgm:pt modelId="{E3B3BB35-41F3-42D4-8F70-16E1B6E44CE7}" type="parTrans" cxnId="{7E13294A-AC59-478C-B536-F84740C1D0D1}">
      <dgm:prSet/>
      <dgm:spPr/>
      <dgm:t>
        <a:bodyPr/>
        <a:lstStyle/>
        <a:p>
          <a:endParaRPr lang="en-US"/>
        </a:p>
      </dgm:t>
    </dgm:pt>
    <dgm:pt modelId="{A0C05D4E-4221-40A3-80DB-9A131FEE9CA1}" type="sibTrans" cxnId="{7E13294A-AC59-478C-B536-F84740C1D0D1}">
      <dgm:prSet/>
      <dgm:spPr/>
      <dgm:t>
        <a:bodyPr/>
        <a:lstStyle/>
        <a:p>
          <a:endParaRPr lang="en-US"/>
        </a:p>
      </dgm:t>
    </dgm:pt>
    <dgm:pt modelId="{F2935EF6-42A8-480C-9493-1EA7F177BACD}">
      <dgm:prSet/>
      <dgm:spPr/>
      <dgm:t>
        <a:bodyPr/>
        <a:lstStyle/>
        <a:p>
          <a:r>
            <a:rPr lang="en-US"/>
            <a:t>Increasing returns may occur in knowledge-intensive industries.</a:t>
          </a:r>
        </a:p>
      </dgm:t>
    </dgm:pt>
    <dgm:pt modelId="{207FCF67-5D39-490D-B703-67CDEC9D327C}" type="parTrans" cxnId="{0098C0EC-757C-4F1A-9294-7E199862426C}">
      <dgm:prSet/>
      <dgm:spPr/>
      <dgm:t>
        <a:bodyPr/>
        <a:lstStyle/>
        <a:p>
          <a:endParaRPr lang="en-US"/>
        </a:p>
      </dgm:t>
    </dgm:pt>
    <dgm:pt modelId="{1FED91FD-87B4-4D4D-9954-87204C6B2D9F}" type="sibTrans" cxnId="{0098C0EC-757C-4F1A-9294-7E199862426C}">
      <dgm:prSet/>
      <dgm:spPr/>
      <dgm:t>
        <a:bodyPr/>
        <a:lstStyle/>
        <a:p>
          <a:endParaRPr lang="en-US"/>
        </a:p>
      </dgm:t>
    </dgm:pt>
    <dgm:pt modelId="{FBF33D4D-C856-49C3-8113-1D4C8F719C6A}" type="pres">
      <dgm:prSet presAssocID="{2FDB8200-0BA1-41E9-9910-EE42E0F55B21}" presName="root" presStyleCnt="0">
        <dgm:presLayoutVars>
          <dgm:dir/>
          <dgm:resizeHandles val="exact"/>
        </dgm:presLayoutVars>
      </dgm:prSet>
      <dgm:spPr/>
    </dgm:pt>
    <dgm:pt modelId="{5127626D-8518-4A27-B627-3F91DA4BAC0C}" type="pres">
      <dgm:prSet presAssocID="{84219488-183C-4636-8354-F098333C2186}" presName="compNode" presStyleCnt="0"/>
      <dgm:spPr/>
    </dgm:pt>
    <dgm:pt modelId="{A81B3A88-77A4-4F5A-B1A1-6A41DE24ECB1}" type="pres">
      <dgm:prSet presAssocID="{84219488-183C-4636-8354-F098333C218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plash"/>
        </a:ext>
      </dgm:extLst>
    </dgm:pt>
    <dgm:pt modelId="{D3A3F0FE-21F1-4356-88D2-7032FC1FE7AB}" type="pres">
      <dgm:prSet presAssocID="{84219488-183C-4636-8354-F098333C2186}" presName="spaceRect" presStyleCnt="0"/>
      <dgm:spPr/>
    </dgm:pt>
    <dgm:pt modelId="{48D2D1FE-4B6A-4E36-9BD0-AA3CA3739E6C}" type="pres">
      <dgm:prSet presAssocID="{84219488-183C-4636-8354-F098333C2186}" presName="textRect" presStyleLbl="revTx" presStyleIdx="0" presStyleCnt="4">
        <dgm:presLayoutVars>
          <dgm:chMax val="1"/>
          <dgm:chPref val="1"/>
        </dgm:presLayoutVars>
      </dgm:prSet>
      <dgm:spPr/>
    </dgm:pt>
    <dgm:pt modelId="{B1346745-5DC4-48E9-A9DE-F58C4E39969A}" type="pres">
      <dgm:prSet presAssocID="{AD6454C9-E214-47AA-B789-EDA51A875086}" presName="sibTrans" presStyleCnt="0"/>
      <dgm:spPr/>
    </dgm:pt>
    <dgm:pt modelId="{63B20D35-A8CB-4DF3-9540-BD90E2FB9405}" type="pres">
      <dgm:prSet presAssocID="{301D0847-F6CB-4931-96CE-07EBF77AD225}" presName="compNode" presStyleCnt="0"/>
      <dgm:spPr/>
    </dgm:pt>
    <dgm:pt modelId="{3466F3DD-F52B-4A65-8C84-AC6A407A9F1B}" type="pres">
      <dgm:prSet presAssocID="{301D0847-F6CB-4931-96CE-07EBF77AD22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CA5947C8-38D7-4684-90EC-23B67559A905}" type="pres">
      <dgm:prSet presAssocID="{301D0847-F6CB-4931-96CE-07EBF77AD225}" presName="spaceRect" presStyleCnt="0"/>
      <dgm:spPr/>
    </dgm:pt>
    <dgm:pt modelId="{F57AE4CA-07C4-4707-ABEA-2D8ABC8771DF}" type="pres">
      <dgm:prSet presAssocID="{301D0847-F6CB-4931-96CE-07EBF77AD225}" presName="textRect" presStyleLbl="revTx" presStyleIdx="1" presStyleCnt="4">
        <dgm:presLayoutVars>
          <dgm:chMax val="1"/>
          <dgm:chPref val="1"/>
        </dgm:presLayoutVars>
      </dgm:prSet>
      <dgm:spPr/>
    </dgm:pt>
    <dgm:pt modelId="{226419A9-91F3-4D64-91DF-99D6846B1D29}" type="pres">
      <dgm:prSet presAssocID="{A2A6EC5B-5356-4A4E-B970-E994F2FD9962}" presName="sibTrans" presStyleCnt="0"/>
      <dgm:spPr/>
    </dgm:pt>
    <dgm:pt modelId="{A396ACF0-A728-4DF2-96D3-EC11B06B6B23}" type="pres">
      <dgm:prSet presAssocID="{8D991989-A9D4-4A8C-96A3-C1497A9D08BB}" presName="compNode" presStyleCnt="0"/>
      <dgm:spPr/>
    </dgm:pt>
    <dgm:pt modelId="{3BFD430C-1873-4F99-B777-81A5862B56BC}" type="pres">
      <dgm:prSet presAssocID="{8D991989-A9D4-4A8C-96A3-C1497A9D08BB}"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bulb"/>
        </a:ext>
      </dgm:extLst>
    </dgm:pt>
    <dgm:pt modelId="{C60DC87E-28D1-46A4-9327-C8C30667BAB8}" type="pres">
      <dgm:prSet presAssocID="{8D991989-A9D4-4A8C-96A3-C1497A9D08BB}" presName="spaceRect" presStyleCnt="0"/>
      <dgm:spPr/>
    </dgm:pt>
    <dgm:pt modelId="{3344A22F-8D55-4CB7-9FFF-C77695B3D25F}" type="pres">
      <dgm:prSet presAssocID="{8D991989-A9D4-4A8C-96A3-C1497A9D08BB}" presName="textRect" presStyleLbl="revTx" presStyleIdx="2" presStyleCnt="4">
        <dgm:presLayoutVars>
          <dgm:chMax val="1"/>
          <dgm:chPref val="1"/>
        </dgm:presLayoutVars>
      </dgm:prSet>
      <dgm:spPr/>
    </dgm:pt>
    <dgm:pt modelId="{F9C849B6-9605-4C78-93D7-9558DF43CCCD}" type="pres">
      <dgm:prSet presAssocID="{A0C05D4E-4221-40A3-80DB-9A131FEE9CA1}" presName="sibTrans" presStyleCnt="0"/>
      <dgm:spPr/>
    </dgm:pt>
    <dgm:pt modelId="{F6AE6C19-11E4-4653-9CA7-9B2B41D1FF35}" type="pres">
      <dgm:prSet presAssocID="{F2935EF6-42A8-480C-9493-1EA7F177BACD}" presName="compNode" presStyleCnt="0"/>
      <dgm:spPr/>
    </dgm:pt>
    <dgm:pt modelId="{9A1DAD31-3034-491F-88F9-4B397FBFD588}" type="pres">
      <dgm:prSet presAssocID="{F2935EF6-42A8-480C-9493-1EA7F177BAC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 Bulb and Gear"/>
        </a:ext>
      </dgm:extLst>
    </dgm:pt>
    <dgm:pt modelId="{45CE9046-8974-43E1-A4BB-E7AA7B16D3DA}" type="pres">
      <dgm:prSet presAssocID="{F2935EF6-42A8-480C-9493-1EA7F177BACD}" presName="spaceRect" presStyleCnt="0"/>
      <dgm:spPr/>
    </dgm:pt>
    <dgm:pt modelId="{6D4CDA91-4537-47E1-B151-76A37D8D2B44}" type="pres">
      <dgm:prSet presAssocID="{F2935EF6-42A8-480C-9493-1EA7F177BACD}" presName="textRect" presStyleLbl="revTx" presStyleIdx="3" presStyleCnt="4">
        <dgm:presLayoutVars>
          <dgm:chMax val="1"/>
          <dgm:chPref val="1"/>
        </dgm:presLayoutVars>
      </dgm:prSet>
      <dgm:spPr/>
    </dgm:pt>
  </dgm:ptLst>
  <dgm:cxnLst>
    <dgm:cxn modelId="{7DB05604-8ECA-4C82-842E-B1D450B3FE41}" type="presOf" srcId="{84219488-183C-4636-8354-F098333C2186}" destId="{48D2D1FE-4B6A-4E36-9BD0-AA3CA3739E6C}" srcOrd="0" destOrd="0" presId="urn:microsoft.com/office/officeart/2018/2/layout/IconLabelList"/>
    <dgm:cxn modelId="{0FF8C911-6686-4224-AB77-20AB3ED8F2C6}" srcId="{2FDB8200-0BA1-41E9-9910-EE42E0F55B21}" destId="{84219488-183C-4636-8354-F098333C2186}" srcOrd="0" destOrd="0" parTransId="{3D443548-585D-4C30-A788-42D6164B3F71}" sibTransId="{AD6454C9-E214-47AA-B789-EDA51A875086}"/>
    <dgm:cxn modelId="{0976E425-94A2-4C2D-9F7B-52C24625EBD2}" type="presOf" srcId="{8D991989-A9D4-4A8C-96A3-C1497A9D08BB}" destId="{3344A22F-8D55-4CB7-9FFF-C77695B3D25F}" srcOrd="0" destOrd="0" presId="urn:microsoft.com/office/officeart/2018/2/layout/IconLabelList"/>
    <dgm:cxn modelId="{D9690667-83A0-4389-A0BA-D0297D771F55}" type="presOf" srcId="{2FDB8200-0BA1-41E9-9910-EE42E0F55B21}" destId="{FBF33D4D-C856-49C3-8113-1D4C8F719C6A}" srcOrd="0" destOrd="0" presId="urn:microsoft.com/office/officeart/2018/2/layout/IconLabelList"/>
    <dgm:cxn modelId="{7E13294A-AC59-478C-B536-F84740C1D0D1}" srcId="{2FDB8200-0BA1-41E9-9910-EE42E0F55B21}" destId="{8D991989-A9D4-4A8C-96A3-C1497A9D08BB}" srcOrd="2" destOrd="0" parTransId="{E3B3BB35-41F3-42D4-8F70-16E1B6E44CE7}" sibTransId="{A0C05D4E-4221-40A3-80DB-9A131FEE9CA1}"/>
    <dgm:cxn modelId="{D606E897-4E61-4D9F-AF1A-079E2674B93F}" type="presOf" srcId="{F2935EF6-42A8-480C-9493-1EA7F177BACD}" destId="{6D4CDA91-4537-47E1-B151-76A37D8D2B44}" srcOrd="0" destOrd="0" presId="urn:microsoft.com/office/officeart/2018/2/layout/IconLabelList"/>
    <dgm:cxn modelId="{A109EEAE-1A75-4097-866B-4ED05AC43ED2}" srcId="{2FDB8200-0BA1-41E9-9910-EE42E0F55B21}" destId="{301D0847-F6CB-4931-96CE-07EBF77AD225}" srcOrd="1" destOrd="0" parTransId="{68ABFEBA-748B-4C58-B56E-439713E79E26}" sibTransId="{A2A6EC5B-5356-4A4E-B970-E994F2FD9962}"/>
    <dgm:cxn modelId="{C1483BCC-48D4-4490-B0BC-3794C5DEC381}" type="presOf" srcId="{301D0847-F6CB-4931-96CE-07EBF77AD225}" destId="{F57AE4CA-07C4-4707-ABEA-2D8ABC8771DF}" srcOrd="0" destOrd="0" presId="urn:microsoft.com/office/officeart/2018/2/layout/IconLabelList"/>
    <dgm:cxn modelId="{0098C0EC-757C-4F1A-9294-7E199862426C}" srcId="{2FDB8200-0BA1-41E9-9910-EE42E0F55B21}" destId="{F2935EF6-42A8-480C-9493-1EA7F177BACD}" srcOrd="3" destOrd="0" parTransId="{207FCF67-5D39-490D-B703-67CDEC9D327C}" sibTransId="{1FED91FD-87B4-4D4D-9954-87204C6B2D9F}"/>
    <dgm:cxn modelId="{A68CAF08-9E12-47D8-AD3A-4D83FB83F81C}" type="presParOf" srcId="{FBF33D4D-C856-49C3-8113-1D4C8F719C6A}" destId="{5127626D-8518-4A27-B627-3F91DA4BAC0C}" srcOrd="0" destOrd="0" presId="urn:microsoft.com/office/officeart/2018/2/layout/IconLabelList"/>
    <dgm:cxn modelId="{818E16E8-7AC0-4C76-8756-2D5F56017227}" type="presParOf" srcId="{5127626D-8518-4A27-B627-3F91DA4BAC0C}" destId="{A81B3A88-77A4-4F5A-B1A1-6A41DE24ECB1}" srcOrd="0" destOrd="0" presId="urn:microsoft.com/office/officeart/2018/2/layout/IconLabelList"/>
    <dgm:cxn modelId="{8E14F924-8B91-47D4-80B0-E0B632DAB918}" type="presParOf" srcId="{5127626D-8518-4A27-B627-3F91DA4BAC0C}" destId="{D3A3F0FE-21F1-4356-88D2-7032FC1FE7AB}" srcOrd="1" destOrd="0" presId="urn:microsoft.com/office/officeart/2018/2/layout/IconLabelList"/>
    <dgm:cxn modelId="{ADEBE1E2-BC53-4B12-A085-800EB5D496E3}" type="presParOf" srcId="{5127626D-8518-4A27-B627-3F91DA4BAC0C}" destId="{48D2D1FE-4B6A-4E36-9BD0-AA3CA3739E6C}" srcOrd="2" destOrd="0" presId="urn:microsoft.com/office/officeart/2018/2/layout/IconLabelList"/>
    <dgm:cxn modelId="{31524261-FECF-422D-9ACC-FD5D3E3D6AA8}" type="presParOf" srcId="{FBF33D4D-C856-49C3-8113-1D4C8F719C6A}" destId="{B1346745-5DC4-48E9-A9DE-F58C4E39969A}" srcOrd="1" destOrd="0" presId="urn:microsoft.com/office/officeart/2018/2/layout/IconLabelList"/>
    <dgm:cxn modelId="{CBC676B0-C48D-445D-8A2F-250BCD5D91E1}" type="presParOf" srcId="{FBF33D4D-C856-49C3-8113-1D4C8F719C6A}" destId="{63B20D35-A8CB-4DF3-9540-BD90E2FB9405}" srcOrd="2" destOrd="0" presId="urn:microsoft.com/office/officeart/2018/2/layout/IconLabelList"/>
    <dgm:cxn modelId="{7A84503E-94A1-47A1-93D3-AC03E0AF2092}" type="presParOf" srcId="{63B20D35-A8CB-4DF3-9540-BD90E2FB9405}" destId="{3466F3DD-F52B-4A65-8C84-AC6A407A9F1B}" srcOrd="0" destOrd="0" presId="urn:microsoft.com/office/officeart/2018/2/layout/IconLabelList"/>
    <dgm:cxn modelId="{C106AF6B-A20F-431D-8CE2-D9EDC66147D0}" type="presParOf" srcId="{63B20D35-A8CB-4DF3-9540-BD90E2FB9405}" destId="{CA5947C8-38D7-4684-90EC-23B67559A905}" srcOrd="1" destOrd="0" presId="urn:microsoft.com/office/officeart/2018/2/layout/IconLabelList"/>
    <dgm:cxn modelId="{81D84615-2A87-425F-BFF9-74A879C23420}" type="presParOf" srcId="{63B20D35-A8CB-4DF3-9540-BD90E2FB9405}" destId="{F57AE4CA-07C4-4707-ABEA-2D8ABC8771DF}" srcOrd="2" destOrd="0" presId="urn:microsoft.com/office/officeart/2018/2/layout/IconLabelList"/>
    <dgm:cxn modelId="{DB88A374-08B5-4174-BDAE-4FF9667939B8}" type="presParOf" srcId="{FBF33D4D-C856-49C3-8113-1D4C8F719C6A}" destId="{226419A9-91F3-4D64-91DF-99D6846B1D29}" srcOrd="3" destOrd="0" presId="urn:microsoft.com/office/officeart/2018/2/layout/IconLabelList"/>
    <dgm:cxn modelId="{B0EDC68B-E1D9-4C9F-8E1C-D3E8B9E4048B}" type="presParOf" srcId="{FBF33D4D-C856-49C3-8113-1D4C8F719C6A}" destId="{A396ACF0-A728-4DF2-96D3-EC11B06B6B23}" srcOrd="4" destOrd="0" presId="urn:microsoft.com/office/officeart/2018/2/layout/IconLabelList"/>
    <dgm:cxn modelId="{5475E0D7-21A1-44A1-B896-BAFDA9BB314E}" type="presParOf" srcId="{A396ACF0-A728-4DF2-96D3-EC11B06B6B23}" destId="{3BFD430C-1873-4F99-B777-81A5862B56BC}" srcOrd="0" destOrd="0" presId="urn:microsoft.com/office/officeart/2018/2/layout/IconLabelList"/>
    <dgm:cxn modelId="{ECF8D19F-2F91-4C50-B397-745160894D07}" type="presParOf" srcId="{A396ACF0-A728-4DF2-96D3-EC11B06B6B23}" destId="{C60DC87E-28D1-46A4-9327-C8C30667BAB8}" srcOrd="1" destOrd="0" presId="urn:microsoft.com/office/officeart/2018/2/layout/IconLabelList"/>
    <dgm:cxn modelId="{E6AD30DF-4490-4DAA-977C-D695E8A4E969}" type="presParOf" srcId="{A396ACF0-A728-4DF2-96D3-EC11B06B6B23}" destId="{3344A22F-8D55-4CB7-9FFF-C77695B3D25F}" srcOrd="2" destOrd="0" presId="urn:microsoft.com/office/officeart/2018/2/layout/IconLabelList"/>
    <dgm:cxn modelId="{F4821B19-9711-429F-9AFE-191876462E19}" type="presParOf" srcId="{FBF33D4D-C856-49C3-8113-1D4C8F719C6A}" destId="{F9C849B6-9605-4C78-93D7-9558DF43CCCD}" srcOrd="5" destOrd="0" presId="urn:microsoft.com/office/officeart/2018/2/layout/IconLabelList"/>
    <dgm:cxn modelId="{33B6921D-EB24-45DA-9C48-FF29D96FFC53}" type="presParOf" srcId="{FBF33D4D-C856-49C3-8113-1D4C8F719C6A}" destId="{F6AE6C19-11E4-4653-9CA7-9B2B41D1FF35}" srcOrd="6" destOrd="0" presId="urn:microsoft.com/office/officeart/2018/2/layout/IconLabelList"/>
    <dgm:cxn modelId="{35B76F48-4C1E-4DFC-937E-1B8E64B43087}" type="presParOf" srcId="{F6AE6C19-11E4-4653-9CA7-9B2B41D1FF35}" destId="{9A1DAD31-3034-491F-88F9-4B397FBFD588}" srcOrd="0" destOrd="0" presId="urn:microsoft.com/office/officeart/2018/2/layout/IconLabelList"/>
    <dgm:cxn modelId="{08FDCD1F-77BA-4B4B-90AF-EE61E8BE4DAF}" type="presParOf" srcId="{F6AE6C19-11E4-4653-9CA7-9B2B41D1FF35}" destId="{45CE9046-8974-43E1-A4BB-E7AA7B16D3DA}" srcOrd="1" destOrd="0" presId="urn:microsoft.com/office/officeart/2018/2/layout/IconLabelList"/>
    <dgm:cxn modelId="{487F1F7F-5627-42CE-BC94-15E10AB37590}" type="presParOf" srcId="{F6AE6C19-11E4-4653-9CA7-9B2B41D1FF35}" destId="{6D4CDA91-4537-47E1-B151-76A37D8D2B4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8AF69E5-595B-4931-AB06-06AB4440DD1C}"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0EA0590D-3E1C-4A99-B397-7E025EB6204C}">
      <dgm:prSet/>
      <dgm:spPr/>
      <dgm:t>
        <a:bodyPr/>
        <a:lstStyle/>
        <a:p>
          <a:r>
            <a:rPr lang="en-US"/>
            <a:t>Human Capital</a:t>
          </a:r>
        </a:p>
      </dgm:t>
    </dgm:pt>
    <dgm:pt modelId="{96A50B88-31C7-468A-AC79-62062C348D6C}" type="parTrans" cxnId="{34C092FF-4EC0-4616-A1FF-6A2F93C456EF}">
      <dgm:prSet/>
      <dgm:spPr/>
      <dgm:t>
        <a:bodyPr/>
        <a:lstStyle/>
        <a:p>
          <a:endParaRPr lang="en-US"/>
        </a:p>
      </dgm:t>
    </dgm:pt>
    <dgm:pt modelId="{4048E98C-149E-44AF-89FC-000B2BF64B24}" type="sibTrans" cxnId="{34C092FF-4EC0-4616-A1FF-6A2F93C456EF}">
      <dgm:prSet/>
      <dgm:spPr/>
      <dgm:t>
        <a:bodyPr/>
        <a:lstStyle/>
        <a:p>
          <a:endParaRPr lang="en-US"/>
        </a:p>
      </dgm:t>
    </dgm:pt>
    <dgm:pt modelId="{0062555C-01BC-4BF9-8092-BFD8BDA7E6BC}">
      <dgm:prSet/>
      <dgm:spPr/>
      <dgm:t>
        <a:bodyPr/>
        <a:lstStyle/>
        <a:p>
          <a:r>
            <a:rPr lang="en-US"/>
            <a:t>Research and Development (R&amp;D)</a:t>
          </a:r>
        </a:p>
      </dgm:t>
    </dgm:pt>
    <dgm:pt modelId="{66012A3E-358E-4835-AB00-82504B846D1E}" type="parTrans" cxnId="{FB88E9C8-1DA8-48C2-8172-1376307873F5}">
      <dgm:prSet/>
      <dgm:spPr/>
      <dgm:t>
        <a:bodyPr/>
        <a:lstStyle/>
        <a:p>
          <a:endParaRPr lang="en-US"/>
        </a:p>
      </dgm:t>
    </dgm:pt>
    <dgm:pt modelId="{8C7A2B0B-D8B2-48A7-9BDE-C6159DE65515}" type="sibTrans" cxnId="{FB88E9C8-1DA8-48C2-8172-1376307873F5}">
      <dgm:prSet/>
      <dgm:spPr/>
      <dgm:t>
        <a:bodyPr/>
        <a:lstStyle/>
        <a:p>
          <a:endParaRPr lang="en-US"/>
        </a:p>
      </dgm:t>
    </dgm:pt>
    <dgm:pt modelId="{AD74B78B-92C6-439E-93D7-B9ABA9D51AEE}">
      <dgm:prSet/>
      <dgm:spPr/>
      <dgm:t>
        <a:bodyPr/>
        <a:lstStyle/>
        <a:p>
          <a:r>
            <a:rPr lang="en-US"/>
            <a:t>Innovation</a:t>
          </a:r>
        </a:p>
      </dgm:t>
    </dgm:pt>
    <dgm:pt modelId="{8CBA3F76-6740-42CC-9296-008F6A139373}" type="parTrans" cxnId="{3E952E0A-1810-4BDA-B9C4-516E15C55731}">
      <dgm:prSet/>
      <dgm:spPr/>
      <dgm:t>
        <a:bodyPr/>
        <a:lstStyle/>
        <a:p>
          <a:endParaRPr lang="en-US"/>
        </a:p>
      </dgm:t>
    </dgm:pt>
    <dgm:pt modelId="{B4FA0481-A3A8-44C3-990D-B5985E69D6BB}" type="sibTrans" cxnId="{3E952E0A-1810-4BDA-B9C4-516E15C55731}">
      <dgm:prSet/>
      <dgm:spPr/>
      <dgm:t>
        <a:bodyPr/>
        <a:lstStyle/>
        <a:p>
          <a:endParaRPr lang="en-US"/>
        </a:p>
      </dgm:t>
    </dgm:pt>
    <dgm:pt modelId="{08F41849-086A-4532-8093-85989F257795}">
      <dgm:prSet/>
      <dgm:spPr/>
      <dgm:t>
        <a:bodyPr/>
        <a:lstStyle/>
        <a:p>
          <a:r>
            <a:rPr lang="en-US"/>
            <a:t>Knowledge Spillovers</a:t>
          </a:r>
        </a:p>
      </dgm:t>
    </dgm:pt>
    <dgm:pt modelId="{7DE42B50-BAA9-49EC-B981-85433B121F59}" type="parTrans" cxnId="{086ED2AA-4C62-4876-B8B1-20721E60BA4C}">
      <dgm:prSet/>
      <dgm:spPr/>
      <dgm:t>
        <a:bodyPr/>
        <a:lstStyle/>
        <a:p>
          <a:endParaRPr lang="en-US"/>
        </a:p>
      </dgm:t>
    </dgm:pt>
    <dgm:pt modelId="{92944F78-6671-4673-A5BD-E239F17421E1}" type="sibTrans" cxnId="{086ED2AA-4C62-4876-B8B1-20721E60BA4C}">
      <dgm:prSet/>
      <dgm:spPr/>
      <dgm:t>
        <a:bodyPr/>
        <a:lstStyle/>
        <a:p>
          <a:endParaRPr lang="en-US"/>
        </a:p>
      </dgm:t>
    </dgm:pt>
    <dgm:pt modelId="{A439BD18-A147-4606-B1AE-17E006F77741}">
      <dgm:prSet/>
      <dgm:spPr/>
      <dgm:t>
        <a:bodyPr/>
        <a:lstStyle/>
        <a:p>
          <a:r>
            <a:rPr lang="en-US"/>
            <a:t>Increasing Returns</a:t>
          </a:r>
        </a:p>
      </dgm:t>
    </dgm:pt>
    <dgm:pt modelId="{686617B6-B571-40C7-91F7-365297B8C4A6}" type="parTrans" cxnId="{9B6A1E19-5105-4AE9-AEA9-25391B8CEDAD}">
      <dgm:prSet/>
      <dgm:spPr/>
      <dgm:t>
        <a:bodyPr/>
        <a:lstStyle/>
        <a:p>
          <a:endParaRPr lang="en-US"/>
        </a:p>
      </dgm:t>
    </dgm:pt>
    <dgm:pt modelId="{7AD815D0-E4C8-4C67-B299-BC5DC6CDD7CC}" type="sibTrans" cxnId="{9B6A1E19-5105-4AE9-AEA9-25391B8CEDAD}">
      <dgm:prSet/>
      <dgm:spPr/>
      <dgm:t>
        <a:bodyPr/>
        <a:lstStyle/>
        <a:p>
          <a:endParaRPr lang="en-US"/>
        </a:p>
      </dgm:t>
    </dgm:pt>
    <dgm:pt modelId="{002FE63B-F198-4793-96FE-3EE024D49413}" type="pres">
      <dgm:prSet presAssocID="{58AF69E5-595B-4931-AB06-06AB4440DD1C}" presName="root" presStyleCnt="0">
        <dgm:presLayoutVars>
          <dgm:dir/>
          <dgm:resizeHandles val="exact"/>
        </dgm:presLayoutVars>
      </dgm:prSet>
      <dgm:spPr/>
    </dgm:pt>
    <dgm:pt modelId="{0F8A8ACB-88EC-4471-838C-4D98243AAF43}" type="pres">
      <dgm:prSet presAssocID="{0EA0590D-3E1C-4A99-B397-7E025EB6204C}" presName="compNode" presStyleCnt="0"/>
      <dgm:spPr/>
    </dgm:pt>
    <dgm:pt modelId="{CB360FEC-45A4-426F-9D60-363C8EC55BAD}" type="pres">
      <dgm:prSet presAssocID="{0EA0590D-3E1C-4A99-B397-7E025EB6204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oup"/>
        </a:ext>
      </dgm:extLst>
    </dgm:pt>
    <dgm:pt modelId="{DAAE75F5-8464-459E-ABDE-007303662952}" type="pres">
      <dgm:prSet presAssocID="{0EA0590D-3E1C-4A99-B397-7E025EB6204C}" presName="spaceRect" presStyleCnt="0"/>
      <dgm:spPr/>
    </dgm:pt>
    <dgm:pt modelId="{90B490DA-9A25-4BC6-8C4F-F55FC6B8D75B}" type="pres">
      <dgm:prSet presAssocID="{0EA0590D-3E1C-4A99-B397-7E025EB6204C}" presName="textRect" presStyleLbl="revTx" presStyleIdx="0" presStyleCnt="5">
        <dgm:presLayoutVars>
          <dgm:chMax val="1"/>
          <dgm:chPref val="1"/>
        </dgm:presLayoutVars>
      </dgm:prSet>
      <dgm:spPr/>
    </dgm:pt>
    <dgm:pt modelId="{C98BAD18-C5CE-49C0-83BD-030097372506}" type="pres">
      <dgm:prSet presAssocID="{4048E98C-149E-44AF-89FC-000B2BF64B24}" presName="sibTrans" presStyleCnt="0"/>
      <dgm:spPr/>
    </dgm:pt>
    <dgm:pt modelId="{49646C53-6F89-4750-87D3-DE12FBA23121}" type="pres">
      <dgm:prSet presAssocID="{0062555C-01BC-4BF9-8092-BFD8BDA7E6BC}" presName="compNode" presStyleCnt="0"/>
      <dgm:spPr/>
    </dgm:pt>
    <dgm:pt modelId="{48E346B0-91E1-4FC4-94B3-2D226460F8FE}" type="pres">
      <dgm:prSet presAssocID="{0062555C-01BC-4BF9-8092-BFD8BDA7E6B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ask"/>
        </a:ext>
      </dgm:extLst>
    </dgm:pt>
    <dgm:pt modelId="{8EFC5725-46E4-4E62-BC31-6A687DCC5099}" type="pres">
      <dgm:prSet presAssocID="{0062555C-01BC-4BF9-8092-BFD8BDA7E6BC}" presName="spaceRect" presStyleCnt="0"/>
      <dgm:spPr/>
    </dgm:pt>
    <dgm:pt modelId="{564D79AD-EDB3-46C4-AEC0-1278F1941D82}" type="pres">
      <dgm:prSet presAssocID="{0062555C-01BC-4BF9-8092-BFD8BDA7E6BC}" presName="textRect" presStyleLbl="revTx" presStyleIdx="1" presStyleCnt="5">
        <dgm:presLayoutVars>
          <dgm:chMax val="1"/>
          <dgm:chPref val="1"/>
        </dgm:presLayoutVars>
      </dgm:prSet>
      <dgm:spPr/>
    </dgm:pt>
    <dgm:pt modelId="{BC6C8E55-DE06-446D-84DF-EAA9816E77BC}" type="pres">
      <dgm:prSet presAssocID="{8C7A2B0B-D8B2-48A7-9BDE-C6159DE65515}" presName="sibTrans" presStyleCnt="0"/>
      <dgm:spPr/>
    </dgm:pt>
    <dgm:pt modelId="{82E19C43-6A54-46EC-B8BB-A807ED2B1B7D}" type="pres">
      <dgm:prSet presAssocID="{AD74B78B-92C6-439E-93D7-B9ABA9D51AEE}" presName="compNode" presStyleCnt="0"/>
      <dgm:spPr/>
    </dgm:pt>
    <dgm:pt modelId="{EFF7BFE8-74A1-424A-B159-281B09A30689}" type="pres">
      <dgm:prSet presAssocID="{AD74B78B-92C6-439E-93D7-B9ABA9D51AEE}"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uzzle Pieces"/>
        </a:ext>
      </dgm:extLst>
    </dgm:pt>
    <dgm:pt modelId="{21F1DB0B-E6F1-4139-8586-2F7C2E82E6B6}" type="pres">
      <dgm:prSet presAssocID="{AD74B78B-92C6-439E-93D7-B9ABA9D51AEE}" presName="spaceRect" presStyleCnt="0"/>
      <dgm:spPr/>
    </dgm:pt>
    <dgm:pt modelId="{2F9D2631-72C0-46DA-9634-4D5175FED838}" type="pres">
      <dgm:prSet presAssocID="{AD74B78B-92C6-439E-93D7-B9ABA9D51AEE}" presName="textRect" presStyleLbl="revTx" presStyleIdx="2" presStyleCnt="5">
        <dgm:presLayoutVars>
          <dgm:chMax val="1"/>
          <dgm:chPref val="1"/>
        </dgm:presLayoutVars>
      </dgm:prSet>
      <dgm:spPr/>
    </dgm:pt>
    <dgm:pt modelId="{145B1B39-A5BF-46A4-AFDA-2B36692AC0E8}" type="pres">
      <dgm:prSet presAssocID="{B4FA0481-A3A8-44C3-990D-B5985E69D6BB}" presName="sibTrans" presStyleCnt="0"/>
      <dgm:spPr/>
    </dgm:pt>
    <dgm:pt modelId="{47BDAEC0-67D8-498D-A818-E400C946471E}" type="pres">
      <dgm:prSet presAssocID="{08F41849-086A-4532-8093-85989F257795}" presName="compNode" presStyleCnt="0"/>
      <dgm:spPr/>
    </dgm:pt>
    <dgm:pt modelId="{5FAD74CD-18C6-49CA-9AA4-9F06E0273102}" type="pres">
      <dgm:prSet presAssocID="{08F41849-086A-4532-8093-85989F257795}"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979A7F03-A7B8-4713-B9CB-FB1144BB9129}" type="pres">
      <dgm:prSet presAssocID="{08F41849-086A-4532-8093-85989F257795}" presName="spaceRect" presStyleCnt="0"/>
      <dgm:spPr/>
    </dgm:pt>
    <dgm:pt modelId="{EE9C9BD5-96E5-418F-8BB1-27F5FEC421B4}" type="pres">
      <dgm:prSet presAssocID="{08F41849-086A-4532-8093-85989F257795}" presName="textRect" presStyleLbl="revTx" presStyleIdx="3" presStyleCnt="5">
        <dgm:presLayoutVars>
          <dgm:chMax val="1"/>
          <dgm:chPref val="1"/>
        </dgm:presLayoutVars>
      </dgm:prSet>
      <dgm:spPr/>
    </dgm:pt>
    <dgm:pt modelId="{CC6BECA3-38E2-49D7-ADA9-8AFAA9BB6868}" type="pres">
      <dgm:prSet presAssocID="{92944F78-6671-4673-A5BD-E239F17421E1}" presName="sibTrans" presStyleCnt="0"/>
      <dgm:spPr/>
    </dgm:pt>
    <dgm:pt modelId="{0B52BA6A-27FF-4A39-84B0-22EC7E5B6C76}" type="pres">
      <dgm:prSet presAssocID="{A439BD18-A147-4606-B1AE-17E006F77741}" presName="compNode" presStyleCnt="0"/>
      <dgm:spPr/>
    </dgm:pt>
    <dgm:pt modelId="{B9A7C28C-47A5-4110-8F50-BE62DDFF3A23}" type="pres">
      <dgm:prSet presAssocID="{A439BD18-A147-4606-B1AE-17E006F7774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Upward trend"/>
        </a:ext>
      </dgm:extLst>
    </dgm:pt>
    <dgm:pt modelId="{56427453-1042-4950-9B5B-9CA30AADE148}" type="pres">
      <dgm:prSet presAssocID="{A439BD18-A147-4606-B1AE-17E006F77741}" presName="spaceRect" presStyleCnt="0"/>
      <dgm:spPr/>
    </dgm:pt>
    <dgm:pt modelId="{DD7B936A-7D37-413A-8C53-7AE1907AF4ED}" type="pres">
      <dgm:prSet presAssocID="{A439BD18-A147-4606-B1AE-17E006F77741}" presName="textRect" presStyleLbl="revTx" presStyleIdx="4" presStyleCnt="5">
        <dgm:presLayoutVars>
          <dgm:chMax val="1"/>
          <dgm:chPref val="1"/>
        </dgm:presLayoutVars>
      </dgm:prSet>
      <dgm:spPr/>
    </dgm:pt>
  </dgm:ptLst>
  <dgm:cxnLst>
    <dgm:cxn modelId="{3E952E0A-1810-4BDA-B9C4-516E15C55731}" srcId="{58AF69E5-595B-4931-AB06-06AB4440DD1C}" destId="{AD74B78B-92C6-439E-93D7-B9ABA9D51AEE}" srcOrd="2" destOrd="0" parTransId="{8CBA3F76-6740-42CC-9296-008F6A139373}" sibTransId="{B4FA0481-A3A8-44C3-990D-B5985E69D6BB}"/>
    <dgm:cxn modelId="{9B6A1E19-5105-4AE9-AEA9-25391B8CEDAD}" srcId="{58AF69E5-595B-4931-AB06-06AB4440DD1C}" destId="{A439BD18-A147-4606-B1AE-17E006F77741}" srcOrd="4" destOrd="0" parTransId="{686617B6-B571-40C7-91F7-365297B8C4A6}" sibTransId="{7AD815D0-E4C8-4C67-B299-BC5DC6CDD7CC}"/>
    <dgm:cxn modelId="{1D142223-9FEC-40B1-88A1-E77C1320E1D4}" type="presOf" srcId="{58AF69E5-595B-4931-AB06-06AB4440DD1C}" destId="{002FE63B-F198-4793-96FE-3EE024D49413}" srcOrd="0" destOrd="0" presId="urn:microsoft.com/office/officeart/2018/2/layout/IconLabelList"/>
    <dgm:cxn modelId="{FF01DB2E-995D-4590-889B-720AAFA60F88}" type="presOf" srcId="{A439BD18-A147-4606-B1AE-17E006F77741}" destId="{DD7B936A-7D37-413A-8C53-7AE1907AF4ED}" srcOrd="0" destOrd="0" presId="urn:microsoft.com/office/officeart/2018/2/layout/IconLabelList"/>
    <dgm:cxn modelId="{755CDB57-E0FF-47D7-A5EA-72A580231DCE}" type="presOf" srcId="{08F41849-086A-4532-8093-85989F257795}" destId="{EE9C9BD5-96E5-418F-8BB1-27F5FEC421B4}" srcOrd="0" destOrd="0" presId="urn:microsoft.com/office/officeart/2018/2/layout/IconLabelList"/>
    <dgm:cxn modelId="{25CAA57A-7358-43DD-A02B-786E2AA13CC4}" type="presOf" srcId="{AD74B78B-92C6-439E-93D7-B9ABA9D51AEE}" destId="{2F9D2631-72C0-46DA-9634-4D5175FED838}" srcOrd="0" destOrd="0" presId="urn:microsoft.com/office/officeart/2018/2/layout/IconLabelList"/>
    <dgm:cxn modelId="{086ED2AA-4C62-4876-B8B1-20721E60BA4C}" srcId="{58AF69E5-595B-4931-AB06-06AB4440DD1C}" destId="{08F41849-086A-4532-8093-85989F257795}" srcOrd="3" destOrd="0" parTransId="{7DE42B50-BAA9-49EC-B981-85433B121F59}" sibTransId="{92944F78-6671-4673-A5BD-E239F17421E1}"/>
    <dgm:cxn modelId="{3E3CACAD-6C12-4859-8046-4B3759DF62E6}" type="presOf" srcId="{0062555C-01BC-4BF9-8092-BFD8BDA7E6BC}" destId="{564D79AD-EDB3-46C4-AEC0-1278F1941D82}" srcOrd="0" destOrd="0" presId="urn:microsoft.com/office/officeart/2018/2/layout/IconLabelList"/>
    <dgm:cxn modelId="{FB88E9C8-1DA8-48C2-8172-1376307873F5}" srcId="{58AF69E5-595B-4931-AB06-06AB4440DD1C}" destId="{0062555C-01BC-4BF9-8092-BFD8BDA7E6BC}" srcOrd="1" destOrd="0" parTransId="{66012A3E-358E-4835-AB00-82504B846D1E}" sibTransId="{8C7A2B0B-D8B2-48A7-9BDE-C6159DE65515}"/>
    <dgm:cxn modelId="{20AB8FF3-A5EC-4A1D-A28E-DD2723A5B636}" type="presOf" srcId="{0EA0590D-3E1C-4A99-B397-7E025EB6204C}" destId="{90B490DA-9A25-4BC6-8C4F-F55FC6B8D75B}" srcOrd="0" destOrd="0" presId="urn:microsoft.com/office/officeart/2018/2/layout/IconLabelList"/>
    <dgm:cxn modelId="{34C092FF-4EC0-4616-A1FF-6A2F93C456EF}" srcId="{58AF69E5-595B-4931-AB06-06AB4440DD1C}" destId="{0EA0590D-3E1C-4A99-B397-7E025EB6204C}" srcOrd="0" destOrd="0" parTransId="{96A50B88-31C7-468A-AC79-62062C348D6C}" sibTransId="{4048E98C-149E-44AF-89FC-000B2BF64B24}"/>
    <dgm:cxn modelId="{BE9BFABA-C3DC-4AEC-97CE-B8BBD57640E6}" type="presParOf" srcId="{002FE63B-F198-4793-96FE-3EE024D49413}" destId="{0F8A8ACB-88EC-4471-838C-4D98243AAF43}" srcOrd="0" destOrd="0" presId="urn:microsoft.com/office/officeart/2018/2/layout/IconLabelList"/>
    <dgm:cxn modelId="{3CB7EB21-8A62-44E7-814E-62F558CA7E8A}" type="presParOf" srcId="{0F8A8ACB-88EC-4471-838C-4D98243AAF43}" destId="{CB360FEC-45A4-426F-9D60-363C8EC55BAD}" srcOrd="0" destOrd="0" presId="urn:microsoft.com/office/officeart/2018/2/layout/IconLabelList"/>
    <dgm:cxn modelId="{E7BA60C1-069A-4CA9-A986-9B3648DF9792}" type="presParOf" srcId="{0F8A8ACB-88EC-4471-838C-4D98243AAF43}" destId="{DAAE75F5-8464-459E-ABDE-007303662952}" srcOrd="1" destOrd="0" presId="urn:microsoft.com/office/officeart/2018/2/layout/IconLabelList"/>
    <dgm:cxn modelId="{EC9A6AEF-36B1-4AC6-95B2-42E265C41F76}" type="presParOf" srcId="{0F8A8ACB-88EC-4471-838C-4D98243AAF43}" destId="{90B490DA-9A25-4BC6-8C4F-F55FC6B8D75B}" srcOrd="2" destOrd="0" presId="urn:microsoft.com/office/officeart/2018/2/layout/IconLabelList"/>
    <dgm:cxn modelId="{4396CEAD-145D-41BD-A6E8-199232DE3375}" type="presParOf" srcId="{002FE63B-F198-4793-96FE-3EE024D49413}" destId="{C98BAD18-C5CE-49C0-83BD-030097372506}" srcOrd="1" destOrd="0" presId="urn:microsoft.com/office/officeart/2018/2/layout/IconLabelList"/>
    <dgm:cxn modelId="{FD2B421E-0470-47CF-813C-57D04A0FA8D0}" type="presParOf" srcId="{002FE63B-F198-4793-96FE-3EE024D49413}" destId="{49646C53-6F89-4750-87D3-DE12FBA23121}" srcOrd="2" destOrd="0" presId="urn:microsoft.com/office/officeart/2018/2/layout/IconLabelList"/>
    <dgm:cxn modelId="{1F3539D5-9AE4-4B40-89EA-CD1F5121CA79}" type="presParOf" srcId="{49646C53-6F89-4750-87D3-DE12FBA23121}" destId="{48E346B0-91E1-4FC4-94B3-2D226460F8FE}" srcOrd="0" destOrd="0" presId="urn:microsoft.com/office/officeart/2018/2/layout/IconLabelList"/>
    <dgm:cxn modelId="{F36CF3FC-7A67-426F-92D0-35FA6417461C}" type="presParOf" srcId="{49646C53-6F89-4750-87D3-DE12FBA23121}" destId="{8EFC5725-46E4-4E62-BC31-6A687DCC5099}" srcOrd="1" destOrd="0" presId="urn:microsoft.com/office/officeart/2018/2/layout/IconLabelList"/>
    <dgm:cxn modelId="{E8EDEE22-0A44-4D40-BCBC-E39D07CE66C0}" type="presParOf" srcId="{49646C53-6F89-4750-87D3-DE12FBA23121}" destId="{564D79AD-EDB3-46C4-AEC0-1278F1941D82}" srcOrd="2" destOrd="0" presId="urn:microsoft.com/office/officeart/2018/2/layout/IconLabelList"/>
    <dgm:cxn modelId="{F68EAA50-4E68-4E0A-BC86-43589480FE98}" type="presParOf" srcId="{002FE63B-F198-4793-96FE-3EE024D49413}" destId="{BC6C8E55-DE06-446D-84DF-EAA9816E77BC}" srcOrd="3" destOrd="0" presId="urn:microsoft.com/office/officeart/2018/2/layout/IconLabelList"/>
    <dgm:cxn modelId="{F85E3594-496A-4D4D-8D6D-0B6896C5F495}" type="presParOf" srcId="{002FE63B-F198-4793-96FE-3EE024D49413}" destId="{82E19C43-6A54-46EC-B8BB-A807ED2B1B7D}" srcOrd="4" destOrd="0" presId="urn:microsoft.com/office/officeart/2018/2/layout/IconLabelList"/>
    <dgm:cxn modelId="{A154E667-390B-4DB4-AE29-A8AD68173D55}" type="presParOf" srcId="{82E19C43-6A54-46EC-B8BB-A807ED2B1B7D}" destId="{EFF7BFE8-74A1-424A-B159-281B09A30689}" srcOrd="0" destOrd="0" presId="urn:microsoft.com/office/officeart/2018/2/layout/IconLabelList"/>
    <dgm:cxn modelId="{E1C26C56-26F6-4EA9-807C-C4ACCD32B7B6}" type="presParOf" srcId="{82E19C43-6A54-46EC-B8BB-A807ED2B1B7D}" destId="{21F1DB0B-E6F1-4139-8586-2F7C2E82E6B6}" srcOrd="1" destOrd="0" presId="urn:microsoft.com/office/officeart/2018/2/layout/IconLabelList"/>
    <dgm:cxn modelId="{66528D03-FEE7-4C42-8AFC-66E980970E58}" type="presParOf" srcId="{82E19C43-6A54-46EC-B8BB-A807ED2B1B7D}" destId="{2F9D2631-72C0-46DA-9634-4D5175FED838}" srcOrd="2" destOrd="0" presId="urn:microsoft.com/office/officeart/2018/2/layout/IconLabelList"/>
    <dgm:cxn modelId="{F2143D61-C2D5-4DAD-BB1D-488443553114}" type="presParOf" srcId="{002FE63B-F198-4793-96FE-3EE024D49413}" destId="{145B1B39-A5BF-46A4-AFDA-2B36692AC0E8}" srcOrd="5" destOrd="0" presId="urn:microsoft.com/office/officeart/2018/2/layout/IconLabelList"/>
    <dgm:cxn modelId="{4C27E24E-FBCA-42F6-97BA-1909805A6850}" type="presParOf" srcId="{002FE63B-F198-4793-96FE-3EE024D49413}" destId="{47BDAEC0-67D8-498D-A818-E400C946471E}" srcOrd="6" destOrd="0" presId="urn:microsoft.com/office/officeart/2018/2/layout/IconLabelList"/>
    <dgm:cxn modelId="{57B19535-262E-4C03-A70A-B63381F70EC8}" type="presParOf" srcId="{47BDAEC0-67D8-498D-A818-E400C946471E}" destId="{5FAD74CD-18C6-49CA-9AA4-9F06E0273102}" srcOrd="0" destOrd="0" presId="urn:microsoft.com/office/officeart/2018/2/layout/IconLabelList"/>
    <dgm:cxn modelId="{ED5122D5-17D3-47B6-B3BA-C2A4A5A87118}" type="presParOf" srcId="{47BDAEC0-67D8-498D-A818-E400C946471E}" destId="{979A7F03-A7B8-4713-B9CB-FB1144BB9129}" srcOrd="1" destOrd="0" presId="urn:microsoft.com/office/officeart/2018/2/layout/IconLabelList"/>
    <dgm:cxn modelId="{D952A70A-8745-4CA1-BC6D-4DED437E85E8}" type="presParOf" srcId="{47BDAEC0-67D8-498D-A818-E400C946471E}" destId="{EE9C9BD5-96E5-418F-8BB1-27F5FEC421B4}" srcOrd="2" destOrd="0" presId="urn:microsoft.com/office/officeart/2018/2/layout/IconLabelList"/>
    <dgm:cxn modelId="{1C9F9F0A-DF05-4A20-905C-8D9030533301}" type="presParOf" srcId="{002FE63B-F198-4793-96FE-3EE024D49413}" destId="{CC6BECA3-38E2-49D7-ADA9-8AFAA9BB6868}" srcOrd="7" destOrd="0" presId="urn:microsoft.com/office/officeart/2018/2/layout/IconLabelList"/>
    <dgm:cxn modelId="{44012CE9-011F-4EEC-BCA5-0C74A46FF2F6}" type="presParOf" srcId="{002FE63B-F198-4793-96FE-3EE024D49413}" destId="{0B52BA6A-27FF-4A39-84B0-22EC7E5B6C76}" srcOrd="8" destOrd="0" presId="urn:microsoft.com/office/officeart/2018/2/layout/IconLabelList"/>
    <dgm:cxn modelId="{AF38FE94-84AC-40C4-8133-A8358951D4BA}" type="presParOf" srcId="{0B52BA6A-27FF-4A39-84B0-22EC7E5B6C76}" destId="{B9A7C28C-47A5-4110-8F50-BE62DDFF3A23}" srcOrd="0" destOrd="0" presId="urn:microsoft.com/office/officeart/2018/2/layout/IconLabelList"/>
    <dgm:cxn modelId="{2CA8A911-5123-49C4-91EC-F2121A260AD7}" type="presParOf" srcId="{0B52BA6A-27FF-4A39-84B0-22EC7E5B6C76}" destId="{56427453-1042-4950-9B5B-9CA30AADE148}" srcOrd="1" destOrd="0" presId="urn:microsoft.com/office/officeart/2018/2/layout/IconLabelList"/>
    <dgm:cxn modelId="{5FFCB2CA-6D4C-40BE-8800-EAD37A6D7E9E}" type="presParOf" srcId="{0B52BA6A-27FF-4A39-84B0-22EC7E5B6C76}" destId="{DD7B936A-7D37-413A-8C53-7AE1907AF4E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282F5F-4526-4C6F-BB8A-6E1334479EF8}">
      <dsp:nvSpPr>
        <dsp:cNvPr id="0" name=""/>
        <dsp:cNvSpPr/>
      </dsp:nvSpPr>
      <dsp:spPr>
        <a:xfrm>
          <a:off x="0" y="3358"/>
          <a:ext cx="5861090" cy="15704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6FEFF1-93B9-4D48-8CBC-132ABF4E8EA1}">
      <dsp:nvSpPr>
        <dsp:cNvPr id="0" name=""/>
        <dsp:cNvSpPr/>
      </dsp:nvSpPr>
      <dsp:spPr>
        <a:xfrm>
          <a:off x="475048" y="356700"/>
          <a:ext cx="863725" cy="8637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906927-7EFB-43F7-B6C4-E93B41550846}">
      <dsp:nvSpPr>
        <dsp:cNvPr id="0" name=""/>
        <dsp:cNvSpPr/>
      </dsp:nvSpPr>
      <dsp:spPr>
        <a:xfrm>
          <a:off x="1813823" y="3358"/>
          <a:ext cx="2637490" cy="1570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02" tIns="166202" rIns="166202" bIns="166202" numCol="1" spcCol="1270" anchor="ctr" anchorCtr="0">
          <a:noAutofit/>
        </a:bodyPr>
        <a:lstStyle/>
        <a:p>
          <a:pPr marL="0" lvl="0" indent="0" algn="l" defTabSz="800100">
            <a:lnSpc>
              <a:spcPct val="90000"/>
            </a:lnSpc>
            <a:spcBef>
              <a:spcPct val="0"/>
            </a:spcBef>
            <a:spcAft>
              <a:spcPct val="35000"/>
            </a:spcAft>
            <a:buNone/>
          </a:pPr>
          <a:r>
            <a:rPr lang="en-US" sz="1800" kern="1200"/>
            <a:t>Capital accumulation occurs when businesses invest in:</a:t>
          </a:r>
        </a:p>
      </dsp:txBody>
      <dsp:txXfrm>
        <a:off x="1813823" y="3358"/>
        <a:ext cx="2637490" cy="1570409"/>
      </dsp:txXfrm>
    </dsp:sp>
    <dsp:sp modelId="{F06BC506-070E-44A2-ADD6-75F0DB02B069}">
      <dsp:nvSpPr>
        <dsp:cNvPr id="0" name=""/>
        <dsp:cNvSpPr/>
      </dsp:nvSpPr>
      <dsp:spPr>
        <a:xfrm>
          <a:off x="4451313" y="3358"/>
          <a:ext cx="1408003" cy="1570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02" tIns="166202" rIns="166202" bIns="166202" numCol="1" spcCol="1270" anchor="ctr" anchorCtr="0">
          <a:noAutofit/>
        </a:bodyPr>
        <a:lstStyle/>
        <a:p>
          <a:pPr marL="0" lvl="0" indent="0" algn="l" defTabSz="488950">
            <a:lnSpc>
              <a:spcPct val="90000"/>
            </a:lnSpc>
            <a:spcBef>
              <a:spcPct val="0"/>
            </a:spcBef>
            <a:spcAft>
              <a:spcPct val="35000"/>
            </a:spcAft>
            <a:buNone/>
          </a:pPr>
          <a:r>
            <a:rPr lang="en-US" sz="1100" kern="1200"/>
            <a:t>Machinery </a:t>
          </a:r>
        </a:p>
        <a:p>
          <a:pPr marL="0" lvl="0" indent="0" algn="l" defTabSz="488950">
            <a:lnSpc>
              <a:spcPct val="90000"/>
            </a:lnSpc>
            <a:spcBef>
              <a:spcPct val="0"/>
            </a:spcBef>
            <a:spcAft>
              <a:spcPct val="35000"/>
            </a:spcAft>
            <a:buNone/>
          </a:pPr>
          <a:r>
            <a:rPr lang="en-US" sz="1100" kern="1200"/>
            <a:t>Factories </a:t>
          </a:r>
        </a:p>
        <a:p>
          <a:pPr marL="0" lvl="0" indent="0" algn="l" defTabSz="488950">
            <a:lnSpc>
              <a:spcPct val="90000"/>
            </a:lnSpc>
            <a:spcBef>
              <a:spcPct val="0"/>
            </a:spcBef>
            <a:spcAft>
              <a:spcPct val="35000"/>
            </a:spcAft>
            <a:buNone/>
          </a:pPr>
          <a:r>
            <a:rPr lang="en-US" sz="1100" kern="1200"/>
            <a:t>Roads </a:t>
          </a:r>
        </a:p>
        <a:p>
          <a:pPr marL="0" lvl="0" indent="0" algn="l" defTabSz="488950">
            <a:lnSpc>
              <a:spcPct val="90000"/>
            </a:lnSpc>
            <a:spcBef>
              <a:spcPct val="0"/>
            </a:spcBef>
            <a:spcAft>
              <a:spcPct val="35000"/>
            </a:spcAft>
            <a:buNone/>
          </a:pPr>
          <a:r>
            <a:rPr lang="en-US" sz="1100" kern="1200"/>
            <a:t>Ports </a:t>
          </a:r>
        </a:p>
        <a:p>
          <a:pPr marL="0" lvl="0" indent="0" algn="l" defTabSz="488950">
            <a:lnSpc>
              <a:spcPct val="90000"/>
            </a:lnSpc>
            <a:spcBef>
              <a:spcPct val="0"/>
            </a:spcBef>
            <a:spcAft>
              <a:spcPct val="35000"/>
            </a:spcAft>
            <a:buNone/>
          </a:pPr>
          <a:r>
            <a:rPr lang="en-US" sz="1100" kern="1200"/>
            <a:t>Computers </a:t>
          </a:r>
        </a:p>
        <a:p>
          <a:pPr marL="0" lvl="0" indent="0" algn="l" defTabSz="488950">
            <a:lnSpc>
              <a:spcPct val="90000"/>
            </a:lnSpc>
            <a:spcBef>
              <a:spcPct val="0"/>
            </a:spcBef>
            <a:spcAft>
              <a:spcPct val="35000"/>
            </a:spcAft>
            <a:buNone/>
          </a:pPr>
          <a:r>
            <a:rPr lang="en-US" sz="1100" kern="1200"/>
            <a:t>Communication networks </a:t>
          </a:r>
        </a:p>
      </dsp:txBody>
      <dsp:txXfrm>
        <a:off x="4451313" y="3358"/>
        <a:ext cx="1408003" cy="1570409"/>
      </dsp:txXfrm>
    </dsp:sp>
    <dsp:sp modelId="{AD2B30C2-1036-4DB0-8EB8-837A02BB5E4F}">
      <dsp:nvSpPr>
        <dsp:cNvPr id="0" name=""/>
        <dsp:cNvSpPr/>
      </dsp:nvSpPr>
      <dsp:spPr>
        <a:xfrm>
          <a:off x="0" y="1966370"/>
          <a:ext cx="5861090" cy="15704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E92183-7E03-457B-888C-E71E66E5DAED}">
      <dsp:nvSpPr>
        <dsp:cNvPr id="0" name=""/>
        <dsp:cNvSpPr/>
      </dsp:nvSpPr>
      <dsp:spPr>
        <a:xfrm>
          <a:off x="475048" y="2319712"/>
          <a:ext cx="863725" cy="8637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9BC7F0-D06F-419A-A214-3F87817E7705}">
      <dsp:nvSpPr>
        <dsp:cNvPr id="0" name=""/>
        <dsp:cNvSpPr/>
      </dsp:nvSpPr>
      <dsp:spPr>
        <a:xfrm>
          <a:off x="1813823" y="1966370"/>
          <a:ext cx="4045493" cy="1570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02" tIns="166202" rIns="166202" bIns="166202" numCol="1" spcCol="1270" anchor="ctr" anchorCtr="0">
          <a:noAutofit/>
        </a:bodyPr>
        <a:lstStyle/>
        <a:p>
          <a:pPr marL="0" lvl="0" indent="0" algn="l" defTabSz="800100">
            <a:lnSpc>
              <a:spcPct val="90000"/>
            </a:lnSpc>
            <a:spcBef>
              <a:spcPct val="0"/>
            </a:spcBef>
            <a:spcAft>
              <a:spcPct val="35000"/>
            </a:spcAft>
            <a:buNone/>
          </a:pPr>
          <a:r>
            <a:rPr lang="en-US" sz="1800" kern="1200"/>
            <a:t>Greater capital per worker increases productivity and expands productive capacity.</a:t>
          </a:r>
        </a:p>
      </dsp:txBody>
      <dsp:txXfrm>
        <a:off x="1813823" y="1966370"/>
        <a:ext cx="4045493" cy="1570409"/>
      </dsp:txXfrm>
    </dsp:sp>
    <dsp:sp modelId="{F4B19C36-EB7B-4E15-8292-9672241A0CB6}">
      <dsp:nvSpPr>
        <dsp:cNvPr id="0" name=""/>
        <dsp:cNvSpPr/>
      </dsp:nvSpPr>
      <dsp:spPr>
        <a:xfrm>
          <a:off x="0" y="3929382"/>
          <a:ext cx="5861090" cy="15704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61759D-6345-4E0C-B6E7-624FD9D1D118}">
      <dsp:nvSpPr>
        <dsp:cNvPr id="0" name=""/>
        <dsp:cNvSpPr/>
      </dsp:nvSpPr>
      <dsp:spPr>
        <a:xfrm>
          <a:off x="475048" y="4282724"/>
          <a:ext cx="863725" cy="8637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95FCA6-A799-44A5-9F8B-CF8AE7FD23EA}">
      <dsp:nvSpPr>
        <dsp:cNvPr id="0" name=""/>
        <dsp:cNvSpPr/>
      </dsp:nvSpPr>
      <dsp:spPr>
        <a:xfrm>
          <a:off x="1813823" y="3929382"/>
          <a:ext cx="4045493" cy="1570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02" tIns="166202" rIns="166202" bIns="166202" numCol="1" spcCol="1270" anchor="ctr" anchorCtr="0">
          <a:noAutofit/>
        </a:bodyPr>
        <a:lstStyle/>
        <a:p>
          <a:pPr marL="0" lvl="0" indent="0" algn="l" defTabSz="800100">
            <a:lnSpc>
              <a:spcPct val="90000"/>
            </a:lnSpc>
            <a:spcBef>
              <a:spcPct val="0"/>
            </a:spcBef>
            <a:spcAft>
              <a:spcPct val="35000"/>
            </a:spcAft>
            <a:buNone/>
          </a:pPr>
          <a:r>
            <a:rPr lang="en-US" sz="1800" b="1" kern="1200"/>
            <a:t>Example: </a:t>
          </a:r>
          <a:r>
            <a:rPr lang="en-US" sz="1800" kern="1200"/>
            <a:t>A garment factory installs automated sewing machines, enabling workers to produce twice as many garments each day.</a:t>
          </a:r>
        </a:p>
      </dsp:txBody>
      <dsp:txXfrm>
        <a:off x="1813823" y="3929382"/>
        <a:ext cx="4045493" cy="15704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636D4-228A-41BF-93A6-69D95E38BE61}">
      <dsp:nvSpPr>
        <dsp:cNvPr id="0" name=""/>
        <dsp:cNvSpPr/>
      </dsp:nvSpPr>
      <dsp:spPr>
        <a:xfrm>
          <a:off x="788484" y="581635"/>
          <a:ext cx="844593" cy="8445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2AA5B-4E72-469B-A1EC-90096E2D640D}">
      <dsp:nvSpPr>
        <dsp:cNvPr id="0" name=""/>
        <dsp:cNvSpPr/>
      </dsp:nvSpPr>
      <dsp:spPr>
        <a:xfrm>
          <a:off x="4219" y="1556498"/>
          <a:ext cx="2413125" cy="979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Technology is the </a:t>
          </a:r>
          <a:r>
            <a:rPr lang="en-US" sz="1400" b="1" kern="1200"/>
            <a:t>most important long-run driver</a:t>
          </a:r>
          <a:r>
            <a:rPr lang="en-US" sz="1400" kern="1200"/>
            <a:t> of potential GDP growth.</a:t>
          </a:r>
        </a:p>
      </dsp:txBody>
      <dsp:txXfrm>
        <a:off x="4219" y="1556498"/>
        <a:ext cx="2413125" cy="979949"/>
      </dsp:txXfrm>
    </dsp:sp>
    <dsp:sp modelId="{478E9271-61D2-4944-A2ED-95C067053C9B}">
      <dsp:nvSpPr>
        <dsp:cNvPr id="0" name=""/>
        <dsp:cNvSpPr/>
      </dsp:nvSpPr>
      <dsp:spPr>
        <a:xfrm>
          <a:off x="4219" y="2597038"/>
          <a:ext cx="2413125" cy="1014131"/>
        </a:xfrm>
        <a:prstGeom prst="rect">
          <a:avLst/>
        </a:prstGeom>
        <a:noFill/>
        <a:ln>
          <a:noFill/>
        </a:ln>
        <a:effectLst/>
      </dsp:spPr>
      <dsp:style>
        <a:lnRef idx="0">
          <a:scrgbClr r="0" g="0" b="0"/>
        </a:lnRef>
        <a:fillRef idx="0">
          <a:scrgbClr r="0" g="0" b="0"/>
        </a:fillRef>
        <a:effectRef idx="0">
          <a:scrgbClr r="0" g="0" b="0"/>
        </a:effectRef>
        <a:fontRef idx="minor"/>
      </dsp:style>
    </dsp:sp>
    <dsp:sp modelId="{322C81AD-27A5-47C9-966B-A3B212FAB8A6}">
      <dsp:nvSpPr>
        <dsp:cNvPr id="0" name=""/>
        <dsp:cNvSpPr/>
      </dsp:nvSpPr>
      <dsp:spPr>
        <a:xfrm>
          <a:off x="3623906" y="581635"/>
          <a:ext cx="844593" cy="8445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62A2A4-A9A5-46AB-82C7-6F9685C23B4A}">
      <dsp:nvSpPr>
        <dsp:cNvPr id="0" name=""/>
        <dsp:cNvSpPr/>
      </dsp:nvSpPr>
      <dsp:spPr>
        <a:xfrm>
          <a:off x="2839641" y="1556498"/>
          <a:ext cx="2413125" cy="979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Technological progress enables firms to produce more output from the same quantities of labor and capital.</a:t>
          </a:r>
        </a:p>
      </dsp:txBody>
      <dsp:txXfrm>
        <a:off x="2839641" y="1556498"/>
        <a:ext cx="2413125" cy="979949"/>
      </dsp:txXfrm>
    </dsp:sp>
    <dsp:sp modelId="{4E600FA3-D314-4E02-B064-436E0071355B}">
      <dsp:nvSpPr>
        <dsp:cNvPr id="0" name=""/>
        <dsp:cNvSpPr/>
      </dsp:nvSpPr>
      <dsp:spPr>
        <a:xfrm>
          <a:off x="2839641" y="2597038"/>
          <a:ext cx="2413125" cy="1014131"/>
        </a:xfrm>
        <a:prstGeom prst="rect">
          <a:avLst/>
        </a:prstGeom>
        <a:noFill/>
        <a:ln>
          <a:noFill/>
        </a:ln>
        <a:effectLst/>
      </dsp:spPr>
      <dsp:style>
        <a:lnRef idx="0">
          <a:scrgbClr r="0" g="0" b="0"/>
        </a:lnRef>
        <a:fillRef idx="0">
          <a:scrgbClr r="0" g="0" b="0"/>
        </a:fillRef>
        <a:effectRef idx="0">
          <a:scrgbClr r="0" g="0" b="0"/>
        </a:effectRef>
        <a:fontRef idx="minor"/>
      </dsp:style>
    </dsp:sp>
    <dsp:sp modelId="{A3B50050-4365-43D7-BB20-A137C953A870}">
      <dsp:nvSpPr>
        <dsp:cNvPr id="0" name=""/>
        <dsp:cNvSpPr/>
      </dsp:nvSpPr>
      <dsp:spPr>
        <a:xfrm>
          <a:off x="6459328" y="581635"/>
          <a:ext cx="844593" cy="8445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98CE0E-EA97-4A65-8ABA-19BA67B05631}">
      <dsp:nvSpPr>
        <dsp:cNvPr id="0" name=""/>
        <dsp:cNvSpPr/>
      </dsp:nvSpPr>
      <dsp:spPr>
        <a:xfrm>
          <a:off x="5675062" y="1556498"/>
          <a:ext cx="2413125" cy="979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b="1" kern="1200"/>
            <a:t>Examples</a:t>
          </a:r>
          <a:endParaRPr lang="en-US" sz="1400" kern="1200"/>
        </a:p>
      </dsp:txBody>
      <dsp:txXfrm>
        <a:off x="5675062" y="1556498"/>
        <a:ext cx="2413125" cy="979949"/>
      </dsp:txXfrm>
    </dsp:sp>
    <dsp:sp modelId="{82D1262F-9742-47E1-AC14-9EE79839F48E}">
      <dsp:nvSpPr>
        <dsp:cNvPr id="0" name=""/>
        <dsp:cNvSpPr/>
      </dsp:nvSpPr>
      <dsp:spPr>
        <a:xfrm>
          <a:off x="5675062" y="2597038"/>
          <a:ext cx="2413125" cy="1014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Artificial intelligence (AI) </a:t>
          </a:r>
        </a:p>
        <a:p>
          <a:pPr marL="0" lvl="0" indent="0" algn="ctr" defTabSz="488950">
            <a:lnSpc>
              <a:spcPct val="90000"/>
            </a:lnSpc>
            <a:spcBef>
              <a:spcPct val="0"/>
            </a:spcBef>
            <a:spcAft>
              <a:spcPct val="35000"/>
            </a:spcAft>
            <a:buNone/>
          </a:pPr>
          <a:r>
            <a:rPr lang="en-US" sz="1100" kern="1200"/>
            <a:t>Robotics </a:t>
          </a:r>
        </a:p>
        <a:p>
          <a:pPr marL="0" lvl="0" indent="0" algn="ctr" defTabSz="488950">
            <a:lnSpc>
              <a:spcPct val="90000"/>
            </a:lnSpc>
            <a:spcBef>
              <a:spcPct val="0"/>
            </a:spcBef>
            <a:spcAft>
              <a:spcPct val="35000"/>
            </a:spcAft>
            <a:buNone/>
          </a:pPr>
          <a:r>
            <a:rPr lang="en-US" sz="1100" kern="1200"/>
            <a:t>Cloud computing </a:t>
          </a:r>
        </a:p>
        <a:p>
          <a:pPr marL="0" lvl="0" indent="0" algn="ctr" defTabSz="488950">
            <a:lnSpc>
              <a:spcPct val="90000"/>
            </a:lnSpc>
            <a:spcBef>
              <a:spcPct val="0"/>
            </a:spcBef>
            <a:spcAft>
              <a:spcPct val="35000"/>
            </a:spcAft>
            <a:buNone/>
          </a:pPr>
          <a:r>
            <a:rPr lang="en-US" sz="1100" kern="1200"/>
            <a:t>Renewable energy technologies </a:t>
          </a:r>
        </a:p>
        <a:p>
          <a:pPr marL="0" lvl="0" indent="0" algn="ctr" defTabSz="488950">
            <a:lnSpc>
              <a:spcPct val="90000"/>
            </a:lnSpc>
            <a:spcBef>
              <a:spcPct val="0"/>
            </a:spcBef>
            <a:spcAft>
              <a:spcPct val="35000"/>
            </a:spcAft>
            <a:buNone/>
          </a:pPr>
          <a:r>
            <a:rPr lang="en-US" sz="1100" kern="1200"/>
            <a:t>Precision agriculture </a:t>
          </a:r>
        </a:p>
      </dsp:txBody>
      <dsp:txXfrm>
        <a:off x="5675062" y="2597038"/>
        <a:ext cx="2413125" cy="1014131"/>
      </dsp:txXfrm>
    </dsp:sp>
    <dsp:sp modelId="{0FB8F97B-4B2E-4E5C-93AD-656AD1FAF50C}">
      <dsp:nvSpPr>
        <dsp:cNvPr id="0" name=""/>
        <dsp:cNvSpPr/>
      </dsp:nvSpPr>
      <dsp:spPr>
        <a:xfrm>
          <a:off x="9294750" y="581635"/>
          <a:ext cx="844593" cy="8445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72138C-2A01-4735-82FA-02A8CB0855A9}">
      <dsp:nvSpPr>
        <dsp:cNvPr id="0" name=""/>
        <dsp:cNvSpPr/>
      </dsp:nvSpPr>
      <dsp:spPr>
        <a:xfrm>
          <a:off x="8510484" y="1556498"/>
          <a:ext cx="2413125" cy="979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b="1" kern="1200"/>
            <a:t>Impact</a:t>
          </a:r>
          <a:br>
            <a:rPr lang="en-US" sz="1400" kern="1200"/>
          </a:br>
          <a:r>
            <a:rPr lang="en-US" sz="1400" kern="1200"/>
            <a:t>	More efficient production lowers costs and raises the economy's sustainable output.</a:t>
          </a:r>
        </a:p>
      </dsp:txBody>
      <dsp:txXfrm>
        <a:off x="8510484" y="1556498"/>
        <a:ext cx="2413125" cy="979949"/>
      </dsp:txXfrm>
    </dsp:sp>
    <dsp:sp modelId="{6E1410D6-8764-43EB-906B-C8E7D9B03A0D}">
      <dsp:nvSpPr>
        <dsp:cNvPr id="0" name=""/>
        <dsp:cNvSpPr/>
      </dsp:nvSpPr>
      <dsp:spPr>
        <a:xfrm>
          <a:off x="8510484" y="2597038"/>
          <a:ext cx="2413125" cy="1014131"/>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F6CF3-0097-470C-BBD3-CA5B2468EEE7}">
      <dsp:nvSpPr>
        <dsp:cNvPr id="0" name=""/>
        <dsp:cNvSpPr/>
      </dsp:nvSpPr>
      <dsp:spPr>
        <a:xfrm>
          <a:off x="0" y="529865"/>
          <a:ext cx="6364224" cy="10998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a:t>
          </a:r>
          <a:r>
            <a:rPr lang="en-US" sz="2000" b="1" kern="1200"/>
            <a:t>Classical Growth Theory</a:t>
          </a:r>
          <a:r>
            <a:rPr lang="en-US" sz="2000" kern="1200"/>
            <a:t> was developed by classical economists during the late 18th and early 19th centuries.</a:t>
          </a:r>
        </a:p>
      </dsp:txBody>
      <dsp:txXfrm>
        <a:off x="53688" y="583553"/>
        <a:ext cx="6256848" cy="992424"/>
      </dsp:txXfrm>
    </dsp:sp>
    <dsp:sp modelId="{34A9C8EC-FD71-48B7-BE2C-17DBE3790642}">
      <dsp:nvSpPr>
        <dsp:cNvPr id="0" name=""/>
        <dsp:cNvSpPr/>
      </dsp:nvSpPr>
      <dsp:spPr>
        <a:xfrm>
          <a:off x="0" y="1687266"/>
          <a:ext cx="6364224" cy="109980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Major Contributors</a:t>
          </a:r>
          <a:endParaRPr lang="en-US" sz="2000" kern="1200"/>
        </a:p>
      </dsp:txBody>
      <dsp:txXfrm>
        <a:off x="53688" y="1740954"/>
        <a:ext cx="6256848" cy="992424"/>
      </dsp:txXfrm>
    </dsp:sp>
    <dsp:sp modelId="{F68FD262-2508-41B3-9309-D61C55B9A904}">
      <dsp:nvSpPr>
        <dsp:cNvPr id="0" name=""/>
        <dsp:cNvSpPr/>
      </dsp:nvSpPr>
      <dsp:spPr>
        <a:xfrm>
          <a:off x="0" y="2787065"/>
          <a:ext cx="6364224" cy="109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a:t>Adam Smith </a:t>
          </a:r>
        </a:p>
        <a:p>
          <a:pPr marL="171450" lvl="1" indent="-171450" algn="l" defTabSz="711200">
            <a:lnSpc>
              <a:spcPct val="90000"/>
            </a:lnSpc>
            <a:spcBef>
              <a:spcPct val="0"/>
            </a:spcBef>
            <a:spcAft>
              <a:spcPct val="20000"/>
            </a:spcAft>
            <a:buChar char="•"/>
          </a:pPr>
          <a:r>
            <a:rPr lang="en-US" sz="1600" kern="1200"/>
            <a:t>Thomas Robert Malthus </a:t>
          </a:r>
        </a:p>
        <a:p>
          <a:pPr marL="171450" lvl="1" indent="-171450" algn="l" defTabSz="711200">
            <a:lnSpc>
              <a:spcPct val="90000"/>
            </a:lnSpc>
            <a:spcBef>
              <a:spcPct val="0"/>
            </a:spcBef>
            <a:spcAft>
              <a:spcPct val="20000"/>
            </a:spcAft>
            <a:buChar char="•"/>
          </a:pPr>
          <a:r>
            <a:rPr lang="en-US" sz="1600" kern="1200"/>
            <a:t>David Ricardo </a:t>
          </a:r>
        </a:p>
        <a:p>
          <a:pPr marL="171450" lvl="1" indent="-171450" algn="l" defTabSz="711200">
            <a:lnSpc>
              <a:spcPct val="90000"/>
            </a:lnSpc>
            <a:spcBef>
              <a:spcPct val="0"/>
            </a:spcBef>
            <a:spcAft>
              <a:spcPct val="20000"/>
            </a:spcAft>
            <a:buChar char="•"/>
          </a:pPr>
          <a:r>
            <a:rPr lang="en-US" sz="1600" kern="1200"/>
            <a:t>John Stuart Mill </a:t>
          </a:r>
        </a:p>
      </dsp:txBody>
      <dsp:txXfrm>
        <a:off x="0" y="2787065"/>
        <a:ext cx="6364224" cy="1097100"/>
      </dsp:txXfrm>
    </dsp:sp>
    <dsp:sp modelId="{BF0F78CC-B6EF-4024-A71B-25148F0EB870}">
      <dsp:nvSpPr>
        <dsp:cNvPr id="0" name=""/>
        <dsp:cNvSpPr/>
      </dsp:nvSpPr>
      <dsp:spPr>
        <a:xfrm>
          <a:off x="0" y="3884166"/>
          <a:ext cx="6364224" cy="109980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theory argues that economic growth is </a:t>
          </a:r>
          <a:r>
            <a:rPr lang="en-US" sz="2000" b="1" kern="1200"/>
            <a:t>temporary</a:t>
          </a:r>
          <a:r>
            <a:rPr lang="en-US" sz="2000" kern="1200"/>
            <a:t> because population growth eventually outpaces increases in food production and other resources.</a:t>
          </a:r>
        </a:p>
      </dsp:txBody>
      <dsp:txXfrm>
        <a:off x="53688" y="3937854"/>
        <a:ext cx="6256848" cy="9924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8BD819-155D-4491-95BB-1FE82680043B}">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23AB70-23A9-41EB-AE2F-6A52F83FF40A}">
      <dsp:nvSpPr>
        <dsp:cNvPr id="0" name=""/>
        <dsp:cNvSpPr/>
      </dsp:nvSpPr>
      <dsp:spPr>
        <a:xfrm>
          <a:off x="277554" y="21075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7BB0D7-67AD-41CB-A29E-68E376C16F15}">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Land is fixed in supply. </a:t>
          </a:r>
        </a:p>
      </dsp:txBody>
      <dsp:txXfrm>
        <a:off x="1059754" y="4307"/>
        <a:ext cx="5304469" cy="917536"/>
      </dsp:txXfrm>
    </dsp:sp>
    <dsp:sp modelId="{BF82C3D2-3478-4F9B-80CB-F3F546D32550}">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CD7AAC-E03A-4201-88EC-CB470F53D3B5}">
      <dsp:nvSpPr>
        <dsp:cNvPr id="0" name=""/>
        <dsp:cNvSpPr/>
      </dsp:nvSpPr>
      <dsp:spPr>
        <a:xfrm>
          <a:off x="277554" y="135767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98ECDF-A1EF-480F-AFA9-D23B09EBAECD}">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Population grows when incomes rise. </a:t>
          </a:r>
        </a:p>
      </dsp:txBody>
      <dsp:txXfrm>
        <a:off x="1059754" y="1151227"/>
        <a:ext cx="5304469" cy="917536"/>
      </dsp:txXfrm>
    </dsp:sp>
    <dsp:sp modelId="{E7836445-B77C-448F-B53B-C966B6187AE5}">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37747F-7685-445B-8231-B6FB24555AA4}">
      <dsp:nvSpPr>
        <dsp:cNvPr id="0" name=""/>
        <dsp:cNvSpPr/>
      </dsp:nvSpPr>
      <dsp:spPr>
        <a:xfrm>
          <a:off x="277554" y="250459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8776F0-10AA-444E-ADA4-8A24EE9D0756}">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Capital accumulation increases output. </a:t>
          </a:r>
        </a:p>
      </dsp:txBody>
      <dsp:txXfrm>
        <a:off x="1059754" y="2298147"/>
        <a:ext cx="5304469" cy="917536"/>
      </dsp:txXfrm>
    </dsp:sp>
    <dsp:sp modelId="{266B2589-CD48-488D-B047-F0C84EEBB371}">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96F3B8-C102-41E7-BD5E-EE07BD13AB53}">
      <dsp:nvSpPr>
        <dsp:cNvPr id="0" name=""/>
        <dsp:cNvSpPr/>
      </dsp:nvSpPr>
      <dsp:spPr>
        <a:xfrm>
          <a:off x="277554" y="365151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8A7FD3-71D6-48A8-AD69-2664F57E8589}">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Diminishing returns to land eventually occur. </a:t>
          </a:r>
        </a:p>
      </dsp:txBody>
      <dsp:txXfrm>
        <a:off x="1059754" y="3445068"/>
        <a:ext cx="5304469" cy="917536"/>
      </dsp:txXfrm>
    </dsp:sp>
    <dsp:sp modelId="{FDF12E78-1E39-4D58-BAAB-0BB730CCA59B}">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8E5333-8C0B-411C-B0E7-DA02AEDDA092}">
      <dsp:nvSpPr>
        <dsp:cNvPr id="0" name=""/>
        <dsp:cNvSpPr/>
      </dsp:nvSpPr>
      <dsp:spPr>
        <a:xfrm>
          <a:off x="277554" y="479843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ADC088-A5D7-475B-BD83-1A7F976652B9}">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Technological progress is slow.</a:t>
          </a:r>
        </a:p>
      </dsp:txBody>
      <dsp:txXfrm>
        <a:off x="1059754" y="4591988"/>
        <a:ext cx="5304469" cy="9175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83A7C0-8194-4D9F-B93D-B942CDBDEC49}">
      <dsp:nvSpPr>
        <dsp:cNvPr id="0" name=""/>
        <dsp:cNvSpPr/>
      </dsp:nvSpPr>
      <dsp:spPr>
        <a:xfrm>
          <a:off x="30" y="95511"/>
          <a:ext cx="2881862" cy="1098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100000"/>
            </a:lnSpc>
            <a:spcBef>
              <a:spcPct val="0"/>
            </a:spcBef>
            <a:spcAft>
              <a:spcPct val="35000"/>
            </a:spcAft>
            <a:buNone/>
          </a:pPr>
          <a:r>
            <a:rPr lang="en-US" sz="2000" kern="1200" dirty="0"/>
            <a:t>A country has the following characteristics</a:t>
          </a:r>
        </a:p>
      </dsp:txBody>
      <dsp:txXfrm>
        <a:off x="30" y="95511"/>
        <a:ext cx="2881862" cy="1098675"/>
      </dsp:txXfrm>
    </dsp:sp>
    <dsp:sp modelId="{641FA685-C3A9-44D3-A6B1-CE33D405A6CD}">
      <dsp:nvSpPr>
        <dsp:cNvPr id="0" name=""/>
        <dsp:cNvSpPr/>
      </dsp:nvSpPr>
      <dsp:spPr>
        <a:xfrm>
          <a:off x="30" y="1194186"/>
          <a:ext cx="2881862" cy="4282199"/>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100000"/>
            </a:lnSpc>
            <a:spcBef>
              <a:spcPct val="0"/>
            </a:spcBef>
            <a:spcAft>
              <a:spcPct val="15000"/>
            </a:spcAft>
            <a:buChar char="•"/>
          </a:pPr>
          <a:r>
            <a:rPr lang="en-US" sz="2000" kern="1200"/>
            <a:t>Population grows by </a:t>
          </a:r>
          <a:r>
            <a:rPr lang="en-US" sz="2000" b="1" kern="1200"/>
            <a:t>2.5%</a:t>
          </a:r>
          <a:r>
            <a:rPr lang="en-US" sz="2000" kern="1200"/>
            <a:t> per year. </a:t>
          </a:r>
        </a:p>
        <a:p>
          <a:pPr marL="228600" lvl="1" indent="-228600" algn="l" defTabSz="889000">
            <a:lnSpc>
              <a:spcPct val="100000"/>
            </a:lnSpc>
            <a:spcBef>
              <a:spcPct val="0"/>
            </a:spcBef>
            <a:spcAft>
              <a:spcPct val="15000"/>
            </a:spcAft>
            <a:buChar char="•"/>
          </a:pPr>
          <a:r>
            <a:rPr lang="en-US" sz="2000" kern="1200"/>
            <a:t>Agricultural land remains fixed. </a:t>
          </a:r>
        </a:p>
        <a:p>
          <a:pPr marL="228600" lvl="1" indent="-228600" algn="l" defTabSz="889000">
            <a:lnSpc>
              <a:spcPct val="100000"/>
            </a:lnSpc>
            <a:spcBef>
              <a:spcPct val="0"/>
            </a:spcBef>
            <a:spcAft>
              <a:spcPct val="15000"/>
            </a:spcAft>
            <a:buChar char="•"/>
          </a:pPr>
          <a:r>
            <a:rPr lang="en-US" sz="2000" kern="1200" dirty="0"/>
            <a:t>Investment only replaces depreciated machinery. </a:t>
          </a:r>
        </a:p>
        <a:p>
          <a:pPr marL="228600" lvl="1" indent="-228600" algn="l" defTabSz="889000">
            <a:lnSpc>
              <a:spcPct val="100000"/>
            </a:lnSpc>
            <a:spcBef>
              <a:spcPct val="0"/>
            </a:spcBef>
            <a:spcAft>
              <a:spcPct val="15000"/>
            </a:spcAft>
            <a:buChar char="•"/>
          </a:pPr>
          <a:r>
            <a:rPr lang="en-US" sz="2000" kern="1200"/>
            <a:t>There is almost no technological innovation. </a:t>
          </a:r>
        </a:p>
        <a:p>
          <a:pPr marL="228600" lvl="1" indent="-228600" algn="l" defTabSz="889000">
            <a:lnSpc>
              <a:spcPct val="100000"/>
            </a:lnSpc>
            <a:spcBef>
              <a:spcPct val="0"/>
            </a:spcBef>
            <a:spcAft>
              <a:spcPct val="15000"/>
            </a:spcAft>
            <a:buChar char="•"/>
          </a:pPr>
          <a:r>
            <a:rPr lang="en-US" sz="2000" kern="1200"/>
            <a:t>Real GDP grows by </a:t>
          </a:r>
          <a:r>
            <a:rPr lang="en-US" sz="2000" b="1" kern="1200"/>
            <a:t>2.4%</a:t>
          </a:r>
          <a:r>
            <a:rPr lang="en-US" sz="2000" kern="1200"/>
            <a:t> per year. </a:t>
          </a:r>
        </a:p>
      </dsp:txBody>
      <dsp:txXfrm>
        <a:off x="30" y="1194186"/>
        <a:ext cx="2881862" cy="4282199"/>
      </dsp:txXfrm>
    </dsp:sp>
    <dsp:sp modelId="{D93F876E-EA7A-4175-9B62-79BFEF831BC0}">
      <dsp:nvSpPr>
        <dsp:cNvPr id="0" name=""/>
        <dsp:cNvSpPr/>
      </dsp:nvSpPr>
      <dsp:spPr>
        <a:xfrm>
          <a:off x="3285353" y="95511"/>
          <a:ext cx="2881862" cy="109867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100000"/>
            </a:lnSpc>
            <a:spcBef>
              <a:spcPct val="0"/>
            </a:spcBef>
            <a:spcAft>
              <a:spcPct val="35000"/>
            </a:spcAft>
            <a:buNone/>
          </a:pPr>
          <a:r>
            <a:rPr lang="en-US" sz="2000" b="1" kern="1200"/>
            <a:t>Questions </a:t>
          </a:r>
          <a:endParaRPr lang="en-US" sz="2000" kern="1200"/>
        </a:p>
      </dsp:txBody>
      <dsp:txXfrm>
        <a:off x="3285353" y="95511"/>
        <a:ext cx="2881862" cy="1098675"/>
      </dsp:txXfrm>
    </dsp:sp>
    <dsp:sp modelId="{560E34C9-DDE4-4C52-BA7A-080E6B82C9F8}">
      <dsp:nvSpPr>
        <dsp:cNvPr id="0" name=""/>
        <dsp:cNvSpPr/>
      </dsp:nvSpPr>
      <dsp:spPr>
        <a:xfrm>
          <a:off x="3285353" y="1194186"/>
          <a:ext cx="2881862" cy="4282199"/>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100000"/>
            </a:lnSpc>
            <a:spcBef>
              <a:spcPct val="0"/>
            </a:spcBef>
            <a:spcAft>
              <a:spcPct val="15000"/>
            </a:spcAft>
            <a:buChar char="•"/>
          </a:pPr>
          <a:r>
            <a:rPr lang="en-US" sz="2000" kern="1200"/>
            <a:t>Is this country approaching a stationary state? </a:t>
          </a:r>
        </a:p>
        <a:p>
          <a:pPr marL="228600" lvl="1" indent="-228600" algn="l" defTabSz="889000">
            <a:lnSpc>
              <a:spcPct val="100000"/>
            </a:lnSpc>
            <a:spcBef>
              <a:spcPct val="0"/>
            </a:spcBef>
            <a:spcAft>
              <a:spcPct val="15000"/>
            </a:spcAft>
            <a:buChar char="•"/>
          </a:pPr>
          <a:r>
            <a:rPr lang="en-US" sz="2000" kern="1200"/>
            <a:t>Which assumptions of Classical Growth Theory apply? </a:t>
          </a:r>
        </a:p>
        <a:p>
          <a:pPr marL="228600" lvl="1" indent="-228600" algn="l" defTabSz="889000">
            <a:lnSpc>
              <a:spcPct val="100000"/>
            </a:lnSpc>
            <a:spcBef>
              <a:spcPct val="0"/>
            </a:spcBef>
            <a:spcAft>
              <a:spcPct val="15000"/>
            </a:spcAft>
            <a:buChar char="•"/>
          </a:pPr>
          <a:r>
            <a:rPr lang="en-US" sz="2000" kern="1200"/>
            <a:t>What policies could help the country escape the stationary state?</a:t>
          </a:r>
        </a:p>
      </dsp:txBody>
      <dsp:txXfrm>
        <a:off x="3285353" y="1194186"/>
        <a:ext cx="2881862" cy="42821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5AD1B6-28DC-427D-8121-5AB98CC2A353}">
      <dsp:nvSpPr>
        <dsp:cNvPr id="0" name=""/>
        <dsp:cNvSpPr/>
      </dsp:nvSpPr>
      <dsp:spPr>
        <a:xfrm>
          <a:off x="311379" y="1142964"/>
          <a:ext cx="969328" cy="96932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D12A62-D238-4E00-BA91-52A8BCE396D9}">
      <dsp:nvSpPr>
        <dsp:cNvPr id="0" name=""/>
        <dsp:cNvSpPr/>
      </dsp:nvSpPr>
      <dsp:spPr>
        <a:xfrm>
          <a:off x="517957" y="1349543"/>
          <a:ext cx="556171" cy="5561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7EBAFB-CDF3-4CF1-A105-FE8DCE5260FF}">
      <dsp:nvSpPr>
        <dsp:cNvPr id="0" name=""/>
        <dsp:cNvSpPr/>
      </dsp:nvSpPr>
      <dsp:spPr>
        <a:xfrm>
          <a:off x="1512" y="24142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Competitive markets </a:t>
          </a:r>
        </a:p>
      </dsp:txBody>
      <dsp:txXfrm>
        <a:off x="1512" y="2414215"/>
        <a:ext cx="1589062" cy="635625"/>
      </dsp:txXfrm>
    </dsp:sp>
    <dsp:sp modelId="{B796837B-F25A-4A26-82D3-05BE87C6A37D}">
      <dsp:nvSpPr>
        <dsp:cNvPr id="0" name=""/>
        <dsp:cNvSpPr/>
      </dsp:nvSpPr>
      <dsp:spPr>
        <a:xfrm>
          <a:off x="2178527" y="1142964"/>
          <a:ext cx="969328" cy="96932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7F6F83-BEC0-415B-9AFA-CF312C1E01FE}">
      <dsp:nvSpPr>
        <dsp:cNvPr id="0" name=""/>
        <dsp:cNvSpPr/>
      </dsp:nvSpPr>
      <dsp:spPr>
        <a:xfrm>
          <a:off x="2385105" y="1349543"/>
          <a:ext cx="556171" cy="5561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D6049D-8FC0-45F3-BAA5-B2ABDAAB985E}">
      <dsp:nvSpPr>
        <dsp:cNvPr id="0" name=""/>
        <dsp:cNvSpPr/>
      </dsp:nvSpPr>
      <dsp:spPr>
        <a:xfrm>
          <a:off x="1868660" y="24142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Constant returns to scale </a:t>
          </a:r>
        </a:p>
      </dsp:txBody>
      <dsp:txXfrm>
        <a:off x="1868660" y="2414215"/>
        <a:ext cx="1589062" cy="635625"/>
      </dsp:txXfrm>
    </dsp:sp>
    <dsp:sp modelId="{46A392EF-AC46-4F84-964C-254AA3B15CD3}">
      <dsp:nvSpPr>
        <dsp:cNvPr id="0" name=""/>
        <dsp:cNvSpPr/>
      </dsp:nvSpPr>
      <dsp:spPr>
        <a:xfrm>
          <a:off x="4045676" y="1142964"/>
          <a:ext cx="969328" cy="96932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410538-BD80-44FB-ADA3-102D2BA6171D}">
      <dsp:nvSpPr>
        <dsp:cNvPr id="0" name=""/>
        <dsp:cNvSpPr/>
      </dsp:nvSpPr>
      <dsp:spPr>
        <a:xfrm>
          <a:off x="4252254" y="1349543"/>
          <a:ext cx="556171" cy="5561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3C4DD2-D256-4F84-97D1-14A1C2B54FEC}">
      <dsp:nvSpPr>
        <dsp:cNvPr id="0" name=""/>
        <dsp:cNvSpPr/>
      </dsp:nvSpPr>
      <dsp:spPr>
        <a:xfrm>
          <a:off x="3735809" y="24142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Diminishing returns to capital </a:t>
          </a:r>
        </a:p>
      </dsp:txBody>
      <dsp:txXfrm>
        <a:off x="3735809" y="2414215"/>
        <a:ext cx="1589062" cy="635625"/>
      </dsp:txXfrm>
    </dsp:sp>
    <dsp:sp modelId="{C8D0DE7A-BDBC-4E95-9CBE-552E79A7E855}">
      <dsp:nvSpPr>
        <dsp:cNvPr id="0" name=""/>
        <dsp:cNvSpPr/>
      </dsp:nvSpPr>
      <dsp:spPr>
        <a:xfrm>
          <a:off x="5912824" y="1142964"/>
          <a:ext cx="969328" cy="96932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36AE3E-4B5E-4DAE-999A-CD453F34C34E}">
      <dsp:nvSpPr>
        <dsp:cNvPr id="0" name=""/>
        <dsp:cNvSpPr/>
      </dsp:nvSpPr>
      <dsp:spPr>
        <a:xfrm>
          <a:off x="6119402" y="1349543"/>
          <a:ext cx="556171" cy="5561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6F0336-BA83-45B6-874C-A009502C2C09}">
      <dsp:nvSpPr>
        <dsp:cNvPr id="0" name=""/>
        <dsp:cNvSpPr/>
      </dsp:nvSpPr>
      <dsp:spPr>
        <a:xfrm>
          <a:off x="5602957" y="24142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Savings finance investment </a:t>
          </a:r>
        </a:p>
      </dsp:txBody>
      <dsp:txXfrm>
        <a:off x="5602957" y="2414215"/>
        <a:ext cx="1589062" cy="635625"/>
      </dsp:txXfrm>
    </dsp:sp>
    <dsp:sp modelId="{B129451D-E1D0-4266-8751-2D8E90C152B1}">
      <dsp:nvSpPr>
        <dsp:cNvPr id="0" name=""/>
        <dsp:cNvSpPr/>
      </dsp:nvSpPr>
      <dsp:spPr>
        <a:xfrm>
          <a:off x="7779973" y="1142964"/>
          <a:ext cx="969328" cy="96932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F5A4F2-6831-4124-BFA2-ABF0474722AF}">
      <dsp:nvSpPr>
        <dsp:cNvPr id="0" name=""/>
        <dsp:cNvSpPr/>
      </dsp:nvSpPr>
      <dsp:spPr>
        <a:xfrm>
          <a:off x="7986551" y="1349543"/>
          <a:ext cx="556171" cy="5561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C895DD-E8DE-488D-B3E2-2C2B1FC4E494}">
      <dsp:nvSpPr>
        <dsp:cNvPr id="0" name=""/>
        <dsp:cNvSpPr/>
      </dsp:nvSpPr>
      <dsp:spPr>
        <a:xfrm>
          <a:off x="7470105" y="24142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Technology improves over time </a:t>
          </a:r>
        </a:p>
      </dsp:txBody>
      <dsp:txXfrm>
        <a:off x="7470105" y="2414215"/>
        <a:ext cx="1589062" cy="635625"/>
      </dsp:txXfrm>
    </dsp:sp>
    <dsp:sp modelId="{8C768B12-E512-4BD3-83BC-8E1FD3985302}">
      <dsp:nvSpPr>
        <dsp:cNvPr id="0" name=""/>
        <dsp:cNvSpPr/>
      </dsp:nvSpPr>
      <dsp:spPr>
        <a:xfrm>
          <a:off x="9647121" y="1142964"/>
          <a:ext cx="969328" cy="96932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AB69B1-7A4D-44FF-AB28-1E508B2EAA5F}">
      <dsp:nvSpPr>
        <dsp:cNvPr id="0" name=""/>
        <dsp:cNvSpPr/>
      </dsp:nvSpPr>
      <dsp:spPr>
        <a:xfrm>
          <a:off x="9853699" y="1349543"/>
          <a:ext cx="556171" cy="5561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25EB1A-5EE8-45A7-9F6B-1851BD0E4314}">
      <dsp:nvSpPr>
        <dsp:cNvPr id="0" name=""/>
        <dsp:cNvSpPr/>
      </dsp:nvSpPr>
      <dsp:spPr>
        <a:xfrm>
          <a:off x="9337254" y="24142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Full employment in the long run</a:t>
          </a:r>
        </a:p>
      </dsp:txBody>
      <dsp:txXfrm>
        <a:off x="9337254" y="2414215"/>
        <a:ext cx="1589062" cy="63562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1B3A88-77A4-4F5A-B1A1-6A41DE24ECB1}">
      <dsp:nvSpPr>
        <dsp:cNvPr id="0" name=""/>
        <dsp:cNvSpPr/>
      </dsp:nvSpPr>
      <dsp:spPr>
        <a:xfrm>
          <a:off x="75256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D2D1FE-4B6A-4E36-9BD0-AA3CA3739E6C}">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Knowledge creates positive spillovers. </a:t>
          </a:r>
        </a:p>
      </dsp:txBody>
      <dsp:txXfrm>
        <a:off x="100682" y="2427484"/>
        <a:ext cx="2370489" cy="720000"/>
      </dsp:txXfrm>
    </dsp:sp>
    <dsp:sp modelId="{3466F3DD-F52B-4A65-8C84-AC6A407A9F1B}">
      <dsp:nvSpPr>
        <dsp:cNvPr id="0" name=""/>
        <dsp:cNvSpPr/>
      </dsp:nvSpPr>
      <dsp:spPr>
        <a:xfrm>
          <a:off x="353789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7AE4CA-07C4-4707-ABEA-2D8ABC8771DF}">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Human capital is a key source of growth.</a:t>
          </a:r>
        </a:p>
      </dsp:txBody>
      <dsp:txXfrm>
        <a:off x="2886007" y="2427484"/>
        <a:ext cx="2370489" cy="720000"/>
      </dsp:txXfrm>
    </dsp:sp>
    <dsp:sp modelId="{3BFD430C-1873-4F99-B777-81A5862B56BC}">
      <dsp:nvSpPr>
        <dsp:cNvPr id="0" name=""/>
        <dsp:cNvSpPr/>
      </dsp:nvSpPr>
      <dsp:spPr>
        <a:xfrm>
          <a:off x="632321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44A22F-8D55-4CB7-9FFF-C77695B3D25F}">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Innovation results from purposeful investment. </a:t>
          </a:r>
        </a:p>
      </dsp:txBody>
      <dsp:txXfrm>
        <a:off x="5671332" y="2427484"/>
        <a:ext cx="2370489" cy="720000"/>
      </dsp:txXfrm>
    </dsp:sp>
    <dsp:sp modelId="{9A1DAD31-3034-491F-88F9-4B397FBFD588}">
      <dsp:nvSpPr>
        <dsp:cNvPr id="0" name=""/>
        <dsp:cNvSpPr/>
      </dsp:nvSpPr>
      <dsp:spPr>
        <a:xfrm>
          <a:off x="910854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4CDA91-4537-47E1-B151-76A37D8D2B44}">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Increasing returns may occur in knowledge-intensive industries.</a:t>
          </a:r>
        </a:p>
      </dsp:txBody>
      <dsp:txXfrm>
        <a:off x="8456657" y="2427484"/>
        <a:ext cx="2370489"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360FEC-45A4-426F-9D60-363C8EC55BAD}">
      <dsp:nvSpPr>
        <dsp:cNvPr id="0" name=""/>
        <dsp:cNvSpPr/>
      </dsp:nvSpPr>
      <dsp:spPr>
        <a:xfrm>
          <a:off x="828914"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B490DA-9A25-4BC6-8C4F-F55FC6B8D75B}">
      <dsp:nvSpPr>
        <dsp:cNvPr id="0" name=""/>
        <dsp:cNvSpPr/>
      </dsp:nvSpPr>
      <dsp:spPr>
        <a:xfrm>
          <a:off x="33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Human Capital</a:t>
          </a:r>
        </a:p>
      </dsp:txBody>
      <dsp:txXfrm>
        <a:off x="333914" y="2276522"/>
        <a:ext cx="1800000" cy="720000"/>
      </dsp:txXfrm>
    </dsp:sp>
    <dsp:sp modelId="{48E346B0-91E1-4FC4-94B3-2D226460F8FE}">
      <dsp:nvSpPr>
        <dsp:cNvPr id="0" name=""/>
        <dsp:cNvSpPr/>
      </dsp:nvSpPr>
      <dsp:spPr>
        <a:xfrm>
          <a:off x="2943914"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4D79AD-EDB3-46C4-AEC0-1278F1941D82}">
      <dsp:nvSpPr>
        <dsp:cNvPr id="0" name=""/>
        <dsp:cNvSpPr/>
      </dsp:nvSpPr>
      <dsp:spPr>
        <a:xfrm>
          <a:off x="244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Research and Development (R&amp;D)</a:t>
          </a:r>
        </a:p>
      </dsp:txBody>
      <dsp:txXfrm>
        <a:off x="2448914" y="2276522"/>
        <a:ext cx="1800000" cy="720000"/>
      </dsp:txXfrm>
    </dsp:sp>
    <dsp:sp modelId="{EFF7BFE8-74A1-424A-B159-281B09A30689}">
      <dsp:nvSpPr>
        <dsp:cNvPr id="0" name=""/>
        <dsp:cNvSpPr/>
      </dsp:nvSpPr>
      <dsp:spPr>
        <a:xfrm>
          <a:off x="5058914"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9D2631-72C0-46DA-9634-4D5175FED838}">
      <dsp:nvSpPr>
        <dsp:cNvPr id="0" name=""/>
        <dsp:cNvSpPr/>
      </dsp:nvSpPr>
      <dsp:spPr>
        <a:xfrm>
          <a:off x="456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Innovation</a:t>
          </a:r>
        </a:p>
      </dsp:txBody>
      <dsp:txXfrm>
        <a:off x="4563914" y="2276522"/>
        <a:ext cx="1800000" cy="720000"/>
      </dsp:txXfrm>
    </dsp:sp>
    <dsp:sp modelId="{5FAD74CD-18C6-49CA-9AA4-9F06E0273102}">
      <dsp:nvSpPr>
        <dsp:cNvPr id="0" name=""/>
        <dsp:cNvSpPr/>
      </dsp:nvSpPr>
      <dsp:spPr>
        <a:xfrm>
          <a:off x="7173914"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9C9BD5-96E5-418F-8BB1-27F5FEC421B4}">
      <dsp:nvSpPr>
        <dsp:cNvPr id="0" name=""/>
        <dsp:cNvSpPr/>
      </dsp:nvSpPr>
      <dsp:spPr>
        <a:xfrm>
          <a:off x="667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Knowledge Spillovers</a:t>
          </a:r>
        </a:p>
      </dsp:txBody>
      <dsp:txXfrm>
        <a:off x="6678914" y="2276522"/>
        <a:ext cx="1800000" cy="720000"/>
      </dsp:txXfrm>
    </dsp:sp>
    <dsp:sp modelId="{B9A7C28C-47A5-4110-8F50-BE62DDFF3A23}">
      <dsp:nvSpPr>
        <dsp:cNvPr id="0" name=""/>
        <dsp:cNvSpPr/>
      </dsp:nvSpPr>
      <dsp:spPr>
        <a:xfrm>
          <a:off x="9288914"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7B936A-7D37-413A-8C53-7AE1907AF4ED}">
      <dsp:nvSpPr>
        <dsp:cNvPr id="0" name=""/>
        <dsp:cNvSpPr/>
      </dsp:nvSpPr>
      <dsp:spPr>
        <a:xfrm>
          <a:off x="879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Increasing Returns</a:t>
          </a:r>
        </a:p>
      </dsp:txBody>
      <dsp:txXfrm>
        <a:off x="8793914" y="2276522"/>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F0E34-974A-44EE-8DEC-7A8833EFD995}"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DCD9A0-9E89-4701-977F-C557D6F772C9}" type="slidenum">
              <a:rPr lang="en-US" smtClean="0"/>
              <a:t>‹#›</a:t>
            </a:fld>
            <a:endParaRPr lang="en-US"/>
          </a:p>
        </p:txBody>
      </p:sp>
    </p:spTree>
    <p:extLst>
      <p:ext uri="{BB962C8B-B14F-4D97-AF65-F5344CB8AC3E}">
        <p14:creationId xmlns:p14="http://schemas.microsoft.com/office/powerpoint/2010/main" val="42594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country perfectly fits a single growth theory. However, economists often use real-world examples to illustrate how each model best explains the dominant growth pattern of certain countries during particular periods.</a:t>
            </a:r>
          </a:p>
        </p:txBody>
      </p:sp>
      <p:sp>
        <p:nvSpPr>
          <p:cNvPr id="4" name="Slide Number Placeholder 3"/>
          <p:cNvSpPr>
            <a:spLocks noGrp="1"/>
          </p:cNvSpPr>
          <p:nvPr>
            <p:ph type="sldNum" sz="quarter" idx="5"/>
          </p:nvPr>
        </p:nvSpPr>
        <p:spPr/>
        <p:txBody>
          <a:bodyPr/>
          <a:lstStyle/>
          <a:p>
            <a:fld id="{14DCD9A0-9E89-4701-977F-C557D6F772C9}" type="slidenum">
              <a:rPr lang="en-US" smtClean="0"/>
              <a:t>27</a:t>
            </a:fld>
            <a:endParaRPr lang="en-US"/>
          </a:p>
        </p:txBody>
      </p:sp>
    </p:spTree>
    <p:extLst>
      <p:ext uri="{BB962C8B-B14F-4D97-AF65-F5344CB8AC3E}">
        <p14:creationId xmlns:p14="http://schemas.microsoft.com/office/powerpoint/2010/main" val="885623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7910B-8374-417E-B5DB-049E3376F2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7C1C51-267F-DAE8-8114-EFBCE2FDF5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7E46F2-5666-F3A8-55FD-20E1B4098454}"/>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5" name="Footer Placeholder 4">
            <a:extLst>
              <a:ext uri="{FF2B5EF4-FFF2-40B4-BE49-F238E27FC236}">
                <a16:creationId xmlns:a16="http://schemas.microsoft.com/office/drawing/2014/main" id="{0A2FCF52-3488-D482-388D-784499365D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FE988D-F677-3111-7975-329371DB513A}"/>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39162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09C90-6E1E-4128-A376-F7B63104A0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ADF59E-6897-48DF-C70B-5C460F725F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BF3B18-81A7-5F7A-E937-88B4D54E9A7B}"/>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5" name="Footer Placeholder 4">
            <a:extLst>
              <a:ext uri="{FF2B5EF4-FFF2-40B4-BE49-F238E27FC236}">
                <a16:creationId xmlns:a16="http://schemas.microsoft.com/office/drawing/2014/main" id="{ED8B4FE8-A50C-1050-892A-23B6F18112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EA6F9-CC53-607E-EAE5-ADC3FA874549}"/>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1258008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E0E35-EF19-B2B1-2246-2783EA404E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2A1E80-612F-1C8A-970D-333E2F9D35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4C7FBF-8A32-E81C-540A-F8A1D9AF310F}"/>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5" name="Footer Placeholder 4">
            <a:extLst>
              <a:ext uri="{FF2B5EF4-FFF2-40B4-BE49-F238E27FC236}">
                <a16:creationId xmlns:a16="http://schemas.microsoft.com/office/drawing/2014/main" id="{692A3CB1-F40B-2B13-A798-1AD42448C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8804E-F591-B6E6-C4BA-4B4CBBF17B02}"/>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2825011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1AFBD-7EEC-0017-FB96-58AB103B9F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22690-2B06-3842-5BA7-3BF5C7D28E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BCF370-31AC-7699-DAD2-1FF8105DF0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33E59D-7E89-1B17-2BF9-2AE94128DD4F}"/>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6" name="Footer Placeholder 5">
            <a:extLst>
              <a:ext uri="{FF2B5EF4-FFF2-40B4-BE49-F238E27FC236}">
                <a16:creationId xmlns:a16="http://schemas.microsoft.com/office/drawing/2014/main" id="{2067E870-10D0-8795-E532-C6297A3179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886388-1846-AF2F-3093-F9DCFDCA60B5}"/>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1872422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23C28-97AD-E869-80AB-0609816ADF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7998C4-8488-8E49-3F5C-1E1287AF77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10D833-A450-0F55-EAC8-70ABC46B04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533894-649F-5AB5-9E8B-7B9D599F8D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352AB7-D104-21E4-9C00-0C2A1AEAB8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9F4BA-E000-4F46-4FE1-450DAB4A64D9}"/>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8" name="Footer Placeholder 7">
            <a:extLst>
              <a:ext uri="{FF2B5EF4-FFF2-40B4-BE49-F238E27FC236}">
                <a16:creationId xmlns:a16="http://schemas.microsoft.com/office/drawing/2014/main" id="{355C56CD-6C73-08F5-1A0D-E19B1E36E6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DAB01B-4778-CAEA-9E1D-7F76F0A5C2C8}"/>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1895373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53A43-B0AF-3A82-47D0-D29801BC36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D6D8FA-32A9-420A-C28E-DBD6FD073831}"/>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4" name="Footer Placeholder 3">
            <a:extLst>
              <a:ext uri="{FF2B5EF4-FFF2-40B4-BE49-F238E27FC236}">
                <a16:creationId xmlns:a16="http://schemas.microsoft.com/office/drawing/2014/main" id="{6305C176-DE57-ABDD-DF7A-457AE7B15A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255A7-D7CD-5956-2B6F-400F26946C77}"/>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2198465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571BA-2CDA-AC60-693D-B3A5CBBC163B}"/>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3" name="Footer Placeholder 2">
            <a:extLst>
              <a:ext uri="{FF2B5EF4-FFF2-40B4-BE49-F238E27FC236}">
                <a16:creationId xmlns:a16="http://schemas.microsoft.com/office/drawing/2014/main" id="{7FB50798-C138-0DCA-E644-D1CC7AA502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E8D5CA-0C6E-F888-2D16-C5FF3D171026}"/>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166778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567C1-CF7F-39B5-320E-B2A39E1DF9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C0F2E8-1D8F-7982-1497-5AB90BBC44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E94871-A0A5-2772-C982-7932D8DCA7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0D7910-B9CE-B71C-0C75-61C65D6FE031}"/>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6" name="Footer Placeholder 5">
            <a:extLst>
              <a:ext uri="{FF2B5EF4-FFF2-40B4-BE49-F238E27FC236}">
                <a16:creationId xmlns:a16="http://schemas.microsoft.com/office/drawing/2014/main" id="{4905E9A6-A5D4-2FB2-0BC0-9B551E8EC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E2CCB3-4E15-B336-8514-EF164EE73BDF}"/>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2315033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FBBA5-95D5-B33D-DF45-CFCF6CFB01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0B9DA0-B0D9-F6F4-EF4C-3A78F28487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0E8297-10DF-442D-DF77-44CA17179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DB0F77-DA76-421F-A647-29A011F25EF2}"/>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6" name="Footer Placeholder 5">
            <a:extLst>
              <a:ext uri="{FF2B5EF4-FFF2-40B4-BE49-F238E27FC236}">
                <a16:creationId xmlns:a16="http://schemas.microsoft.com/office/drawing/2014/main" id="{6699CC95-F036-BB31-6190-02323F2977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F2349-7235-DE98-4B06-048571E43EA2}"/>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3433700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08342-67B8-9112-0AAB-EEBEDD88C7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5B8103-4DBC-153D-567C-E3F9AC5550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8DF5B5-600C-CA80-B6DD-64C704455E3C}"/>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5" name="Footer Placeholder 4">
            <a:extLst>
              <a:ext uri="{FF2B5EF4-FFF2-40B4-BE49-F238E27FC236}">
                <a16:creationId xmlns:a16="http://schemas.microsoft.com/office/drawing/2014/main" id="{8571CA38-337F-F509-A1A1-510FC74E4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E2EB9-02C0-816C-EE6D-3084E13A9E78}"/>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208500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5C6E2E-5049-C130-D050-039F9F238F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563538-D01E-248C-FECE-114A3123B7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49263-B329-816D-9FE5-08AFF207FF96}"/>
              </a:ext>
            </a:extLst>
          </p:cNvPr>
          <p:cNvSpPr>
            <a:spLocks noGrp="1"/>
          </p:cNvSpPr>
          <p:nvPr>
            <p:ph type="dt" sz="half" idx="10"/>
          </p:nvPr>
        </p:nvSpPr>
        <p:spPr/>
        <p:txBody>
          <a:bodyPr/>
          <a:lstStyle/>
          <a:p>
            <a:fld id="{0DCAD673-4130-45EA-A60A-1C9A74DCC33E}" type="datetimeFigureOut">
              <a:rPr lang="en-US" smtClean="0"/>
              <a:t>7/15/2026</a:t>
            </a:fld>
            <a:endParaRPr lang="en-US"/>
          </a:p>
        </p:txBody>
      </p:sp>
      <p:sp>
        <p:nvSpPr>
          <p:cNvPr id="5" name="Footer Placeholder 4">
            <a:extLst>
              <a:ext uri="{FF2B5EF4-FFF2-40B4-BE49-F238E27FC236}">
                <a16:creationId xmlns:a16="http://schemas.microsoft.com/office/drawing/2014/main" id="{AF0047C2-B052-FE52-9B6F-89B5EDE241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ED4AD4-87A7-D977-3563-7BD646118DC5}"/>
              </a:ext>
            </a:extLst>
          </p:cNvPr>
          <p:cNvSpPr>
            <a:spLocks noGrp="1"/>
          </p:cNvSpPr>
          <p:nvPr>
            <p:ph type="sldNum" sz="quarter" idx="12"/>
          </p:nvPr>
        </p:nvSpPr>
        <p:spPr/>
        <p:txBody>
          <a:bodyPr/>
          <a:lstStyle/>
          <a:p>
            <a:fld id="{C25F3879-5703-43CC-90C9-659DB8F7ABD0}" type="slidenum">
              <a:rPr lang="en-US" smtClean="0"/>
              <a:t>‹#›</a:t>
            </a:fld>
            <a:endParaRPr lang="en-US"/>
          </a:p>
        </p:txBody>
      </p:sp>
    </p:spTree>
    <p:extLst>
      <p:ext uri="{BB962C8B-B14F-4D97-AF65-F5344CB8AC3E}">
        <p14:creationId xmlns:p14="http://schemas.microsoft.com/office/powerpoint/2010/main" val="3725909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35FBAB-326D-C8F9-6BD6-E44DA04599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1D93E6-D826-3732-CF8C-F61A58FE08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005C50-F9C0-60D2-398A-0D1161F0F0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AD673-4130-45EA-A60A-1C9A74DCC33E}" type="datetimeFigureOut">
              <a:rPr lang="en-US" smtClean="0"/>
              <a:t>7/15/2026</a:t>
            </a:fld>
            <a:endParaRPr lang="en-US"/>
          </a:p>
        </p:txBody>
      </p:sp>
      <p:sp>
        <p:nvSpPr>
          <p:cNvPr id="5" name="Footer Placeholder 4">
            <a:extLst>
              <a:ext uri="{FF2B5EF4-FFF2-40B4-BE49-F238E27FC236}">
                <a16:creationId xmlns:a16="http://schemas.microsoft.com/office/drawing/2014/main" id="{992EB925-E3FA-765C-7288-A59A013013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42911A-556A-39E2-F07A-EA89E2E16B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5F3879-5703-43CC-90C9-659DB8F7ABD0}" type="slidenum">
              <a:rPr lang="en-US" smtClean="0"/>
              <a:t>‹#›</a:t>
            </a:fld>
            <a:endParaRPr lang="en-US"/>
          </a:p>
        </p:txBody>
      </p:sp>
    </p:spTree>
    <p:extLst>
      <p:ext uri="{BB962C8B-B14F-4D97-AF65-F5344CB8AC3E}">
        <p14:creationId xmlns:p14="http://schemas.microsoft.com/office/powerpoint/2010/main" val="3294019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ellow paper folded as graph">
            <a:extLst>
              <a:ext uri="{FF2B5EF4-FFF2-40B4-BE49-F238E27FC236}">
                <a16:creationId xmlns:a16="http://schemas.microsoft.com/office/drawing/2014/main" id="{DE88B582-B98F-2658-5022-B95CFF3E4CA6}"/>
              </a:ext>
            </a:extLst>
          </p:cNvPr>
          <p:cNvPicPr>
            <a:picLocks noChangeAspect="1"/>
          </p:cNvPicPr>
          <p:nvPr/>
        </p:nvPicPr>
        <p:blipFill>
          <a:blip r:embed="rId2">
            <a:alphaModFix/>
          </a:blip>
          <a:srcRect t="15730"/>
          <a:stretch>
            <a:fillRect/>
          </a:stretch>
        </p:blipFill>
        <p:spPr>
          <a:xfrm>
            <a:off x="20" y="10"/>
            <a:ext cx="12191979" cy="6857990"/>
          </a:xfrm>
          <a:prstGeom prst="rect">
            <a:avLst/>
          </a:prstGeom>
        </p:spPr>
      </p:pic>
      <p:sp>
        <p:nvSpPr>
          <p:cNvPr id="9" name="Rectangle 8">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F0CCDB-F0CD-1299-9FED-646053D4750C}"/>
              </a:ext>
            </a:extLst>
          </p:cNvPr>
          <p:cNvSpPr>
            <a:spLocks noGrp="1"/>
          </p:cNvSpPr>
          <p:nvPr>
            <p:ph type="ctrTitle"/>
          </p:nvPr>
        </p:nvSpPr>
        <p:spPr>
          <a:xfrm>
            <a:off x="762000" y="1137434"/>
            <a:ext cx="7800660" cy="1520987"/>
          </a:xfrm>
        </p:spPr>
        <p:txBody>
          <a:bodyPr anchor="t">
            <a:normAutofit/>
          </a:bodyPr>
          <a:lstStyle/>
          <a:p>
            <a:pPr algn="l"/>
            <a:r>
              <a:rPr lang="en-US" sz="4000">
                <a:solidFill>
                  <a:srgbClr val="FFFFFF"/>
                </a:solidFill>
              </a:rPr>
              <a:t>Economic Growth</a:t>
            </a:r>
          </a:p>
        </p:txBody>
      </p:sp>
      <p:sp>
        <p:nvSpPr>
          <p:cNvPr id="11" name="Rectangle 10">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FC1EBFFF-5D24-2E76-83F2-5F078EBDB1E5}"/>
              </a:ext>
            </a:extLst>
          </p:cNvPr>
          <p:cNvSpPr>
            <a:spLocks noGrp="1"/>
          </p:cNvSpPr>
          <p:nvPr>
            <p:ph type="subTitle" idx="1"/>
          </p:nvPr>
        </p:nvSpPr>
        <p:spPr>
          <a:xfrm>
            <a:off x="838200" y="4293441"/>
            <a:ext cx="6295332" cy="1588514"/>
          </a:xfrm>
        </p:spPr>
        <p:txBody>
          <a:bodyPr anchor="b">
            <a:normAutofit/>
          </a:bodyPr>
          <a:lstStyle/>
          <a:p>
            <a:pPr algn="l"/>
            <a:r>
              <a:rPr lang="en-US" sz="1800" dirty="0">
                <a:solidFill>
                  <a:srgbClr val="FFFFFF"/>
                </a:solidFill>
              </a:rPr>
              <a:t>Professor Syed A. Mamun, PhD, FCMA</a:t>
            </a:r>
          </a:p>
        </p:txBody>
      </p:sp>
      <p:cxnSp>
        <p:nvCxnSpPr>
          <p:cNvPr id="13" name="Straight Connector 12">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751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95B8E-AA64-B614-A551-9D06EF87EE98}"/>
              </a:ext>
            </a:extLst>
          </p:cNvPr>
          <p:cNvSpPr>
            <a:spLocks noGrp="1"/>
          </p:cNvSpPr>
          <p:nvPr>
            <p:ph type="title"/>
          </p:nvPr>
        </p:nvSpPr>
        <p:spPr>
          <a:xfrm>
            <a:off x="5868557" y="1138036"/>
            <a:ext cx="5444382" cy="1402470"/>
          </a:xfrm>
        </p:spPr>
        <p:txBody>
          <a:bodyPr anchor="t">
            <a:normAutofit/>
          </a:bodyPr>
          <a:lstStyle/>
          <a:p>
            <a:br>
              <a:rPr lang="en-US" sz="2200"/>
            </a:br>
            <a:r>
              <a:rPr lang="en-US" sz="2200"/>
              <a:t>Four Main Sources of Growth in Potential GDP: </a:t>
            </a:r>
            <a:br>
              <a:rPr lang="en-US" sz="2200"/>
            </a:br>
            <a:r>
              <a:rPr lang="en-US" sz="2200" b="1"/>
              <a:t>1. Growth in Labour Supply</a:t>
            </a:r>
            <a:br>
              <a:rPr lang="en-US" sz="2200" b="1"/>
            </a:br>
            <a:endParaRPr lang="en-US" sz="2200"/>
          </a:p>
        </p:txBody>
      </p:sp>
      <p:pic>
        <p:nvPicPr>
          <p:cNvPr id="5" name="Picture 4" descr="Colorful carved figures of humans">
            <a:extLst>
              <a:ext uri="{FF2B5EF4-FFF2-40B4-BE49-F238E27FC236}">
                <a16:creationId xmlns:a16="http://schemas.microsoft.com/office/drawing/2014/main" id="{57B4EBBE-524A-E1EA-1E50-F2E6B1061677}"/>
              </a:ext>
            </a:extLst>
          </p:cNvPr>
          <p:cNvPicPr>
            <a:picLocks noChangeAspect="1"/>
          </p:cNvPicPr>
          <p:nvPr/>
        </p:nvPicPr>
        <p:blipFill>
          <a:blip r:embed="rId2"/>
          <a:srcRect l="23358" r="23125" b="-1"/>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D3946D8-4F8B-C394-EFA4-74C12CBFFDC6}"/>
              </a:ext>
            </a:extLst>
          </p:cNvPr>
          <p:cNvSpPr>
            <a:spLocks noGrp="1"/>
          </p:cNvSpPr>
          <p:nvPr>
            <p:ph idx="1"/>
          </p:nvPr>
        </p:nvSpPr>
        <p:spPr>
          <a:xfrm>
            <a:off x="5868557" y="2551176"/>
            <a:ext cx="5444382" cy="3591207"/>
          </a:xfrm>
        </p:spPr>
        <p:txBody>
          <a:bodyPr>
            <a:normAutofit/>
          </a:bodyPr>
          <a:lstStyle/>
          <a:p>
            <a:pPr lvl="1"/>
            <a:r>
              <a:rPr lang="en-US" sz="1900"/>
              <a:t>An increase in the quantity of labor allows the economy to produce more goods and services.</a:t>
            </a:r>
          </a:p>
          <a:p>
            <a:r>
              <a:rPr lang="en-US" sz="1900" b="1"/>
              <a:t>Sources include:</a:t>
            </a:r>
            <a:endParaRPr lang="en-US" sz="1900"/>
          </a:p>
          <a:p>
            <a:pPr lvl="1"/>
            <a:r>
              <a:rPr lang="en-US" sz="1900"/>
              <a:t>Population growth </a:t>
            </a:r>
          </a:p>
          <a:p>
            <a:pPr lvl="1"/>
            <a:r>
              <a:rPr lang="en-US" sz="1900"/>
              <a:t>Higher labor-force participation </a:t>
            </a:r>
          </a:p>
          <a:p>
            <a:pPr lvl="1"/>
            <a:r>
              <a:rPr lang="en-US" sz="1900"/>
              <a:t>Immigration </a:t>
            </a:r>
          </a:p>
          <a:p>
            <a:pPr lvl="1"/>
            <a:r>
              <a:rPr lang="en-US" sz="1900"/>
              <a:t>Longer working hours </a:t>
            </a:r>
          </a:p>
          <a:p>
            <a:r>
              <a:rPr lang="en-US" sz="1900" b="1"/>
              <a:t>Example: </a:t>
            </a:r>
            <a:r>
              <a:rPr lang="en-US" sz="1900"/>
              <a:t>If the labor force increases from </a:t>
            </a:r>
            <a:r>
              <a:rPr lang="en-US" sz="1900" b="1"/>
              <a:t>80 million to 84 million workers</a:t>
            </a:r>
            <a:r>
              <a:rPr lang="en-US" sz="1900"/>
              <a:t>, firms can produce more output, increasing potential GDP.</a:t>
            </a:r>
          </a:p>
          <a:p>
            <a:endParaRPr lang="en-US" sz="1900"/>
          </a:p>
        </p:txBody>
      </p:sp>
    </p:spTree>
    <p:extLst>
      <p:ext uri="{BB962C8B-B14F-4D97-AF65-F5344CB8AC3E}">
        <p14:creationId xmlns:p14="http://schemas.microsoft.com/office/powerpoint/2010/main" val="1472289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429D86-437F-45DB-F838-8AEE51151EC3}"/>
              </a:ext>
            </a:extLst>
          </p:cNvPr>
          <p:cNvSpPr>
            <a:spLocks noGrp="1"/>
          </p:cNvSpPr>
          <p:nvPr>
            <p:ph type="title"/>
          </p:nvPr>
        </p:nvSpPr>
        <p:spPr>
          <a:xfrm>
            <a:off x="761800" y="762001"/>
            <a:ext cx="5334197" cy="1708242"/>
          </a:xfrm>
        </p:spPr>
        <p:txBody>
          <a:bodyPr anchor="ctr">
            <a:normAutofit/>
          </a:bodyPr>
          <a:lstStyle/>
          <a:p>
            <a:r>
              <a:rPr lang="en-US" sz="3700" b="1"/>
              <a:t>2. Growth in Human Capital</a:t>
            </a:r>
            <a:br>
              <a:rPr lang="en-US" sz="3700" b="1"/>
            </a:br>
            <a:endParaRPr lang="en-US" sz="3700"/>
          </a:p>
        </p:txBody>
      </p:sp>
      <p:sp>
        <p:nvSpPr>
          <p:cNvPr id="3" name="Content Placeholder 2">
            <a:extLst>
              <a:ext uri="{FF2B5EF4-FFF2-40B4-BE49-F238E27FC236}">
                <a16:creationId xmlns:a16="http://schemas.microsoft.com/office/drawing/2014/main" id="{6F22F496-1EEF-7DAA-2F3F-89E8850C955D}"/>
              </a:ext>
            </a:extLst>
          </p:cNvPr>
          <p:cNvSpPr>
            <a:spLocks noGrp="1"/>
          </p:cNvSpPr>
          <p:nvPr>
            <p:ph idx="1"/>
          </p:nvPr>
        </p:nvSpPr>
        <p:spPr>
          <a:xfrm>
            <a:off x="761800" y="2470244"/>
            <a:ext cx="5334197" cy="3769835"/>
          </a:xfrm>
        </p:spPr>
        <p:txBody>
          <a:bodyPr anchor="ctr">
            <a:normAutofit/>
          </a:bodyPr>
          <a:lstStyle/>
          <a:p>
            <a:r>
              <a:rPr lang="en-US" sz="1600" dirty="0"/>
              <a:t>Human capital refers to workers' knowledge, skills, education, training, and health.</a:t>
            </a:r>
          </a:p>
          <a:p>
            <a:r>
              <a:rPr lang="en-US" sz="1600" dirty="0"/>
              <a:t>Better-trained workers are more productive and can produce more output using the same amount of resources.</a:t>
            </a:r>
          </a:p>
          <a:p>
            <a:r>
              <a:rPr lang="en-US" sz="1600" b="1" dirty="0"/>
              <a:t>Examples:</a:t>
            </a:r>
            <a:endParaRPr lang="en-US" sz="1600" dirty="0"/>
          </a:p>
          <a:p>
            <a:pPr lvl="1"/>
            <a:r>
              <a:rPr lang="en-US" sz="1200" dirty="0"/>
              <a:t>University education </a:t>
            </a:r>
          </a:p>
          <a:p>
            <a:pPr lvl="1"/>
            <a:r>
              <a:rPr lang="en-US" sz="1200" dirty="0"/>
              <a:t>Technical and vocational training </a:t>
            </a:r>
          </a:p>
          <a:p>
            <a:pPr lvl="1"/>
            <a:r>
              <a:rPr lang="en-US" sz="1200" dirty="0"/>
              <a:t>Digital skills development </a:t>
            </a:r>
          </a:p>
          <a:p>
            <a:pPr lvl="1"/>
            <a:r>
              <a:rPr lang="en-US" sz="1200" dirty="0"/>
              <a:t>Improved healthcare </a:t>
            </a:r>
          </a:p>
          <a:p>
            <a:r>
              <a:rPr lang="en-US" sz="1600" b="1" dirty="0"/>
              <a:t>Impact:</a:t>
            </a:r>
            <a:br>
              <a:rPr lang="en-US" sz="1600" dirty="0"/>
            </a:br>
            <a:r>
              <a:rPr lang="en-US" sz="1600" dirty="0"/>
              <a:t>	Higher productivity → Higher potential GDP.</a:t>
            </a:r>
          </a:p>
          <a:p>
            <a:endParaRPr lang="en-US" sz="1600" dirty="0"/>
          </a:p>
        </p:txBody>
      </p:sp>
      <p:pic>
        <p:nvPicPr>
          <p:cNvPr id="5" name="Picture 4" descr="Colorful carved figures of humans">
            <a:extLst>
              <a:ext uri="{FF2B5EF4-FFF2-40B4-BE49-F238E27FC236}">
                <a16:creationId xmlns:a16="http://schemas.microsoft.com/office/drawing/2014/main" id="{D2C183EC-657F-1FF5-AE00-689C33B98380}"/>
              </a:ext>
            </a:extLst>
          </p:cNvPr>
          <p:cNvPicPr>
            <a:picLocks noChangeAspect="1"/>
          </p:cNvPicPr>
          <p:nvPr/>
        </p:nvPicPr>
        <p:blipFill>
          <a:blip r:embed="rId2"/>
          <a:srcRect l="22451" r="22217"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39981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4706AC1D-BC8D-108D-A7A1-04BF7BA906AB}"/>
              </a:ext>
            </a:extLst>
          </p:cNvPr>
          <p:cNvSpPr>
            <a:spLocks noGrp="1"/>
          </p:cNvSpPr>
          <p:nvPr>
            <p:ph type="title"/>
          </p:nvPr>
        </p:nvSpPr>
        <p:spPr>
          <a:xfrm>
            <a:off x="1256522" y="591829"/>
            <a:ext cx="3939688" cy="5583126"/>
          </a:xfrm>
        </p:spPr>
        <p:txBody>
          <a:bodyPr>
            <a:normAutofit/>
          </a:bodyPr>
          <a:lstStyle/>
          <a:p>
            <a:r>
              <a:rPr lang="en-US" sz="5000"/>
              <a:t>3. Capital Accumulation</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3"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3111"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5"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91891"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7"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17571"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9055F459-D215-1E9A-0118-49F459D5AC8F}"/>
              </a:ext>
            </a:extLst>
          </p:cNvPr>
          <p:cNvGraphicFramePr>
            <a:graphicFrameLocks noGrp="1"/>
          </p:cNvGraphicFramePr>
          <p:nvPr>
            <p:ph idx="1"/>
            <p:extLst>
              <p:ext uri="{D42A27DB-BD31-4B8C-83A1-F6EECF244321}">
                <p14:modId xmlns:p14="http://schemas.microsoft.com/office/powerpoint/2010/main" val="4264692937"/>
              </p:ext>
            </p:extLst>
          </p:nvPr>
        </p:nvGraphicFramePr>
        <p:xfrm>
          <a:off x="5492710" y="671805"/>
          <a:ext cx="5861090" cy="5503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7177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D27308-05D7-E4DA-5720-8D06B46AED2E}"/>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4. Technological Progress</a:t>
            </a:r>
          </a:p>
        </p:txBody>
      </p:sp>
      <p:graphicFrame>
        <p:nvGraphicFramePr>
          <p:cNvPr id="5" name="Content Placeholder 2">
            <a:extLst>
              <a:ext uri="{FF2B5EF4-FFF2-40B4-BE49-F238E27FC236}">
                <a16:creationId xmlns:a16="http://schemas.microsoft.com/office/drawing/2014/main" id="{2DC7B093-A33F-3F82-6DD5-BD31EE9298BE}"/>
              </a:ext>
            </a:extLst>
          </p:cNvPr>
          <p:cNvGraphicFramePr>
            <a:graphicFrameLocks noGrp="1"/>
          </p:cNvGraphicFramePr>
          <p:nvPr>
            <p:ph idx="1"/>
            <p:extLst>
              <p:ext uri="{D42A27DB-BD31-4B8C-83A1-F6EECF244321}">
                <p14:modId xmlns:p14="http://schemas.microsoft.com/office/powerpoint/2010/main" val="291189055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4501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Yellow paper folded as graph">
            <a:extLst>
              <a:ext uri="{FF2B5EF4-FFF2-40B4-BE49-F238E27FC236}">
                <a16:creationId xmlns:a16="http://schemas.microsoft.com/office/drawing/2014/main" id="{B5E6A99E-8AC6-59A5-1B74-A7BCBD1303C7}"/>
              </a:ext>
            </a:extLst>
          </p:cNvPr>
          <p:cNvPicPr>
            <a:picLocks noChangeAspect="1"/>
          </p:cNvPicPr>
          <p:nvPr/>
        </p:nvPicPr>
        <p:blipFill>
          <a:blip r:embed="rId2"/>
          <a:srcRect r="15627" b="-1"/>
          <a:stretch>
            <a:fillRect/>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6E7EF6B9-6ED9-F3F2-4160-F63F1A349B2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rPr>
              <a:t>Economic Growth Theories </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8227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805D4A0-E476-218D-4171-DADF3998A6CE}"/>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Evolution of Growth Theory</a:t>
            </a:r>
          </a:p>
        </p:txBody>
      </p:sp>
      <p:sp>
        <p:nvSpPr>
          <p:cNvPr id="5" name="Content Placeholder 4">
            <a:extLst>
              <a:ext uri="{FF2B5EF4-FFF2-40B4-BE49-F238E27FC236}">
                <a16:creationId xmlns:a16="http://schemas.microsoft.com/office/drawing/2014/main" id="{EE9BE126-7DA0-9D26-FF9F-E537F64E1E5D}"/>
              </a:ext>
            </a:extLst>
          </p:cNvPr>
          <p:cNvSpPr>
            <a:spLocks noGrp="1"/>
          </p:cNvSpPr>
          <p:nvPr>
            <p:ph idx="1"/>
          </p:nvPr>
        </p:nvSpPr>
        <p:spPr>
          <a:xfrm>
            <a:off x="6503158" y="649480"/>
            <a:ext cx="4862447" cy="5546047"/>
          </a:xfrm>
        </p:spPr>
        <p:txBody>
          <a:bodyPr anchor="ctr">
            <a:normAutofit/>
          </a:bodyPr>
          <a:lstStyle/>
          <a:p>
            <a:r>
              <a:rPr lang="en-US" sz="2000"/>
              <a:t>Classical Theory</a:t>
            </a:r>
          </a:p>
          <a:p>
            <a:pPr marL="0" indent="0">
              <a:buNone/>
            </a:pPr>
            <a:r>
              <a:rPr lang="en-US" sz="2000"/>
              <a:t>      ↓</a:t>
            </a:r>
          </a:p>
          <a:p>
            <a:r>
              <a:rPr lang="en-US" sz="2000"/>
              <a:t>Growth limited by land and population</a:t>
            </a:r>
          </a:p>
          <a:p>
            <a:pPr marL="0" indent="0">
              <a:buNone/>
            </a:pPr>
            <a:r>
              <a:rPr lang="en-US" sz="2000"/>
              <a:t>    ↓</a:t>
            </a:r>
          </a:p>
          <a:p>
            <a:r>
              <a:rPr lang="en-US" sz="2000"/>
              <a:t>Neoclassical Theory</a:t>
            </a:r>
          </a:p>
          <a:p>
            <a:pPr marL="0" indent="0">
              <a:buNone/>
            </a:pPr>
            <a:r>
              <a:rPr lang="en-US" sz="2000"/>
              <a:t>        ↓</a:t>
            </a:r>
          </a:p>
          <a:p>
            <a:r>
              <a:rPr lang="en-US" sz="2000"/>
              <a:t>Growth through capital, labor, and exogenous technology</a:t>
            </a:r>
          </a:p>
          <a:p>
            <a:pPr marL="0" indent="0">
              <a:buNone/>
            </a:pPr>
            <a:r>
              <a:rPr lang="en-US" sz="2000"/>
              <a:t>    ↓</a:t>
            </a:r>
          </a:p>
          <a:p>
            <a:r>
              <a:rPr lang="en-US" sz="2000"/>
              <a:t>New Growth Theory</a:t>
            </a:r>
          </a:p>
          <a:p>
            <a:pPr marL="0" indent="0">
              <a:buNone/>
            </a:pPr>
            <a:r>
              <a:rPr lang="en-US" sz="2000"/>
              <a:t>     ↓</a:t>
            </a:r>
          </a:p>
          <a:p>
            <a:r>
              <a:rPr lang="en-US" sz="2000"/>
              <a:t>Growth driven by innovation, human capital, and knowledge</a:t>
            </a:r>
          </a:p>
        </p:txBody>
      </p:sp>
    </p:spTree>
    <p:extLst>
      <p:ext uri="{BB962C8B-B14F-4D97-AF65-F5344CB8AC3E}">
        <p14:creationId xmlns:p14="http://schemas.microsoft.com/office/powerpoint/2010/main" val="2141848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F887F6BF-945E-AAC0-F61B-89D582A90453}"/>
              </a:ext>
            </a:extLst>
          </p:cNvPr>
          <p:cNvSpPr>
            <a:spLocks noGrp="1"/>
          </p:cNvSpPr>
          <p:nvPr>
            <p:ph type="title"/>
          </p:nvPr>
        </p:nvSpPr>
        <p:spPr>
          <a:xfrm>
            <a:off x="621792" y="1161288"/>
            <a:ext cx="3602736" cy="4526280"/>
          </a:xfrm>
        </p:spPr>
        <p:txBody>
          <a:bodyPr>
            <a:normAutofit/>
          </a:bodyPr>
          <a:lstStyle/>
          <a:p>
            <a:r>
              <a:rPr lang="en-US" sz="4000"/>
              <a:t>Classical Growth Theory</a:t>
            </a:r>
          </a:p>
        </p:txBody>
      </p:sp>
      <p:sp>
        <p:nvSpPr>
          <p:cNvPr id="17" name="Rectangle 16">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4">
            <a:extLst>
              <a:ext uri="{FF2B5EF4-FFF2-40B4-BE49-F238E27FC236}">
                <a16:creationId xmlns:a16="http://schemas.microsoft.com/office/drawing/2014/main" id="{91264E4B-C292-F400-7B76-8879E3FFCFEF}"/>
              </a:ext>
            </a:extLst>
          </p:cNvPr>
          <p:cNvGraphicFramePr>
            <a:graphicFrameLocks noGrp="1"/>
          </p:cNvGraphicFramePr>
          <p:nvPr>
            <p:ph idx="1"/>
            <p:extLst>
              <p:ext uri="{D42A27DB-BD31-4B8C-83A1-F6EECF244321}">
                <p14:modId xmlns:p14="http://schemas.microsoft.com/office/powerpoint/2010/main" val="40953567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1423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316DD6A-BD69-6C41-F547-C32710199935}"/>
              </a:ext>
            </a:extLst>
          </p:cNvPr>
          <p:cNvSpPr>
            <a:spLocks noGrp="1"/>
          </p:cNvSpPr>
          <p:nvPr>
            <p:ph type="title"/>
          </p:nvPr>
        </p:nvSpPr>
        <p:spPr>
          <a:xfrm>
            <a:off x="621792" y="1161288"/>
            <a:ext cx="3602736" cy="4526280"/>
          </a:xfrm>
        </p:spPr>
        <p:txBody>
          <a:bodyPr>
            <a:normAutofit/>
          </a:bodyPr>
          <a:lstStyle/>
          <a:p>
            <a:r>
              <a:rPr lang="en-US" sz="4000"/>
              <a:t>Classical Growth Theory: Basic Assumptions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68FE264-6B61-0C10-8046-EE079B2E9525}"/>
              </a:ext>
            </a:extLst>
          </p:cNvPr>
          <p:cNvGraphicFramePr>
            <a:graphicFrameLocks noGrp="1"/>
          </p:cNvGraphicFramePr>
          <p:nvPr>
            <p:ph idx="1"/>
            <p:extLst>
              <p:ext uri="{D42A27DB-BD31-4B8C-83A1-F6EECF244321}">
                <p14:modId xmlns:p14="http://schemas.microsoft.com/office/powerpoint/2010/main" val="1176382915"/>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1814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5536801-309B-6E61-BFBA-56ECED6A2967}"/>
              </a:ext>
            </a:extLst>
          </p:cNvPr>
          <p:cNvSpPr>
            <a:spLocks noGrp="1"/>
          </p:cNvSpPr>
          <p:nvPr>
            <p:ph type="title"/>
          </p:nvPr>
        </p:nvSpPr>
        <p:spPr>
          <a:xfrm>
            <a:off x="1188069" y="381935"/>
            <a:ext cx="4008583" cy="5974414"/>
          </a:xfrm>
        </p:spPr>
        <p:txBody>
          <a:bodyPr anchor="ctr">
            <a:normAutofit/>
          </a:bodyPr>
          <a:lstStyle/>
          <a:p>
            <a:r>
              <a:rPr lang="en-US" sz="6200">
                <a:solidFill>
                  <a:srgbClr val="FFFFFF"/>
                </a:solidFill>
              </a:rPr>
              <a:t>Malthusian Population Theory</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64EA1878-4563-EB8C-3B25-5EDFFA1BD649}"/>
              </a:ext>
            </a:extLst>
          </p:cNvPr>
          <p:cNvSpPr>
            <a:spLocks noGrp="1"/>
          </p:cNvSpPr>
          <p:nvPr>
            <p:ph idx="1"/>
          </p:nvPr>
        </p:nvSpPr>
        <p:spPr>
          <a:xfrm>
            <a:off x="6297233" y="518400"/>
            <a:ext cx="4771607" cy="5837949"/>
          </a:xfrm>
        </p:spPr>
        <p:txBody>
          <a:bodyPr anchor="ctr">
            <a:normAutofit/>
          </a:bodyPr>
          <a:lstStyle/>
          <a:p>
            <a:r>
              <a:rPr lang="en-US" sz="2000">
                <a:solidFill>
                  <a:schemeClr val="tx1">
                    <a:alpha val="80000"/>
                  </a:schemeClr>
                </a:solidFill>
              </a:rPr>
              <a:t>According to Malthus,</a:t>
            </a:r>
          </a:p>
          <a:p>
            <a:pPr lvl="1"/>
            <a:r>
              <a:rPr lang="en-US" sz="2000">
                <a:solidFill>
                  <a:schemeClr val="tx1">
                    <a:alpha val="80000"/>
                  </a:schemeClr>
                </a:solidFill>
              </a:rPr>
              <a:t>Population grows </a:t>
            </a:r>
            <a:r>
              <a:rPr lang="en-US" sz="2000" b="1">
                <a:solidFill>
                  <a:schemeClr val="tx1">
                    <a:alpha val="80000"/>
                  </a:schemeClr>
                </a:solidFill>
              </a:rPr>
              <a:t>geometrically</a:t>
            </a:r>
            <a:r>
              <a:rPr lang="en-US" sz="2000">
                <a:solidFill>
                  <a:schemeClr val="tx1">
                    <a:alpha val="80000"/>
                  </a:schemeClr>
                </a:solidFill>
              </a:rPr>
              <a:t> (2, 4, 8, 16...) </a:t>
            </a:r>
          </a:p>
          <a:p>
            <a:pPr lvl="1"/>
            <a:r>
              <a:rPr lang="en-US" sz="2000">
                <a:solidFill>
                  <a:schemeClr val="tx1">
                    <a:alpha val="80000"/>
                  </a:schemeClr>
                </a:solidFill>
              </a:rPr>
              <a:t>Food production grows </a:t>
            </a:r>
            <a:r>
              <a:rPr lang="en-US" sz="2000" b="1">
                <a:solidFill>
                  <a:schemeClr val="tx1">
                    <a:alpha val="80000"/>
                  </a:schemeClr>
                </a:solidFill>
              </a:rPr>
              <a:t>arithmetically</a:t>
            </a:r>
            <a:r>
              <a:rPr lang="en-US" sz="2000">
                <a:solidFill>
                  <a:schemeClr val="tx1">
                    <a:alpha val="80000"/>
                  </a:schemeClr>
                </a:solidFill>
              </a:rPr>
              <a:t> (2, 4, 6, 8...) </a:t>
            </a:r>
          </a:p>
          <a:p>
            <a:r>
              <a:rPr lang="en-US" sz="2000">
                <a:solidFill>
                  <a:schemeClr val="tx1">
                    <a:alpha val="80000"/>
                  </a:schemeClr>
                </a:solidFill>
              </a:rPr>
              <a:t>Eventually,</a:t>
            </a:r>
          </a:p>
          <a:p>
            <a:pPr lvl="1"/>
            <a:r>
              <a:rPr lang="en-US" sz="2000">
                <a:solidFill>
                  <a:schemeClr val="tx1">
                    <a:alpha val="80000"/>
                  </a:schemeClr>
                </a:solidFill>
              </a:rPr>
              <a:t>Population &gt; Food Supply</a:t>
            </a:r>
          </a:p>
          <a:p>
            <a:r>
              <a:rPr lang="en-US" sz="2000">
                <a:solidFill>
                  <a:schemeClr val="tx1">
                    <a:alpha val="80000"/>
                  </a:schemeClr>
                </a:solidFill>
              </a:rPr>
              <a:t>This leads to:</a:t>
            </a:r>
          </a:p>
          <a:p>
            <a:pPr lvl="1"/>
            <a:r>
              <a:rPr lang="en-US" sz="2000">
                <a:solidFill>
                  <a:schemeClr val="tx1">
                    <a:alpha val="80000"/>
                  </a:schemeClr>
                </a:solidFill>
              </a:rPr>
              <a:t>Poverty </a:t>
            </a:r>
          </a:p>
          <a:p>
            <a:pPr lvl="1"/>
            <a:r>
              <a:rPr lang="en-US" sz="2000">
                <a:solidFill>
                  <a:schemeClr val="tx1">
                    <a:alpha val="80000"/>
                  </a:schemeClr>
                </a:solidFill>
              </a:rPr>
              <a:t>Famine </a:t>
            </a:r>
          </a:p>
          <a:p>
            <a:pPr lvl="1"/>
            <a:r>
              <a:rPr lang="en-US" sz="2000">
                <a:solidFill>
                  <a:schemeClr val="tx1">
                    <a:alpha val="80000"/>
                  </a:schemeClr>
                </a:solidFill>
              </a:rPr>
              <a:t>Disease </a:t>
            </a:r>
          </a:p>
          <a:p>
            <a:pPr lvl="1"/>
            <a:r>
              <a:rPr lang="en-US" sz="2000">
                <a:solidFill>
                  <a:schemeClr val="tx1">
                    <a:alpha val="80000"/>
                  </a:schemeClr>
                </a:solidFill>
              </a:rPr>
              <a:t>Lower wages </a:t>
            </a:r>
          </a:p>
          <a:p>
            <a:pPr lvl="1"/>
            <a:r>
              <a:rPr lang="en-US" sz="2000">
                <a:solidFill>
                  <a:schemeClr val="tx1">
                    <a:alpha val="80000"/>
                  </a:schemeClr>
                </a:solidFill>
              </a:rPr>
              <a:t>Slower economic growth</a:t>
            </a:r>
          </a:p>
          <a:p>
            <a:endParaRPr lang="en-US" sz="20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4915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CD8F0DE-48DE-AE7C-396B-3737F358E928}"/>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Ricardo's Law of Diminishing Returns</a:t>
            </a:r>
          </a:p>
        </p:txBody>
      </p:sp>
      <p:sp>
        <p:nvSpPr>
          <p:cNvPr id="3" name="Content Placeholder 2">
            <a:extLst>
              <a:ext uri="{FF2B5EF4-FFF2-40B4-BE49-F238E27FC236}">
                <a16:creationId xmlns:a16="http://schemas.microsoft.com/office/drawing/2014/main" id="{82DF6C94-C114-6529-FF42-9389DE3BFB72}"/>
              </a:ext>
            </a:extLst>
          </p:cNvPr>
          <p:cNvSpPr>
            <a:spLocks noGrp="1"/>
          </p:cNvSpPr>
          <p:nvPr>
            <p:ph idx="1"/>
          </p:nvPr>
        </p:nvSpPr>
        <p:spPr>
          <a:xfrm>
            <a:off x="6503158" y="649480"/>
            <a:ext cx="4862447" cy="5546047"/>
          </a:xfrm>
        </p:spPr>
        <p:txBody>
          <a:bodyPr anchor="ctr">
            <a:normAutofit/>
          </a:bodyPr>
          <a:lstStyle/>
          <a:p>
            <a:r>
              <a:rPr lang="en-US" sz="2000"/>
              <a:t>As more labor and capital are applied to a fixed amount of land:</a:t>
            </a:r>
          </a:p>
          <a:p>
            <a:pPr lvl="1"/>
            <a:r>
              <a:rPr lang="en-US" sz="2000"/>
              <a:t>Output increases. </a:t>
            </a:r>
          </a:p>
          <a:p>
            <a:pPr lvl="1"/>
            <a:r>
              <a:rPr lang="en-US" sz="2000"/>
              <a:t>Productivity eventually falls. </a:t>
            </a:r>
          </a:p>
          <a:p>
            <a:pPr lvl="1"/>
            <a:r>
              <a:rPr lang="en-US" sz="2000"/>
              <a:t>Production costs rise. </a:t>
            </a:r>
          </a:p>
          <a:p>
            <a:pPr lvl="1"/>
            <a:r>
              <a:rPr lang="en-US" sz="2000"/>
              <a:t>Economic growth slows.</a:t>
            </a:r>
          </a:p>
          <a:p>
            <a:endParaRPr lang="en-US" sz="2000"/>
          </a:p>
        </p:txBody>
      </p:sp>
    </p:spTree>
    <p:extLst>
      <p:ext uri="{BB962C8B-B14F-4D97-AF65-F5344CB8AC3E}">
        <p14:creationId xmlns:p14="http://schemas.microsoft.com/office/powerpoint/2010/main" val="219089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44D65982-4F00-4330-8DAA-DE6A9E4D6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Cover">
            <a:extLst>
              <a:ext uri="{FF2B5EF4-FFF2-40B4-BE49-F238E27FC236}">
                <a16:creationId xmlns:a16="http://schemas.microsoft.com/office/drawing/2014/main" id="{56AD21CA-472C-4EA1-A897-F639017AF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B29A5F49-8CEE-44D2-A717-96965326A5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A4758941-095E-4760-9F3E-0E9F079AA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9BA7B350-F1EB-47CD-8531-349F4BD68B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04FBF8A-F453-1994-FA92-A627020B0638}"/>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rPr>
              <a:t>Classical Growth Process</a:t>
            </a:r>
          </a:p>
        </p:txBody>
      </p:sp>
      <p:sp>
        <p:nvSpPr>
          <p:cNvPr id="25" name="Rectangle 24">
            <a:extLst>
              <a:ext uri="{FF2B5EF4-FFF2-40B4-BE49-F238E27FC236}">
                <a16:creationId xmlns:a16="http://schemas.microsoft.com/office/drawing/2014/main" id="{C05FE506-AB9A-470B-89C8-008269966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5300" y="252484"/>
            <a:ext cx="6244113" cy="6244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E408AF-1A59-5CD4-27A1-BCAAA71BB84D}"/>
              </a:ext>
            </a:extLst>
          </p:cNvPr>
          <p:cNvSpPr>
            <a:spLocks noGrp="1"/>
          </p:cNvSpPr>
          <p:nvPr>
            <p:ph idx="1"/>
          </p:nvPr>
        </p:nvSpPr>
        <p:spPr>
          <a:xfrm>
            <a:off x="5001584" y="540048"/>
            <a:ext cx="5652097" cy="5641293"/>
          </a:xfrm>
        </p:spPr>
        <p:txBody>
          <a:bodyPr anchor="ctr">
            <a:normAutofit/>
          </a:bodyPr>
          <a:lstStyle/>
          <a:p>
            <a:r>
              <a:rPr lang="en-US" sz="1800" dirty="0">
                <a:solidFill>
                  <a:schemeClr val="tx2"/>
                </a:solidFill>
              </a:rPr>
              <a:t>Capital accumulation</a:t>
            </a:r>
          </a:p>
          <a:p>
            <a:pPr marL="0" indent="0">
              <a:buNone/>
            </a:pPr>
            <a:r>
              <a:rPr lang="en-US" sz="1800" dirty="0">
                <a:solidFill>
                  <a:schemeClr val="tx2"/>
                </a:solidFill>
              </a:rPr>
              <a:t>        ↓</a:t>
            </a:r>
          </a:p>
          <a:p>
            <a:r>
              <a:rPr lang="en-US" sz="1800" dirty="0">
                <a:solidFill>
                  <a:schemeClr val="tx2"/>
                </a:solidFill>
              </a:rPr>
              <a:t>Higher output</a:t>
            </a:r>
          </a:p>
          <a:p>
            <a:pPr marL="0" indent="0">
              <a:buNone/>
            </a:pPr>
            <a:r>
              <a:rPr lang="en-US" sz="1800" dirty="0">
                <a:solidFill>
                  <a:schemeClr val="tx2"/>
                </a:solidFill>
              </a:rPr>
              <a:t>      ↓</a:t>
            </a:r>
          </a:p>
          <a:p>
            <a:r>
              <a:rPr lang="en-US" sz="1800" dirty="0">
                <a:solidFill>
                  <a:schemeClr val="tx2"/>
                </a:solidFill>
              </a:rPr>
              <a:t>Higher wages</a:t>
            </a:r>
          </a:p>
          <a:p>
            <a:pPr marL="0" indent="0">
              <a:buNone/>
            </a:pPr>
            <a:r>
              <a:rPr lang="en-US" sz="1800" dirty="0">
                <a:solidFill>
                  <a:schemeClr val="tx2"/>
                </a:solidFill>
              </a:rPr>
              <a:t>       ↓</a:t>
            </a:r>
          </a:p>
          <a:p>
            <a:r>
              <a:rPr lang="en-US" sz="1800" dirty="0">
                <a:solidFill>
                  <a:schemeClr val="tx2"/>
                </a:solidFill>
              </a:rPr>
              <a:t>Population growth</a:t>
            </a:r>
          </a:p>
          <a:p>
            <a:pPr marL="0" indent="0">
              <a:buNone/>
            </a:pPr>
            <a:r>
              <a:rPr lang="en-US" sz="1800" dirty="0">
                <a:solidFill>
                  <a:schemeClr val="tx2"/>
                </a:solidFill>
              </a:rPr>
              <a:t>       ↓</a:t>
            </a:r>
          </a:p>
          <a:p>
            <a:r>
              <a:rPr lang="en-US" sz="1800" dirty="0">
                <a:solidFill>
                  <a:schemeClr val="tx2"/>
                </a:solidFill>
              </a:rPr>
              <a:t>More labor on fixed land</a:t>
            </a:r>
          </a:p>
          <a:p>
            <a:pPr marL="0" indent="0">
              <a:buNone/>
            </a:pPr>
            <a:r>
              <a:rPr lang="en-US" sz="1800" dirty="0">
                <a:solidFill>
                  <a:schemeClr val="tx2"/>
                </a:solidFill>
              </a:rPr>
              <a:t>      ↓</a:t>
            </a:r>
          </a:p>
          <a:p>
            <a:r>
              <a:rPr lang="en-US" sz="1800" dirty="0">
                <a:solidFill>
                  <a:schemeClr val="tx2"/>
                </a:solidFill>
              </a:rPr>
              <a:t>Diminishing returns</a:t>
            </a:r>
          </a:p>
          <a:p>
            <a:pPr marL="0" indent="0">
              <a:buNone/>
            </a:pPr>
            <a:r>
              <a:rPr lang="en-US" sz="1800" dirty="0">
                <a:solidFill>
                  <a:schemeClr val="tx2"/>
                </a:solidFill>
              </a:rPr>
              <a:t>       ↓</a:t>
            </a:r>
          </a:p>
          <a:p>
            <a:r>
              <a:rPr lang="en-US" sz="1800" dirty="0">
                <a:solidFill>
                  <a:schemeClr val="tx2"/>
                </a:solidFill>
              </a:rPr>
              <a:t>Falling productivity</a:t>
            </a:r>
          </a:p>
          <a:p>
            <a:pPr marL="0" indent="0">
              <a:buNone/>
            </a:pPr>
            <a:r>
              <a:rPr lang="en-US" sz="1800" dirty="0">
                <a:solidFill>
                  <a:schemeClr val="tx2"/>
                </a:solidFill>
              </a:rPr>
              <a:t>        ↓</a:t>
            </a:r>
          </a:p>
          <a:p>
            <a:r>
              <a:rPr lang="en-US" sz="1800" dirty="0">
                <a:solidFill>
                  <a:schemeClr val="tx2"/>
                </a:solidFill>
              </a:rPr>
              <a:t>Economic stagnation</a:t>
            </a:r>
          </a:p>
        </p:txBody>
      </p:sp>
    </p:spTree>
    <p:extLst>
      <p:ext uri="{BB962C8B-B14F-4D97-AF65-F5344CB8AC3E}">
        <p14:creationId xmlns:p14="http://schemas.microsoft.com/office/powerpoint/2010/main" val="949170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B64347-FCB5-49DE-783D-406AC5C0285B}"/>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Stationary State</a:t>
            </a:r>
          </a:p>
        </p:txBody>
      </p:sp>
      <p:sp>
        <p:nvSpPr>
          <p:cNvPr id="3" name="Content Placeholder 2">
            <a:extLst>
              <a:ext uri="{FF2B5EF4-FFF2-40B4-BE49-F238E27FC236}">
                <a16:creationId xmlns:a16="http://schemas.microsoft.com/office/drawing/2014/main" id="{07A1FBCE-E1B8-6D2D-89D2-C619B1057412}"/>
              </a:ext>
            </a:extLst>
          </p:cNvPr>
          <p:cNvSpPr>
            <a:spLocks noGrp="1"/>
          </p:cNvSpPr>
          <p:nvPr>
            <p:ph idx="1"/>
          </p:nvPr>
        </p:nvSpPr>
        <p:spPr>
          <a:xfrm>
            <a:off x="6503158" y="649480"/>
            <a:ext cx="4862447" cy="5546047"/>
          </a:xfrm>
        </p:spPr>
        <p:txBody>
          <a:bodyPr anchor="ctr">
            <a:normAutofit/>
          </a:bodyPr>
          <a:lstStyle/>
          <a:p>
            <a:r>
              <a:rPr lang="en-US" sz="2000"/>
              <a:t>The classical economists believed that economies eventually reach a </a:t>
            </a:r>
            <a:r>
              <a:rPr lang="en-US" sz="2000" b="1"/>
              <a:t>stationary state</a:t>
            </a:r>
            <a:r>
              <a:rPr lang="en-US" sz="2000"/>
              <a:t>, where:</a:t>
            </a:r>
          </a:p>
          <a:p>
            <a:pPr lvl="1"/>
            <a:r>
              <a:rPr lang="en-US" sz="2000"/>
              <a:t>Investment = Depreciation </a:t>
            </a:r>
          </a:p>
          <a:p>
            <a:pPr lvl="1"/>
            <a:r>
              <a:rPr lang="en-US" sz="2000"/>
              <a:t>Population stops increasing </a:t>
            </a:r>
          </a:p>
          <a:p>
            <a:pPr lvl="1"/>
            <a:r>
              <a:rPr lang="en-US" sz="2000"/>
              <a:t>Wages remain at subsistence level </a:t>
            </a:r>
          </a:p>
          <a:p>
            <a:pPr lvl="1"/>
            <a:r>
              <a:rPr lang="en-US" sz="2000"/>
              <a:t>Per capita income no longer grows</a:t>
            </a:r>
          </a:p>
          <a:p>
            <a:endParaRPr lang="en-US" sz="2000"/>
          </a:p>
        </p:txBody>
      </p:sp>
    </p:spTree>
    <p:extLst>
      <p:ext uri="{BB962C8B-B14F-4D97-AF65-F5344CB8AC3E}">
        <p14:creationId xmlns:p14="http://schemas.microsoft.com/office/powerpoint/2010/main" val="844824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DC595556-C814-4F1F-B0E5-71812F38A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tractor in the distance on a farm">
            <a:extLst>
              <a:ext uri="{FF2B5EF4-FFF2-40B4-BE49-F238E27FC236}">
                <a16:creationId xmlns:a16="http://schemas.microsoft.com/office/drawing/2014/main" id="{B6A36A1F-3123-2C86-5F7A-A700A4505714}"/>
              </a:ext>
            </a:extLst>
          </p:cNvPr>
          <p:cNvPicPr>
            <a:picLocks noChangeAspect="1"/>
          </p:cNvPicPr>
          <p:nvPr/>
        </p:nvPicPr>
        <p:blipFill>
          <a:blip r:embed="rId2">
            <a:alphaModFix amt="60000"/>
          </a:blip>
          <a:srcRect t="1573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A8A7BDD3-E991-19BA-B0AF-4098787F9CF6}"/>
              </a:ext>
            </a:extLst>
          </p:cNvPr>
          <p:cNvSpPr>
            <a:spLocks noGrp="1"/>
          </p:cNvSpPr>
          <p:nvPr>
            <p:ph type="title"/>
          </p:nvPr>
        </p:nvSpPr>
        <p:spPr>
          <a:xfrm>
            <a:off x="838200" y="557189"/>
            <a:ext cx="4155825" cy="5571898"/>
          </a:xfrm>
        </p:spPr>
        <p:txBody>
          <a:bodyPr>
            <a:normAutofit/>
          </a:bodyPr>
          <a:lstStyle/>
          <a:p>
            <a:r>
              <a:rPr lang="en-US" dirty="0">
                <a:solidFill>
                  <a:srgbClr val="FFFFFF"/>
                </a:solidFill>
              </a:rPr>
              <a:t>Discussion Questions</a:t>
            </a:r>
          </a:p>
        </p:txBody>
      </p:sp>
      <p:graphicFrame>
        <p:nvGraphicFramePr>
          <p:cNvPr id="17" name="Content Placeholder 2">
            <a:extLst>
              <a:ext uri="{FF2B5EF4-FFF2-40B4-BE49-F238E27FC236}">
                <a16:creationId xmlns:a16="http://schemas.microsoft.com/office/drawing/2014/main" id="{D5981581-8E0B-B53D-2DB1-182F03932D33}"/>
              </a:ext>
            </a:extLst>
          </p:cNvPr>
          <p:cNvGraphicFramePr>
            <a:graphicFrameLocks noGrp="1"/>
          </p:cNvGraphicFramePr>
          <p:nvPr>
            <p:ph idx="1"/>
            <p:extLst>
              <p:ext uri="{D42A27DB-BD31-4B8C-83A1-F6EECF244321}">
                <p14:modId xmlns:p14="http://schemas.microsoft.com/office/powerpoint/2010/main" val="77627557"/>
              </p:ext>
            </p:extLst>
          </p:nvPr>
        </p:nvGraphicFramePr>
        <p:xfrm>
          <a:off x="5186552" y="557189"/>
          <a:ext cx="6167246" cy="55718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5630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D8B0E0-4917-1015-F8EF-5780EFC64102}"/>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Strengths and Weaknesses of CGT</a:t>
            </a:r>
          </a:p>
        </p:txBody>
      </p:sp>
      <p:sp>
        <p:nvSpPr>
          <p:cNvPr id="3" name="Content Placeholder 2">
            <a:extLst>
              <a:ext uri="{FF2B5EF4-FFF2-40B4-BE49-F238E27FC236}">
                <a16:creationId xmlns:a16="http://schemas.microsoft.com/office/drawing/2014/main" id="{0526A9FC-9B29-3D9C-553F-E5B6950BE026}"/>
              </a:ext>
            </a:extLst>
          </p:cNvPr>
          <p:cNvSpPr>
            <a:spLocks noGrp="1"/>
          </p:cNvSpPr>
          <p:nvPr>
            <p:ph idx="1"/>
          </p:nvPr>
        </p:nvSpPr>
        <p:spPr>
          <a:xfrm>
            <a:off x="1371599" y="2318197"/>
            <a:ext cx="9724031" cy="3683358"/>
          </a:xfrm>
        </p:spPr>
        <p:txBody>
          <a:bodyPr anchor="ctr">
            <a:normAutofit/>
          </a:bodyPr>
          <a:lstStyle/>
          <a:p>
            <a:r>
              <a:rPr lang="en-US" sz="2000" b="1"/>
              <a:t>Strengths</a:t>
            </a:r>
          </a:p>
          <a:p>
            <a:pPr lvl="1"/>
            <a:r>
              <a:rPr lang="en-US" sz="2000"/>
              <a:t>Highlights scarcity of natural resources. </a:t>
            </a:r>
          </a:p>
          <a:p>
            <a:pPr lvl="1"/>
            <a:r>
              <a:rPr lang="en-US" sz="2000"/>
              <a:t>Recognizes diminishing returns. </a:t>
            </a:r>
          </a:p>
          <a:p>
            <a:pPr lvl="1"/>
            <a:r>
              <a:rPr lang="en-US" sz="2000"/>
              <a:t>Explains historical pre-industrial growth patterns. </a:t>
            </a:r>
          </a:p>
          <a:p>
            <a:br>
              <a:rPr lang="en-US" sz="2000"/>
            </a:br>
            <a:r>
              <a:rPr lang="en-US" sz="2000" b="1"/>
              <a:t>Weaknesses</a:t>
            </a:r>
          </a:p>
          <a:p>
            <a:pPr lvl="1"/>
            <a:r>
              <a:rPr lang="en-US" sz="2000"/>
              <a:t>Underestimates technological progress. </a:t>
            </a:r>
          </a:p>
          <a:p>
            <a:pPr lvl="1"/>
            <a:r>
              <a:rPr lang="en-US" sz="2000"/>
              <a:t>Assumes land is the primary constraint. </a:t>
            </a:r>
          </a:p>
          <a:p>
            <a:pPr lvl="1"/>
            <a:r>
              <a:rPr lang="en-US" sz="2000"/>
              <a:t>Cannot explain sustained modern economic growth. </a:t>
            </a:r>
          </a:p>
          <a:p>
            <a:pPr lvl="1"/>
            <a:r>
              <a:rPr lang="en-US" sz="2000"/>
              <a:t>Ignores improvements in education and innovation.</a:t>
            </a:r>
          </a:p>
          <a:p>
            <a:endParaRPr lang="en-US" sz="2000"/>
          </a:p>
        </p:txBody>
      </p:sp>
    </p:spTree>
    <p:extLst>
      <p:ext uri="{BB962C8B-B14F-4D97-AF65-F5344CB8AC3E}">
        <p14:creationId xmlns:p14="http://schemas.microsoft.com/office/powerpoint/2010/main" val="2582139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60FB67-C6B8-6281-D316-58280608AED2}"/>
              </a:ext>
            </a:extLst>
          </p:cNvPr>
          <p:cNvSpPr>
            <a:spLocks noGrp="1"/>
          </p:cNvSpPr>
          <p:nvPr>
            <p:ph type="title"/>
          </p:nvPr>
        </p:nvSpPr>
        <p:spPr>
          <a:xfrm>
            <a:off x="1075767" y="1188637"/>
            <a:ext cx="2988234" cy="4480726"/>
          </a:xfrm>
        </p:spPr>
        <p:txBody>
          <a:bodyPr>
            <a:normAutofit/>
          </a:bodyPr>
          <a:lstStyle/>
          <a:p>
            <a:pPr algn="r"/>
            <a:r>
              <a:rPr lang="en-US" sz="4100"/>
              <a:t>Neoclassical Growth Theory (Solow Growth Model)</a:t>
            </a:r>
          </a:p>
        </p:txBody>
      </p:sp>
      <p:cxnSp>
        <p:nvCxnSpPr>
          <p:cNvPr id="27" name="Straight Connector 26">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D934AE9-BB12-A8C0-C112-8EB9296F8964}"/>
              </a:ext>
            </a:extLst>
          </p:cNvPr>
          <p:cNvSpPr>
            <a:spLocks noGrp="1"/>
          </p:cNvSpPr>
          <p:nvPr>
            <p:ph idx="1"/>
          </p:nvPr>
        </p:nvSpPr>
        <p:spPr>
          <a:xfrm>
            <a:off x="5255260" y="1648870"/>
            <a:ext cx="4702848" cy="3560260"/>
          </a:xfrm>
        </p:spPr>
        <p:txBody>
          <a:bodyPr anchor="ctr">
            <a:normAutofit/>
          </a:bodyPr>
          <a:lstStyle/>
          <a:p>
            <a:r>
              <a:rPr lang="en-US" sz="1700" dirty="0"/>
              <a:t>The </a:t>
            </a:r>
            <a:r>
              <a:rPr lang="en-US" sz="1700" b="1" dirty="0"/>
              <a:t>Neoclassical Growth Theory</a:t>
            </a:r>
            <a:r>
              <a:rPr lang="en-US" sz="1700" dirty="0"/>
              <a:t> was developed in the 1950s.</a:t>
            </a:r>
          </a:p>
          <a:p>
            <a:r>
              <a:rPr lang="en-US" sz="1700" b="1" dirty="0"/>
              <a:t>Main Contributor</a:t>
            </a:r>
            <a:endParaRPr lang="en-US" sz="1700" dirty="0"/>
          </a:p>
          <a:p>
            <a:pPr lvl="1"/>
            <a:r>
              <a:rPr lang="en-US" sz="1700" dirty="0"/>
              <a:t>Robert Solow </a:t>
            </a:r>
          </a:p>
          <a:p>
            <a:r>
              <a:rPr lang="en-US" sz="1700" dirty="0"/>
              <a:t>The model explains economic growth through:</a:t>
            </a:r>
          </a:p>
          <a:p>
            <a:pPr lvl="1"/>
            <a:r>
              <a:rPr lang="en-US" sz="1700" dirty="0"/>
              <a:t>Capital accumulation </a:t>
            </a:r>
          </a:p>
          <a:p>
            <a:pPr lvl="1"/>
            <a:r>
              <a:rPr lang="en-US" sz="1700" dirty="0"/>
              <a:t>Labor force growth </a:t>
            </a:r>
          </a:p>
          <a:p>
            <a:pPr lvl="1"/>
            <a:r>
              <a:rPr lang="en-US" sz="1700" dirty="0"/>
              <a:t>Technological progress </a:t>
            </a:r>
          </a:p>
          <a:p>
            <a:pPr lvl="1"/>
            <a:r>
              <a:rPr lang="en-US" sz="1700" dirty="0"/>
              <a:t>Technology is treated as </a:t>
            </a:r>
            <a:r>
              <a:rPr lang="en-US" sz="1700" b="1" dirty="0"/>
              <a:t>exogenous</a:t>
            </a:r>
            <a:r>
              <a:rPr lang="en-US" sz="1700" dirty="0"/>
              <a:t> (coming from outside the economic system).</a:t>
            </a:r>
          </a:p>
          <a:p>
            <a:endParaRPr lang="en-US" sz="1700" dirty="0"/>
          </a:p>
        </p:txBody>
      </p:sp>
    </p:spTree>
    <p:extLst>
      <p:ext uri="{BB962C8B-B14F-4D97-AF65-F5344CB8AC3E}">
        <p14:creationId xmlns:p14="http://schemas.microsoft.com/office/powerpoint/2010/main" val="2739020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B19515-4369-9179-464E-D2F742873E61}"/>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Main Assumptions</a:t>
            </a:r>
          </a:p>
        </p:txBody>
      </p:sp>
      <p:graphicFrame>
        <p:nvGraphicFramePr>
          <p:cNvPr id="5" name="Content Placeholder 2">
            <a:extLst>
              <a:ext uri="{FF2B5EF4-FFF2-40B4-BE49-F238E27FC236}">
                <a16:creationId xmlns:a16="http://schemas.microsoft.com/office/drawing/2014/main" id="{4201620F-F649-B096-065C-1D9282C42903}"/>
              </a:ext>
            </a:extLst>
          </p:cNvPr>
          <p:cNvGraphicFramePr>
            <a:graphicFrameLocks noGrp="1"/>
          </p:cNvGraphicFramePr>
          <p:nvPr>
            <p:ph idx="1"/>
            <p:extLst>
              <p:ext uri="{D42A27DB-BD31-4B8C-83A1-F6EECF244321}">
                <p14:modId xmlns:p14="http://schemas.microsoft.com/office/powerpoint/2010/main" val="79480768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7414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1E9AF0-59B3-2139-6BCC-94265347B911}"/>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Diminishing Returns to Capital</a:t>
            </a:r>
          </a:p>
        </p:txBody>
      </p:sp>
      <p:sp>
        <p:nvSpPr>
          <p:cNvPr id="3" name="Content Placeholder 2">
            <a:extLst>
              <a:ext uri="{FF2B5EF4-FFF2-40B4-BE49-F238E27FC236}">
                <a16:creationId xmlns:a16="http://schemas.microsoft.com/office/drawing/2014/main" id="{FCC284AC-4B9A-B6EC-2D56-2B6A5DCFE04F}"/>
              </a:ext>
            </a:extLst>
          </p:cNvPr>
          <p:cNvSpPr>
            <a:spLocks noGrp="1"/>
          </p:cNvSpPr>
          <p:nvPr>
            <p:ph idx="1"/>
          </p:nvPr>
        </p:nvSpPr>
        <p:spPr>
          <a:xfrm>
            <a:off x="1371599" y="2318197"/>
            <a:ext cx="9724031" cy="3683358"/>
          </a:xfrm>
        </p:spPr>
        <p:txBody>
          <a:bodyPr anchor="ctr">
            <a:normAutofit/>
          </a:bodyPr>
          <a:lstStyle/>
          <a:p>
            <a:r>
              <a:rPr lang="en-US" sz="2000"/>
              <a:t>Initially,</a:t>
            </a:r>
          </a:p>
          <a:p>
            <a:pPr lvl="1"/>
            <a:r>
              <a:rPr lang="en-US" sz="2000"/>
              <a:t>Adding more machines greatly increases production.</a:t>
            </a:r>
          </a:p>
          <a:p>
            <a:r>
              <a:rPr lang="en-US" sz="2000"/>
              <a:t>Eventually,</a:t>
            </a:r>
          </a:p>
          <a:p>
            <a:pPr lvl="1"/>
            <a:r>
              <a:rPr lang="en-US" sz="2000"/>
              <a:t>Each additional machine contributes less additional output.</a:t>
            </a:r>
          </a:p>
          <a:p>
            <a:r>
              <a:rPr lang="en-US" sz="2000"/>
              <a:t>Therefore,</a:t>
            </a:r>
          </a:p>
          <a:p>
            <a:pPr lvl="1"/>
            <a:r>
              <a:rPr lang="en-US" sz="2000"/>
              <a:t>Capital alone cannot sustain long-run growth.</a:t>
            </a:r>
          </a:p>
          <a:p>
            <a:endParaRPr lang="en-US" sz="2000"/>
          </a:p>
        </p:txBody>
      </p:sp>
    </p:spTree>
    <p:extLst>
      <p:ext uri="{BB962C8B-B14F-4D97-AF65-F5344CB8AC3E}">
        <p14:creationId xmlns:p14="http://schemas.microsoft.com/office/powerpoint/2010/main" val="1494737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C15D48-D3A7-07F5-D6E2-68FC40B16DB8}"/>
              </a:ext>
            </a:extLst>
          </p:cNvPr>
          <p:cNvSpPr>
            <a:spLocks noGrp="1"/>
          </p:cNvSpPr>
          <p:nvPr>
            <p:ph type="title"/>
          </p:nvPr>
        </p:nvSpPr>
        <p:spPr>
          <a:xfrm>
            <a:off x="761800" y="762001"/>
            <a:ext cx="5334197" cy="1708242"/>
          </a:xfrm>
        </p:spPr>
        <p:txBody>
          <a:bodyPr anchor="ctr">
            <a:normAutofit/>
          </a:bodyPr>
          <a:lstStyle/>
          <a:p>
            <a:r>
              <a:rPr lang="en-US" sz="4000"/>
              <a:t>Steady-State Growth</a:t>
            </a:r>
          </a:p>
        </p:txBody>
      </p:sp>
      <p:sp>
        <p:nvSpPr>
          <p:cNvPr id="3" name="Content Placeholder 2">
            <a:extLst>
              <a:ext uri="{FF2B5EF4-FFF2-40B4-BE49-F238E27FC236}">
                <a16:creationId xmlns:a16="http://schemas.microsoft.com/office/drawing/2014/main" id="{CE0CF30D-71E4-C975-7837-5407497D36BC}"/>
              </a:ext>
            </a:extLst>
          </p:cNvPr>
          <p:cNvSpPr>
            <a:spLocks noGrp="1"/>
          </p:cNvSpPr>
          <p:nvPr>
            <p:ph idx="1"/>
          </p:nvPr>
        </p:nvSpPr>
        <p:spPr>
          <a:xfrm>
            <a:off x="761800" y="2470244"/>
            <a:ext cx="5334197" cy="3769835"/>
          </a:xfrm>
        </p:spPr>
        <p:txBody>
          <a:bodyPr anchor="ctr">
            <a:normAutofit/>
          </a:bodyPr>
          <a:lstStyle/>
          <a:p>
            <a:r>
              <a:rPr lang="en-US" sz="1700"/>
              <a:t>In the Solow model, the economy reaches a </a:t>
            </a:r>
            <a:r>
              <a:rPr lang="en-US" sz="1700" b="1"/>
              <a:t>steady state</a:t>
            </a:r>
            <a:r>
              <a:rPr lang="en-US" sz="1700"/>
              <a:t> when investment just offsets depreciation and the capital needed for population and technology growth. At this point, capital per worker remains constant. Long-run growth in output per worker comes primarily from technological progress.</a:t>
            </a:r>
          </a:p>
          <a:p>
            <a:r>
              <a:rPr lang="en-US" sz="1700" b="1"/>
              <a:t>Policy Implications</a:t>
            </a:r>
          </a:p>
          <a:p>
            <a:pPr lvl="1"/>
            <a:r>
              <a:rPr lang="en-US" sz="1700"/>
              <a:t>Governments should:</a:t>
            </a:r>
          </a:p>
          <a:p>
            <a:pPr lvl="1"/>
            <a:r>
              <a:rPr lang="en-US" sz="1700"/>
              <a:t>Encourage saving </a:t>
            </a:r>
          </a:p>
          <a:p>
            <a:pPr lvl="1"/>
            <a:r>
              <a:rPr lang="en-US" sz="1700"/>
              <a:t>Promote investment </a:t>
            </a:r>
          </a:p>
          <a:p>
            <a:pPr lvl="1"/>
            <a:r>
              <a:rPr lang="en-US" sz="1700"/>
              <a:t>Improve infrastructure </a:t>
            </a:r>
          </a:p>
          <a:p>
            <a:pPr lvl="1"/>
            <a:r>
              <a:rPr lang="en-US" sz="1700"/>
              <a:t>Invest in education </a:t>
            </a:r>
          </a:p>
          <a:p>
            <a:pPr lvl="1"/>
            <a:r>
              <a:rPr lang="en-US" sz="1700"/>
              <a:t>Support technological development</a:t>
            </a:r>
          </a:p>
          <a:p>
            <a:endParaRPr lang="en-US" sz="1700"/>
          </a:p>
        </p:txBody>
      </p:sp>
      <p:pic>
        <p:nvPicPr>
          <p:cNvPr id="14" name="Picture 13" descr="Digital graphs and numbers in 3D">
            <a:extLst>
              <a:ext uri="{FF2B5EF4-FFF2-40B4-BE49-F238E27FC236}">
                <a16:creationId xmlns:a16="http://schemas.microsoft.com/office/drawing/2014/main" id="{BC1760B7-C4DD-4F4F-8FF3-8873B37C52E9}"/>
              </a:ext>
            </a:extLst>
          </p:cNvPr>
          <p:cNvPicPr>
            <a:picLocks noChangeAspect="1"/>
          </p:cNvPicPr>
          <p:nvPr/>
        </p:nvPicPr>
        <p:blipFill>
          <a:blip r:embed="rId2"/>
          <a:srcRect l="28601" r="19562"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565761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79C310-8E85-2C50-6691-632F99E3C611}"/>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Strengths and Weaknesses of NCGT</a:t>
            </a:r>
          </a:p>
        </p:txBody>
      </p:sp>
      <p:sp>
        <p:nvSpPr>
          <p:cNvPr id="3" name="Content Placeholder 2">
            <a:extLst>
              <a:ext uri="{FF2B5EF4-FFF2-40B4-BE49-F238E27FC236}">
                <a16:creationId xmlns:a16="http://schemas.microsoft.com/office/drawing/2014/main" id="{FD5AA3CA-E0B3-C626-8CDA-96D296325691}"/>
              </a:ext>
            </a:extLst>
          </p:cNvPr>
          <p:cNvSpPr>
            <a:spLocks noGrp="1"/>
          </p:cNvSpPr>
          <p:nvPr>
            <p:ph idx="1"/>
          </p:nvPr>
        </p:nvSpPr>
        <p:spPr>
          <a:xfrm>
            <a:off x="1371599" y="2318197"/>
            <a:ext cx="9724031" cy="3683358"/>
          </a:xfrm>
        </p:spPr>
        <p:txBody>
          <a:bodyPr anchor="ctr">
            <a:normAutofit/>
          </a:bodyPr>
          <a:lstStyle/>
          <a:p>
            <a:r>
              <a:rPr lang="en-US" sz="1700" b="1"/>
              <a:t>Strengths</a:t>
            </a:r>
          </a:p>
          <a:p>
            <a:r>
              <a:rPr lang="en-US" sz="1700"/>
              <a:t>Explains convergence among countries with similar institutions. </a:t>
            </a:r>
          </a:p>
          <a:p>
            <a:r>
              <a:rPr lang="en-US" sz="1700"/>
              <a:t>Demonstrates the importance of savings and investment. </a:t>
            </a:r>
          </a:p>
          <a:p>
            <a:r>
              <a:rPr lang="en-US" sz="1700"/>
              <a:t>Highlights the central role of technological progress. </a:t>
            </a:r>
          </a:p>
          <a:p>
            <a:br>
              <a:rPr lang="en-US" sz="1700"/>
            </a:br>
            <a:endParaRPr lang="en-US" sz="1700"/>
          </a:p>
          <a:p>
            <a:r>
              <a:rPr lang="en-US" sz="1700" b="1"/>
              <a:t>Weaknesses</a:t>
            </a:r>
          </a:p>
          <a:p>
            <a:r>
              <a:rPr lang="en-US" sz="1700"/>
              <a:t>Does not explain where technological progress comes from. </a:t>
            </a:r>
          </a:p>
          <a:p>
            <a:r>
              <a:rPr lang="en-US" sz="1700"/>
              <a:t>Treats technology as external to the economy. </a:t>
            </a:r>
          </a:p>
          <a:p>
            <a:r>
              <a:rPr lang="en-US" sz="1700"/>
              <a:t>Gives limited attention to knowledge creation and innovation incentives.</a:t>
            </a:r>
          </a:p>
          <a:p>
            <a:endParaRPr lang="en-US" sz="1700"/>
          </a:p>
        </p:txBody>
      </p:sp>
    </p:spTree>
    <p:extLst>
      <p:ext uri="{BB962C8B-B14F-4D97-AF65-F5344CB8AC3E}">
        <p14:creationId xmlns:p14="http://schemas.microsoft.com/office/powerpoint/2010/main" val="1277045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1" name="Rectangle 10">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7FD82B28-9C64-EE6F-A36A-DF7EC252E771}"/>
              </a:ext>
            </a:extLst>
          </p:cNvPr>
          <p:cNvSpPr>
            <a:spLocks noGrp="1"/>
          </p:cNvSpPr>
          <p:nvPr>
            <p:ph type="title"/>
          </p:nvPr>
        </p:nvSpPr>
        <p:spPr>
          <a:xfrm>
            <a:off x="1143000" y="1676400"/>
            <a:ext cx="3810000" cy="3505200"/>
          </a:xfrm>
        </p:spPr>
        <p:txBody>
          <a:bodyPr anchor="t">
            <a:normAutofit/>
          </a:bodyPr>
          <a:lstStyle/>
          <a:p>
            <a:r>
              <a:rPr lang="en-US" sz="4000"/>
              <a:t>New Growth Theory (Endogenous Growth Theory)</a:t>
            </a:r>
          </a:p>
        </p:txBody>
      </p:sp>
      <p:sp>
        <p:nvSpPr>
          <p:cNvPr id="3" name="Content Placeholder 2">
            <a:extLst>
              <a:ext uri="{FF2B5EF4-FFF2-40B4-BE49-F238E27FC236}">
                <a16:creationId xmlns:a16="http://schemas.microsoft.com/office/drawing/2014/main" id="{80B36EE8-040B-813E-89DF-2AF447C91E7E}"/>
              </a:ext>
            </a:extLst>
          </p:cNvPr>
          <p:cNvSpPr>
            <a:spLocks noGrp="1"/>
          </p:cNvSpPr>
          <p:nvPr>
            <p:ph idx="1"/>
          </p:nvPr>
        </p:nvSpPr>
        <p:spPr>
          <a:xfrm>
            <a:off x="5181604" y="1676400"/>
            <a:ext cx="5638796" cy="3505200"/>
          </a:xfrm>
        </p:spPr>
        <p:txBody>
          <a:bodyPr>
            <a:normAutofit/>
          </a:bodyPr>
          <a:lstStyle/>
          <a:p>
            <a:r>
              <a:rPr lang="en-US" sz="2400">
                <a:solidFill>
                  <a:schemeClr val="tx1">
                    <a:alpha val="55000"/>
                  </a:schemeClr>
                </a:solidFill>
              </a:rPr>
              <a:t>The theory argues that technological progress is </a:t>
            </a:r>
            <a:r>
              <a:rPr lang="en-US" sz="2400" b="1">
                <a:solidFill>
                  <a:schemeClr val="tx1">
                    <a:alpha val="55000"/>
                  </a:schemeClr>
                </a:solidFill>
              </a:rPr>
              <a:t>endogenous</a:t>
            </a:r>
            <a:r>
              <a:rPr lang="en-US" sz="2400">
                <a:solidFill>
                  <a:schemeClr val="tx1">
                    <a:alpha val="55000"/>
                  </a:schemeClr>
                </a:solidFill>
              </a:rPr>
              <a:t>—it results from deliberate investment in research, education, innovation, and knowledge.</a:t>
            </a:r>
          </a:p>
          <a:p>
            <a:r>
              <a:rPr lang="en-US" sz="2400" b="1">
                <a:solidFill>
                  <a:schemeClr val="tx1">
                    <a:alpha val="55000"/>
                  </a:schemeClr>
                </a:solidFill>
              </a:rPr>
              <a:t>Major Contributors</a:t>
            </a:r>
            <a:endParaRPr lang="en-US" sz="2400">
              <a:solidFill>
                <a:schemeClr val="tx1">
                  <a:alpha val="55000"/>
                </a:schemeClr>
              </a:solidFill>
            </a:endParaRPr>
          </a:p>
          <a:p>
            <a:pPr lvl="1"/>
            <a:r>
              <a:rPr lang="en-US">
                <a:solidFill>
                  <a:schemeClr val="tx1">
                    <a:alpha val="55000"/>
                  </a:schemeClr>
                </a:solidFill>
              </a:rPr>
              <a:t>Paul Romer </a:t>
            </a:r>
          </a:p>
          <a:p>
            <a:pPr lvl="1"/>
            <a:r>
              <a:rPr lang="en-US">
                <a:solidFill>
                  <a:schemeClr val="tx1">
                    <a:alpha val="55000"/>
                  </a:schemeClr>
                </a:solidFill>
              </a:rPr>
              <a:t>Robert Lucas Jr.</a:t>
            </a:r>
          </a:p>
          <a:p>
            <a:endParaRPr lang="en-US" sz="2400">
              <a:solidFill>
                <a:schemeClr val="tx1">
                  <a:alpha val="55000"/>
                </a:schemeClr>
              </a:solidFill>
            </a:endParaRPr>
          </a:p>
        </p:txBody>
      </p:sp>
    </p:spTree>
    <p:extLst>
      <p:ext uri="{BB962C8B-B14F-4D97-AF65-F5344CB8AC3E}">
        <p14:creationId xmlns:p14="http://schemas.microsoft.com/office/powerpoint/2010/main" val="3938940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C6E1DBE-0EA5-A0F8-D7BE-210212E73F5F}"/>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Main Assumptions</a:t>
            </a:r>
          </a:p>
        </p:txBody>
      </p:sp>
      <p:graphicFrame>
        <p:nvGraphicFramePr>
          <p:cNvPr id="5" name="Content Placeholder 2">
            <a:extLst>
              <a:ext uri="{FF2B5EF4-FFF2-40B4-BE49-F238E27FC236}">
                <a16:creationId xmlns:a16="http://schemas.microsoft.com/office/drawing/2014/main" id="{170C6595-E72A-E445-777C-C3B0822E98E4}"/>
              </a:ext>
            </a:extLst>
          </p:cNvPr>
          <p:cNvGraphicFramePr>
            <a:graphicFrameLocks noGrp="1"/>
          </p:cNvGraphicFramePr>
          <p:nvPr>
            <p:ph idx="1"/>
            <p:extLst>
              <p:ext uri="{D42A27DB-BD31-4B8C-83A1-F6EECF244321}">
                <p14:modId xmlns:p14="http://schemas.microsoft.com/office/powerpoint/2010/main" val="249197554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8829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6CCEB65-AE0C-6FC9-58A4-BDB285F7F27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Main Drivers of Growth</a:t>
            </a:r>
          </a:p>
        </p:txBody>
      </p:sp>
      <p:graphicFrame>
        <p:nvGraphicFramePr>
          <p:cNvPr id="5" name="Content Placeholder 2">
            <a:extLst>
              <a:ext uri="{FF2B5EF4-FFF2-40B4-BE49-F238E27FC236}">
                <a16:creationId xmlns:a16="http://schemas.microsoft.com/office/drawing/2014/main" id="{40D12DE1-7040-F4A4-DACC-E76CFEB8E5DE}"/>
              </a:ext>
            </a:extLst>
          </p:cNvPr>
          <p:cNvGraphicFramePr>
            <a:graphicFrameLocks noGrp="1"/>
          </p:cNvGraphicFramePr>
          <p:nvPr>
            <p:ph idx="1"/>
            <p:extLst>
              <p:ext uri="{D42A27DB-BD31-4B8C-83A1-F6EECF244321}">
                <p14:modId xmlns:p14="http://schemas.microsoft.com/office/powerpoint/2010/main" val="32582525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7340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E2F07DE-FE66-DDA6-986E-FB379A3DD51D}"/>
              </a:ext>
            </a:extLst>
          </p:cNvPr>
          <p:cNvSpPr>
            <a:spLocks noGrp="1"/>
          </p:cNvSpPr>
          <p:nvPr>
            <p:ph type="title"/>
          </p:nvPr>
        </p:nvSpPr>
        <p:spPr>
          <a:xfrm>
            <a:off x="838200" y="365125"/>
            <a:ext cx="10515600" cy="1325563"/>
          </a:xfrm>
        </p:spPr>
        <p:txBody>
          <a:bodyPr>
            <a:normAutofit/>
          </a:bodyPr>
          <a:lstStyle/>
          <a:p>
            <a:r>
              <a:rPr lang="en-US" dirty="0"/>
              <a:t>Policy Implications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D50634-AE5F-AB12-0C59-D417D417C454}"/>
              </a:ext>
            </a:extLst>
          </p:cNvPr>
          <p:cNvSpPr>
            <a:spLocks noGrp="1"/>
          </p:cNvSpPr>
          <p:nvPr>
            <p:ph idx="1"/>
          </p:nvPr>
        </p:nvSpPr>
        <p:spPr>
          <a:xfrm>
            <a:off x="838200" y="1825625"/>
            <a:ext cx="10515600" cy="4351338"/>
          </a:xfrm>
        </p:spPr>
        <p:txBody>
          <a:bodyPr>
            <a:normAutofit/>
          </a:bodyPr>
          <a:lstStyle/>
          <a:p>
            <a:r>
              <a:rPr lang="en-US" dirty="0"/>
              <a:t>Governments should:</a:t>
            </a:r>
          </a:p>
          <a:p>
            <a:pPr lvl="1"/>
            <a:r>
              <a:rPr lang="en-US" dirty="0"/>
              <a:t>Increase education spending </a:t>
            </a:r>
          </a:p>
          <a:p>
            <a:pPr lvl="1"/>
            <a:r>
              <a:rPr lang="en-US" dirty="0"/>
              <a:t>Encourage innovation </a:t>
            </a:r>
          </a:p>
          <a:p>
            <a:pPr lvl="1"/>
            <a:r>
              <a:rPr lang="en-US" dirty="0"/>
              <a:t>Protect intellectual property </a:t>
            </a:r>
          </a:p>
          <a:p>
            <a:pPr lvl="1"/>
            <a:r>
              <a:rPr lang="en-US" dirty="0"/>
              <a:t>Support universities and research institutions </a:t>
            </a:r>
          </a:p>
          <a:p>
            <a:pPr lvl="1"/>
            <a:r>
              <a:rPr lang="en-US" dirty="0"/>
              <a:t>Promote entrepreneurship </a:t>
            </a:r>
          </a:p>
          <a:p>
            <a:pPr lvl="1"/>
            <a:r>
              <a:rPr lang="en-US" dirty="0"/>
              <a:t>Invest in digital infrastructure</a:t>
            </a:r>
          </a:p>
          <a:p>
            <a:endParaRPr lang="en-US" dirty="0"/>
          </a:p>
        </p:txBody>
      </p:sp>
    </p:spTree>
    <p:extLst>
      <p:ext uri="{BB962C8B-B14F-4D97-AF65-F5344CB8AC3E}">
        <p14:creationId xmlns:p14="http://schemas.microsoft.com/office/powerpoint/2010/main" val="1329812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2E1B0E-6703-BE04-7A7F-F319CE35FD9F}"/>
              </a:ext>
            </a:extLst>
          </p:cNvPr>
          <p:cNvSpPr>
            <a:spLocks noGrp="1"/>
          </p:cNvSpPr>
          <p:nvPr>
            <p:ph type="title"/>
          </p:nvPr>
        </p:nvSpPr>
        <p:spPr>
          <a:xfrm>
            <a:off x="686834" y="1153572"/>
            <a:ext cx="3200400" cy="4461163"/>
          </a:xfrm>
        </p:spPr>
        <p:txBody>
          <a:bodyPr>
            <a:normAutofit/>
          </a:bodyPr>
          <a:lstStyle/>
          <a:p>
            <a:r>
              <a:rPr lang="en-US">
                <a:solidFill>
                  <a:srgbClr val="FFFFFF"/>
                </a:solidFill>
              </a:rPr>
              <a:t>Strengths and Weaknesses of NGT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BF2B423-1ECD-1D6D-A836-4AEB32172999}"/>
              </a:ext>
            </a:extLst>
          </p:cNvPr>
          <p:cNvSpPr>
            <a:spLocks noGrp="1"/>
          </p:cNvSpPr>
          <p:nvPr>
            <p:ph idx="1"/>
          </p:nvPr>
        </p:nvSpPr>
        <p:spPr>
          <a:xfrm>
            <a:off x="4447308" y="591344"/>
            <a:ext cx="6906491" cy="5585619"/>
          </a:xfrm>
        </p:spPr>
        <p:txBody>
          <a:bodyPr anchor="ctr">
            <a:normAutofit/>
          </a:bodyPr>
          <a:lstStyle/>
          <a:p>
            <a:r>
              <a:rPr lang="en-US" sz="2400" b="1"/>
              <a:t>Strengths</a:t>
            </a:r>
          </a:p>
          <a:p>
            <a:r>
              <a:rPr lang="en-US" sz="2400"/>
              <a:t>Explains sustained long-run growth. </a:t>
            </a:r>
          </a:p>
          <a:p>
            <a:r>
              <a:rPr lang="en-US" sz="2400"/>
              <a:t>Recognizes innovation and knowledge as engines of growth. </a:t>
            </a:r>
          </a:p>
          <a:p>
            <a:r>
              <a:rPr lang="en-US" sz="2400"/>
              <a:t>Reflects the realities of modern, technology-driven economies. </a:t>
            </a:r>
            <a:br>
              <a:rPr lang="en-US" sz="2400"/>
            </a:br>
            <a:endParaRPr lang="en-US" sz="2400"/>
          </a:p>
          <a:p>
            <a:r>
              <a:rPr lang="en-US" sz="2400" b="1"/>
              <a:t>Weaknesses</a:t>
            </a:r>
          </a:p>
          <a:p>
            <a:r>
              <a:rPr lang="en-US" sz="2400"/>
              <a:t>Difficult to measure knowledge spillovers. </a:t>
            </a:r>
          </a:p>
          <a:p>
            <a:r>
              <a:rPr lang="en-US" sz="2400"/>
              <a:t>Some assumptions are hard to test empirically. </a:t>
            </a:r>
          </a:p>
          <a:p>
            <a:r>
              <a:rPr lang="en-US" sz="2400"/>
              <a:t>May overemphasize the role of technology relative to institutions and other factors.</a:t>
            </a:r>
          </a:p>
          <a:p>
            <a:endParaRPr lang="en-US" sz="2400"/>
          </a:p>
        </p:txBody>
      </p:sp>
    </p:spTree>
    <p:extLst>
      <p:ext uri="{BB962C8B-B14F-4D97-AF65-F5344CB8AC3E}">
        <p14:creationId xmlns:p14="http://schemas.microsoft.com/office/powerpoint/2010/main" val="2295412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3E97A3-DA35-E8E4-EE64-65DBC0DD8A1A}"/>
              </a:ext>
            </a:extLst>
          </p:cNvPr>
          <p:cNvSpPr>
            <a:spLocks noGrp="1"/>
          </p:cNvSpPr>
          <p:nvPr>
            <p:ph type="title"/>
          </p:nvPr>
        </p:nvSpPr>
        <p:spPr>
          <a:xfrm>
            <a:off x="1043631" y="809898"/>
            <a:ext cx="10173010" cy="1554480"/>
          </a:xfrm>
        </p:spPr>
        <p:txBody>
          <a:bodyPr anchor="ctr">
            <a:normAutofit/>
          </a:bodyPr>
          <a:lstStyle/>
          <a:p>
            <a:r>
              <a:rPr lang="en-US" sz="4800"/>
              <a:t>Comparison of Growth Theories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4F54DB57-154A-2E0E-8650-5D19F3F267D5}"/>
              </a:ext>
            </a:extLst>
          </p:cNvPr>
          <p:cNvGraphicFramePr>
            <a:graphicFrameLocks noGrp="1"/>
          </p:cNvGraphicFramePr>
          <p:nvPr>
            <p:ph idx="1"/>
            <p:extLst>
              <p:ext uri="{D42A27DB-BD31-4B8C-83A1-F6EECF244321}">
                <p14:modId xmlns:p14="http://schemas.microsoft.com/office/powerpoint/2010/main" val="3547736486"/>
              </p:ext>
            </p:extLst>
          </p:nvPr>
        </p:nvGraphicFramePr>
        <p:xfrm>
          <a:off x="904602" y="2901696"/>
          <a:ext cx="10378442" cy="3195892"/>
        </p:xfrm>
        <a:graphic>
          <a:graphicData uri="http://schemas.openxmlformats.org/drawingml/2006/table">
            <a:tbl>
              <a:tblPr/>
              <a:tblGrid>
                <a:gridCol w="2566815">
                  <a:extLst>
                    <a:ext uri="{9D8B030D-6E8A-4147-A177-3AD203B41FA5}">
                      <a16:colId xmlns:a16="http://schemas.microsoft.com/office/drawing/2014/main" val="902072105"/>
                    </a:ext>
                  </a:extLst>
                </a:gridCol>
                <a:gridCol w="2673973">
                  <a:extLst>
                    <a:ext uri="{9D8B030D-6E8A-4147-A177-3AD203B41FA5}">
                      <a16:colId xmlns:a16="http://schemas.microsoft.com/office/drawing/2014/main" val="3876479371"/>
                    </a:ext>
                  </a:extLst>
                </a:gridCol>
                <a:gridCol w="2566815">
                  <a:extLst>
                    <a:ext uri="{9D8B030D-6E8A-4147-A177-3AD203B41FA5}">
                      <a16:colId xmlns:a16="http://schemas.microsoft.com/office/drawing/2014/main" val="2738086191"/>
                    </a:ext>
                  </a:extLst>
                </a:gridCol>
                <a:gridCol w="2570839">
                  <a:extLst>
                    <a:ext uri="{9D8B030D-6E8A-4147-A177-3AD203B41FA5}">
                      <a16:colId xmlns:a16="http://schemas.microsoft.com/office/drawing/2014/main" val="3206021949"/>
                    </a:ext>
                  </a:extLst>
                </a:gridCol>
              </a:tblGrid>
              <a:tr h="298946">
                <a:tc>
                  <a:txBody>
                    <a:bodyPr/>
                    <a:lstStyle/>
                    <a:p>
                      <a:pPr>
                        <a:buNone/>
                      </a:pPr>
                      <a:r>
                        <a:rPr lang="en-US" sz="1200" b="1"/>
                        <a:t>Feature</a:t>
                      </a:r>
                    </a:p>
                  </a:txBody>
                  <a:tcPr marL="62500" marR="62500" marT="31249" marB="31249" anchor="ctr">
                    <a:lnL>
                      <a:noFill/>
                    </a:lnL>
                    <a:lnR>
                      <a:noFill/>
                    </a:lnR>
                    <a:lnT>
                      <a:noFill/>
                    </a:lnT>
                    <a:lnB>
                      <a:noFill/>
                    </a:lnB>
                    <a:noFill/>
                  </a:tcPr>
                </a:tc>
                <a:tc>
                  <a:txBody>
                    <a:bodyPr/>
                    <a:lstStyle/>
                    <a:p>
                      <a:pPr>
                        <a:buNone/>
                      </a:pPr>
                      <a:r>
                        <a:rPr lang="en-US" sz="1200" b="1"/>
                        <a:t>Classical Theory</a:t>
                      </a:r>
                    </a:p>
                  </a:txBody>
                  <a:tcPr marL="62500" marR="62500" marT="31249" marB="31249" anchor="ctr">
                    <a:lnL>
                      <a:noFill/>
                    </a:lnL>
                    <a:lnR>
                      <a:noFill/>
                    </a:lnR>
                    <a:lnT>
                      <a:noFill/>
                    </a:lnT>
                    <a:lnB>
                      <a:noFill/>
                    </a:lnB>
                    <a:noFill/>
                  </a:tcPr>
                </a:tc>
                <a:tc>
                  <a:txBody>
                    <a:bodyPr/>
                    <a:lstStyle/>
                    <a:p>
                      <a:pPr>
                        <a:buNone/>
                      </a:pPr>
                      <a:r>
                        <a:rPr lang="en-US" sz="1200" b="1"/>
                        <a:t>Neoclassical Theory</a:t>
                      </a:r>
                    </a:p>
                  </a:txBody>
                  <a:tcPr marL="62500" marR="62500" marT="31249" marB="31249" anchor="ctr">
                    <a:lnL>
                      <a:noFill/>
                    </a:lnL>
                    <a:lnR>
                      <a:noFill/>
                    </a:lnR>
                    <a:lnT>
                      <a:noFill/>
                    </a:lnT>
                    <a:lnB>
                      <a:noFill/>
                    </a:lnB>
                    <a:noFill/>
                  </a:tcPr>
                </a:tc>
                <a:tc>
                  <a:txBody>
                    <a:bodyPr/>
                    <a:lstStyle/>
                    <a:p>
                      <a:pPr>
                        <a:buNone/>
                      </a:pPr>
                      <a:r>
                        <a:rPr lang="en-US" sz="1200" b="1" dirty="0"/>
                        <a:t>New Growth Theory</a:t>
                      </a:r>
                    </a:p>
                  </a:txBody>
                  <a:tcPr marL="62500" marR="62500" marT="31249" marB="31249" anchor="ctr">
                    <a:lnL>
                      <a:noFill/>
                    </a:lnL>
                    <a:lnR>
                      <a:noFill/>
                    </a:lnR>
                    <a:lnT>
                      <a:noFill/>
                    </a:lnT>
                    <a:lnB>
                      <a:noFill/>
                    </a:lnB>
                    <a:noFill/>
                  </a:tcPr>
                </a:tc>
                <a:extLst>
                  <a:ext uri="{0D108BD9-81ED-4DB2-BD59-A6C34878D82A}">
                    <a16:rowId xmlns:a16="http://schemas.microsoft.com/office/drawing/2014/main" val="843395542"/>
                  </a:ext>
                </a:extLst>
              </a:tr>
              <a:tr h="298946">
                <a:tc>
                  <a:txBody>
                    <a:bodyPr/>
                    <a:lstStyle/>
                    <a:p>
                      <a:pPr>
                        <a:buNone/>
                      </a:pPr>
                      <a:r>
                        <a:rPr lang="en-US" sz="1200"/>
                        <a:t>Main Economists</a:t>
                      </a:r>
                    </a:p>
                  </a:txBody>
                  <a:tcPr marL="62500" marR="62500" marT="31249" marB="31249" anchor="ctr">
                    <a:lnL>
                      <a:noFill/>
                    </a:lnL>
                    <a:lnR>
                      <a:noFill/>
                    </a:lnR>
                    <a:lnT>
                      <a:noFill/>
                    </a:lnT>
                    <a:lnB>
                      <a:noFill/>
                    </a:lnB>
                    <a:noFill/>
                  </a:tcPr>
                </a:tc>
                <a:tc>
                  <a:txBody>
                    <a:bodyPr/>
                    <a:lstStyle/>
                    <a:p>
                      <a:pPr>
                        <a:buNone/>
                      </a:pPr>
                      <a:r>
                        <a:rPr lang="en-US" sz="1200"/>
                        <a:t>Smith, Malthus, Ricardo</a:t>
                      </a:r>
                    </a:p>
                  </a:txBody>
                  <a:tcPr marL="62500" marR="62500" marT="31249" marB="31249" anchor="ctr">
                    <a:lnL>
                      <a:noFill/>
                    </a:lnL>
                    <a:lnR>
                      <a:noFill/>
                    </a:lnR>
                    <a:lnT>
                      <a:noFill/>
                    </a:lnT>
                    <a:lnB>
                      <a:noFill/>
                    </a:lnB>
                    <a:noFill/>
                  </a:tcPr>
                </a:tc>
                <a:tc>
                  <a:txBody>
                    <a:bodyPr/>
                    <a:lstStyle/>
                    <a:p>
                      <a:pPr>
                        <a:buNone/>
                      </a:pPr>
                      <a:r>
                        <a:rPr lang="en-US" sz="1200"/>
                        <a:t>Robert Solow</a:t>
                      </a:r>
                    </a:p>
                  </a:txBody>
                  <a:tcPr marL="62500" marR="62500" marT="31249" marB="31249" anchor="ctr">
                    <a:lnL>
                      <a:noFill/>
                    </a:lnL>
                    <a:lnR>
                      <a:noFill/>
                    </a:lnR>
                    <a:lnT>
                      <a:noFill/>
                    </a:lnT>
                    <a:lnB>
                      <a:noFill/>
                    </a:lnB>
                    <a:noFill/>
                  </a:tcPr>
                </a:tc>
                <a:tc>
                  <a:txBody>
                    <a:bodyPr/>
                    <a:lstStyle/>
                    <a:p>
                      <a:pPr>
                        <a:buNone/>
                      </a:pPr>
                      <a:r>
                        <a:rPr lang="en-US" sz="1200"/>
                        <a:t>Paul Romer, Robert Lucas Jr.</a:t>
                      </a:r>
                    </a:p>
                  </a:txBody>
                  <a:tcPr marL="62500" marR="62500" marT="31249" marB="31249" anchor="ctr">
                    <a:lnL>
                      <a:noFill/>
                    </a:lnL>
                    <a:lnR>
                      <a:noFill/>
                    </a:lnR>
                    <a:lnT>
                      <a:noFill/>
                    </a:lnT>
                    <a:lnB>
                      <a:noFill/>
                    </a:lnB>
                    <a:noFill/>
                  </a:tcPr>
                </a:tc>
                <a:extLst>
                  <a:ext uri="{0D108BD9-81ED-4DB2-BD59-A6C34878D82A}">
                    <a16:rowId xmlns:a16="http://schemas.microsoft.com/office/drawing/2014/main" val="3188384573"/>
                  </a:ext>
                </a:extLst>
              </a:tr>
              <a:tr h="298946">
                <a:tc>
                  <a:txBody>
                    <a:bodyPr/>
                    <a:lstStyle/>
                    <a:p>
                      <a:pPr>
                        <a:buNone/>
                      </a:pPr>
                      <a:r>
                        <a:rPr lang="en-US" sz="1200"/>
                        <a:t>Time Period</a:t>
                      </a:r>
                    </a:p>
                  </a:txBody>
                  <a:tcPr marL="62500" marR="62500" marT="31249" marB="31249" anchor="ctr">
                    <a:lnL>
                      <a:noFill/>
                    </a:lnL>
                    <a:lnR>
                      <a:noFill/>
                    </a:lnR>
                    <a:lnT>
                      <a:noFill/>
                    </a:lnT>
                    <a:lnB>
                      <a:noFill/>
                    </a:lnB>
                    <a:noFill/>
                  </a:tcPr>
                </a:tc>
                <a:tc>
                  <a:txBody>
                    <a:bodyPr/>
                    <a:lstStyle/>
                    <a:p>
                      <a:pPr>
                        <a:buNone/>
                      </a:pPr>
                      <a:r>
                        <a:rPr lang="en-US" sz="1200"/>
                        <a:t>18th–19th Century</a:t>
                      </a:r>
                    </a:p>
                  </a:txBody>
                  <a:tcPr marL="62500" marR="62500" marT="31249" marB="31249" anchor="ctr">
                    <a:lnL>
                      <a:noFill/>
                    </a:lnL>
                    <a:lnR>
                      <a:noFill/>
                    </a:lnR>
                    <a:lnT>
                      <a:noFill/>
                    </a:lnT>
                    <a:lnB>
                      <a:noFill/>
                    </a:lnB>
                    <a:noFill/>
                  </a:tcPr>
                </a:tc>
                <a:tc>
                  <a:txBody>
                    <a:bodyPr/>
                    <a:lstStyle/>
                    <a:p>
                      <a:pPr>
                        <a:buNone/>
                      </a:pPr>
                      <a:r>
                        <a:rPr lang="en-US" sz="1200"/>
                        <a:t>1950s</a:t>
                      </a:r>
                    </a:p>
                  </a:txBody>
                  <a:tcPr marL="62500" marR="62500" marT="31249" marB="31249" anchor="ctr">
                    <a:lnL>
                      <a:noFill/>
                    </a:lnL>
                    <a:lnR>
                      <a:noFill/>
                    </a:lnR>
                    <a:lnT>
                      <a:noFill/>
                    </a:lnT>
                    <a:lnB>
                      <a:noFill/>
                    </a:lnB>
                    <a:noFill/>
                  </a:tcPr>
                </a:tc>
                <a:tc>
                  <a:txBody>
                    <a:bodyPr/>
                    <a:lstStyle/>
                    <a:p>
                      <a:pPr>
                        <a:buNone/>
                      </a:pPr>
                      <a:r>
                        <a:rPr lang="en-US" sz="1200"/>
                        <a:t>1980s onward</a:t>
                      </a:r>
                    </a:p>
                  </a:txBody>
                  <a:tcPr marL="62500" marR="62500" marT="31249" marB="31249" anchor="ctr">
                    <a:lnL>
                      <a:noFill/>
                    </a:lnL>
                    <a:lnR>
                      <a:noFill/>
                    </a:lnR>
                    <a:lnT>
                      <a:noFill/>
                    </a:lnT>
                    <a:lnB>
                      <a:noFill/>
                    </a:lnB>
                    <a:noFill/>
                  </a:tcPr>
                </a:tc>
                <a:extLst>
                  <a:ext uri="{0D108BD9-81ED-4DB2-BD59-A6C34878D82A}">
                    <a16:rowId xmlns:a16="http://schemas.microsoft.com/office/drawing/2014/main" val="1367608677"/>
                  </a:ext>
                </a:extLst>
              </a:tr>
              <a:tr h="500027">
                <a:tc>
                  <a:txBody>
                    <a:bodyPr/>
                    <a:lstStyle/>
                    <a:p>
                      <a:pPr>
                        <a:buNone/>
                      </a:pPr>
                      <a:r>
                        <a:rPr lang="en-US" sz="1200"/>
                        <a:t>Main Driver</a:t>
                      </a:r>
                    </a:p>
                  </a:txBody>
                  <a:tcPr marL="62500" marR="62500" marT="31249" marB="31249" anchor="ctr">
                    <a:lnL>
                      <a:noFill/>
                    </a:lnL>
                    <a:lnR>
                      <a:noFill/>
                    </a:lnR>
                    <a:lnT>
                      <a:noFill/>
                    </a:lnT>
                    <a:lnB>
                      <a:noFill/>
                    </a:lnB>
                    <a:noFill/>
                  </a:tcPr>
                </a:tc>
                <a:tc>
                  <a:txBody>
                    <a:bodyPr/>
                    <a:lstStyle/>
                    <a:p>
                      <a:pPr>
                        <a:buNone/>
                      </a:pPr>
                      <a:r>
                        <a:rPr lang="en-US" sz="1200"/>
                        <a:t>Capital and land</a:t>
                      </a:r>
                    </a:p>
                  </a:txBody>
                  <a:tcPr marL="62500" marR="62500" marT="31249" marB="31249" anchor="ctr">
                    <a:lnL>
                      <a:noFill/>
                    </a:lnL>
                    <a:lnR>
                      <a:noFill/>
                    </a:lnR>
                    <a:lnT>
                      <a:noFill/>
                    </a:lnT>
                    <a:lnB>
                      <a:noFill/>
                    </a:lnB>
                    <a:noFill/>
                  </a:tcPr>
                </a:tc>
                <a:tc>
                  <a:txBody>
                    <a:bodyPr/>
                    <a:lstStyle/>
                    <a:p>
                      <a:pPr>
                        <a:buNone/>
                      </a:pPr>
                      <a:r>
                        <a:rPr lang="en-US" sz="1200"/>
                        <a:t>Capital, labor, technology</a:t>
                      </a:r>
                    </a:p>
                  </a:txBody>
                  <a:tcPr marL="62500" marR="62500" marT="31249" marB="31249" anchor="ctr">
                    <a:lnL>
                      <a:noFill/>
                    </a:lnL>
                    <a:lnR>
                      <a:noFill/>
                    </a:lnR>
                    <a:lnT>
                      <a:noFill/>
                    </a:lnT>
                    <a:lnB>
                      <a:noFill/>
                    </a:lnB>
                    <a:noFill/>
                  </a:tcPr>
                </a:tc>
                <a:tc>
                  <a:txBody>
                    <a:bodyPr/>
                    <a:lstStyle/>
                    <a:p>
                      <a:pPr>
                        <a:buNone/>
                      </a:pPr>
                      <a:r>
                        <a:rPr lang="en-US" sz="1200"/>
                        <a:t>Innovation, knowledge, human capital</a:t>
                      </a:r>
                    </a:p>
                  </a:txBody>
                  <a:tcPr marL="62500" marR="62500" marT="31249" marB="31249" anchor="ctr">
                    <a:lnL>
                      <a:noFill/>
                    </a:lnL>
                    <a:lnR>
                      <a:noFill/>
                    </a:lnR>
                    <a:lnT>
                      <a:noFill/>
                    </a:lnT>
                    <a:lnB>
                      <a:noFill/>
                    </a:lnB>
                    <a:noFill/>
                  </a:tcPr>
                </a:tc>
                <a:extLst>
                  <a:ext uri="{0D108BD9-81ED-4DB2-BD59-A6C34878D82A}">
                    <a16:rowId xmlns:a16="http://schemas.microsoft.com/office/drawing/2014/main" val="3181467172"/>
                  </a:ext>
                </a:extLst>
              </a:tr>
              <a:tr h="298946">
                <a:tc>
                  <a:txBody>
                    <a:bodyPr/>
                    <a:lstStyle/>
                    <a:p>
                      <a:pPr>
                        <a:buNone/>
                      </a:pPr>
                      <a:r>
                        <a:rPr lang="en-US" sz="1200"/>
                        <a:t>Technology</a:t>
                      </a:r>
                    </a:p>
                  </a:txBody>
                  <a:tcPr marL="62500" marR="62500" marT="31249" marB="31249" anchor="ctr">
                    <a:lnL>
                      <a:noFill/>
                    </a:lnL>
                    <a:lnR>
                      <a:noFill/>
                    </a:lnR>
                    <a:lnT>
                      <a:noFill/>
                    </a:lnT>
                    <a:lnB>
                      <a:noFill/>
                    </a:lnB>
                    <a:noFill/>
                  </a:tcPr>
                </a:tc>
                <a:tc>
                  <a:txBody>
                    <a:bodyPr/>
                    <a:lstStyle/>
                    <a:p>
                      <a:pPr>
                        <a:buNone/>
                      </a:pPr>
                      <a:r>
                        <a:rPr lang="en-US" sz="1200"/>
                        <a:t>Slow or ignored</a:t>
                      </a:r>
                    </a:p>
                  </a:txBody>
                  <a:tcPr marL="62500" marR="62500" marT="31249" marB="31249" anchor="ctr">
                    <a:lnL>
                      <a:noFill/>
                    </a:lnL>
                    <a:lnR>
                      <a:noFill/>
                    </a:lnR>
                    <a:lnT>
                      <a:noFill/>
                    </a:lnT>
                    <a:lnB>
                      <a:noFill/>
                    </a:lnB>
                    <a:noFill/>
                  </a:tcPr>
                </a:tc>
                <a:tc>
                  <a:txBody>
                    <a:bodyPr/>
                    <a:lstStyle/>
                    <a:p>
                      <a:pPr>
                        <a:buNone/>
                      </a:pPr>
                      <a:r>
                        <a:rPr lang="en-US" sz="1200"/>
                        <a:t>Exogenous</a:t>
                      </a:r>
                    </a:p>
                  </a:txBody>
                  <a:tcPr marL="62500" marR="62500" marT="31249" marB="31249" anchor="ctr">
                    <a:lnL>
                      <a:noFill/>
                    </a:lnL>
                    <a:lnR>
                      <a:noFill/>
                    </a:lnR>
                    <a:lnT>
                      <a:noFill/>
                    </a:lnT>
                    <a:lnB>
                      <a:noFill/>
                    </a:lnB>
                    <a:noFill/>
                  </a:tcPr>
                </a:tc>
                <a:tc>
                  <a:txBody>
                    <a:bodyPr/>
                    <a:lstStyle/>
                    <a:p>
                      <a:pPr>
                        <a:buNone/>
                      </a:pPr>
                      <a:r>
                        <a:rPr lang="en-US" sz="1200"/>
                        <a:t>Endogenous</a:t>
                      </a:r>
                    </a:p>
                  </a:txBody>
                  <a:tcPr marL="62500" marR="62500" marT="31249" marB="31249" anchor="ctr">
                    <a:lnL>
                      <a:noFill/>
                    </a:lnL>
                    <a:lnR>
                      <a:noFill/>
                    </a:lnR>
                    <a:lnT>
                      <a:noFill/>
                    </a:lnT>
                    <a:lnB>
                      <a:noFill/>
                    </a:lnB>
                    <a:noFill/>
                  </a:tcPr>
                </a:tc>
                <a:extLst>
                  <a:ext uri="{0D108BD9-81ED-4DB2-BD59-A6C34878D82A}">
                    <a16:rowId xmlns:a16="http://schemas.microsoft.com/office/drawing/2014/main" val="3569051996"/>
                  </a:ext>
                </a:extLst>
              </a:tr>
              <a:tr h="500027">
                <a:tc>
                  <a:txBody>
                    <a:bodyPr/>
                    <a:lstStyle/>
                    <a:p>
                      <a:pPr>
                        <a:buNone/>
                      </a:pPr>
                      <a:r>
                        <a:rPr lang="en-US" sz="1200"/>
                        <a:t>Returns to Capital</a:t>
                      </a:r>
                    </a:p>
                  </a:txBody>
                  <a:tcPr marL="62500" marR="62500" marT="31249" marB="31249" anchor="ctr">
                    <a:lnL>
                      <a:noFill/>
                    </a:lnL>
                    <a:lnR>
                      <a:noFill/>
                    </a:lnR>
                    <a:lnT>
                      <a:noFill/>
                    </a:lnT>
                    <a:lnB>
                      <a:noFill/>
                    </a:lnB>
                    <a:noFill/>
                  </a:tcPr>
                </a:tc>
                <a:tc>
                  <a:txBody>
                    <a:bodyPr/>
                    <a:lstStyle/>
                    <a:p>
                      <a:pPr>
                        <a:buNone/>
                      </a:pPr>
                      <a:r>
                        <a:rPr lang="en-US" sz="1200"/>
                        <a:t>Diminishing</a:t>
                      </a:r>
                    </a:p>
                  </a:txBody>
                  <a:tcPr marL="62500" marR="62500" marT="31249" marB="31249" anchor="ctr">
                    <a:lnL>
                      <a:noFill/>
                    </a:lnL>
                    <a:lnR>
                      <a:noFill/>
                    </a:lnR>
                    <a:lnT>
                      <a:noFill/>
                    </a:lnT>
                    <a:lnB>
                      <a:noFill/>
                    </a:lnB>
                    <a:noFill/>
                  </a:tcPr>
                </a:tc>
                <a:tc>
                  <a:txBody>
                    <a:bodyPr/>
                    <a:lstStyle/>
                    <a:p>
                      <a:pPr>
                        <a:buNone/>
                      </a:pPr>
                      <a:r>
                        <a:rPr lang="en-US" sz="1200"/>
                        <a:t>Diminishing</a:t>
                      </a:r>
                    </a:p>
                  </a:txBody>
                  <a:tcPr marL="62500" marR="62500" marT="31249" marB="31249" anchor="ctr">
                    <a:lnL>
                      <a:noFill/>
                    </a:lnL>
                    <a:lnR>
                      <a:noFill/>
                    </a:lnR>
                    <a:lnT>
                      <a:noFill/>
                    </a:lnT>
                    <a:lnB>
                      <a:noFill/>
                    </a:lnB>
                    <a:noFill/>
                  </a:tcPr>
                </a:tc>
                <a:tc>
                  <a:txBody>
                    <a:bodyPr/>
                    <a:lstStyle/>
                    <a:p>
                      <a:pPr>
                        <a:buNone/>
                      </a:pPr>
                      <a:r>
                        <a:rPr lang="en-US" sz="1200"/>
                        <a:t>Can exhibit increasing returns through knowledge</a:t>
                      </a:r>
                    </a:p>
                  </a:txBody>
                  <a:tcPr marL="62500" marR="62500" marT="31249" marB="31249" anchor="ctr">
                    <a:lnL>
                      <a:noFill/>
                    </a:lnL>
                    <a:lnR>
                      <a:noFill/>
                    </a:lnR>
                    <a:lnT>
                      <a:noFill/>
                    </a:lnT>
                    <a:lnB>
                      <a:noFill/>
                    </a:lnB>
                    <a:noFill/>
                  </a:tcPr>
                </a:tc>
                <a:extLst>
                  <a:ext uri="{0D108BD9-81ED-4DB2-BD59-A6C34878D82A}">
                    <a16:rowId xmlns:a16="http://schemas.microsoft.com/office/drawing/2014/main" val="2335195303"/>
                  </a:ext>
                </a:extLst>
              </a:tr>
              <a:tr h="500027">
                <a:tc>
                  <a:txBody>
                    <a:bodyPr/>
                    <a:lstStyle/>
                    <a:p>
                      <a:pPr>
                        <a:buNone/>
                      </a:pPr>
                      <a:r>
                        <a:rPr lang="en-US" sz="1200"/>
                        <a:t>Long-Run Growth</a:t>
                      </a:r>
                    </a:p>
                  </a:txBody>
                  <a:tcPr marL="62500" marR="62500" marT="31249" marB="31249" anchor="ctr">
                    <a:lnL>
                      <a:noFill/>
                    </a:lnL>
                    <a:lnR>
                      <a:noFill/>
                    </a:lnR>
                    <a:lnT>
                      <a:noFill/>
                    </a:lnT>
                    <a:lnB>
                      <a:noFill/>
                    </a:lnB>
                    <a:noFill/>
                  </a:tcPr>
                </a:tc>
                <a:tc>
                  <a:txBody>
                    <a:bodyPr/>
                    <a:lstStyle/>
                    <a:p>
                      <a:pPr>
                        <a:buNone/>
                      </a:pPr>
                      <a:r>
                        <a:rPr lang="en-US" sz="1200"/>
                        <a:t>Ends in a stationary state</a:t>
                      </a:r>
                    </a:p>
                  </a:txBody>
                  <a:tcPr marL="62500" marR="62500" marT="31249" marB="31249" anchor="ctr">
                    <a:lnL>
                      <a:noFill/>
                    </a:lnL>
                    <a:lnR>
                      <a:noFill/>
                    </a:lnR>
                    <a:lnT>
                      <a:noFill/>
                    </a:lnT>
                    <a:lnB>
                      <a:noFill/>
                    </a:lnB>
                    <a:noFill/>
                  </a:tcPr>
                </a:tc>
                <a:tc>
                  <a:txBody>
                    <a:bodyPr/>
                    <a:lstStyle/>
                    <a:p>
                      <a:pPr>
                        <a:buNone/>
                      </a:pPr>
                      <a:r>
                        <a:rPr lang="en-US" sz="1200"/>
                        <a:t>Sustained by technological progress</a:t>
                      </a:r>
                    </a:p>
                  </a:txBody>
                  <a:tcPr marL="62500" marR="62500" marT="31249" marB="31249" anchor="ctr">
                    <a:lnL>
                      <a:noFill/>
                    </a:lnL>
                    <a:lnR>
                      <a:noFill/>
                    </a:lnR>
                    <a:lnT>
                      <a:noFill/>
                    </a:lnT>
                    <a:lnB>
                      <a:noFill/>
                    </a:lnB>
                    <a:noFill/>
                  </a:tcPr>
                </a:tc>
                <a:tc>
                  <a:txBody>
                    <a:bodyPr/>
                    <a:lstStyle/>
                    <a:p>
                      <a:pPr>
                        <a:buNone/>
                      </a:pPr>
                      <a:r>
                        <a:rPr lang="en-US" sz="1200"/>
                        <a:t>Sustained by innovation and knowledge creation</a:t>
                      </a:r>
                    </a:p>
                  </a:txBody>
                  <a:tcPr marL="62500" marR="62500" marT="31249" marB="31249" anchor="ctr">
                    <a:lnL>
                      <a:noFill/>
                    </a:lnL>
                    <a:lnR>
                      <a:noFill/>
                    </a:lnR>
                    <a:lnT>
                      <a:noFill/>
                    </a:lnT>
                    <a:lnB>
                      <a:noFill/>
                    </a:lnB>
                    <a:noFill/>
                  </a:tcPr>
                </a:tc>
                <a:extLst>
                  <a:ext uri="{0D108BD9-81ED-4DB2-BD59-A6C34878D82A}">
                    <a16:rowId xmlns:a16="http://schemas.microsoft.com/office/drawing/2014/main" val="2631579149"/>
                  </a:ext>
                </a:extLst>
              </a:tr>
              <a:tr h="500027">
                <a:tc>
                  <a:txBody>
                    <a:bodyPr/>
                    <a:lstStyle/>
                    <a:p>
                      <a:pPr>
                        <a:buNone/>
                      </a:pPr>
                      <a:r>
                        <a:rPr lang="en-US" sz="1200"/>
                        <a:t>Role of Government</a:t>
                      </a:r>
                    </a:p>
                  </a:txBody>
                  <a:tcPr marL="62500" marR="62500" marT="31249" marB="31249" anchor="ctr">
                    <a:lnL>
                      <a:noFill/>
                    </a:lnL>
                    <a:lnR>
                      <a:noFill/>
                    </a:lnR>
                    <a:lnT>
                      <a:noFill/>
                    </a:lnT>
                    <a:lnB>
                      <a:noFill/>
                    </a:lnB>
                    <a:noFill/>
                  </a:tcPr>
                </a:tc>
                <a:tc>
                  <a:txBody>
                    <a:bodyPr/>
                    <a:lstStyle/>
                    <a:p>
                      <a:pPr>
                        <a:buNone/>
                      </a:pPr>
                      <a:r>
                        <a:rPr lang="en-US" sz="1200"/>
                        <a:t>Limited</a:t>
                      </a:r>
                    </a:p>
                  </a:txBody>
                  <a:tcPr marL="62500" marR="62500" marT="31249" marB="31249" anchor="ctr">
                    <a:lnL>
                      <a:noFill/>
                    </a:lnL>
                    <a:lnR>
                      <a:noFill/>
                    </a:lnR>
                    <a:lnT>
                      <a:noFill/>
                    </a:lnT>
                    <a:lnB>
                      <a:noFill/>
                    </a:lnB>
                    <a:noFill/>
                  </a:tcPr>
                </a:tc>
                <a:tc>
                  <a:txBody>
                    <a:bodyPr/>
                    <a:lstStyle/>
                    <a:p>
                      <a:pPr>
                        <a:buNone/>
                      </a:pPr>
                      <a:r>
                        <a:rPr lang="en-US" sz="1200"/>
                        <a:t>Promote savings and investment</a:t>
                      </a:r>
                    </a:p>
                  </a:txBody>
                  <a:tcPr marL="62500" marR="62500" marT="31249" marB="31249" anchor="ctr">
                    <a:lnL>
                      <a:noFill/>
                    </a:lnL>
                    <a:lnR>
                      <a:noFill/>
                    </a:lnR>
                    <a:lnT>
                      <a:noFill/>
                    </a:lnT>
                    <a:lnB>
                      <a:noFill/>
                    </a:lnB>
                    <a:noFill/>
                  </a:tcPr>
                </a:tc>
                <a:tc>
                  <a:txBody>
                    <a:bodyPr/>
                    <a:lstStyle/>
                    <a:p>
                      <a:pPr>
                        <a:buNone/>
                      </a:pPr>
                      <a:r>
                        <a:rPr lang="en-US" sz="1200" dirty="0"/>
                        <a:t>Promote education, R&amp;D, innovation, and institutions</a:t>
                      </a:r>
                    </a:p>
                  </a:txBody>
                  <a:tcPr marL="62500" marR="62500" marT="31249" marB="31249" anchor="ctr">
                    <a:lnL>
                      <a:noFill/>
                    </a:lnL>
                    <a:lnR>
                      <a:noFill/>
                    </a:lnR>
                    <a:lnT>
                      <a:noFill/>
                    </a:lnT>
                    <a:lnB>
                      <a:noFill/>
                    </a:lnB>
                    <a:noFill/>
                  </a:tcPr>
                </a:tc>
                <a:extLst>
                  <a:ext uri="{0D108BD9-81ED-4DB2-BD59-A6C34878D82A}">
                    <a16:rowId xmlns:a16="http://schemas.microsoft.com/office/drawing/2014/main" val="2663051542"/>
                  </a:ext>
                </a:extLst>
              </a:tr>
            </a:tbl>
          </a:graphicData>
        </a:graphic>
      </p:graphicFrame>
    </p:spTree>
    <p:extLst>
      <p:ext uri="{BB962C8B-B14F-4D97-AF65-F5344CB8AC3E}">
        <p14:creationId xmlns:p14="http://schemas.microsoft.com/office/powerpoint/2010/main" val="3741268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7A006F-3D18-1E33-FF04-789988959447}"/>
              </a:ext>
            </a:extLst>
          </p:cNvPr>
          <p:cNvSpPr>
            <a:spLocks noGrp="1"/>
          </p:cNvSpPr>
          <p:nvPr>
            <p:ph type="title"/>
          </p:nvPr>
        </p:nvSpPr>
        <p:spPr>
          <a:xfrm>
            <a:off x="841248" y="256032"/>
            <a:ext cx="10506456" cy="1014984"/>
          </a:xfrm>
        </p:spPr>
        <p:txBody>
          <a:bodyPr anchor="b">
            <a:normAutofit/>
          </a:bodyPr>
          <a:lstStyle/>
          <a:p>
            <a:r>
              <a:rPr lang="en-US" sz="3100"/>
              <a:t>Examples of Countries Consistent with the Three Growth Models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B7D91FD7-26FA-35A0-7591-CC658ED188BA}"/>
              </a:ext>
            </a:extLst>
          </p:cNvPr>
          <p:cNvGraphicFramePr>
            <a:graphicFrameLocks noGrp="1"/>
          </p:cNvGraphicFramePr>
          <p:nvPr>
            <p:ph idx="1"/>
            <p:extLst>
              <p:ext uri="{D42A27DB-BD31-4B8C-83A1-F6EECF244321}">
                <p14:modId xmlns:p14="http://schemas.microsoft.com/office/powerpoint/2010/main" val="1872905423"/>
              </p:ext>
            </p:extLst>
          </p:nvPr>
        </p:nvGraphicFramePr>
        <p:xfrm>
          <a:off x="1868265" y="1926266"/>
          <a:ext cx="8455470" cy="4357524"/>
        </p:xfrm>
        <a:graphic>
          <a:graphicData uri="http://schemas.openxmlformats.org/drawingml/2006/table">
            <a:tbl>
              <a:tblPr/>
              <a:tblGrid>
                <a:gridCol w="2149945">
                  <a:extLst>
                    <a:ext uri="{9D8B030D-6E8A-4147-A177-3AD203B41FA5}">
                      <a16:colId xmlns:a16="http://schemas.microsoft.com/office/drawing/2014/main" val="4189722841"/>
                    </a:ext>
                  </a:extLst>
                </a:gridCol>
                <a:gridCol w="2157285">
                  <a:extLst>
                    <a:ext uri="{9D8B030D-6E8A-4147-A177-3AD203B41FA5}">
                      <a16:colId xmlns:a16="http://schemas.microsoft.com/office/drawing/2014/main" val="4183287199"/>
                    </a:ext>
                  </a:extLst>
                </a:gridCol>
                <a:gridCol w="2060598">
                  <a:extLst>
                    <a:ext uri="{9D8B030D-6E8A-4147-A177-3AD203B41FA5}">
                      <a16:colId xmlns:a16="http://schemas.microsoft.com/office/drawing/2014/main" val="1757119419"/>
                    </a:ext>
                  </a:extLst>
                </a:gridCol>
                <a:gridCol w="2087642">
                  <a:extLst>
                    <a:ext uri="{9D8B030D-6E8A-4147-A177-3AD203B41FA5}">
                      <a16:colId xmlns:a16="http://schemas.microsoft.com/office/drawing/2014/main" val="2997656033"/>
                    </a:ext>
                  </a:extLst>
                </a:gridCol>
              </a:tblGrid>
              <a:tr h="325009">
                <a:tc>
                  <a:txBody>
                    <a:bodyPr/>
                    <a:lstStyle/>
                    <a:p>
                      <a:pPr>
                        <a:buNone/>
                      </a:pPr>
                      <a:r>
                        <a:rPr lang="en-US" sz="1400"/>
                        <a:t>Growth Theory</a:t>
                      </a:r>
                    </a:p>
                  </a:txBody>
                  <a:tcPr marL="71673" marR="71673" marT="35837" marB="35837" anchor="ctr">
                    <a:lnL>
                      <a:noFill/>
                    </a:lnL>
                    <a:lnR>
                      <a:noFill/>
                    </a:lnR>
                    <a:lnT>
                      <a:noFill/>
                    </a:lnT>
                    <a:lnB>
                      <a:noFill/>
                    </a:lnB>
                    <a:noFill/>
                  </a:tcPr>
                </a:tc>
                <a:tc>
                  <a:txBody>
                    <a:bodyPr/>
                    <a:lstStyle/>
                    <a:p>
                      <a:pPr>
                        <a:buNone/>
                      </a:pPr>
                      <a:r>
                        <a:rPr lang="en-US" sz="1400"/>
                        <a:t>Main Characteristics</a:t>
                      </a:r>
                    </a:p>
                  </a:txBody>
                  <a:tcPr marL="71673" marR="71673" marT="35837" marB="35837" anchor="ctr">
                    <a:lnL>
                      <a:noFill/>
                    </a:lnL>
                    <a:lnR>
                      <a:noFill/>
                    </a:lnR>
                    <a:lnT>
                      <a:noFill/>
                    </a:lnT>
                    <a:lnB>
                      <a:noFill/>
                    </a:lnB>
                    <a:noFill/>
                  </a:tcPr>
                </a:tc>
                <a:tc>
                  <a:txBody>
                    <a:bodyPr/>
                    <a:lstStyle/>
                    <a:p>
                      <a:pPr>
                        <a:buNone/>
                      </a:pPr>
                      <a:r>
                        <a:rPr lang="en-US" sz="1400"/>
                        <a:t>Country Examples</a:t>
                      </a:r>
                    </a:p>
                  </a:txBody>
                  <a:tcPr marL="71673" marR="71673" marT="35837" marB="35837" anchor="ctr">
                    <a:lnL>
                      <a:noFill/>
                    </a:lnL>
                    <a:lnR>
                      <a:noFill/>
                    </a:lnR>
                    <a:lnT>
                      <a:noFill/>
                    </a:lnT>
                    <a:lnB>
                      <a:noFill/>
                    </a:lnB>
                    <a:noFill/>
                  </a:tcPr>
                </a:tc>
                <a:tc>
                  <a:txBody>
                    <a:bodyPr/>
                    <a:lstStyle/>
                    <a:p>
                      <a:pPr>
                        <a:buNone/>
                      </a:pPr>
                      <a:r>
                        <a:rPr lang="en-US" sz="1400"/>
                        <a:t>Why They Fit the Model</a:t>
                      </a:r>
                    </a:p>
                  </a:txBody>
                  <a:tcPr marL="71673" marR="71673" marT="35837" marB="35837" anchor="ctr">
                    <a:lnL>
                      <a:noFill/>
                    </a:lnL>
                    <a:lnR>
                      <a:noFill/>
                    </a:lnR>
                    <a:lnT>
                      <a:noFill/>
                    </a:lnT>
                    <a:lnB>
                      <a:noFill/>
                    </a:lnB>
                    <a:noFill/>
                  </a:tcPr>
                </a:tc>
                <a:extLst>
                  <a:ext uri="{0D108BD9-81ED-4DB2-BD59-A6C34878D82A}">
                    <a16:rowId xmlns:a16="http://schemas.microsoft.com/office/drawing/2014/main" val="1595685332"/>
                  </a:ext>
                </a:extLst>
              </a:tr>
              <a:tr h="1198577">
                <a:tc>
                  <a:txBody>
                    <a:bodyPr/>
                    <a:lstStyle/>
                    <a:p>
                      <a:pPr>
                        <a:buNone/>
                      </a:pPr>
                      <a:r>
                        <a:rPr lang="en-US" sz="1400"/>
                        <a:t>Classical Growth Theory</a:t>
                      </a:r>
                    </a:p>
                  </a:txBody>
                  <a:tcPr marL="71673" marR="71673" marT="35837" marB="35837" anchor="ctr">
                    <a:lnL>
                      <a:noFill/>
                    </a:lnL>
                    <a:lnR>
                      <a:noFill/>
                    </a:lnR>
                    <a:lnT>
                      <a:noFill/>
                    </a:lnT>
                    <a:lnB>
                      <a:noFill/>
                    </a:lnB>
                    <a:noFill/>
                  </a:tcPr>
                </a:tc>
                <a:tc>
                  <a:txBody>
                    <a:bodyPr/>
                    <a:lstStyle/>
                    <a:p>
                      <a:pPr>
                        <a:buNone/>
                      </a:pPr>
                      <a:r>
                        <a:rPr lang="en-US" sz="1400"/>
                        <a:t>Growth constrained by land, natural resources, and population; diminishing returns</a:t>
                      </a:r>
                    </a:p>
                  </a:txBody>
                  <a:tcPr marL="71673" marR="71673" marT="35837" marB="35837" anchor="ctr">
                    <a:lnL>
                      <a:noFill/>
                    </a:lnL>
                    <a:lnR>
                      <a:noFill/>
                    </a:lnR>
                    <a:lnT>
                      <a:noFill/>
                    </a:lnT>
                    <a:lnB>
                      <a:noFill/>
                    </a:lnB>
                    <a:noFill/>
                  </a:tcPr>
                </a:tc>
                <a:tc>
                  <a:txBody>
                    <a:bodyPr/>
                    <a:lstStyle/>
                    <a:p>
                      <a:pPr>
                        <a:buNone/>
                      </a:pPr>
                      <a:r>
                        <a:rPr lang="en-US" sz="1400"/>
                        <a:t>Pre-industrial England, Ethiopia (historically), Niger, Chad</a:t>
                      </a:r>
                    </a:p>
                  </a:txBody>
                  <a:tcPr marL="71673" marR="71673" marT="35837" marB="35837" anchor="ctr">
                    <a:lnL>
                      <a:noFill/>
                    </a:lnL>
                    <a:lnR>
                      <a:noFill/>
                    </a:lnR>
                    <a:lnT>
                      <a:noFill/>
                    </a:lnT>
                    <a:lnB>
                      <a:noFill/>
                    </a:lnB>
                    <a:noFill/>
                  </a:tcPr>
                </a:tc>
                <a:tc>
                  <a:txBody>
                    <a:bodyPr/>
                    <a:lstStyle/>
                    <a:p>
                      <a:pPr>
                        <a:buNone/>
                      </a:pPr>
                      <a:r>
                        <a:rPr lang="en-US" sz="1400"/>
                        <a:t>Rapid population growth, dependence on agriculture, limited technological progress, low productivity</a:t>
                      </a:r>
                    </a:p>
                  </a:txBody>
                  <a:tcPr marL="71673" marR="71673" marT="35837" marB="35837" anchor="ctr">
                    <a:lnL>
                      <a:noFill/>
                    </a:lnL>
                    <a:lnR>
                      <a:noFill/>
                    </a:lnR>
                    <a:lnT>
                      <a:noFill/>
                    </a:lnT>
                    <a:lnB>
                      <a:noFill/>
                    </a:lnB>
                    <a:noFill/>
                  </a:tcPr>
                </a:tc>
                <a:extLst>
                  <a:ext uri="{0D108BD9-81ED-4DB2-BD59-A6C34878D82A}">
                    <a16:rowId xmlns:a16="http://schemas.microsoft.com/office/drawing/2014/main" val="3791361406"/>
                  </a:ext>
                </a:extLst>
              </a:tr>
              <a:tr h="1416969">
                <a:tc>
                  <a:txBody>
                    <a:bodyPr/>
                    <a:lstStyle/>
                    <a:p>
                      <a:pPr>
                        <a:buNone/>
                      </a:pPr>
                      <a:r>
                        <a:rPr lang="en-US" sz="1400" dirty="0"/>
                        <a:t>Neoclassical Growth Theory (Solow Model)</a:t>
                      </a:r>
                    </a:p>
                  </a:txBody>
                  <a:tcPr marL="71673" marR="71673" marT="35837" marB="35837" anchor="ctr">
                    <a:lnL>
                      <a:noFill/>
                    </a:lnL>
                    <a:lnR>
                      <a:noFill/>
                    </a:lnR>
                    <a:lnT>
                      <a:noFill/>
                    </a:lnT>
                    <a:lnB>
                      <a:noFill/>
                    </a:lnB>
                    <a:noFill/>
                  </a:tcPr>
                </a:tc>
                <a:tc>
                  <a:txBody>
                    <a:bodyPr/>
                    <a:lstStyle/>
                    <a:p>
                      <a:pPr>
                        <a:buNone/>
                      </a:pPr>
                      <a:r>
                        <a:rPr lang="en-US" sz="1400"/>
                        <a:t>Growth through capital accumulation, labor force growth, and exogenous technological progress</a:t>
                      </a:r>
                    </a:p>
                  </a:txBody>
                  <a:tcPr marL="71673" marR="71673" marT="35837" marB="35837" anchor="ctr">
                    <a:lnL>
                      <a:noFill/>
                    </a:lnL>
                    <a:lnR>
                      <a:noFill/>
                    </a:lnR>
                    <a:lnT>
                      <a:noFill/>
                    </a:lnT>
                    <a:lnB>
                      <a:noFill/>
                    </a:lnB>
                    <a:noFill/>
                  </a:tcPr>
                </a:tc>
                <a:tc>
                  <a:txBody>
                    <a:bodyPr/>
                    <a:lstStyle/>
                    <a:p>
                      <a:pPr>
                        <a:buNone/>
                      </a:pPr>
                      <a:r>
                        <a:rPr lang="en-US" sz="1400"/>
                        <a:t>China (1980–2015), Malaysia, Vietnam, Thailand</a:t>
                      </a:r>
                    </a:p>
                  </a:txBody>
                  <a:tcPr marL="71673" marR="71673" marT="35837" marB="35837" anchor="ctr">
                    <a:lnL>
                      <a:noFill/>
                    </a:lnL>
                    <a:lnR>
                      <a:noFill/>
                    </a:lnR>
                    <a:lnT>
                      <a:noFill/>
                    </a:lnT>
                    <a:lnB>
                      <a:noFill/>
                    </a:lnB>
                    <a:noFill/>
                  </a:tcPr>
                </a:tc>
                <a:tc>
                  <a:txBody>
                    <a:bodyPr/>
                    <a:lstStyle/>
                    <a:p>
                      <a:pPr>
                        <a:buNone/>
                      </a:pPr>
                      <a:r>
                        <a:rPr lang="en-US" sz="1400"/>
                        <a:t>High investment rates, infrastructure development, labor-force expansion, and adoption of existing technologies</a:t>
                      </a:r>
                    </a:p>
                  </a:txBody>
                  <a:tcPr marL="71673" marR="71673" marT="35837" marB="35837" anchor="ctr">
                    <a:lnL>
                      <a:noFill/>
                    </a:lnL>
                    <a:lnR>
                      <a:noFill/>
                    </a:lnR>
                    <a:lnT>
                      <a:noFill/>
                    </a:lnT>
                    <a:lnB>
                      <a:noFill/>
                    </a:lnB>
                    <a:noFill/>
                  </a:tcPr>
                </a:tc>
                <a:extLst>
                  <a:ext uri="{0D108BD9-81ED-4DB2-BD59-A6C34878D82A}">
                    <a16:rowId xmlns:a16="http://schemas.microsoft.com/office/drawing/2014/main" val="3495249805"/>
                  </a:ext>
                </a:extLst>
              </a:tr>
              <a:tr h="1416969">
                <a:tc>
                  <a:txBody>
                    <a:bodyPr/>
                    <a:lstStyle/>
                    <a:p>
                      <a:pPr>
                        <a:buNone/>
                      </a:pPr>
                      <a:r>
                        <a:rPr lang="en-US" sz="1400"/>
                        <a:t>New (Endogenous) Growth Theory</a:t>
                      </a:r>
                    </a:p>
                  </a:txBody>
                  <a:tcPr marL="71673" marR="71673" marT="35837" marB="35837" anchor="ctr">
                    <a:lnL>
                      <a:noFill/>
                    </a:lnL>
                    <a:lnR>
                      <a:noFill/>
                    </a:lnR>
                    <a:lnT>
                      <a:noFill/>
                    </a:lnT>
                    <a:lnB>
                      <a:noFill/>
                    </a:lnB>
                    <a:noFill/>
                  </a:tcPr>
                </a:tc>
                <a:tc>
                  <a:txBody>
                    <a:bodyPr/>
                    <a:lstStyle/>
                    <a:p>
                      <a:pPr>
                        <a:buNone/>
                      </a:pPr>
                      <a:r>
                        <a:rPr lang="en-US" sz="1400"/>
                        <a:t>Growth driven by innovation, research and development (R&amp;D), education, human capital, and knowledge</a:t>
                      </a:r>
                    </a:p>
                  </a:txBody>
                  <a:tcPr marL="71673" marR="71673" marT="35837" marB="35837" anchor="ctr">
                    <a:lnL>
                      <a:noFill/>
                    </a:lnL>
                    <a:lnR>
                      <a:noFill/>
                    </a:lnR>
                    <a:lnT>
                      <a:noFill/>
                    </a:lnT>
                    <a:lnB>
                      <a:noFill/>
                    </a:lnB>
                    <a:noFill/>
                  </a:tcPr>
                </a:tc>
                <a:tc>
                  <a:txBody>
                    <a:bodyPr/>
                    <a:lstStyle/>
                    <a:p>
                      <a:pPr>
                        <a:buNone/>
                      </a:pPr>
                      <a:r>
                        <a:rPr lang="en-US" sz="1400"/>
                        <a:t>United States, South Korea, Japan, Finland, Israel, Singapore</a:t>
                      </a:r>
                    </a:p>
                  </a:txBody>
                  <a:tcPr marL="71673" marR="71673" marT="35837" marB="35837" anchor="ctr">
                    <a:lnL>
                      <a:noFill/>
                    </a:lnL>
                    <a:lnR>
                      <a:noFill/>
                    </a:lnR>
                    <a:lnT>
                      <a:noFill/>
                    </a:lnT>
                    <a:lnB>
                      <a:noFill/>
                    </a:lnB>
                    <a:noFill/>
                  </a:tcPr>
                </a:tc>
                <a:tc>
                  <a:txBody>
                    <a:bodyPr/>
                    <a:lstStyle/>
                    <a:p>
                      <a:pPr>
                        <a:buNone/>
                      </a:pPr>
                      <a:r>
                        <a:rPr lang="en-US" sz="1400"/>
                        <a:t>Large investments in education, R&amp;D, innovation, advanced technology, and knowledge-based industries</a:t>
                      </a:r>
                    </a:p>
                  </a:txBody>
                  <a:tcPr marL="71673" marR="71673" marT="35837" marB="35837" anchor="ctr">
                    <a:lnL>
                      <a:noFill/>
                    </a:lnL>
                    <a:lnR>
                      <a:noFill/>
                    </a:lnR>
                    <a:lnT>
                      <a:noFill/>
                    </a:lnT>
                    <a:lnB>
                      <a:noFill/>
                    </a:lnB>
                    <a:noFill/>
                  </a:tcPr>
                </a:tc>
                <a:extLst>
                  <a:ext uri="{0D108BD9-81ED-4DB2-BD59-A6C34878D82A}">
                    <a16:rowId xmlns:a16="http://schemas.microsoft.com/office/drawing/2014/main" val="435676250"/>
                  </a:ext>
                </a:extLst>
              </a:tr>
            </a:tbl>
          </a:graphicData>
        </a:graphic>
      </p:graphicFrame>
    </p:spTree>
    <p:extLst>
      <p:ext uri="{BB962C8B-B14F-4D97-AF65-F5344CB8AC3E}">
        <p14:creationId xmlns:p14="http://schemas.microsoft.com/office/powerpoint/2010/main" val="164617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5EF05AEB-05A6-C21D-4D28-FC92E5A3A41A}"/>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3000" kern="1200" dirty="0">
                <a:solidFill>
                  <a:srgbClr val="FFFFFF"/>
                </a:solidFill>
                <a:latin typeface="+mj-lt"/>
                <a:ea typeface="+mj-ea"/>
                <a:cs typeface="+mj-cs"/>
              </a:rPr>
              <a:t>"China experienced rapid growth through capital accumulation and technology adoption during 1980–2015, but today it is investing heavily in innovation and advanced technology. Does this mean China has transitioned from the Neoclassical Growth Model toward the New Growth Theory? Discuss with supporting evidence."</a:t>
            </a:r>
          </a:p>
        </p:txBody>
      </p:sp>
      <p:sp>
        <p:nvSpPr>
          <p:cNvPr id="5" name="Text Placeholder 4">
            <a:extLst>
              <a:ext uri="{FF2B5EF4-FFF2-40B4-BE49-F238E27FC236}">
                <a16:creationId xmlns:a16="http://schemas.microsoft.com/office/drawing/2014/main" id="{E234386D-50CF-0EB7-C3B2-56D342E4B101}"/>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r>
              <a:rPr lang="en-US" dirty="0">
                <a:solidFill>
                  <a:schemeClr val="tx1"/>
                </a:solidFill>
              </a:rPr>
              <a:t>Group Discussion</a:t>
            </a:r>
            <a:r>
              <a:rPr lang="en-US" sz="2400" kern="1200" dirty="0">
                <a:solidFill>
                  <a:schemeClr val="tx1"/>
                </a:solidFill>
                <a:latin typeface="+mn-lt"/>
                <a:ea typeface="+mn-ea"/>
                <a:cs typeface="+mn-cs"/>
              </a:rPr>
              <a:t> </a:t>
            </a:r>
          </a:p>
        </p:txBody>
      </p:sp>
    </p:spTree>
    <p:extLst>
      <p:ext uri="{BB962C8B-B14F-4D97-AF65-F5344CB8AC3E}">
        <p14:creationId xmlns:p14="http://schemas.microsoft.com/office/powerpoint/2010/main" val="3982632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1426</Words>
  <Application>Microsoft Office PowerPoint</Application>
  <PresentationFormat>Widescreen</PresentationFormat>
  <Paragraphs>256</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Calibri</vt:lpstr>
      <vt:lpstr>Office Theme</vt:lpstr>
      <vt:lpstr>Economic Growth</vt:lpstr>
      <vt:lpstr> Four Main Sources of Growth in Potential GDP:  1. Growth in Labour Supply </vt:lpstr>
      <vt:lpstr>2. Growth in Human Capital </vt:lpstr>
      <vt:lpstr>3. Capital Accumulation</vt:lpstr>
      <vt:lpstr>4. Technological Progress</vt:lpstr>
      <vt:lpstr>Economic Growth Theories </vt:lpstr>
      <vt:lpstr>Evolution of Growth Theory</vt:lpstr>
      <vt:lpstr>Classical Growth Theory</vt:lpstr>
      <vt:lpstr>Classical Growth Theory: Basic Assumptions</vt:lpstr>
      <vt:lpstr>Malthusian Population Theory</vt:lpstr>
      <vt:lpstr>Ricardo's Law of Diminishing Returns</vt:lpstr>
      <vt:lpstr>Classical Growth Process</vt:lpstr>
      <vt:lpstr>Stationary State</vt:lpstr>
      <vt:lpstr>Discussion Questions</vt:lpstr>
      <vt:lpstr>Strengths and Weaknesses of CGT</vt:lpstr>
      <vt:lpstr>Neoclassical Growth Theory (Solow Growth Model)</vt:lpstr>
      <vt:lpstr>Main Assumptions</vt:lpstr>
      <vt:lpstr>Diminishing Returns to Capital</vt:lpstr>
      <vt:lpstr>Steady-State Growth</vt:lpstr>
      <vt:lpstr>Strengths and Weaknesses of NCGT</vt:lpstr>
      <vt:lpstr>New Growth Theory (Endogenous Growth Theory)</vt:lpstr>
      <vt:lpstr>Main Assumptions</vt:lpstr>
      <vt:lpstr>Main Drivers of Growth</vt:lpstr>
      <vt:lpstr>Policy Implications</vt:lpstr>
      <vt:lpstr>Strengths and Weaknesses of NGT</vt:lpstr>
      <vt:lpstr>Comparison of Growth Theories</vt:lpstr>
      <vt:lpstr>Examples of Countries Consistent with the Three Growth Models</vt:lpstr>
      <vt:lpstr>"China experienced rapid growth through capital accumulation and technology adoption during 1980–2015, but today it is investing heavily in innovation and advanced technology. Does this mean China has transitioned from the Neoclassical Growth Model toward the New Growth Theory? Discuss with supporting evidence."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Syed A Mamun, PhD, FCMA</dc:creator>
  <cp:lastModifiedBy>Syed A Mamun, PhD, FCMA</cp:lastModifiedBy>
  <cp:revision>1</cp:revision>
  <dcterms:created xsi:type="dcterms:W3CDTF">2026-07-15T07:20:13Z</dcterms:created>
  <dcterms:modified xsi:type="dcterms:W3CDTF">2026-07-15T08:21:42Z</dcterms:modified>
</cp:coreProperties>
</file>